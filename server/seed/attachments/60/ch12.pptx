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721" r:id="rId2"/>
    <p:sldId id="722" r:id="rId3"/>
    <p:sldId id="723" r:id="rId4"/>
    <p:sldId id="756" r:id="rId5"/>
    <p:sldId id="726" r:id="rId6"/>
    <p:sldId id="727" r:id="rId7"/>
    <p:sldId id="1013" r:id="rId8"/>
    <p:sldId id="1195" r:id="rId9"/>
    <p:sldId id="1014" r:id="rId10"/>
    <p:sldId id="1015" r:id="rId11"/>
    <p:sldId id="1016" r:id="rId12"/>
    <p:sldId id="1017" r:id="rId13"/>
    <p:sldId id="1196" r:id="rId14"/>
    <p:sldId id="1018" r:id="rId15"/>
    <p:sldId id="1019" r:id="rId16"/>
    <p:sldId id="1020" r:id="rId17"/>
    <p:sldId id="1075" r:id="rId18"/>
    <p:sldId id="1197" r:id="rId19"/>
    <p:sldId id="1021" r:id="rId20"/>
    <p:sldId id="1022" r:id="rId21"/>
    <p:sldId id="1023" r:id="rId22"/>
    <p:sldId id="1024" r:id="rId23"/>
    <p:sldId id="1198" r:id="rId24"/>
    <p:sldId id="1199" r:id="rId25"/>
    <p:sldId id="1200" r:id="rId26"/>
    <p:sldId id="1201" r:id="rId27"/>
    <p:sldId id="1025" r:id="rId28"/>
    <p:sldId id="1026" r:id="rId29"/>
    <p:sldId id="1076" r:id="rId30"/>
    <p:sldId id="1202" r:id="rId31"/>
    <p:sldId id="1093"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Describe the impact of the PLOT system on the quantity and quality of the data collected from ConocoPhillips’s wells. Now, describe the impact of these data on the quality of the analyses from the PLOT system. What relationship you can infer between the quality and quantity of data and the quality of the analysis performed on that data?</a:t>
            </a:r>
          </a:p>
          <a:p>
            <a:pPr marL="228600" indent="-228600">
              <a:buFont typeface="+mj-lt"/>
              <a:buAutoNum type="arabicPeriod"/>
            </a:pPr>
            <a:r>
              <a:rPr lang="en-US" b="0" dirty="0" smtClean="0"/>
              <a:t>If plunger lift technology had been in place for 50 years, why is ConocoPhillips just now developing its PLOT system?</a:t>
            </a:r>
          </a:p>
          <a:p>
            <a:pPr marL="228600" indent="-228600">
              <a:buFont typeface="+mj-lt"/>
              <a:buAutoNum type="arabicPeriod"/>
            </a:pPr>
            <a:r>
              <a:rPr lang="en-US" b="0" dirty="0" smtClean="0"/>
              <a:t>Speculate how well operators will react to PLOT. Positively or negatively? Support your answer.</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2184195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What additional sources of data could </a:t>
            </a:r>
            <a:r>
              <a:rPr lang="en-US" dirty="0" err="1" smtClean="0"/>
              <a:t>RentRange</a:t>
            </a:r>
            <a:r>
              <a:rPr lang="en-US" dirty="0" smtClean="0"/>
              <a:t> collect to enhance its predictive accuracy? Provide examples to support your answer.</a:t>
            </a:r>
          </a:p>
          <a:p>
            <a:pPr marL="228600" indent="-228600">
              <a:buFont typeface="+mj-lt"/>
              <a:buAutoNum type="arabicPeriod"/>
            </a:pPr>
            <a:r>
              <a:rPr lang="en-US" dirty="0" smtClean="0"/>
              <a:t>What other companies or institutions could utilize </a:t>
            </a:r>
            <a:r>
              <a:rPr lang="en-US" dirty="0" err="1" smtClean="0"/>
              <a:t>RentRange’s</a:t>
            </a:r>
            <a:r>
              <a:rPr lang="en-US" dirty="0" smtClean="0"/>
              <a:t> predictions?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12.1 </a:t>
            </a:r>
            <a:r>
              <a:rPr lang="en-US" dirty="0" smtClean="0"/>
              <a:t>The process and phases in decision making.</a:t>
            </a:r>
          </a:p>
          <a:p>
            <a:endParaRPr lang="en-US" dirty="0" smtClean="0"/>
          </a:p>
          <a:p>
            <a:r>
              <a:rPr lang="en-US" sz="1200" b="1" i="0" u="none" strike="noStrike" kern="1200" baseline="0" dirty="0" smtClean="0">
                <a:solidFill>
                  <a:schemeClr val="tx1"/>
                </a:solidFill>
                <a:latin typeface="+mn-lt"/>
                <a:ea typeface="+mn-ea"/>
                <a:cs typeface="+mn-cs"/>
              </a:rPr>
              <a:t>Decision: </a:t>
            </a:r>
            <a:r>
              <a:rPr lang="en-US" sz="1200" b="0" i="0" u="none" strike="noStrike" kern="1200" baseline="0" dirty="0" smtClean="0">
                <a:solidFill>
                  <a:schemeClr val="tx1"/>
                </a:solidFill>
                <a:latin typeface="+mn-lt"/>
                <a:ea typeface="+mn-ea"/>
                <a:cs typeface="+mn-cs"/>
              </a:rPr>
              <a:t>a choice among two or more alternatives that individuals and groups make. Decisions are diverse and are made continuously.</a:t>
            </a:r>
          </a:p>
          <a:p>
            <a:r>
              <a:rPr lang="en-US" sz="1200" b="1" i="0" u="none" strike="noStrike" kern="1200" baseline="0" dirty="0" smtClean="0">
                <a:solidFill>
                  <a:schemeClr val="tx1"/>
                </a:solidFill>
                <a:latin typeface="+mn-lt"/>
                <a:ea typeface="+mn-ea"/>
                <a:cs typeface="+mn-cs"/>
              </a:rPr>
              <a:t>Phases of the Decision Making Process:</a:t>
            </a:r>
          </a:p>
          <a:p>
            <a:r>
              <a:rPr lang="en-US" b="1" dirty="0" smtClean="0"/>
              <a:t>Intelligence Phase: </a:t>
            </a:r>
            <a:r>
              <a:rPr lang="en-US" dirty="0" smtClean="0"/>
              <a:t>managers examine a situation and then identify and </a:t>
            </a:r>
            <a:r>
              <a:rPr lang="en-US" dirty="0" err="1" smtClean="0"/>
              <a:t>defi</a:t>
            </a:r>
            <a:r>
              <a:rPr lang="en-US" dirty="0" smtClean="0"/>
              <a:t> ne the problem or opportunity.</a:t>
            </a:r>
          </a:p>
          <a:p>
            <a:r>
              <a:rPr lang="en-US" b="1" dirty="0" smtClean="0"/>
              <a:t>Design Phase: </a:t>
            </a:r>
            <a:r>
              <a:rPr lang="en-US" dirty="0" smtClean="0"/>
              <a:t>decision makers construct a model for addressing the situation. They perform this task by making assumptions that simplify reality and by expressing the relationships among all of the relevant variables. Managers then validate the model by using test data. Finally, decision makers set criteria for evaluating all of the potential solutions that are proposed.</a:t>
            </a:r>
          </a:p>
          <a:p>
            <a:r>
              <a:rPr lang="en-US" b="1" dirty="0" smtClean="0"/>
              <a:t>Choice Phase: </a:t>
            </a:r>
            <a:r>
              <a:rPr lang="en-US" dirty="0" smtClean="0"/>
              <a:t>involves selecting a solution or course of action that seems best suited to resolve the problem. </a:t>
            </a:r>
            <a:r>
              <a:rPr lang="en-US" dirty="0" err="1" smtClean="0"/>
              <a:t>Th</a:t>
            </a:r>
            <a:r>
              <a:rPr lang="en-US" dirty="0" smtClean="0"/>
              <a:t> is solution (the decision) is then implemented.</a:t>
            </a:r>
          </a:p>
          <a:p>
            <a:r>
              <a:rPr lang="en-US" b="1" dirty="0" smtClean="0"/>
              <a:t>Implementation Phase: </a:t>
            </a:r>
            <a:r>
              <a:rPr lang="en-US" dirty="0" smtClean="0"/>
              <a:t>is successful if the proposed solution solves the problem or seizes the opportunity. If the solution fails, then the process returns to the previous phases. Computer-based decision support assists managers in the decision-making process.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1184816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Management: </a:t>
            </a:r>
            <a:r>
              <a:rPr lang="en-US" sz="1200" b="0" i="0" u="none" strike="noStrike" kern="1200" baseline="0" dirty="0" smtClean="0">
                <a:solidFill>
                  <a:schemeClr val="tx1"/>
                </a:solidFill>
                <a:latin typeface="+mn-lt"/>
                <a:ea typeface="+mn-ea"/>
                <a:cs typeface="+mn-cs"/>
              </a:rPr>
              <a:t>a process by which an organization achieves its goals through the use of resources (people, money, materials, and information).</a:t>
            </a:r>
          </a:p>
          <a:p>
            <a:endParaRPr lang="en-US" sz="1200" b="0"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Three Basic Roles of Managers (</a:t>
            </a:r>
            <a:r>
              <a:rPr lang="en-US" sz="1200" b="1" i="0" u="none" strike="noStrike" kern="1200" baseline="0" dirty="0" err="1" smtClean="0">
                <a:solidFill>
                  <a:schemeClr val="tx1"/>
                </a:solidFill>
                <a:latin typeface="+mn-lt"/>
                <a:ea typeface="+mn-ea"/>
                <a:cs typeface="+mn-cs"/>
              </a:rPr>
              <a:t>Mintzberg</a:t>
            </a:r>
            <a:r>
              <a:rPr lang="en-US" sz="1200" b="1" i="0" u="none" strike="noStrike" kern="1200" baseline="0" dirty="0" smtClean="0">
                <a:solidFill>
                  <a:schemeClr val="tx1"/>
                </a:solidFill>
                <a:latin typeface="+mn-lt"/>
                <a:ea typeface="+mn-ea"/>
                <a:cs typeface="+mn-cs"/>
              </a:rPr>
              <a:t>, 1973):</a:t>
            </a:r>
          </a:p>
          <a:p>
            <a:r>
              <a:rPr lang="en-US" sz="1200" b="0" i="0" u="none" strike="noStrike" kern="1200" baseline="0" dirty="0" smtClean="0">
                <a:solidFill>
                  <a:schemeClr val="tx1"/>
                </a:solidFill>
                <a:latin typeface="+mn-lt"/>
                <a:ea typeface="+mn-ea"/>
                <a:cs typeface="+mn-cs"/>
              </a:rPr>
              <a:t>1. </a:t>
            </a:r>
            <a:r>
              <a:rPr lang="en-US" sz="1200" b="1" i="1" u="none" strike="noStrike" kern="1200" baseline="0" dirty="0" smtClean="0">
                <a:solidFill>
                  <a:schemeClr val="tx1"/>
                </a:solidFill>
                <a:latin typeface="+mn-lt"/>
                <a:ea typeface="+mn-ea"/>
                <a:cs typeface="+mn-cs"/>
              </a:rPr>
              <a:t>Interpersonal roles</a:t>
            </a:r>
            <a:r>
              <a:rPr lang="en-US" sz="1200" b="1" i="0" u="none" strike="noStrike" kern="1200" baseline="0" dirty="0" smtClean="0">
                <a:solidFill>
                  <a:schemeClr val="tx1"/>
                </a:solidFill>
                <a:latin typeface="+mn-lt"/>
                <a:ea typeface="+mn-ea"/>
                <a:cs typeface="+mn-cs"/>
              </a:rPr>
              <a:t>: </a:t>
            </a:r>
            <a:r>
              <a:rPr lang="en-US" sz="1200" b="0" i="0" u="none" strike="noStrike" kern="1200" baseline="0" dirty="0" smtClean="0">
                <a:solidFill>
                  <a:schemeClr val="tx1"/>
                </a:solidFill>
                <a:latin typeface="+mn-lt"/>
                <a:ea typeface="+mn-ea"/>
                <a:cs typeface="+mn-cs"/>
              </a:rPr>
              <a:t>fi </a:t>
            </a:r>
            <a:r>
              <a:rPr lang="en-US" sz="1200" b="0" i="0" u="none" strike="noStrike" kern="1200" baseline="0" dirty="0" err="1" smtClean="0">
                <a:solidFill>
                  <a:schemeClr val="tx1"/>
                </a:solidFill>
                <a:latin typeface="+mn-lt"/>
                <a:ea typeface="+mn-ea"/>
                <a:cs typeface="+mn-cs"/>
              </a:rPr>
              <a:t>gurehead</a:t>
            </a:r>
            <a:r>
              <a:rPr lang="en-US" sz="1200" b="0" i="0" u="none" strike="noStrike" kern="1200" baseline="0" dirty="0" smtClean="0">
                <a:solidFill>
                  <a:schemeClr val="tx1"/>
                </a:solidFill>
                <a:latin typeface="+mn-lt"/>
                <a:ea typeface="+mn-ea"/>
                <a:cs typeface="+mn-cs"/>
              </a:rPr>
              <a:t>, leader, liaison</a:t>
            </a:r>
          </a:p>
          <a:p>
            <a:r>
              <a:rPr lang="en-US" sz="1200" b="0" i="0" u="none" strike="noStrike" kern="1200" baseline="0" dirty="0" smtClean="0">
                <a:solidFill>
                  <a:schemeClr val="tx1"/>
                </a:solidFill>
                <a:latin typeface="+mn-lt"/>
                <a:ea typeface="+mn-ea"/>
                <a:cs typeface="+mn-cs"/>
              </a:rPr>
              <a:t>2. </a:t>
            </a:r>
            <a:r>
              <a:rPr lang="en-US" sz="1200" b="1" i="1" u="none" strike="noStrike" kern="1200" baseline="0" dirty="0" smtClean="0">
                <a:solidFill>
                  <a:schemeClr val="tx1"/>
                </a:solidFill>
                <a:latin typeface="+mn-lt"/>
                <a:ea typeface="+mn-ea"/>
                <a:cs typeface="+mn-cs"/>
              </a:rPr>
              <a:t>Informational roles</a:t>
            </a:r>
            <a:r>
              <a:rPr lang="en-US" sz="1200" b="1" i="0" u="none" strike="noStrike" kern="1200" baseline="0" dirty="0" smtClean="0">
                <a:solidFill>
                  <a:schemeClr val="tx1"/>
                </a:solidFill>
                <a:latin typeface="+mn-lt"/>
                <a:ea typeface="+mn-ea"/>
                <a:cs typeface="+mn-cs"/>
              </a:rPr>
              <a:t>: </a:t>
            </a:r>
            <a:r>
              <a:rPr lang="en-US" sz="1200" b="0" i="0" u="none" strike="noStrike" kern="1200" baseline="0" dirty="0" smtClean="0">
                <a:solidFill>
                  <a:schemeClr val="tx1"/>
                </a:solidFill>
                <a:latin typeface="+mn-lt"/>
                <a:ea typeface="+mn-ea"/>
                <a:cs typeface="+mn-cs"/>
              </a:rPr>
              <a:t>monitor, disseminator, spokesperson, analyzer</a:t>
            </a:r>
          </a:p>
          <a:p>
            <a:r>
              <a:rPr lang="en-US" sz="1200" b="0" i="0" u="none" strike="noStrike" kern="1200" baseline="0" dirty="0" smtClean="0">
                <a:solidFill>
                  <a:schemeClr val="tx1"/>
                </a:solidFill>
                <a:latin typeface="+mn-lt"/>
                <a:ea typeface="+mn-ea"/>
                <a:cs typeface="+mn-cs"/>
              </a:rPr>
              <a:t>3. </a:t>
            </a:r>
            <a:r>
              <a:rPr lang="en-US" sz="1200" b="1" i="1" u="none" strike="noStrike" kern="1200" baseline="0" dirty="0" smtClean="0">
                <a:solidFill>
                  <a:schemeClr val="tx1"/>
                </a:solidFill>
                <a:latin typeface="+mn-lt"/>
                <a:ea typeface="+mn-ea"/>
                <a:cs typeface="+mn-cs"/>
              </a:rPr>
              <a:t>Decisional roles</a:t>
            </a:r>
            <a:r>
              <a:rPr lang="en-US" sz="1200" b="1" i="0" u="none" strike="noStrike" kern="1200" baseline="0" dirty="0" smtClean="0">
                <a:solidFill>
                  <a:schemeClr val="tx1"/>
                </a:solidFill>
                <a:latin typeface="+mn-lt"/>
                <a:ea typeface="+mn-ea"/>
                <a:cs typeface="+mn-cs"/>
              </a:rPr>
              <a:t>: </a:t>
            </a:r>
            <a:r>
              <a:rPr lang="en-US" sz="1200" b="0" i="0" u="none" strike="noStrike" kern="1200" baseline="0" dirty="0" smtClean="0">
                <a:solidFill>
                  <a:schemeClr val="tx1"/>
                </a:solidFill>
                <a:latin typeface="+mn-lt"/>
                <a:ea typeface="+mn-ea"/>
                <a:cs typeface="+mn-cs"/>
              </a:rPr>
              <a:t>entrepreneur, disturbance handler, resource allocator, negotiator</a:t>
            </a: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3759828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Business Intelligence (BI): </a:t>
            </a:r>
            <a:r>
              <a:rPr lang="en-US" sz="1200" b="0" i="0" u="none" strike="noStrike" kern="1200" baseline="0" dirty="0" smtClean="0">
                <a:solidFill>
                  <a:schemeClr val="tx1"/>
                </a:solidFill>
                <a:latin typeface="+mn-lt"/>
                <a:ea typeface="+mn-ea"/>
                <a:cs typeface="+mn-cs"/>
              </a:rPr>
              <a:t>is a broad category of applications, technologies, and processes for gathering, storing, accessing, and analyzing data to help business users make better decisions. BI applications enable decision makers to quickly ascertain the status of a business enterprise by examining key information.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2501616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Problem Structure: </a:t>
            </a:r>
            <a:r>
              <a:rPr lang="en-US" sz="1200" b="0" i="0" u="none" strike="noStrike" kern="1200" baseline="0" dirty="0" smtClean="0">
                <a:solidFill>
                  <a:schemeClr val="tx1"/>
                </a:solidFill>
                <a:latin typeface="+mn-lt"/>
                <a:ea typeface="+mn-ea"/>
                <a:cs typeface="+mn-cs"/>
              </a:rPr>
              <a:t>where decision-making processes fall along a continuum ranging from highly structured to highly unstructured.</a:t>
            </a:r>
          </a:p>
          <a:p>
            <a:r>
              <a:rPr lang="en-US" sz="1200" b="1" i="0" u="none" strike="noStrike" kern="1200" baseline="0" dirty="0" smtClean="0">
                <a:solidFill>
                  <a:schemeClr val="tx1"/>
                </a:solidFill>
                <a:latin typeface="+mn-lt"/>
                <a:ea typeface="+mn-ea"/>
                <a:cs typeface="+mn-cs"/>
              </a:rPr>
              <a:t>Nature of Decisions: </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All managerial decisions fall into one of three broad categories:</a:t>
            </a:r>
          </a:p>
          <a:p>
            <a:r>
              <a:rPr lang="en-US" sz="1200" b="1" i="0" u="none" strike="noStrike" kern="1200" baseline="0" dirty="0" smtClean="0">
                <a:solidFill>
                  <a:schemeClr val="tx1"/>
                </a:solidFill>
                <a:latin typeface="+mn-lt"/>
                <a:ea typeface="+mn-ea"/>
                <a:cs typeface="+mn-cs"/>
              </a:rPr>
              <a:t>Operational Control: </a:t>
            </a:r>
            <a:r>
              <a:rPr lang="en-US" sz="1200" b="0" i="0" u="none" strike="noStrike" kern="1200" baseline="0" dirty="0" smtClean="0">
                <a:solidFill>
                  <a:schemeClr val="tx1"/>
                </a:solidFill>
                <a:latin typeface="+mn-lt"/>
                <a:ea typeface="+mn-ea"/>
                <a:cs typeface="+mn-cs"/>
              </a:rPr>
              <a:t>executing specific tasks efficiently and effectively.</a:t>
            </a:r>
          </a:p>
          <a:p>
            <a:r>
              <a:rPr lang="en-US" sz="1200" b="1" i="0" u="none" strike="noStrike" kern="1200" baseline="0" dirty="0" smtClean="0">
                <a:solidFill>
                  <a:schemeClr val="tx1"/>
                </a:solidFill>
                <a:latin typeface="+mn-lt"/>
                <a:ea typeface="+mn-ea"/>
                <a:cs typeface="+mn-cs"/>
              </a:rPr>
              <a:t>Management Control: </a:t>
            </a:r>
            <a:r>
              <a:rPr lang="en-US" sz="1200" b="0" i="0" u="none" strike="noStrike" kern="1200" baseline="0" dirty="0" smtClean="0">
                <a:solidFill>
                  <a:schemeClr val="tx1"/>
                </a:solidFill>
                <a:latin typeface="+mn-lt"/>
                <a:ea typeface="+mn-ea"/>
                <a:cs typeface="+mn-cs"/>
              </a:rPr>
              <a:t>acquiring and using resources efficiently in accomplishing organizational goals.</a:t>
            </a:r>
          </a:p>
          <a:p>
            <a:r>
              <a:rPr lang="en-US" sz="1200" b="1" i="0" u="none" strike="noStrike" kern="1200" baseline="0" dirty="0" smtClean="0">
                <a:solidFill>
                  <a:schemeClr val="tx1"/>
                </a:solidFill>
                <a:latin typeface="+mn-lt"/>
                <a:ea typeface="+mn-ea"/>
                <a:cs typeface="+mn-cs"/>
              </a:rPr>
              <a:t>Strategic Planning: </a:t>
            </a:r>
            <a:r>
              <a:rPr lang="en-US" sz="1200" b="0" i="0" u="none" strike="noStrike" kern="1200" baseline="0" dirty="0" smtClean="0">
                <a:solidFill>
                  <a:schemeClr val="tx1"/>
                </a:solidFill>
                <a:latin typeface="+mn-lt"/>
                <a:ea typeface="+mn-ea"/>
                <a:cs typeface="+mn-cs"/>
              </a:rPr>
              <a:t>the long-range goals and policies for growth and resource allocation.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3753510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12.2 </a:t>
            </a:r>
            <a:r>
              <a:rPr lang="en-US" dirty="0" smtClean="0"/>
              <a:t>Decision support framework. Technology is used to support the decisions shown in the column at the far right and in the bottom row.</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741354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Problem Structure: </a:t>
            </a:r>
            <a:r>
              <a:rPr lang="en-US" sz="1200" b="0" i="0" u="none" strike="noStrike" kern="1200" baseline="0" dirty="0" smtClean="0">
                <a:solidFill>
                  <a:schemeClr val="tx1"/>
                </a:solidFill>
                <a:latin typeface="+mn-lt"/>
                <a:ea typeface="+mn-ea"/>
                <a:cs typeface="+mn-cs"/>
              </a:rPr>
              <a:t>where decision-making processes fall along a continuum ranging from highly structured to highly unstructured.</a:t>
            </a:r>
          </a:p>
          <a:p>
            <a:r>
              <a:rPr lang="en-US" sz="1200" b="1" i="0" u="none" strike="noStrike" kern="1200" baseline="0" dirty="0" smtClean="0">
                <a:solidFill>
                  <a:schemeClr val="tx1"/>
                </a:solidFill>
                <a:latin typeface="+mn-lt"/>
                <a:ea typeface="+mn-ea"/>
                <a:cs typeface="+mn-cs"/>
              </a:rPr>
              <a:t>Nature of Decisions: </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All managerial decisions fall into one of three broad categories:</a:t>
            </a:r>
          </a:p>
          <a:p>
            <a:r>
              <a:rPr lang="en-US" sz="1200" b="1" i="0" u="none" strike="noStrike" kern="1200" baseline="0" dirty="0" smtClean="0">
                <a:solidFill>
                  <a:schemeClr val="tx1"/>
                </a:solidFill>
                <a:latin typeface="+mn-lt"/>
                <a:ea typeface="+mn-ea"/>
                <a:cs typeface="+mn-cs"/>
              </a:rPr>
              <a:t>Operational Control: </a:t>
            </a:r>
            <a:r>
              <a:rPr lang="en-US" sz="1200" b="0" i="0" u="none" strike="noStrike" kern="1200" baseline="0" dirty="0" smtClean="0">
                <a:solidFill>
                  <a:schemeClr val="tx1"/>
                </a:solidFill>
                <a:latin typeface="+mn-lt"/>
                <a:ea typeface="+mn-ea"/>
                <a:cs typeface="+mn-cs"/>
              </a:rPr>
              <a:t>executing specific tasks efficiently and effectively.</a:t>
            </a:r>
          </a:p>
          <a:p>
            <a:r>
              <a:rPr lang="en-US" sz="1200" b="1" i="0" u="none" strike="noStrike" kern="1200" baseline="0" dirty="0" smtClean="0">
                <a:solidFill>
                  <a:schemeClr val="tx1"/>
                </a:solidFill>
                <a:latin typeface="+mn-lt"/>
                <a:ea typeface="+mn-ea"/>
                <a:cs typeface="+mn-cs"/>
              </a:rPr>
              <a:t>Management Control: </a:t>
            </a:r>
            <a:r>
              <a:rPr lang="en-US" sz="1200" b="0" i="0" u="none" strike="noStrike" kern="1200" baseline="0" dirty="0" smtClean="0">
                <a:solidFill>
                  <a:schemeClr val="tx1"/>
                </a:solidFill>
                <a:latin typeface="+mn-lt"/>
                <a:ea typeface="+mn-ea"/>
                <a:cs typeface="+mn-cs"/>
              </a:rPr>
              <a:t>acquiring and using resources efficiently in accomplishing organizational goals.</a:t>
            </a:r>
          </a:p>
          <a:p>
            <a:r>
              <a:rPr lang="en-US" sz="1200" b="1" i="0" u="none" strike="noStrike" kern="1200" baseline="0" dirty="0" smtClean="0">
                <a:solidFill>
                  <a:schemeClr val="tx1"/>
                </a:solidFill>
                <a:latin typeface="+mn-lt"/>
                <a:ea typeface="+mn-ea"/>
                <a:cs typeface="+mn-cs"/>
              </a:rPr>
              <a:t>Strategic Planning: </a:t>
            </a:r>
            <a:r>
              <a:rPr lang="en-US" sz="1200" b="0" i="0" u="none" strike="noStrike" kern="1200" baseline="0" dirty="0" smtClean="0">
                <a:solidFill>
                  <a:schemeClr val="tx1"/>
                </a:solidFill>
                <a:latin typeface="+mn-lt"/>
                <a:ea typeface="+mn-ea"/>
                <a:cs typeface="+mn-cs"/>
              </a:rPr>
              <a:t>the long-range goals and policies for growth and resource allocation.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4290418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Do you think that satellite-based navigation will meet resistance among air </a:t>
            </a:r>
            <a:r>
              <a:rPr lang="en-US" dirty="0" err="1" smtClean="0"/>
              <a:t>traffi</a:t>
            </a:r>
            <a:r>
              <a:rPr lang="en-US" dirty="0" smtClean="0"/>
              <a:t> c controllers? Why or why not?</a:t>
            </a:r>
          </a:p>
          <a:p>
            <a:pPr marL="228600" indent="-228600">
              <a:buFont typeface="+mj-lt"/>
              <a:buAutoNum type="arabicPeriod"/>
            </a:pPr>
            <a:r>
              <a:rPr lang="en-US" dirty="0" smtClean="0"/>
              <a:t>Do you think that pilots will object to having “smart assistants” help them make decisions? Why or why not?</a:t>
            </a:r>
          </a:p>
          <a:p>
            <a:pPr marL="228600" indent="-228600">
              <a:buFont typeface="+mj-lt"/>
              <a:buAutoNum type="arabicPeriod"/>
            </a:pPr>
            <a:r>
              <a:rPr lang="en-US" dirty="0" smtClean="0"/>
              <a:t>Do you think the overall response of the airlines to </a:t>
            </a:r>
            <a:r>
              <a:rPr lang="en-US" dirty="0" err="1" smtClean="0"/>
              <a:t>satellitebased</a:t>
            </a:r>
            <a:r>
              <a:rPr lang="en-US" dirty="0" smtClean="0"/>
              <a:t> navigation and smart assistants for pilots will be positive or negative? Support your answer.</a:t>
            </a:r>
          </a:p>
          <a:p>
            <a:pPr marL="228600" indent="-228600">
              <a:buFont typeface="+mj-lt"/>
              <a:buAutoNum type="arabicPeriod"/>
            </a:pPr>
            <a:r>
              <a:rPr lang="en-US" dirty="0" smtClean="0"/>
              <a:t>What is the relationship between analytics and smart assistants for pilots?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b="1" dirty="0" smtClean="0"/>
              <a:t>Questions</a:t>
            </a:r>
          </a:p>
          <a:p>
            <a:pPr marL="228600" indent="-228600">
              <a:buFont typeface="+mj-lt"/>
              <a:buAutoNum type="arabicPeriod"/>
            </a:pPr>
            <a:r>
              <a:rPr lang="en-US" dirty="0" smtClean="0"/>
              <a:t>Discuss the advantages and disadvantages of </a:t>
            </a:r>
            <a:r>
              <a:rPr lang="en-US" dirty="0" err="1" smtClean="0"/>
              <a:t>Cardlytics’s</a:t>
            </a:r>
            <a:r>
              <a:rPr lang="en-US" dirty="0" smtClean="0"/>
              <a:t> data analyses for the customer. Use specific examples in your answers.</a:t>
            </a:r>
          </a:p>
          <a:p>
            <a:pPr marL="228600" indent="-228600">
              <a:buFont typeface="+mj-lt"/>
              <a:buAutoNum type="arabicPeriod"/>
            </a:pPr>
            <a:r>
              <a:rPr lang="en-US" dirty="0" smtClean="0"/>
              <a:t>Discuss the advantages and disadvantages of </a:t>
            </a:r>
            <a:r>
              <a:rPr lang="en-US" dirty="0" err="1" smtClean="0"/>
              <a:t>Cardlytics’s</a:t>
            </a:r>
            <a:r>
              <a:rPr lang="en-US" dirty="0" smtClean="0"/>
              <a:t> data analyses for the merchants. Use specific examples in your answers.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smtClean="0">
                <a:solidFill>
                  <a:schemeClr val="tx1"/>
                </a:solidFill>
                <a:latin typeface="+mn-lt"/>
                <a:ea typeface="+mn-ea"/>
                <a:cs typeface="+mn-cs"/>
              </a:rPr>
              <a:t>Online Analytical Processing </a:t>
            </a:r>
            <a:r>
              <a:rPr lang="en-US" sz="1200" b="0" i="0" u="none" strike="noStrike" kern="1200" baseline="0" dirty="0" smtClean="0">
                <a:solidFill>
                  <a:schemeClr val="tx1"/>
                </a:solidFill>
                <a:latin typeface="+mn-lt"/>
                <a:ea typeface="+mn-ea"/>
                <a:cs typeface="+mn-cs"/>
              </a:rPr>
              <a:t>(OLAP - also referred to as </a:t>
            </a:r>
            <a:r>
              <a:rPr lang="en-US" sz="1200" b="1" i="0" u="none" strike="noStrike" kern="1200" baseline="0" dirty="0" smtClean="0">
                <a:solidFill>
                  <a:schemeClr val="tx1"/>
                </a:solidFill>
                <a:latin typeface="+mn-lt"/>
                <a:ea typeface="+mn-ea"/>
                <a:cs typeface="+mn-cs"/>
              </a:rPr>
              <a:t>multidimensional analysis) </a:t>
            </a:r>
            <a:r>
              <a:rPr lang="en-US" sz="1200" b="0" i="0" u="none" strike="noStrike" kern="1200" baseline="0" dirty="0" smtClean="0">
                <a:solidFill>
                  <a:schemeClr val="tx1"/>
                </a:solidFill>
                <a:latin typeface="+mn-lt"/>
                <a:ea typeface="+mn-ea"/>
                <a:cs typeface="+mn-cs"/>
              </a:rPr>
              <a:t>capabilities. OLAP involves “slicing and dicing” data stored in a dimensional format, drilling down in the data to greater detail, and aggregating the data.</a:t>
            </a:r>
          </a:p>
          <a:p>
            <a:r>
              <a:rPr lang="en-US" b="1" dirty="0" smtClean="0"/>
              <a:t>Data Mining: </a:t>
            </a:r>
            <a:r>
              <a:rPr lang="en-US" dirty="0" smtClean="0"/>
              <a:t>the process of searching for valuable business information in a large database, data warehouse, or data mart. </a:t>
            </a:r>
          </a:p>
          <a:p>
            <a:r>
              <a:rPr lang="en-US" b="1" dirty="0" smtClean="0"/>
              <a:t>Data Mining Can Perform Two Basic Operations:</a:t>
            </a:r>
          </a:p>
          <a:p>
            <a:r>
              <a:rPr lang="en-US" dirty="0" smtClean="0"/>
              <a:t>(1) predicting trends and behaviors</a:t>
            </a:r>
          </a:p>
          <a:p>
            <a:r>
              <a:rPr lang="en-US" dirty="0" smtClean="0"/>
              <a:t>(2) identifying previously unknown patterns.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1104584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Decision support systems (DSSs): </a:t>
            </a:r>
            <a:r>
              <a:rPr lang="en-US" dirty="0" smtClean="0"/>
              <a:t>combine models and data to analyze </a:t>
            </a:r>
            <a:r>
              <a:rPr lang="en-US" dirty="0" err="1" smtClean="0"/>
              <a:t>semistructured</a:t>
            </a:r>
            <a:r>
              <a:rPr lang="en-US" dirty="0" smtClean="0"/>
              <a:t> problems and some unstructured problems that involve extensive user involvement. Models are simplified representations, or abstractions, of reality.</a:t>
            </a:r>
          </a:p>
          <a:p>
            <a:r>
              <a:rPr lang="en-US" b="1" dirty="0" smtClean="0"/>
              <a:t>Sensitivity Analysis: </a:t>
            </a:r>
            <a:r>
              <a:rPr lang="en-US" dirty="0" smtClean="0"/>
              <a:t>Sensitivity analysis is the study of the impact that changes in one or more parts of a decision-making model have on other parts.</a:t>
            </a:r>
          </a:p>
          <a:p>
            <a:r>
              <a:rPr lang="en-US" b="1" dirty="0" smtClean="0"/>
              <a:t>What–If Analysis: </a:t>
            </a:r>
            <a:r>
              <a:rPr lang="en-US" dirty="0" smtClean="0"/>
              <a:t>A model builder must make predictions and assumptions regarding the input data, many of which are based on the assessment of uncertain futures. The results depend on the accuracy of these assumptions, which can be highly subjective.</a:t>
            </a:r>
          </a:p>
          <a:p>
            <a:r>
              <a:rPr lang="en-US" b="1" dirty="0" smtClean="0"/>
              <a:t>Goal-Seeking Analysis: </a:t>
            </a:r>
            <a:r>
              <a:rPr lang="en-US" dirty="0" smtClean="0"/>
              <a:t>represents a “backward” solution approach. It attempts to calculate the value of the inputs necessary to achieve a desired level of output.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3219633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Dashboard: </a:t>
            </a:r>
            <a:r>
              <a:rPr lang="en-US" sz="1200" b="0" i="0" u="none" strike="noStrike" kern="1200" baseline="0" dirty="0" smtClean="0">
                <a:solidFill>
                  <a:schemeClr val="tx1"/>
                </a:solidFill>
                <a:latin typeface="+mn-lt"/>
                <a:ea typeface="+mn-ea"/>
                <a:cs typeface="+mn-cs"/>
              </a:rPr>
              <a:t>provides easy access to timely information and direct access to management reports. They evolved from executive information systems, which were information systems designed specifically for the information needs of top executives</a:t>
            </a:r>
          </a:p>
          <a:p>
            <a:r>
              <a:rPr lang="en-US" b="1" dirty="0" smtClean="0"/>
              <a:t>Data Visualization: </a:t>
            </a:r>
            <a:r>
              <a:rPr lang="en-US" dirty="0" smtClean="0"/>
              <a:t>data presented to users in visual formats such as text, graphics, and tables following data processing. Data Visualization makes IT applications more attractive and understandable to users.</a:t>
            </a:r>
          </a:p>
          <a:p>
            <a:r>
              <a:rPr lang="en-US" b="1" dirty="0" smtClean="0"/>
              <a:t>Real-Time</a:t>
            </a:r>
            <a:r>
              <a:rPr lang="en-US" b="1" baseline="0" dirty="0" smtClean="0"/>
              <a:t> Business Intelligence: </a:t>
            </a:r>
            <a:r>
              <a:rPr lang="en-US" baseline="0" dirty="0" smtClean="0"/>
              <a:t>includes the use of real time data for analysis as it is created rather than using historical data for analysis.</a:t>
            </a: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2969891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Table 12.1 </a:t>
            </a:r>
            <a:r>
              <a:rPr lang="en-US" dirty="0" smtClean="0"/>
              <a:t>The Capabilities of Dashboards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1003435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12.3 </a:t>
            </a:r>
            <a:r>
              <a:rPr lang="en-US" dirty="0" smtClean="0"/>
              <a:t>Sample performance dashboard. (Image courtesy of </a:t>
            </a:r>
            <a:r>
              <a:rPr lang="en-US" dirty="0" err="1" smtClean="0"/>
              <a:t>Dundas</a:t>
            </a:r>
            <a:r>
              <a:rPr lang="en-US" dirty="0" smtClean="0"/>
              <a:t> Data Visualization, Inc., 2014 (www.dundas.com).)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2932989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12.4 </a:t>
            </a:r>
            <a:r>
              <a:rPr lang="en-US" dirty="0" smtClean="0"/>
              <a:t>A Bloomberg terminal. (Carlos </a:t>
            </a:r>
            <a:r>
              <a:rPr lang="en-US" dirty="0" err="1" smtClean="0"/>
              <a:t>Osario</a:t>
            </a:r>
            <a:r>
              <a:rPr lang="en-US" dirty="0" smtClean="0"/>
              <a:t>/</a:t>
            </a:r>
            <a:r>
              <a:rPr lang="en-US" dirty="0" err="1" smtClean="0"/>
              <a:t>Zuma</a:t>
            </a:r>
            <a:r>
              <a:rPr lang="en-US" dirty="0" smtClean="0"/>
              <a:t> Press.)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2199588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12.5 </a:t>
            </a:r>
            <a:r>
              <a:rPr lang="en-US" dirty="0" smtClean="0"/>
              <a:t>Management Cockpit. (The Management Cockpit is a registered trademark of SAP, created by Professor Patrick M. Georges.)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3344051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Geographic Information System (GIS): </a:t>
            </a:r>
            <a:r>
              <a:rPr lang="en-US" sz="1200" b="0" i="0" u="none" strike="noStrike" kern="1200" baseline="0" dirty="0" smtClean="0">
                <a:solidFill>
                  <a:schemeClr val="tx1"/>
                </a:solidFill>
                <a:latin typeface="+mn-lt"/>
                <a:ea typeface="+mn-ea"/>
                <a:cs typeface="+mn-cs"/>
              </a:rPr>
              <a:t>a computer-based system for capturing, integrating, manipulating, and displaying data using digitized maps. Its most distinguishing characteristic is that every record or digital object has an identified geographical location.</a:t>
            </a:r>
          </a:p>
          <a:p>
            <a:r>
              <a:rPr lang="en-US" sz="1200" b="1" i="0" u="none" strike="noStrike" kern="1200" baseline="0" dirty="0" smtClean="0">
                <a:solidFill>
                  <a:schemeClr val="tx1"/>
                </a:solidFill>
                <a:latin typeface="+mn-lt"/>
                <a:ea typeface="+mn-ea"/>
                <a:cs typeface="+mn-cs"/>
              </a:rPr>
              <a:t>Reality Mining: </a:t>
            </a:r>
            <a:r>
              <a:rPr lang="en-US" sz="1200" b="0" i="0" u="none" strike="noStrike" kern="1200" baseline="0" dirty="0" smtClean="0">
                <a:solidFill>
                  <a:schemeClr val="tx1"/>
                </a:solidFill>
                <a:latin typeface="+mn-lt"/>
                <a:ea typeface="+mn-ea"/>
                <a:cs typeface="+mn-cs"/>
              </a:rPr>
              <a:t>Graphical Information Systems (GIS) and Geographic Positioning Systems (GPS) together to produce an interesting new type of technology which allows analysts to extract information from the usage patterns of mobile phones and other wireless devices.</a:t>
            </a: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2386726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how your university might use GIS. Provide specific examples in your answer.</a:t>
            </a:r>
          </a:p>
          <a:p>
            <a:pPr marL="228600" indent="-228600">
              <a:buFont typeface="+mj-lt"/>
              <a:buAutoNum type="arabicPeriod"/>
            </a:pPr>
            <a:r>
              <a:rPr lang="en-US" dirty="0" smtClean="0"/>
              <a:t>What are potential disadvantages of GIS? Provide specific examples in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12.6 </a:t>
            </a:r>
            <a:r>
              <a:rPr lang="en-US" dirty="0" smtClean="0"/>
              <a:t>Support Center Operations Dashboard.</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1440838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Describe areas in which social sentiment analysis would be beneficial for your university. Provide specific examples to support your answer.</a:t>
            </a:r>
          </a:p>
          <a:p>
            <a:pPr marL="228600" indent="-228600">
              <a:buFont typeface="+mj-lt"/>
              <a:buAutoNum type="arabicPeriod"/>
            </a:pPr>
            <a:r>
              <a:rPr lang="en-US" b="0" dirty="0" smtClean="0"/>
              <a:t>Describe potential disadvantages that organizations might experience when using social sentiment analysis.</a:t>
            </a:r>
          </a:p>
          <a:p>
            <a:pPr marL="228600" indent="-228600">
              <a:buFont typeface="+mj-lt"/>
              <a:buAutoNum type="arabicPeriod"/>
            </a:pPr>
            <a:r>
              <a:rPr lang="en-US" b="0" dirty="0" smtClean="0"/>
              <a:t>What impacts could social sentiment analysis have on television reality shows? Provide specific examples in your answer.</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Business Intelligence</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12</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Identify the phases in the decision-making process, and use a decision support framework to demonstrate how technology supports managerial decision making.</a:t>
            </a:r>
          </a:p>
          <a:p>
            <a:r>
              <a:rPr lang="en-US" dirty="0"/>
              <a:t>Describe and provide examples of different ways that organizations use business intelligence (BI).</a:t>
            </a:r>
          </a:p>
          <a:p>
            <a:r>
              <a:rPr lang="en-US" dirty="0"/>
              <a:t>Specify the BI application available to users for data analysis, and provide examples of how each application can be used to solve a business problem at your university.</a:t>
            </a:r>
          </a:p>
          <a:p>
            <a:r>
              <a:rPr lang="en-US" dirty="0"/>
              <a:t>Describe three BI applications that present the results of data analyses to users, and offer examples of how businesses and government agencies can use each of these applications.</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Managers and Decision Making</a:t>
            </a:r>
          </a:p>
          <a:p>
            <a:r>
              <a:rPr lang="en-US" dirty="0"/>
              <a:t>What Is Business Intelligence?</a:t>
            </a:r>
          </a:p>
          <a:p>
            <a:r>
              <a:rPr lang="en-US" dirty="0"/>
              <a:t>Business Intelligence Applications for Data Analysis</a:t>
            </a:r>
          </a:p>
          <a:p>
            <a:r>
              <a:rPr lang="en-US" dirty="0"/>
              <a:t>Business Intelligence Applications for Presenting </a:t>
            </a:r>
            <a:r>
              <a:rPr lang="en-US" dirty="0" smtClean="0"/>
              <a:t>Results</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ConocoPhillips Uses BI to Produce More </a:t>
            </a:r>
            <a:r>
              <a:rPr lang="en-US" dirty="0" err="1" smtClean="0"/>
              <a:t>Oit</a:t>
            </a:r>
            <a:r>
              <a:rPr lang="en-US" dirty="0" smtClean="0"/>
              <a:t> &amp; Gas</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a:t>The </a:t>
            </a:r>
            <a:r>
              <a:rPr lang="en-US" dirty="0">
                <a:solidFill>
                  <a:schemeClr val="tx1">
                    <a:lumMod val="65000"/>
                    <a:lumOff val="35000"/>
                  </a:schemeClr>
                </a:solidFill>
              </a:rPr>
              <a:t>Business Problem</a:t>
            </a:r>
          </a:p>
          <a:p>
            <a:r>
              <a:rPr lang="en-US" dirty="0"/>
              <a:t>An</a:t>
            </a:r>
            <a:r>
              <a:rPr lang="en-US" dirty="0">
                <a:solidFill>
                  <a:schemeClr val="tx1">
                    <a:lumMod val="65000"/>
                    <a:lumOff val="35000"/>
                  </a:schemeClr>
                </a:solidFill>
              </a:rPr>
              <a:t> IT Solution</a:t>
            </a:r>
          </a:p>
          <a:p>
            <a:r>
              <a:rPr lang="en-US" dirty="0"/>
              <a:t>The </a:t>
            </a:r>
            <a:r>
              <a:rPr lang="en-US" dirty="0">
                <a:solidFill>
                  <a:schemeClr val="tx1">
                    <a:lumMod val="65000"/>
                    <a:lumOff val="35000"/>
                  </a:schemeClr>
                </a:solidFill>
              </a:rPr>
              <a:t>Results</a:t>
            </a:r>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How Much Rent Can You Charge</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12.1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Managers and Decision Makers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12.1</a:t>
            </a:r>
            <a:endParaRPr lang="en-US" dirty="0"/>
          </a:p>
        </p:txBody>
      </p:sp>
      <p:sp>
        <p:nvSpPr>
          <p:cNvPr id="4" name="Content Placeholder 3"/>
          <p:cNvSpPr>
            <a:spLocks noGrp="1"/>
          </p:cNvSpPr>
          <p:nvPr>
            <p:ph sz="quarter" idx="15"/>
          </p:nvPr>
        </p:nvSpPr>
        <p:spPr/>
        <p:txBody>
          <a:bodyPr>
            <a:normAutofit fontScale="92500"/>
          </a:bodyPr>
          <a:lstStyle/>
          <a:p>
            <a:r>
              <a:rPr lang="en-US" dirty="0" smtClean="0"/>
              <a:t>The Manager’s Job and Decision Making</a:t>
            </a:r>
          </a:p>
          <a:p>
            <a:r>
              <a:rPr lang="en-US" dirty="0" smtClean="0"/>
              <a:t>Why Managers Need IT Support</a:t>
            </a:r>
          </a:p>
          <a:p>
            <a:r>
              <a:rPr lang="en-US" dirty="0" smtClean="0"/>
              <a:t>What Information Technologies Are Available to Support Managers?</a:t>
            </a:r>
          </a:p>
          <a:p>
            <a:r>
              <a:rPr lang="en-US" dirty="0" smtClean="0"/>
              <a:t>A Framework for Computerized Decision Analysis</a:t>
            </a:r>
          </a:p>
        </p:txBody>
      </p:sp>
    </p:spTree>
    <p:extLst>
      <p:ext uri="{BB962C8B-B14F-4D97-AF65-F5344CB8AC3E}">
        <p14:creationId xmlns:p14="http://schemas.microsoft.com/office/powerpoint/2010/main" val="1389860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a:t>FIGURE 12.1 </a:t>
            </a:r>
            <a:r>
              <a:rPr lang="en-US" dirty="0"/>
              <a:t>The process and phases in decision making</a:t>
            </a:r>
            <a:r>
              <a:rPr lang="en-US" dirty="0" smtClean="0"/>
              <a:t>.</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708238" y="1447800"/>
            <a:ext cx="5803724"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7184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The Manager’s Job and Decision Making</a:t>
            </a:r>
            <a:endParaRPr lang="en-US" dirty="0"/>
          </a:p>
        </p:txBody>
      </p:sp>
      <p:sp>
        <p:nvSpPr>
          <p:cNvPr id="4" name="Content Placeholder 3"/>
          <p:cNvSpPr>
            <a:spLocks noGrp="1"/>
          </p:cNvSpPr>
          <p:nvPr>
            <p:ph sz="quarter" idx="14"/>
          </p:nvPr>
        </p:nvSpPr>
        <p:spPr/>
        <p:txBody>
          <a:bodyPr>
            <a:normAutofit/>
          </a:bodyPr>
          <a:lstStyle/>
          <a:p>
            <a:r>
              <a:rPr lang="en-US" dirty="0" smtClean="0"/>
              <a:t>Three basic roles of a manager</a:t>
            </a:r>
          </a:p>
          <a:p>
            <a:pPr lvl="1"/>
            <a:r>
              <a:rPr lang="en-US" dirty="0" smtClean="0"/>
              <a:t>Interpersonal</a:t>
            </a:r>
          </a:p>
          <a:p>
            <a:pPr lvl="1"/>
            <a:r>
              <a:rPr lang="en-US" dirty="0" smtClean="0"/>
              <a:t>Informational</a:t>
            </a:r>
          </a:p>
          <a:p>
            <a:pPr lvl="1"/>
            <a:r>
              <a:rPr lang="en-US" dirty="0" smtClean="0"/>
              <a:t>Decisional</a:t>
            </a:r>
          </a:p>
        </p:txBody>
      </p:sp>
    </p:spTree>
    <p:extLst>
      <p:ext uri="{BB962C8B-B14F-4D97-AF65-F5344CB8AC3E}">
        <p14:creationId xmlns:p14="http://schemas.microsoft.com/office/powerpoint/2010/main" val="1423451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Why Managers Need IT Support</a:t>
            </a:r>
            <a:endParaRPr lang="en-US" dirty="0"/>
          </a:p>
        </p:txBody>
      </p:sp>
      <p:sp>
        <p:nvSpPr>
          <p:cNvPr id="4" name="Content Placeholder 3"/>
          <p:cNvSpPr>
            <a:spLocks noGrp="1"/>
          </p:cNvSpPr>
          <p:nvPr>
            <p:ph sz="quarter" idx="14"/>
          </p:nvPr>
        </p:nvSpPr>
        <p:spPr/>
        <p:txBody>
          <a:bodyPr>
            <a:normAutofit/>
          </a:bodyPr>
          <a:lstStyle/>
          <a:p>
            <a:r>
              <a:rPr lang="en-US" dirty="0" smtClean="0"/>
              <a:t>Decision making is difficult due to the following trends:</a:t>
            </a:r>
          </a:p>
          <a:p>
            <a:pPr lvl="1"/>
            <a:r>
              <a:rPr lang="en-US" dirty="0" smtClean="0"/>
              <a:t>Number of alternatives is constantly increasing</a:t>
            </a:r>
          </a:p>
          <a:p>
            <a:pPr lvl="1"/>
            <a:r>
              <a:rPr lang="en-US" dirty="0" smtClean="0"/>
              <a:t>Most decisions must be made under time pressure</a:t>
            </a:r>
          </a:p>
          <a:p>
            <a:pPr lvl="1"/>
            <a:r>
              <a:rPr lang="en-US" dirty="0" smtClean="0"/>
              <a:t>Increased uncertainty in the decision environment</a:t>
            </a:r>
          </a:p>
          <a:p>
            <a:pPr lvl="1"/>
            <a:r>
              <a:rPr lang="en-US" dirty="0" smtClean="0"/>
              <a:t>Often necessary to rapidly access remote information, consult with experts, or conduct a group decision-making session</a:t>
            </a:r>
          </a:p>
          <a:p>
            <a:endParaRPr lang="en-US" dirty="0" smtClean="0"/>
          </a:p>
        </p:txBody>
      </p:sp>
    </p:spTree>
    <p:extLst>
      <p:ext uri="{BB962C8B-B14F-4D97-AF65-F5344CB8AC3E}">
        <p14:creationId xmlns:p14="http://schemas.microsoft.com/office/powerpoint/2010/main" val="404032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7500" lnSpcReduction="20000"/>
          </a:bodyPr>
          <a:lstStyle/>
          <a:p>
            <a:r>
              <a:rPr lang="en-US" dirty="0" smtClean="0"/>
              <a:t>What Information Technologies are Available to Support Managers?</a:t>
            </a:r>
            <a:endParaRPr lang="en-US" dirty="0"/>
          </a:p>
        </p:txBody>
      </p:sp>
      <p:sp>
        <p:nvSpPr>
          <p:cNvPr id="4" name="Content Placeholder 3"/>
          <p:cNvSpPr>
            <a:spLocks noGrp="1"/>
          </p:cNvSpPr>
          <p:nvPr>
            <p:ph sz="quarter" idx="14"/>
          </p:nvPr>
        </p:nvSpPr>
        <p:spPr/>
        <p:txBody>
          <a:bodyPr>
            <a:normAutofit/>
          </a:bodyPr>
          <a:lstStyle/>
          <a:p>
            <a:r>
              <a:rPr lang="en-US" dirty="0" smtClean="0"/>
              <a:t>Business Intelligence (BI)</a:t>
            </a:r>
          </a:p>
        </p:txBody>
      </p:sp>
    </p:spTree>
    <p:extLst>
      <p:ext uri="{BB962C8B-B14F-4D97-AF65-F5344CB8AC3E}">
        <p14:creationId xmlns:p14="http://schemas.microsoft.com/office/powerpoint/2010/main" val="3986810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smtClean="0"/>
              <a:t>A Framework for Computerized Decision Analysis</a:t>
            </a:r>
            <a:endParaRPr lang="en-US" dirty="0"/>
          </a:p>
        </p:txBody>
      </p:sp>
      <p:sp>
        <p:nvSpPr>
          <p:cNvPr id="4" name="Content Placeholder 3"/>
          <p:cNvSpPr>
            <a:spLocks noGrp="1"/>
          </p:cNvSpPr>
          <p:nvPr>
            <p:ph sz="quarter" idx="14"/>
          </p:nvPr>
        </p:nvSpPr>
        <p:spPr/>
        <p:txBody>
          <a:bodyPr>
            <a:normAutofit fontScale="85000" lnSpcReduction="20000"/>
          </a:bodyPr>
          <a:lstStyle/>
          <a:p>
            <a:r>
              <a:rPr lang="en-US" dirty="0" smtClean="0"/>
              <a:t>Problem Structure</a:t>
            </a:r>
          </a:p>
          <a:p>
            <a:pPr lvl="1"/>
            <a:r>
              <a:rPr lang="en-US" dirty="0" smtClean="0"/>
              <a:t>Structured</a:t>
            </a:r>
          </a:p>
          <a:p>
            <a:pPr lvl="1"/>
            <a:r>
              <a:rPr lang="en-US" dirty="0" smtClean="0"/>
              <a:t>Semi-structure</a:t>
            </a:r>
          </a:p>
          <a:p>
            <a:pPr lvl="1"/>
            <a:r>
              <a:rPr lang="en-US" dirty="0" smtClean="0"/>
              <a:t>Unstructured Decisions</a:t>
            </a:r>
          </a:p>
          <a:p>
            <a:r>
              <a:rPr lang="en-US" dirty="0" smtClean="0"/>
              <a:t>Nature of Decisions</a:t>
            </a:r>
          </a:p>
          <a:p>
            <a:pPr lvl="1"/>
            <a:r>
              <a:rPr lang="en-US" dirty="0" smtClean="0"/>
              <a:t>Three broad categories of managerial decisions</a:t>
            </a:r>
          </a:p>
          <a:p>
            <a:pPr lvl="2"/>
            <a:r>
              <a:rPr lang="en-US" dirty="0" smtClean="0"/>
              <a:t>Operational control</a:t>
            </a:r>
          </a:p>
          <a:p>
            <a:pPr lvl="2"/>
            <a:r>
              <a:rPr lang="en-US" dirty="0" smtClean="0"/>
              <a:t>Management  control</a:t>
            </a:r>
          </a:p>
          <a:p>
            <a:pPr lvl="2"/>
            <a:r>
              <a:rPr lang="en-US" dirty="0" smtClean="0"/>
              <a:t>Strategic planning</a:t>
            </a:r>
          </a:p>
          <a:p>
            <a:r>
              <a:rPr lang="en-US" dirty="0" smtClean="0"/>
              <a:t>The Decision Matrix</a:t>
            </a:r>
          </a:p>
          <a:p>
            <a:r>
              <a:rPr lang="en-US" dirty="0" smtClean="0"/>
              <a:t>Computer Support for Structured Decisions</a:t>
            </a:r>
          </a:p>
          <a:p>
            <a:endParaRPr lang="en-US" dirty="0" smtClean="0"/>
          </a:p>
        </p:txBody>
      </p:sp>
    </p:spTree>
    <p:extLst>
      <p:ext uri="{BB962C8B-B14F-4D97-AF65-F5344CB8AC3E}">
        <p14:creationId xmlns:p14="http://schemas.microsoft.com/office/powerpoint/2010/main" val="507308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62500" lnSpcReduction="20000"/>
          </a:bodyPr>
          <a:lstStyle/>
          <a:p>
            <a:r>
              <a:rPr lang="en-US" b="1" dirty="0"/>
              <a:t>FIGURE 12.2 </a:t>
            </a:r>
            <a:r>
              <a:rPr lang="en-US" dirty="0"/>
              <a:t>Decision support framework. </a:t>
            </a:r>
          </a:p>
        </p:txBody>
      </p:sp>
      <p:pic>
        <p:nvPicPr>
          <p:cNvPr id="10" name="Picture 3"/>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833809"/>
            <a:ext cx="8153400" cy="4333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658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Problem Structure</a:t>
            </a:r>
            <a:endParaRPr lang="en-US" dirty="0"/>
          </a:p>
        </p:txBody>
      </p:sp>
      <p:sp>
        <p:nvSpPr>
          <p:cNvPr id="4" name="Content Placeholder 3"/>
          <p:cNvSpPr>
            <a:spLocks noGrp="1"/>
          </p:cNvSpPr>
          <p:nvPr>
            <p:ph type="body" sz="quarter" idx="13"/>
          </p:nvPr>
        </p:nvSpPr>
        <p:spPr/>
        <p:txBody>
          <a:bodyPr>
            <a:normAutofit/>
          </a:bodyPr>
          <a:lstStyle/>
          <a:p>
            <a:r>
              <a:rPr lang="en-US" dirty="0" smtClean="0"/>
              <a:t>Structured</a:t>
            </a:r>
          </a:p>
          <a:p>
            <a:r>
              <a:rPr lang="en-US" dirty="0" smtClean="0"/>
              <a:t>Semi-structure</a:t>
            </a:r>
          </a:p>
          <a:p>
            <a:r>
              <a:rPr lang="en-US" dirty="0" smtClean="0"/>
              <a:t>Unstructured Decisions</a:t>
            </a:r>
          </a:p>
          <a:p>
            <a:endParaRPr lang="en-US" dirty="0" smtClean="0"/>
          </a:p>
        </p:txBody>
      </p:sp>
    </p:spTree>
    <p:extLst>
      <p:ext uri="{BB962C8B-B14F-4D97-AF65-F5344CB8AC3E}">
        <p14:creationId xmlns:p14="http://schemas.microsoft.com/office/powerpoint/2010/main" val="661970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Nature of Decision</a:t>
            </a:r>
            <a:endParaRPr lang="en-US" dirty="0"/>
          </a:p>
        </p:txBody>
      </p:sp>
      <p:sp>
        <p:nvSpPr>
          <p:cNvPr id="4" name="Content Placeholder 3"/>
          <p:cNvSpPr>
            <a:spLocks noGrp="1"/>
          </p:cNvSpPr>
          <p:nvPr>
            <p:ph type="body" sz="quarter" idx="13"/>
          </p:nvPr>
        </p:nvSpPr>
        <p:spPr/>
        <p:txBody>
          <a:bodyPr>
            <a:normAutofit/>
          </a:bodyPr>
          <a:lstStyle/>
          <a:p>
            <a:r>
              <a:rPr lang="en-US" dirty="0" smtClean="0"/>
              <a:t>Three broad categories of managerial control in decision making</a:t>
            </a:r>
          </a:p>
          <a:p>
            <a:pPr lvl="1"/>
            <a:r>
              <a:rPr lang="en-US" dirty="0" smtClean="0"/>
              <a:t>Operational control</a:t>
            </a:r>
          </a:p>
          <a:p>
            <a:pPr lvl="1"/>
            <a:r>
              <a:rPr lang="en-US" dirty="0" smtClean="0"/>
              <a:t>Management  control</a:t>
            </a:r>
          </a:p>
          <a:p>
            <a:pPr lvl="1"/>
            <a:r>
              <a:rPr lang="en-US" dirty="0" smtClean="0"/>
              <a:t>Strategic planning</a:t>
            </a:r>
          </a:p>
        </p:txBody>
      </p:sp>
    </p:spTree>
    <p:extLst>
      <p:ext uri="{BB962C8B-B14F-4D97-AF65-F5344CB8AC3E}">
        <p14:creationId xmlns:p14="http://schemas.microsoft.com/office/powerpoint/2010/main" val="2041313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What is Business Intelligence?</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12.2</a:t>
            </a:r>
            <a:endParaRPr lang="en-US" dirty="0"/>
          </a:p>
        </p:txBody>
      </p:sp>
      <p:sp>
        <p:nvSpPr>
          <p:cNvPr id="4" name="Content Placeholder 3"/>
          <p:cNvSpPr>
            <a:spLocks noGrp="1"/>
          </p:cNvSpPr>
          <p:nvPr>
            <p:ph sz="quarter" idx="15"/>
          </p:nvPr>
        </p:nvSpPr>
        <p:spPr/>
        <p:txBody>
          <a:bodyPr>
            <a:normAutofit lnSpcReduction="10000"/>
          </a:bodyPr>
          <a:lstStyle/>
          <a:p>
            <a:r>
              <a:rPr lang="en-US" dirty="0"/>
              <a:t>The Scope of Business </a:t>
            </a:r>
            <a:r>
              <a:rPr lang="en-US" dirty="0" smtClean="0"/>
              <a:t>Intelligence</a:t>
            </a:r>
            <a:endParaRPr lang="en-US" dirty="0"/>
          </a:p>
          <a:p>
            <a:pPr lvl="1"/>
            <a:r>
              <a:rPr lang="en-US" dirty="0" smtClean="0"/>
              <a:t>The Development of One or a Few Related BI Applications</a:t>
            </a:r>
          </a:p>
          <a:p>
            <a:pPr lvl="1"/>
            <a:r>
              <a:rPr lang="en-US" dirty="0" smtClean="0"/>
              <a:t>The Development of Infrastructure to Support Enterprise-wide BI</a:t>
            </a:r>
          </a:p>
          <a:p>
            <a:pPr lvl="1"/>
            <a:r>
              <a:rPr lang="en-US" dirty="0" smtClean="0"/>
              <a:t>Support for Organizational Transformation</a:t>
            </a:r>
            <a:endParaRPr lang="en-US" dirty="0"/>
          </a:p>
        </p:txBody>
      </p:sp>
    </p:spTree>
    <p:extLst>
      <p:ext uri="{BB962C8B-B14F-4D97-AF65-F5344CB8AC3E}">
        <p14:creationId xmlns:p14="http://schemas.microsoft.com/office/powerpoint/2010/main" val="910120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Predicting Airplane Arrivals More Accurately</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12.2</a:t>
            </a:r>
            <a:endParaRPr lang="en-US" dirty="0"/>
          </a:p>
        </p:txBody>
      </p:sp>
    </p:spTree>
    <p:extLst>
      <p:ext uri="{BB962C8B-B14F-4D97-AF65-F5344CB8AC3E}">
        <p14:creationId xmlns:p14="http://schemas.microsoft.com/office/powerpoint/2010/main" val="9752317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err="1" smtClean="0"/>
              <a:t>Cardlytics</a:t>
            </a:r>
            <a:r>
              <a:rPr lang="en-US" dirty="0" smtClean="0"/>
              <a:t> Analyzes Customer Buying Behaviors</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12.3</a:t>
            </a:r>
            <a:endParaRPr lang="en-US" dirty="0"/>
          </a:p>
        </p:txBody>
      </p:sp>
    </p:spTree>
    <p:extLst>
      <p:ext uri="{BB962C8B-B14F-4D97-AF65-F5344CB8AC3E}">
        <p14:creationId xmlns:p14="http://schemas.microsoft.com/office/powerpoint/2010/main" val="6563659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smtClean="0"/>
              <a:t>Business Intelligence Applications for Data Analysis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12.3</a:t>
            </a:r>
            <a:endParaRPr lang="en-US" dirty="0"/>
          </a:p>
        </p:txBody>
      </p:sp>
      <p:sp>
        <p:nvSpPr>
          <p:cNvPr id="4" name="Content Placeholder 3"/>
          <p:cNvSpPr>
            <a:spLocks noGrp="1"/>
          </p:cNvSpPr>
          <p:nvPr>
            <p:ph sz="quarter" idx="15"/>
          </p:nvPr>
        </p:nvSpPr>
        <p:spPr/>
        <p:txBody>
          <a:bodyPr>
            <a:normAutofit/>
          </a:bodyPr>
          <a:lstStyle/>
          <a:p>
            <a:r>
              <a:rPr lang="en-US" dirty="0" smtClean="0"/>
              <a:t>Multidimensional Analysis or Online Analytical Processing (OLAP) (aka, multidimensional analysis)</a:t>
            </a:r>
          </a:p>
          <a:p>
            <a:r>
              <a:rPr lang="en-US" dirty="0" smtClean="0"/>
              <a:t>Data Mining</a:t>
            </a:r>
          </a:p>
          <a:p>
            <a:r>
              <a:rPr lang="en-US" dirty="0" smtClean="0"/>
              <a:t>Decision Support Systems (DSS)</a:t>
            </a:r>
          </a:p>
        </p:txBody>
      </p:sp>
    </p:spTree>
    <p:extLst>
      <p:ext uri="{BB962C8B-B14F-4D97-AF65-F5344CB8AC3E}">
        <p14:creationId xmlns:p14="http://schemas.microsoft.com/office/powerpoint/2010/main" val="874135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Data Mining is Used in:</a:t>
            </a:r>
            <a:endParaRPr lang="en-US" dirty="0"/>
          </a:p>
        </p:txBody>
      </p:sp>
      <p:sp>
        <p:nvSpPr>
          <p:cNvPr id="4" name="Content Placeholder 3"/>
          <p:cNvSpPr>
            <a:spLocks noGrp="1"/>
          </p:cNvSpPr>
          <p:nvPr>
            <p:ph sz="quarter" idx="14"/>
          </p:nvPr>
        </p:nvSpPr>
        <p:spPr/>
        <p:txBody>
          <a:bodyPr>
            <a:normAutofit lnSpcReduction="10000"/>
          </a:bodyPr>
          <a:lstStyle/>
          <a:p>
            <a:r>
              <a:rPr lang="en-US" dirty="0" smtClean="0"/>
              <a:t>Retailing and sales</a:t>
            </a:r>
          </a:p>
          <a:p>
            <a:r>
              <a:rPr lang="en-US" dirty="0" smtClean="0"/>
              <a:t>Banking</a:t>
            </a:r>
          </a:p>
          <a:p>
            <a:r>
              <a:rPr lang="en-US" dirty="0" smtClean="0"/>
              <a:t>Manufacturing and production</a:t>
            </a:r>
          </a:p>
          <a:p>
            <a:r>
              <a:rPr lang="en-US" dirty="0" smtClean="0"/>
              <a:t>Insurance</a:t>
            </a:r>
          </a:p>
          <a:p>
            <a:r>
              <a:rPr lang="en-US" dirty="0" smtClean="0"/>
              <a:t>Police work</a:t>
            </a:r>
          </a:p>
          <a:p>
            <a:r>
              <a:rPr lang="en-US" dirty="0" smtClean="0"/>
              <a:t>Healthcare</a:t>
            </a:r>
          </a:p>
          <a:p>
            <a:r>
              <a:rPr lang="en-US" dirty="0" smtClean="0"/>
              <a:t>Marketing</a:t>
            </a:r>
          </a:p>
        </p:txBody>
      </p:sp>
    </p:spTree>
    <p:extLst>
      <p:ext uri="{BB962C8B-B14F-4D97-AF65-F5344CB8AC3E}">
        <p14:creationId xmlns:p14="http://schemas.microsoft.com/office/powerpoint/2010/main" val="3430318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Decision Support Systems (DSS)</a:t>
            </a:r>
            <a:endParaRPr lang="en-US" dirty="0"/>
          </a:p>
        </p:txBody>
      </p:sp>
      <p:sp>
        <p:nvSpPr>
          <p:cNvPr id="4" name="Content Placeholder 3"/>
          <p:cNvSpPr>
            <a:spLocks noGrp="1"/>
          </p:cNvSpPr>
          <p:nvPr>
            <p:ph sz="quarter" idx="14"/>
          </p:nvPr>
        </p:nvSpPr>
        <p:spPr/>
        <p:txBody>
          <a:bodyPr>
            <a:normAutofit/>
          </a:bodyPr>
          <a:lstStyle/>
          <a:p>
            <a:r>
              <a:rPr lang="en-US" dirty="0" smtClean="0"/>
              <a:t>Sensitivity Analysis</a:t>
            </a:r>
          </a:p>
          <a:p>
            <a:r>
              <a:rPr lang="en-US" dirty="0" smtClean="0"/>
              <a:t>What-if Analysis</a:t>
            </a:r>
          </a:p>
          <a:p>
            <a:r>
              <a:rPr lang="en-US" dirty="0" smtClean="0"/>
              <a:t>Goal-Seeking Analysis</a:t>
            </a:r>
          </a:p>
          <a:p>
            <a:endParaRPr lang="en-US" dirty="0"/>
          </a:p>
        </p:txBody>
      </p:sp>
    </p:spTree>
    <p:extLst>
      <p:ext uri="{BB962C8B-B14F-4D97-AF65-F5344CB8AC3E}">
        <p14:creationId xmlns:p14="http://schemas.microsoft.com/office/powerpoint/2010/main" val="2927639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20000"/>
          </a:bodyPr>
          <a:lstStyle/>
          <a:p>
            <a:r>
              <a:rPr lang="en-US" dirty="0" smtClean="0"/>
              <a:t>Business Intelligence Applications for Presenting Results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12.4</a:t>
            </a:r>
            <a:endParaRPr lang="en-US" dirty="0"/>
          </a:p>
        </p:txBody>
      </p:sp>
      <p:sp>
        <p:nvSpPr>
          <p:cNvPr id="4" name="Content Placeholder 3"/>
          <p:cNvSpPr>
            <a:spLocks noGrp="1"/>
          </p:cNvSpPr>
          <p:nvPr>
            <p:ph sz="quarter" idx="15"/>
          </p:nvPr>
        </p:nvSpPr>
        <p:spPr/>
        <p:txBody>
          <a:bodyPr>
            <a:normAutofit/>
          </a:bodyPr>
          <a:lstStyle/>
          <a:p>
            <a:r>
              <a:rPr lang="en-US" dirty="0" smtClean="0"/>
              <a:t>Dashboards</a:t>
            </a:r>
          </a:p>
          <a:p>
            <a:r>
              <a:rPr lang="en-US" dirty="0" smtClean="0"/>
              <a:t>Data Visualization Technologies</a:t>
            </a:r>
          </a:p>
          <a:p>
            <a:r>
              <a:rPr lang="en-US" dirty="0" smtClean="0"/>
              <a:t>Real-Time BI</a:t>
            </a:r>
          </a:p>
          <a:p>
            <a:endParaRPr lang="en-US" dirty="0"/>
          </a:p>
        </p:txBody>
      </p:sp>
    </p:spTree>
    <p:extLst>
      <p:ext uri="{BB962C8B-B14F-4D97-AF65-F5344CB8AC3E}">
        <p14:creationId xmlns:p14="http://schemas.microsoft.com/office/powerpoint/2010/main" val="2747279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62500" lnSpcReduction="20000"/>
          </a:bodyPr>
          <a:lstStyle/>
          <a:p>
            <a:r>
              <a:rPr lang="en-US" b="1" dirty="0" smtClean="0"/>
              <a:t>Table 12.1 </a:t>
            </a:r>
            <a:r>
              <a:rPr lang="en-US" dirty="0" smtClean="0"/>
              <a:t>The Capabilities of Dashboards</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507201"/>
            <a:ext cx="8153400" cy="4986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6282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55000" lnSpcReduction="20000"/>
          </a:bodyPr>
          <a:lstStyle/>
          <a:p>
            <a:r>
              <a:rPr lang="en-US" b="1" dirty="0"/>
              <a:t>FIGURE 12.3 </a:t>
            </a:r>
            <a:r>
              <a:rPr lang="en-US" dirty="0"/>
              <a:t>Sample performance dashboard. </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181325" y="1447800"/>
            <a:ext cx="6857549"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410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0000" lnSpcReduction="20000"/>
          </a:bodyPr>
          <a:lstStyle/>
          <a:p>
            <a:r>
              <a:rPr lang="en-US" b="1" dirty="0"/>
              <a:t>FIGURE 12.4 </a:t>
            </a:r>
            <a:r>
              <a:rPr lang="en-US" dirty="0"/>
              <a:t>A Bloomberg terminal. </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303607" y="1447800"/>
            <a:ext cx="6612986"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8038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7500" lnSpcReduction="20000"/>
          </a:bodyPr>
          <a:lstStyle/>
          <a:p>
            <a:r>
              <a:rPr lang="en-US" b="1" dirty="0"/>
              <a:t>FIGURE 12.5 </a:t>
            </a:r>
            <a:r>
              <a:rPr lang="en-US" dirty="0"/>
              <a:t>Management Cockpit. </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045731" y="1447800"/>
            <a:ext cx="7128738"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3493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Dashboards</a:t>
            </a:r>
            <a:endParaRPr lang="en-US" dirty="0"/>
          </a:p>
        </p:txBody>
      </p:sp>
      <p:sp>
        <p:nvSpPr>
          <p:cNvPr id="4" name="Content Placeholder 3"/>
          <p:cNvSpPr>
            <a:spLocks noGrp="1"/>
          </p:cNvSpPr>
          <p:nvPr>
            <p:ph sz="quarter" idx="14"/>
          </p:nvPr>
        </p:nvSpPr>
        <p:spPr/>
        <p:txBody>
          <a:bodyPr>
            <a:normAutofit/>
          </a:bodyPr>
          <a:lstStyle/>
          <a:p>
            <a:r>
              <a:rPr lang="en-US" dirty="0" smtClean="0"/>
              <a:t>Capabilities of Dashboards</a:t>
            </a:r>
          </a:p>
          <a:p>
            <a:pPr lvl="1"/>
            <a:r>
              <a:rPr lang="en-US" dirty="0" smtClean="0"/>
              <a:t>Drill-down</a:t>
            </a:r>
          </a:p>
          <a:p>
            <a:pPr lvl="1"/>
            <a:r>
              <a:rPr lang="en-US" dirty="0" smtClean="0"/>
              <a:t>Critical Success Factors (CSF)</a:t>
            </a:r>
          </a:p>
          <a:p>
            <a:pPr lvl="1"/>
            <a:r>
              <a:rPr lang="en-US" dirty="0" smtClean="0"/>
              <a:t>Key Performance Indicators (KPI)</a:t>
            </a:r>
          </a:p>
          <a:p>
            <a:pPr lvl="1"/>
            <a:r>
              <a:rPr lang="en-US" dirty="0" smtClean="0"/>
              <a:t>Status Access</a:t>
            </a:r>
          </a:p>
          <a:p>
            <a:pPr lvl="1"/>
            <a:r>
              <a:rPr lang="en-US" dirty="0" smtClean="0"/>
              <a:t>Trend Analysis</a:t>
            </a:r>
          </a:p>
          <a:p>
            <a:pPr lvl="1"/>
            <a:r>
              <a:rPr lang="en-US" dirty="0" smtClean="0"/>
              <a:t>Exception Reporting</a:t>
            </a:r>
            <a:endParaRPr lang="en-US" dirty="0"/>
          </a:p>
        </p:txBody>
      </p:sp>
    </p:spTree>
    <p:extLst>
      <p:ext uri="{BB962C8B-B14F-4D97-AF65-F5344CB8AC3E}">
        <p14:creationId xmlns:p14="http://schemas.microsoft.com/office/powerpoint/2010/main" val="2857792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Data Visualization Technologies</a:t>
            </a:r>
            <a:endParaRPr lang="en-US" dirty="0"/>
          </a:p>
        </p:txBody>
      </p:sp>
      <p:sp>
        <p:nvSpPr>
          <p:cNvPr id="4" name="Content Placeholder 3"/>
          <p:cNvSpPr>
            <a:spLocks noGrp="1"/>
          </p:cNvSpPr>
          <p:nvPr>
            <p:ph sz="quarter" idx="14"/>
          </p:nvPr>
        </p:nvSpPr>
        <p:spPr/>
        <p:txBody>
          <a:bodyPr>
            <a:normAutofit/>
          </a:bodyPr>
          <a:lstStyle/>
          <a:p>
            <a:r>
              <a:rPr lang="en-US" dirty="0" smtClean="0"/>
              <a:t>Geographical Information Systems</a:t>
            </a:r>
          </a:p>
          <a:p>
            <a:pPr lvl="1"/>
            <a:r>
              <a:rPr lang="en-US" dirty="0" smtClean="0"/>
              <a:t>Geocoding</a:t>
            </a:r>
          </a:p>
          <a:p>
            <a:r>
              <a:rPr lang="en-US" dirty="0" smtClean="0"/>
              <a:t>Reality Mining</a:t>
            </a:r>
          </a:p>
          <a:p>
            <a:r>
              <a:rPr lang="en-US" dirty="0" smtClean="0"/>
              <a:t>Example</a:t>
            </a:r>
          </a:p>
          <a:p>
            <a:pPr lvl="1"/>
            <a:r>
              <a:rPr lang="en-US" dirty="0" smtClean="0"/>
              <a:t>New York City</a:t>
            </a:r>
          </a:p>
          <a:p>
            <a:pPr lvl="1"/>
            <a:r>
              <a:rPr lang="en-US" dirty="0" smtClean="0"/>
              <a:t>Singapore</a:t>
            </a:r>
          </a:p>
          <a:p>
            <a:pPr lvl="1"/>
            <a:r>
              <a:rPr lang="en-US" dirty="0" smtClean="0"/>
              <a:t>Other Major Cities</a:t>
            </a:r>
            <a:endParaRPr lang="en-US" dirty="0"/>
          </a:p>
        </p:txBody>
      </p:sp>
    </p:spTree>
    <p:extLst>
      <p:ext uri="{BB962C8B-B14F-4D97-AF65-F5344CB8AC3E}">
        <p14:creationId xmlns:p14="http://schemas.microsoft.com/office/powerpoint/2010/main" val="3157985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Geographic Information Systems Have Many Uses</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12.4</a:t>
            </a:r>
            <a:endParaRPr lang="en-US" dirty="0"/>
          </a:p>
        </p:txBody>
      </p:sp>
    </p:spTree>
    <p:extLst>
      <p:ext uri="{BB962C8B-B14F-4D97-AF65-F5344CB8AC3E}">
        <p14:creationId xmlns:p14="http://schemas.microsoft.com/office/powerpoint/2010/main" val="9752317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normAutofit fontScale="47500" lnSpcReduction="20000"/>
          </a:bodyPr>
          <a:lstStyle/>
          <a:p>
            <a:r>
              <a:rPr lang="en-US" b="1" dirty="0"/>
              <a:t>FIGURE 12.6 </a:t>
            </a:r>
            <a:r>
              <a:rPr lang="en-US" dirty="0"/>
              <a:t>Support Center Operations Dashboard</a:t>
            </a:r>
            <a:r>
              <a:rPr lang="en-US" dirty="0" smtClean="0"/>
              <a:t>.</a:t>
            </a:r>
            <a:endParaRPr lang="en-US" dirty="0"/>
          </a:p>
        </p:txBody>
      </p:sp>
      <p:pic>
        <p:nvPicPr>
          <p:cNvPr id="9"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890334" y="1447800"/>
            <a:ext cx="7439532"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56883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Social </a:t>
            </a:r>
            <a:br>
              <a:rPr lang="en-US" dirty="0" smtClean="0"/>
            </a:br>
            <a:r>
              <a:rPr lang="en-US" dirty="0" smtClean="0"/>
              <a:t>Sentiment Analysis</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Business Problem</a:t>
            </a:r>
          </a:p>
          <a:p>
            <a:r>
              <a:rPr lang="en-US" dirty="0" smtClean="0"/>
              <a:t>The </a:t>
            </a:r>
            <a:r>
              <a:rPr lang="en-US" dirty="0" smtClean="0">
                <a:solidFill>
                  <a:schemeClr val="tx1">
                    <a:lumMod val="65000"/>
                    <a:lumOff val="35000"/>
                  </a:schemeClr>
                </a:solidFill>
              </a:rPr>
              <a:t>IT Solution</a:t>
            </a:r>
          </a:p>
          <a:p>
            <a:r>
              <a:rPr lang="en-US" dirty="0"/>
              <a:t>The </a:t>
            </a:r>
            <a:r>
              <a:rPr lang="en-US" dirty="0" smtClean="0">
                <a:solidFill>
                  <a:schemeClr val="tx1">
                    <a:lumMod val="65000"/>
                    <a:lumOff val="35000"/>
                  </a:schemeClr>
                </a:solidFill>
              </a:rPr>
              <a:t>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16333</TotalTime>
  <Words>1916</Words>
  <Application>Microsoft Office PowerPoint</Application>
  <PresentationFormat>On-screen Show (4:3)</PresentationFormat>
  <Paragraphs>216</Paragraphs>
  <Slides>31</Slides>
  <Notes>21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 WEB RESOURCES]</vt:lpstr>
      <vt:lpstr>[ Opening Case ConocoPhillips Uses BI to Produce More Oit &amp; Gas]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Social  Sentiment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Rainer_6e_Chapter12_Slides</dc:title>
  <dc:creator>John Kenneth Corley</dc:creator>
  <cp:lastModifiedBy>techsupport</cp:lastModifiedBy>
  <cp:revision>509</cp:revision>
  <dcterms:created xsi:type="dcterms:W3CDTF">2013-08-07T23:49:12Z</dcterms:created>
  <dcterms:modified xsi:type="dcterms:W3CDTF">2015-10-01T20:06:20Z</dcterms:modified>
</cp:coreProperties>
</file>