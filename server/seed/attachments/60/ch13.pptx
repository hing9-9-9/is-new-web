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728" r:id="rId2"/>
    <p:sldId id="729" r:id="rId3"/>
    <p:sldId id="730" r:id="rId4"/>
    <p:sldId id="757" r:id="rId5"/>
    <p:sldId id="733" r:id="rId6"/>
    <p:sldId id="1028" r:id="rId7"/>
    <p:sldId id="1203" r:id="rId8"/>
    <p:sldId id="1029" r:id="rId9"/>
    <p:sldId id="1030" r:id="rId10"/>
    <p:sldId id="1031" r:id="rId11"/>
    <p:sldId id="1032" r:id="rId12"/>
    <p:sldId id="1033" r:id="rId13"/>
    <p:sldId id="1034" r:id="rId14"/>
    <p:sldId id="1035" r:id="rId15"/>
    <p:sldId id="1209" r:id="rId16"/>
    <p:sldId id="734" r:id="rId17"/>
    <p:sldId id="1079" r:id="rId18"/>
    <p:sldId id="1036" r:id="rId19"/>
    <p:sldId id="1037" r:id="rId20"/>
    <p:sldId id="1204" r:id="rId21"/>
    <p:sldId id="1205" r:id="rId22"/>
    <p:sldId id="1038" r:id="rId23"/>
    <p:sldId id="1206" r:id="rId24"/>
    <p:sldId id="1039" r:id="rId25"/>
    <p:sldId id="1040" r:id="rId26"/>
    <p:sldId id="1041" r:id="rId27"/>
    <p:sldId id="1210" r:id="rId28"/>
    <p:sldId id="1042" r:id="rId29"/>
    <p:sldId id="1211" r:id="rId30"/>
    <p:sldId id="1043" r:id="rId31"/>
    <p:sldId id="1212" r:id="rId32"/>
    <p:sldId id="1080" r:id="rId33"/>
    <p:sldId id="1207" r:id="rId34"/>
    <p:sldId id="1044" r:id="rId35"/>
    <p:sldId id="1208" r:id="rId36"/>
    <p:sldId id="1045" r:id="rId37"/>
    <p:sldId id="109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Were the problems with the Healthcare.gov Web site the result of management, technology, or both? Provide specific examples to support your answer.</a:t>
            </a:r>
          </a:p>
          <a:p>
            <a:pPr marL="228600" indent="-228600">
              <a:buFont typeface="+mj-lt"/>
              <a:buAutoNum type="arabicPeriod"/>
            </a:pPr>
            <a:r>
              <a:rPr lang="en-US" dirty="0" smtClean="0"/>
              <a:t>What lessons can you draw from Healthcare.gov about successfully implementing very large information systems projects?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3554302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FIGURE 13.1 </a:t>
            </a:r>
            <a:r>
              <a:rPr lang="en-US" dirty="0" smtClean="0"/>
              <a:t>The information systems planning process.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3802511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 Strategic Plan: </a:t>
            </a:r>
            <a:r>
              <a:rPr lang="en-US" dirty="0" smtClean="0"/>
              <a:t>identifies the firm’s overall mission, the goals that follow from that mission, and the broad steps required to reach these goals.</a:t>
            </a:r>
          </a:p>
          <a:p>
            <a:r>
              <a:rPr lang="en-US" b="1" dirty="0" smtClean="0"/>
              <a:t>IT Strategic Plan: </a:t>
            </a:r>
            <a:r>
              <a:rPr lang="en-US" dirty="0" smtClean="0"/>
              <a:t>a set of long-range goals that describe the IT infrastructure and identify the major IT initiatives needed to achieve the organization’s goals.</a:t>
            </a:r>
          </a:p>
          <a:p>
            <a:r>
              <a:rPr lang="en-US" b="1" dirty="0" smtClean="0"/>
              <a:t>IT Steering Committee: </a:t>
            </a:r>
            <a:r>
              <a:rPr lang="en-US" dirty="0" smtClean="0"/>
              <a:t>comprised of a group of managers and staff who represent the various organizational units, is created to establish IT priorities and to ensure that the MIS function is meeting the organization’s needs.</a:t>
            </a:r>
          </a:p>
          <a:p>
            <a:r>
              <a:rPr lang="en-US" b="1" dirty="0" smtClean="0"/>
              <a:t>IS Operational Plan: </a:t>
            </a:r>
            <a:r>
              <a:rPr lang="en-US" dirty="0" smtClean="0"/>
              <a:t>consists of a clear set of projects that the IS department and the functional area managers will execute in support of the IT strategic plan.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1072537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 Strategic Plan: </a:t>
            </a:r>
            <a:r>
              <a:rPr lang="en-US" dirty="0" smtClean="0"/>
              <a:t>a set of long-range goals that describe the IT infrastructure and identify the major IT initiatives needed to achieve the organization’s goals.</a:t>
            </a:r>
          </a:p>
          <a:p>
            <a:endParaRPr lang="en-US" dirty="0" smtClean="0"/>
          </a:p>
          <a:p>
            <a:r>
              <a:rPr lang="en-US" b="1" dirty="0" smtClean="0"/>
              <a:t>Three Objectives of an IT Strategic Plan:</a:t>
            </a:r>
          </a:p>
          <a:p>
            <a:r>
              <a:rPr lang="en-US" b="1" i="1" dirty="0" smtClean="0"/>
              <a:t>Must be aligned with the organization’s strategic plan. </a:t>
            </a:r>
            <a:r>
              <a:rPr lang="en-US" dirty="0" smtClean="0"/>
              <a:t>Alignment is critical because the organization’s information systems must support the organization’s strategies.</a:t>
            </a:r>
          </a:p>
          <a:p>
            <a:r>
              <a:rPr lang="en-US" b="1" i="1" dirty="0" smtClean="0"/>
              <a:t>Provide for an IT architecture </a:t>
            </a:r>
            <a:r>
              <a:rPr lang="en-US" dirty="0" smtClean="0"/>
              <a:t>that seamlessly networks users, applications, and databases.</a:t>
            </a:r>
          </a:p>
          <a:p>
            <a:r>
              <a:rPr lang="en-US" b="1" i="1" dirty="0" smtClean="0"/>
              <a:t>Efficiently allocate IS development resources </a:t>
            </a:r>
            <a:r>
              <a:rPr lang="en-US" dirty="0" smtClean="0"/>
              <a:t>among competing projects so that the projects can be completed on time and within budget and still have the required functionality.</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166937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Assessing the Costs: </a:t>
            </a:r>
            <a:r>
              <a:rPr lang="en-US" dirty="0" smtClean="0"/>
              <a:t>Calculating the dollar value of IT investments is not as simple as it may seem. One of the major challenges --&gt; allocating fixed costs among different IT projects. </a:t>
            </a:r>
          </a:p>
          <a:p>
            <a:r>
              <a:rPr lang="en-US" b="1" dirty="0" smtClean="0"/>
              <a:t>Fixed Costs: </a:t>
            </a:r>
            <a:r>
              <a:rPr lang="en-US" dirty="0" smtClean="0"/>
              <a:t>are those costs that remain the same regardless of any change in the company’s activity level (e.g., costs associated with infrastructure ,IT services, and IT management. </a:t>
            </a:r>
          </a:p>
          <a:p>
            <a:r>
              <a:rPr lang="en-US" dirty="0" smtClean="0"/>
              <a:t>-----------------</a:t>
            </a:r>
          </a:p>
          <a:p>
            <a:r>
              <a:rPr lang="en-US" b="1" dirty="0" smtClean="0"/>
              <a:t>Assessing the Benefits: </a:t>
            </a:r>
            <a:r>
              <a:rPr lang="en-US" dirty="0" smtClean="0"/>
              <a:t>benefits may be more difficult to quantify, especially because many of them are intangible.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1504036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a:p>
            <a:r>
              <a:rPr lang="en-US" b="1" dirty="0" smtClean="0"/>
              <a:t>Four Common Approaches for Cost-Benefit Analysis:</a:t>
            </a:r>
          </a:p>
          <a:p>
            <a:r>
              <a:rPr lang="en-US" b="1" dirty="0" smtClean="0"/>
              <a:t>Net Present Value: </a:t>
            </a:r>
            <a:r>
              <a:rPr lang="en-US" dirty="0" smtClean="0"/>
              <a:t>Analysts use the net present value (NPV) method to convert future values of benefits to their present-value equivalent by “discounting” them at the organization’s cost of funds. </a:t>
            </a:r>
            <a:r>
              <a:rPr lang="en-US" dirty="0" err="1" smtClean="0"/>
              <a:t>Th</a:t>
            </a:r>
            <a:r>
              <a:rPr lang="en-US" dirty="0" smtClean="0"/>
              <a:t> </a:t>
            </a:r>
            <a:r>
              <a:rPr lang="en-US" dirty="0" err="1" smtClean="0"/>
              <a:t>ey</a:t>
            </a:r>
            <a:r>
              <a:rPr lang="en-US" dirty="0" smtClean="0"/>
              <a:t> can then compare the present value of the future </a:t>
            </a:r>
            <a:r>
              <a:rPr lang="en-US" dirty="0" err="1" smtClean="0"/>
              <a:t>benefi</a:t>
            </a:r>
            <a:r>
              <a:rPr lang="en-US" dirty="0" smtClean="0"/>
              <a:t> </a:t>
            </a:r>
            <a:r>
              <a:rPr lang="en-US" dirty="0" err="1" smtClean="0"/>
              <a:t>ts</a:t>
            </a:r>
            <a:r>
              <a:rPr lang="en-US" dirty="0" smtClean="0"/>
              <a:t> with the cost required to achieve those benefits to determine whether the benefits exceed the costs.</a:t>
            </a:r>
          </a:p>
          <a:p>
            <a:r>
              <a:rPr lang="en-US" b="1" dirty="0" smtClean="0"/>
              <a:t>Return on Investment (ROI): </a:t>
            </a:r>
            <a:r>
              <a:rPr lang="en-US" dirty="0" smtClean="0"/>
              <a:t>measures management’s effectiveness in generating profits with its available assets. ROI is calculated by dividing the net income generated by a project by the average assets invested in the project. ROI is a percentage, and the higher the percentage return, the better.</a:t>
            </a:r>
          </a:p>
          <a:p>
            <a:r>
              <a:rPr lang="en-US" b="1" dirty="0" smtClean="0"/>
              <a:t>Breakeven Analysis: </a:t>
            </a:r>
            <a:r>
              <a:rPr lang="en-US" dirty="0" smtClean="0"/>
              <a:t>determines the point at which the cumulative dollar value of the benefits from a project equals the investment made in the project.</a:t>
            </a:r>
          </a:p>
          <a:p>
            <a:r>
              <a:rPr lang="en-US" b="1" dirty="0" smtClean="0"/>
              <a:t>Business Case Approach: </a:t>
            </a:r>
            <a:r>
              <a:rPr lang="en-US" dirty="0" smtClean="0"/>
              <a:t>system developers write a business case to justify funding one or more specific applications or projects. IS professionals will be a major source of input when business cases are developed because these cases describe what you do, how you do it, and how a new system could better support you.</a:t>
            </a:r>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3940293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Purchase a Prewritten Application: </a:t>
            </a:r>
            <a:r>
              <a:rPr lang="en-US" dirty="0" smtClean="0"/>
              <a:t>Many commercial soft ware packages contain the standard features required by IT applications. Therefore, purchasing an existing package can be a cost-effective and time-saving strategy compared with custom-developing the application in-house.</a:t>
            </a:r>
          </a:p>
          <a:p>
            <a:r>
              <a:rPr lang="en-US" b="1" dirty="0" smtClean="0"/>
              <a:t>Customize a Prewritten Application: </a:t>
            </a:r>
            <a:r>
              <a:rPr lang="en-US" dirty="0" smtClean="0"/>
              <a:t>Customizing existing software is an especially attractive option if the software vendor allows the company to modify the application to meet its needs. However, this option may not be attractive in cases where customization is the only method of providing the necessary flexibility to address the company’s needs. It also is not the best strategy when the software is either very expensive or likely to become obsolete in a short time.</a:t>
            </a:r>
          </a:p>
          <a:p>
            <a:r>
              <a:rPr lang="en-US" b="1" dirty="0" smtClean="0"/>
              <a:t>Lease the Application: </a:t>
            </a:r>
            <a:r>
              <a:rPr lang="en-US" dirty="0" smtClean="0"/>
              <a:t>Compared with the buy option and the option to develop applications in-house, the lease option can save a company both time and money. Leased packages (like purchased packages) may not exactly fit the company’s application requirements. Leasing can be especially attractive to small and medium-sized enterprises (SMEs) that cannot </a:t>
            </a:r>
            <a:r>
              <a:rPr lang="en-US" dirty="0" err="1" smtClean="0"/>
              <a:t>aff</a:t>
            </a:r>
            <a:r>
              <a:rPr lang="en-US" dirty="0" smtClean="0"/>
              <a:t> </a:t>
            </a:r>
            <a:r>
              <a:rPr lang="en-US" dirty="0" err="1" smtClean="0"/>
              <a:t>ord</a:t>
            </a:r>
            <a:r>
              <a:rPr lang="en-US" dirty="0" smtClean="0"/>
              <a:t> major investments in IT software.</a:t>
            </a:r>
          </a:p>
          <a:p>
            <a:r>
              <a:rPr lang="en-US" b="1" dirty="0" smtClean="0"/>
              <a:t>Application Service Provider (ASP): </a:t>
            </a:r>
            <a:r>
              <a:rPr lang="en-US" dirty="0" smtClean="0"/>
              <a:t>an agent or a vendor who assembles the software needed by enterprises and then packages it with services such as development, operations, and maintenance. The customer then accesses these applications via the Internet. </a:t>
            </a:r>
          </a:p>
          <a:p>
            <a:r>
              <a:rPr lang="en-US" b="1" dirty="0" smtClean="0"/>
              <a:t>Software-as-a-Service (</a:t>
            </a:r>
            <a:r>
              <a:rPr lang="en-US" b="1" dirty="0" err="1" smtClean="0"/>
              <a:t>SaaS</a:t>
            </a:r>
            <a:r>
              <a:rPr lang="en-US" b="1" dirty="0" smtClean="0"/>
              <a:t>): </a:t>
            </a:r>
            <a:r>
              <a:rPr lang="en-US" dirty="0" smtClean="0"/>
              <a:t>a method of delivering software in which a vendor hosts the applications and provides them as a service to customers over a network, typically the Internet. Customers do not own the software; rather, they pay for using it. </a:t>
            </a:r>
            <a:r>
              <a:rPr lang="en-US" dirty="0" err="1" smtClean="0"/>
              <a:t>SaaS</a:t>
            </a:r>
            <a:r>
              <a:rPr lang="en-US" dirty="0" smtClean="0"/>
              <a:t> eliminates the need for customers to install and run the application on their own computers. Therefore, </a:t>
            </a:r>
            <a:r>
              <a:rPr lang="en-US" dirty="0" err="1" smtClean="0"/>
              <a:t>SaaS</a:t>
            </a:r>
            <a:r>
              <a:rPr lang="en-US" dirty="0" smtClean="0"/>
              <a:t> customers save the expense (money, time, IT staff) of buying, operating, and maintaining the software.</a:t>
            </a:r>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2842477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Use Open-Source Software: </a:t>
            </a:r>
            <a:r>
              <a:rPr lang="en-US" dirty="0" smtClean="0"/>
              <a:t>Organizations obtain a license to implement an open-source soft ware product and either use it as is, customize it, or develop applications with it.</a:t>
            </a:r>
          </a:p>
          <a:p>
            <a:r>
              <a:rPr lang="en-US" b="1" dirty="0" smtClean="0"/>
              <a:t>Outsourcing: </a:t>
            </a:r>
            <a:r>
              <a:rPr lang="en-US" dirty="0" smtClean="0"/>
              <a:t>Acquiring IT applications from outside contractors or external organizations is called outsourcing.</a:t>
            </a:r>
          </a:p>
          <a:p>
            <a:r>
              <a:rPr lang="en-US" b="1" dirty="0" smtClean="0"/>
              <a:t>Employ Custom Development: </a:t>
            </a:r>
            <a:r>
              <a:rPr lang="en-US" dirty="0" smtClean="0"/>
              <a:t>Another option is to custom-build an application. Companies can either perform this operation in-house or outsource the process.</a:t>
            </a:r>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2039012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how freezing new feature development on its Web site “saved” LinkedIn.</a:t>
            </a:r>
          </a:p>
          <a:p>
            <a:pPr marL="228600" indent="-228600">
              <a:buFont typeface="+mj-lt"/>
              <a:buAutoNum type="arabicPeriod"/>
            </a:pPr>
            <a:r>
              <a:rPr lang="en-US" dirty="0" smtClean="0"/>
              <a:t>Describe how rapid application development is enabling LinkedIn to add its next feature, mining users’ economic and job data.</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What are the advantages of learning to code so that you can build your own mobile apps? Provide specific examples to support your answer.</a:t>
            </a:r>
          </a:p>
          <a:p>
            <a:pPr marL="228600" indent="-228600">
              <a:buFont typeface="+mj-lt"/>
              <a:buAutoNum type="arabicPeriod"/>
            </a:pPr>
            <a:r>
              <a:rPr lang="en-US" dirty="0" smtClean="0"/>
              <a:t>What are the disadvantages of learning to code so that you can build your own mobile apps? Provide specific examples to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Fundamental Decisions in IT Application </a:t>
            </a:r>
            <a:r>
              <a:rPr lang="en-US" dirty="0" err="1" smtClean="0"/>
              <a:t>Acquistion</a:t>
            </a:r>
            <a:r>
              <a:rPr lang="en-US" dirty="0" smtClean="0"/>
              <a:t>:</a:t>
            </a:r>
          </a:p>
          <a:p>
            <a:pPr marL="171450" indent="-171450">
              <a:buFont typeface="Arial" panose="020B0604020202020204" pitchFamily="34" charset="0"/>
              <a:buChar char="•"/>
            </a:pPr>
            <a:r>
              <a:rPr lang="en-US" b="1" i="1" dirty="0" smtClean="0"/>
              <a:t>How much computer code does the company want to write? </a:t>
            </a:r>
            <a:r>
              <a:rPr lang="en-US" dirty="0" smtClean="0"/>
              <a:t>A company can choose to use a totally prewritten application (write no computer code), to customize a prewritten application (write some computer code), or to custom-write an entire application (write all new computer code).</a:t>
            </a:r>
          </a:p>
          <a:p>
            <a:pPr marL="171450" indent="-171450">
              <a:buFont typeface="Arial" panose="020B0604020202020204" pitchFamily="34" charset="0"/>
              <a:buChar char="•"/>
            </a:pPr>
            <a:r>
              <a:rPr lang="en-US" b="1" i="1" dirty="0" smtClean="0"/>
              <a:t>How will the company pay for the application? </a:t>
            </a:r>
            <a:r>
              <a:rPr lang="en-US" dirty="0" smtClean="0"/>
              <a:t>Once the company has decided how much computer code to write, it must decide how to pay for it. With prewritten applications or customized prewritten applications, companies can buy them or lease them. With totally custom applications, companies use internal funding.</a:t>
            </a:r>
          </a:p>
          <a:p>
            <a:pPr marL="171450" indent="-171450">
              <a:buFont typeface="Arial" panose="020B0604020202020204" pitchFamily="34" charset="0"/>
              <a:buChar char="•"/>
            </a:pPr>
            <a:r>
              <a:rPr lang="en-US" b="1" i="1" dirty="0" smtClean="0"/>
              <a:t>Where will the application run? </a:t>
            </a:r>
            <a:r>
              <a:rPr lang="en-US" dirty="0" smtClean="0"/>
              <a:t>The next decision is whether to run the application on the company’s platform or on someone else’s platform. In other words, the company can employ either a soft ware-as-a-service vendor or an application service provider.</a:t>
            </a:r>
          </a:p>
          <a:p>
            <a:pPr marL="171450" indent="-171450">
              <a:buFont typeface="Arial" panose="020B0604020202020204" pitchFamily="34" charset="0"/>
              <a:buChar char="•"/>
            </a:pPr>
            <a:r>
              <a:rPr lang="en-US" b="1" i="1" dirty="0" smtClean="0"/>
              <a:t>Where will the application originate? </a:t>
            </a:r>
            <a:r>
              <a:rPr lang="en-US" dirty="0" smtClean="0"/>
              <a:t>Prewritten applications can be open-source software or they can come from a vendor. </a:t>
            </a:r>
            <a:r>
              <a:rPr lang="en-US" dirty="0" err="1" smtClean="0"/>
              <a:t>Th</a:t>
            </a:r>
            <a:r>
              <a:rPr lang="en-US" dirty="0" smtClean="0"/>
              <a:t> e company may choose to customize prewritten open-source applications or prewritten proprietary applications from vendors.</a:t>
            </a:r>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2206623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13.2 </a:t>
            </a:r>
            <a:r>
              <a:rPr lang="en-US" dirty="0" smtClean="0"/>
              <a:t>Operation of an application service provider.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2727889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13.3 </a:t>
            </a:r>
            <a:r>
              <a:rPr lang="en-US" dirty="0" smtClean="0"/>
              <a:t>Operation of a software-as-a-service vendor.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2406877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Development Life Cycle (SDLC): </a:t>
            </a:r>
            <a:r>
              <a:rPr lang="en-US" dirty="0" smtClean="0"/>
              <a:t>the traditional systems development method that organizations use for large-scale IT projects. The SDLC is a structured framework that consists of sequential processes by which information systems are developed.</a:t>
            </a:r>
          </a:p>
          <a:p>
            <a:r>
              <a:rPr lang="en-US" b="1" dirty="0" smtClean="0"/>
              <a:t>Systems Analysts: </a:t>
            </a:r>
            <a:r>
              <a:rPr lang="en-US" dirty="0" smtClean="0"/>
              <a:t>IS professionals who specialize in analyzing and designing information systems. </a:t>
            </a:r>
          </a:p>
          <a:p>
            <a:r>
              <a:rPr lang="en-US" b="1" dirty="0" smtClean="0"/>
              <a:t>Programmers: </a:t>
            </a:r>
            <a:r>
              <a:rPr lang="en-US" dirty="0" smtClean="0"/>
              <a:t>IS professionals who either modify existing computer programs or write new programs to satisfy user requirements. </a:t>
            </a:r>
          </a:p>
          <a:p>
            <a:r>
              <a:rPr lang="en-US" b="1" dirty="0" smtClean="0"/>
              <a:t>Technical Specialists: </a:t>
            </a:r>
            <a:r>
              <a:rPr lang="en-US" dirty="0" smtClean="0"/>
              <a:t>experts on a certain type of technology, such as databases or telecommunications. </a:t>
            </a:r>
          </a:p>
          <a:p>
            <a:r>
              <a:rPr lang="en-US" b="1" dirty="0" smtClean="0"/>
              <a:t>Systems Stakeholders: </a:t>
            </a:r>
            <a:r>
              <a:rPr lang="en-US" dirty="0" smtClean="0"/>
              <a:t>include everyone who is affected by changes in a company’s information systems—for example, users and managers. All stakeholders are typically involved in systems development at various times and in varying degrees.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2736510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13.4 </a:t>
            </a:r>
            <a:r>
              <a:rPr lang="en-US" dirty="0" smtClean="0"/>
              <a:t>A six-stage systems development life cycle with supporting tools.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295587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29951420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Investigation: </a:t>
            </a:r>
            <a:r>
              <a:rPr lang="en-US" dirty="0" smtClean="0"/>
              <a:t>The initial stage in a traditional SDLC is systems investigation, and the primary task in the systems investigation stage is the feasibility study.</a:t>
            </a:r>
          </a:p>
          <a:p>
            <a:endParaRPr lang="en-US" dirty="0" smtClean="0"/>
          </a:p>
          <a:p>
            <a:r>
              <a:rPr lang="en-US" b="0" dirty="0" smtClean="0"/>
              <a:t>Organizations have </a:t>
            </a:r>
            <a:r>
              <a:rPr lang="en-US" b="1" dirty="0" smtClean="0"/>
              <a:t>three basic solutions </a:t>
            </a:r>
            <a:r>
              <a:rPr lang="en-US" b="0" dirty="0" smtClean="0"/>
              <a:t>to any business problem relating to an information system:</a:t>
            </a:r>
          </a:p>
          <a:p>
            <a:r>
              <a:rPr lang="en-US" b="1" dirty="0" smtClean="0"/>
              <a:t>(1) </a:t>
            </a:r>
            <a:r>
              <a:rPr lang="en-US" dirty="0" smtClean="0"/>
              <a:t>do nothing and continue to use the existing system unchanged</a:t>
            </a:r>
          </a:p>
          <a:p>
            <a:r>
              <a:rPr lang="en-US" b="1" dirty="0" smtClean="0"/>
              <a:t>(2) </a:t>
            </a:r>
            <a:r>
              <a:rPr lang="en-US" dirty="0" smtClean="0"/>
              <a:t>modify or enhance the existing system</a:t>
            </a:r>
          </a:p>
          <a:p>
            <a:r>
              <a:rPr lang="en-US" b="1" dirty="0" smtClean="0"/>
              <a:t>(3) </a:t>
            </a:r>
            <a:r>
              <a:rPr lang="en-US" dirty="0" smtClean="0"/>
              <a:t>develop a new system.</a:t>
            </a:r>
          </a:p>
          <a:p>
            <a:endParaRPr lang="en-US" dirty="0" smtClean="0"/>
          </a:p>
          <a:p>
            <a:r>
              <a:rPr lang="en-US" b="1" dirty="0" smtClean="0"/>
              <a:t>Feasibility Study: </a:t>
            </a:r>
            <a:r>
              <a:rPr lang="en-US" dirty="0" smtClean="0"/>
              <a:t>analyzes which of three basic solutions best fits the particular business problem. It also provides a rough assessment of the project’s technical, economic, and behavioral feasibility, as explained below.</a:t>
            </a:r>
          </a:p>
          <a:p>
            <a:r>
              <a:rPr lang="en-US" b="1" dirty="0" smtClean="0"/>
              <a:t>Technical Feasibility: </a:t>
            </a:r>
            <a:r>
              <a:rPr lang="en-US" dirty="0" smtClean="0"/>
              <a:t>determines whether the company can develop and/or acquire the hardware, soft ware, and communications components needed to solve the business problem. Technical feasibility also determines whether the organization can use its existing technology to achieve the project’s performance objectives.</a:t>
            </a:r>
          </a:p>
          <a:p>
            <a:r>
              <a:rPr lang="en-US" b="1" dirty="0" smtClean="0"/>
              <a:t>Economic Feasibility: </a:t>
            </a:r>
            <a:r>
              <a:rPr lang="en-US" dirty="0" smtClean="0"/>
              <a:t>determines whether the project is an acceptable financial risk and, if so, whether the organization has the necessary time and money to successfully complete the project. </a:t>
            </a:r>
          </a:p>
          <a:p>
            <a:r>
              <a:rPr lang="en-US" b="1" dirty="0" smtClean="0"/>
              <a:t>Behavioral Feasibility: </a:t>
            </a:r>
            <a:r>
              <a:rPr lang="en-US" dirty="0" smtClean="0"/>
              <a:t>addresses the human issues of the systems development project.</a:t>
            </a:r>
          </a:p>
          <a:p>
            <a:endParaRPr lang="en-US" dirty="0" smtClean="0"/>
          </a:p>
          <a:p>
            <a:r>
              <a:rPr lang="en-US" dirty="0" smtClean="0"/>
              <a:t>Outcome of the Feasibility Study is a “go/no-go” decision</a:t>
            </a:r>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2429874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analysis: </a:t>
            </a:r>
            <a:r>
              <a:rPr lang="en-US" dirty="0" smtClean="0"/>
              <a:t>the process whereby systems analysts examine the business problem that the organization plans to solve with an information system. Systems analysis deliverable is a set of system requirements.</a:t>
            </a:r>
          </a:p>
          <a:p>
            <a:endParaRPr lang="en-US" dirty="0" smtClean="0"/>
          </a:p>
          <a:p>
            <a:r>
              <a:rPr lang="en-US" b="1" dirty="0" smtClean="0"/>
              <a:t>User Requirements: </a:t>
            </a:r>
            <a:r>
              <a:rPr lang="en-US" dirty="0" smtClean="0"/>
              <a:t>identifying business requirements the system must satisfy which is provided by users. This is often the most difficult task in systems analysis.</a:t>
            </a:r>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2429874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Systems Design:  </a:t>
            </a:r>
            <a:r>
              <a:rPr lang="en-US" dirty="0" smtClean="0"/>
              <a:t>describes how the system will resolve the business problem.</a:t>
            </a:r>
          </a:p>
          <a:p>
            <a:r>
              <a:rPr lang="en-US" b="1" dirty="0" smtClean="0"/>
              <a:t>Deliverable: </a:t>
            </a:r>
            <a:r>
              <a:rPr lang="en-US" dirty="0" smtClean="0"/>
              <a:t>a set of technical system specifications.</a:t>
            </a:r>
          </a:p>
          <a:p>
            <a:endParaRPr lang="en-US" dirty="0" smtClean="0"/>
          </a:p>
          <a:p>
            <a:r>
              <a:rPr lang="en-US" b="1" dirty="0" smtClean="0"/>
              <a:t>Technical Specifications include following:</a:t>
            </a:r>
          </a:p>
          <a:p>
            <a:r>
              <a:rPr lang="en-US" dirty="0" smtClean="0"/>
              <a:t>• System outputs, inputs, and user interfaces</a:t>
            </a:r>
          </a:p>
          <a:p>
            <a:r>
              <a:rPr lang="en-US" dirty="0" smtClean="0"/>
              <a:t>• Hardware, soft ware, databases, telecommunications, personnel, and procedures</a:t>
            </a:r>
          </a:p>
          <a:p>
            <a:r>
              <a:rPr lang="en-US" dirty="0" smtClean="0"/>
              <a:t>• A blueprint of how these components are integrated</a:t>
            </a:r>
          </a:p>
          <a:p>
            <a:endParaRPr lang="en-US" dirty="0" smtClean="0"/>
          </a:p>
          <a:p>
            <a:r>
              <a:rPr lang="en-US" sz="1200" b="1" i="0" u="none" strike="noStrike" kern="1200" baseline="0" dirty="0" smtClean="0">
                <a:solidFill>
                  <a:schemeClr val="tx1"/>
                </a:solidFill>
                <a:latin typeface="+mn-lt"/>
                <a:ea typeface="+mn-ea"/>
                <a:cs typeface="+mn-cs"/>
              </a:rPr>
              <a:t>Scope Creep: </a:t>
            </a:r>
            <a:r>
              <a:rPr lang="en-US" sz="1200" b="0" i="0" u="none" strike="noStrike" kern="1200" baseline="0" dirty="0" smtClean="0">
                <a:solidFill>
                  <a:schemeClr val="tx1"/>
                </a:solidFill>
                <a:latin typeface="+mn-lt"/>
                <a:ea typeface="+mn-ea"/>
                <a:cs typeface="+mn-cs"/>
              </a:rPr>
              <a:t>Adding functions after the project has been initiated causes  the time frame and expenses associated with the project expand beyond the agreed-upon limits.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4064709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Programming: </a:t>
            </a:r>
            <a:r>
              <a:rPr lang="en-US" dirty="0" smtClean="0"/>
              <a:t>involves translating the design specifications into computer code.</a:t>
            </a:r>
          </a:p>
          <a:p>
            <a:r>
              <a:rPr lang="en-US" b="1" dirty="0" smtClean="0"/>
              <a:t>Testing: </a:t>
            </a:r>
            <a:r>
              <a:rPr lang="en-US" dirty="0" smtClean="0"/>
              <a:t>the process that assesses whether the computer code will produce the expected and desired results.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4064709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Implementation (or deployment): </a:t>
            </a:r>
            <a:r>
              <a:rPr lang="en-US" dirty="0" smtClean="0"/>
              <a:t>the process of converting from an old computer system to a new one.</a:t>
            </a:r>
          </a:p>
          <a:p>
            <a:endParaRPr lang="en-US" dirty="0" smtClean="0"/>
          </a:p>
          <a:p>
            <a:r>
              <a:rPr lang="en-US" b="1" dirty="0" smtClean="0"/>
              <a:t>Three Major Conversion Strategies:</a:t>
            </a:r>
          </a:p>
          <a:p>
            <a:r>
              <a:rPr lang="en-US" b="1" i="1" dirty="0" smtClean="0"/>
              <a:t>Direct Conversion: </a:t>
            </a:r>
            <a:r>
              <a:rPr lang="en-US" dirty="0" smtClean="0"/>
              <a:t>the old system is cut off , and the new system is turned on at a certain point in time. This type of conversion is the least expensive and the most risky.</a:t>
            </a:r>
          </a:p>
          <a:p>
            <a:r>
              <a:rPr lang="en-US" b="1" i="1" dirty="0" smtClean="0"/>
              <a:t>Pilot Conversion:</a:t>
            </a:r>
            <a:r>
              <a:rPr lang="en-US" i="1" dirty="0" smtClean="0"/>
              <a:t> </a:t>
            </a:r>
            <a:r>
              <a:rPr lang="en-US" dirty="0" smtClean="0"/>
              <a:t>introduces the new system in one part of the organization, such as in one plant or one functional area. The new system runs for a period of time and is then assessed. If the assessment confirms that the system is working properly, then the system is implemented in other parts of the organization.</a:t>
            </a:r>
          </a:p>
          <a:p>
            <a:r>
              <a:rPr lang="en-US" b="1" i="1" dirty="0" smtClean="0"/>
              <a:t>Phased Conversion: </a:t>
            </a:r>
            <a:r>
              <a:rPr lang="en-US" dirty="0" smtClean="0"/>
              <a:t>introduces components of the new system, such as individual modules, in stages. Each module is assessed. If it works properly, then other modules are introduced, until the entire new system is operational.</a:t>
            </a:r>
          </a:p>
          <a:p>
            <a:r>
              <a:rPr lang="en-US" dirty="0" smtClean="0"/>
              <a:t>---------------------</a:t>
            </a:r>
          </a:p>
          <a:p>
            <a:r>
              <a:rPr lang="en-US" b="1" i="1" dirty="0" smtClean="0"/>
              <a:t>Parallel Conversion: </a:t>
            </a:r>
            <a:r>
              <a:rPr lang="en-US" dirty="0" smtClean="0"/>
              <a:t>old and new systems operate simultaneously for a time, but this strategy is seldom used today.</a:t>
            </a:r>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1882350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Operation and Maintenance: </a:t>
            </a:r>
            <a:r>
              <a:rPr lang="en-US" dirty="0" smtClean="0"/>
              <a:t>once a new system’s operations are stabilized, the company performs audits to assess the system’s capabilities and to determine if it is being utilized correctly.</a:t>
            </a:r>
          </a:p>
          <a:p>
            <a:endParaRPr lang="en-US" dirty="0" smtClean="0"/>
          </a:p>
          <a:p>
            <a:r>
              <a:rPr lang="en-US" b="1" dirty="0" smtClean="0"/>
              <a:t>Systems Require Several Types of Maintenance:</a:t>
            </a:r>
          </a:p>
          <a:p>
            <a:r>
              <a:rPr lang="en-US" b="1" i="1" dirty="0" smtClean="0"/>
              <a:t>Debugging: </a:t>
            </a:r>
            <a:r>
              <a:rPr lang="en-US" dirty="0" smtClean="0"/>
              <a:t>(the system) a process that continues throughout the life of the system.</a:t>
            </a:r>
          </a:p>
          <a:p>
            <a:r>
              <a:rPr lang="en-US" b="1" i="1" dirty="0" smtClean="0"/>
              <a:t>Updating: </a:t>
            </a:r>
            <a:r>
              <a:rPr lang="en-US" dirty="0" smtClean="0"/>
              <a:t>(the system) to accommodate changes in business conditions (e.g., adjusting to new governmental regulations).</a:t>
            </a:r>
          </a:p>
          <a:p>
            <a:r>
              <a:rPr lang="en-US" b="1" i="1" dirty="0" smtClean="0"/>
              <a:t>Adding: </a:t>
            </a:r>
            <a:r>
              <a:rPr lang="en-US" dirty="0" smtClean="0"/>
              <a:t>new functions added to the existing system without disturbing its operation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1882350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Is the Avon failure the fault of Avon? SAP? IBM? All three? Explain your answer.</a:t>
            </a:r>
          </a:p>
          <a:p>
            <a:pPr marL="228600" indent="-228600">
              <a:buFont typeface="+mj-lt"/>
              <a:buAutoNum type="arabicPeriod"/>
            </a:pPr>
            <a:r>
              <a:rPr lang="en-US" dirty="0" smtClean="0"/>
              <a:t>Recall the discussion of strategic information systems in Chapter 2. Is Avon’s new system a strategic information system? Why or why not? Explain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13.5 </a:t>
            </a:r>
            <a:r>
              <a:rPr lang="en-US" dirty="0" smtClean="0"/>
              <a:t>Comparison of user and developer involvement over the SDLC.</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1121591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Joint Application Design (JAD): </a:t>
            </a:r>
            <a:r>
              <a:rPr lang="en-US" dirty="0" smtClean="0"/>
              <a:t>a group-based tool for collecting user requirements and creating system designs. It is most often used within the systems analysis and systems design stages of the SDLC. JAD involves a group meeting attended by the analysts and all of the users that can be conducted either in person or via the computer. During this meeting, all users jointly define and agree on the systems requirements.</a:t>
            </a:r>
          </a:p>
          <a:p>
            <a:r>
              <a:rPr lang="en-US" b="1" dirty="0" smtClean="0"/>
              <a:t>Rapid Application Development (RAD): </a:t>
            </a:r>
            <a:r>
              <a:rPr lang="en-US" dirty="0" smtClean="0"/>
              <a:t>a systems development method that can combine JAD, prototyping, and integrated computer-assisted software engineering (ICASE) tools to rapidly produce a high-quality system. In the first RAD stage, developers use JAD sessions to collect system requirements. This strategy ensures that users are intensively involved early on. The development process in RAD is iterative.</a:t>
            </a:r>
          </a:p>
          <a:p>
            <a:r>
              <a:rPr lang="en-US" b="1" dirty="0" smtClean="0"/>
              <a:t>Agile Development: </a:t>
            </a:r>
            <a:r>
              <a:rPr lang="en-US" dirty="0" smtClean="0"/>
              <a:t>a software development methodology that delivers functionality in rapid iterations, which are usually measured in weeks. To be successful, this methodology requires frequent communication, development, testing, and delivery.</a:t>
            </a:r>
          </a:p>
          <a:p>
            <a:r>
              <a:rPr lang="en-US" b="1" dirty="0" smtClean="0"/>
              <a:t>End-User Development: </a:t>
            </a:r>
            <a:r>
              <a:rPr lang="en-US" dirty="0" smtClean="0"/>
              <a:t>an approach in which the organization’s end users develop their own applications with little or no formal assistance from the IT department.</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4640062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13.6 </a:t>
            </a:r>
            <a:r>
              <a:rPr lang="en-US" dirty="0" smtClean="0"/>
              <a:t>A rapid prototyping development process versus SDLC. datawarehousetraining.com/Methodologies/rapid application-development.)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858135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b="1" dirty="0" smtClean="0"/>
              <a:t>Prototyping: </a:t>
            </a:r>
            <a:r>
              <a:rPr lang="en-US" dirty="0" smtClean="0"/>
              <a:t>a development approach that defines an initial list of user requirements, builds a model of the system, and then refines the system in several iterations based on users’ feedback. Developers quickly develop a smaller version of the system.</a:t>
            </a:r>
          </a:p>
          <a:p>
            <a:pPr marL="171450" indent="-171450">
              <a:buFont typeface="Arial" pitchFamily="34" charset="0"/>
              <a:buChar char="•"/>
            </a:pPr>
            <a:r>
              <a:rPr lang="en-US" b="1" dirty="0" smtClean="0"/>
              <a:t>Integrated Computer-Assisted Software Engineering Tools (CASE): </a:t>
            </a:r>
            <a:r>
              <a:rPr lang="en-US" dirty="0" smtClean="0"/>
              <a:t>a group of tools that automate many of the tasks in the SDLC. </a:t>
            </a:r>
          </a:p>
          <a:p>
            <a:pPr marL="628650" lvl="1" indent="-171450">
              <a:buFont typeface="Arial" pitchFamily="34" charset="0"/>
              <a:buChar char="•"/>
            </a:pPr>
            <a:r>
              <a:rPr lang="en-US" b="1" dirty="0" smtClean="0"/>
              <a:t>Upper Case Tools: </a:t>
            </a:r>
            <a:r>
              <a:rPr lang="en-US" dirty="0" smtClean="0"/>
              <a:t>used to automate the early stages of the SDLC (systems investigation, analysis, and design). </a:t>
            </a:r>
          </a:p>
          <a:p>
            <a:pPr marL="628650" lvl="1" indent="-171450">
              <a:buFont typeface="Arial" pitchFamily="34" charset="0"/>
              <a:buChar char="•"/>
            </a:pPr>
            <a:r>
              <a:rPr lang="en-US" b="1" dirty="0" smtClean="0"/>
              <a:t>Lower Case Tools: </a:t>
            </a:r>
            <a:r>
              <a:rPr lang="en-US" dirty="0" smtClean="0"/>
              <a:t>used to automate later stages in the SDLC (programming, testing, operation, and maintenance).</a:t>
            </a:r>
          </a:p>
          <a:p>
            <a:pPr marL="628650" lvl="1" indent="-171450">
              <a:buFont typeface="Arial" pitchFamily="34" charset="0"/>
              <a:buChar char="•"/>
            </a:pPr>
            <a:r>
              <a:rPr lang="en-US" b="1" dirty="0" smtClean="0"/>
              <a:t>Integrated CASE (ICASE) Tools: </a:t>
            </a:r>
            <a:r>
              <a:rPr lang="en-US" dirty="0" smtClean="0"/>
              <a:t>provide links between upper CASE and lower CASE tools.</a:t>
            </a:r>
          </a:p>
          <a:p>
            <a:pPr marL="171450" indent="-171450">
              <a:buFont typeface="Arial" pitchFamily="34" charset="0"/>
              <a:buChar char="•"/>
            </a:pPr>
            <a:r>
              <a:rPr lang="en-US" b="1" dirty="0" smtClean="0"/>
              <a:t>Component-Based Development: </a:t>
            </a:r>
            <a:r>
              <a:rPr lang="en-US" dirty="0" smtClean="0"/>
              <a:t>uses standard components to build applications. Components are reusable applications that generally have one specific function, such as a shopping cart, user authentication, or a catalog.</a:t>
            </a:r>
          </a:p>
          <a:p>
            <a:pPr marL="171450" indent="-171450">
              <a:buFont typeface="Arial" pitchFamily="34" charset="0"/>
              <a:buChar char="•"/>
            </a:pPr>
            <a:r>
              <a:rPr lang="en-US" b="1" dirty="0" smtClean="0"/>
              <a:t>Object-Oriented Development: </a:t>
            </a:r>
            <a:r>
              <a:rPr lang="en-US" dirty="0" smtClean="0"/>
              <a:t>based on a different view of computer systems than the perception that characterizes traditional development approaches. An object-oriented (OO) system begins not with the task to be performed, but with the aspects of the real world that must be modeled to perform that task.</a:t>
            </a:r>
          </a:p>
          <a:p>
            <a:pPr marL="171450" indent="-171450">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36</a:t>
            </a:fld>
            <a:endParaRPr lang="en-US"/>
          </a:p>
        </p:txBody>
      </p:sp>
    </p:spTree>
    <p:extLst>
      <p:ext uri="{BB962C8B-B14F-4D97-AF65-F5344CB8AC3E}">
        <p14:creationId xmlns:p14="http://schemas.microsoft.com/office/powerpoint/2010/main" val="8321085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Describe the many problems that have caused problems with implementing </a:t>
            </a:r>
            <a:r>
              <a:rPr lang="en-US" b="0" dirty="0" err="1" smtClean="0"/>
              <a:t>NextGen</a:t>
            </a:r>
            <a:r>
              <a:rPr lang="en-US" b="0" dirty="0" smtClean="0"/>
              <a:t>.</a:t>
            </a:r>
          </a:p>
          <a:p>
            <a:pPr marL="228600" indent="-228600">
              <a:buFont typeface="+mj-lt"/>
              <a:buAutoNum type="arabicPeriod"/>
            </a:pPr>
            <a:r>
              <a:rPr lang="en-US" b="0" dirty="0" smtClean="0"/>
              <a:t>In Technology Guide 1, you learned that hardware capabilities double roughly every 18 months (Moore’s law). What impact will increases in hardware processing power, with accompanying decreases in size, have on the Next-Gen system? Support your answer.</a:t>
            </a:r>
          </a:p>
          <a:p>
            <a:pPr marL="228600" indent="-228600">
              <a:buFont typeface="+mj-lt"/>
              <a:buAutoNum type="arabicPeriod"/>
            </a:pPr>
            <a:r>
              <a:rPr lang="en-US" b="0" dirty="0" smtClean="0"/>
              <a:t>Recall the discussion of cloud computing in Technology Guide 3. What impact might a cloud computing solution have on the future of the </a:t>
            </a:r>
            <a:r>
              <a:rPr lang="en-US" b="0" dirty="0" err="1" smtClean="0"/>
              <a:t>NextGen</a:t>
            </a:r>
            <a:r>
              <a:rPr lang="en-US" b="0" dirty="0" smtClean="0"/>
              <a:t> system? Support your answer.</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Acquiring </a:t>
            </a:r>
            <a:br>
              <a:rPr lang="en-US" dirty="0" smtClean="0"/>
            </a:br>
            <a:r>
              <a:rPr lang="en-US" dirty="0" smtClean="0"/>
              <a:t>Information Systems and Applications</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13</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Discuss the different cost/benefit analyses that companies must take into account when formulating an IT strategic plan.</a:t>
            </a:r>
          </a:p>
          <a:p>
            <a:r>
              <a:rPr lang="en-US" dirty="0"/>
              <a:t>Discuss the four business decisions that companies must make when they acquire new applications.</a:t>
            </a:r>
          </a:p>
          <a:p>
            <a:r>
              <a:rPr lang="en-US" dirty="0"/>
              <a:t>Enumerate the primary tasks and the importance of each of the six processes involved in the systems development life cycle.</a:t>
            </a:r>
          </a:p>
          <a:p>
            <a:r>
              <a:rPr lang="en-US" dirty="0"/>
              <a:t>Describe alternative development methods and the tools that augment development methods</a:t>
            </a:r>
            <a:r>
              <a:rPr lang="en-US" dirty="0" smtClean="0"/>
              <a:t>.</a:t>
            </a:r>
            <a:endParaRPr lang="en-US" dirty="0"/>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Planning for and Justifying IT Applications</a:t>
            </a:r>
          </a:p>
          <a:p>
            <a:r>
              <a:rPr lang="en-US" dirty="0"/>
              <a:t>Strategies for Acquiring IT Applications</a:t>
            </a:r>
          </a:p>
          <a:p>
            <a:r>
              <a:rPr lang="en-US" dirty="0"/>
              <a:t>The Traditional Systems Development Life Cycle</a:t>
            </a:r>
          </a:p>
          <a:p>
            <a:r>
              <a:rPr lang="en-US" dirty="0"/>
              <a:t>Alternative Methods and Tools for Systems </a:t>
            </a:r>
            <a:r>
              <a:rPr lang="en-US" dirty="0" smtClean="0"/>
              <a:t>Development</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A Poor Start </a:t>
            </a:r>
            <a:br>
              <a:rPr lang="en-US" dirty="0" smtClean="0"/>
            </a:br>
            <a:r>
              <a:rPr lang="en-US" dirty="0" smtClean="0"/>
              <a:t>for Healthcare.gov</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a:t>The </a:t>
            </a:r>
            <a:r>
              <a:rPr lang="en-US" dirty="0">
                <a:solidFill>
                  <a:schemeClr val="tx1">
                    <a:lumMod val="65000"/>
                    <a:lumOff val="35000"/>
                  </a:schemeClr>
                </a:solidFill>
              </a:rPr>
              <a:t>Business Problem</a:t>
            </a:r>
          </a:p>
          <a:p>
            <a:r>
              <a:rPr lang="en-US" dirty="0"/>
              <a:t>The </a:t>
            </a:r>
            <a:r>
              <a:rPr lang="en-US" dirty="0" smtClean="0">
                <a:solidFill>
                  <a:schemeClr val="tx1">
                    <a:lumMod val="65000"/>
                    <a:lumOff val="35000"/>
                  </a:schemeClr>
                </a:solidFill>
              </a:rPr>
              <a:t>Solution</a:t>
            </a:r>
            <a:endParaRPr lang="en-US" dirty="0">
              <a:solidFill>
                <a:schemeClr val="tx1">
                  <a:lumMod val="65000"/>
                  <a:lumOff val="35000"/>
                </a:schemeClr>
              </a:solidFill>
            </a:endParaRPr>
          </a:p>
          <a:p>
            <a:r>
              <a:rPr lang="en-US" dirty="0"/>
              <a:t>The </a:t>
            </a:r>
            <a:r>
              <a:rPr lang="en-US" dirty="0">
                <a:solidFill>
                  <a:schemeClr val="tx1">
                    <a:lumMod val="65000"/>
                    <a:lumOff val="35000"/>
                  </a:schemeClr>
                </a:solidFill>
              </a:rPr>
              <a:t>Results</a:t>
            </a:r>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Planning for and Justifying IT Applications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13.1</a:t>
            </a:r>
            <a:endParaRPr lang="en-US" dirty="0"/>
          </a:p>
        </p:txBody>
      </p:sp>
      <p:sp>
        <p:nvSpPr>
          <p:cNvPr id="4" name="Content Placeholder 3"/>
          <p:cNvSpPr>
            <a:spLocks noGrp="1"/>
          </p:cNvSpPr>
          <p:nvPr>
            <p:ph sz="quarter" idx="15"/>
          </p:nvPr>
        </p:nvSpPr>
        <p:spPr/>
        <p:txBody>
          <a:bodyPr>
            <a:normAutofit/>
          </a:bodyPr>
          <a:lstStyle/>
          <a:p>
            <a:r>
              <a:rPr lang="en-US" dirty="0" smtClean="0"/>
              <a:t>IT Planning</a:t>
            </a:r>
          </a:p>
          <a:p>
            <a:r>
              <a:rPr lang="en-US" dirty="0" smtClean="0"/>
              <a:t>Evaluating and Justifying IT Investment: Benefits, Costs, and Issues</a:t>
            </a:r>
          </a:p>
        </p:txBody>
      </p:sp>
    </p:spTree>
    <p:extLst>
      <p:ext uri="{BB962C8B-B14F-4D97-AF65-F5344CB8AC3E}">
        <p14:creationId xmlns:p14="http://schemas.microsoft.com/office/powerpoint/2010/main" val="2577784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13.1 </a:t>
            </a:r>
            <a:r>
              <a:rPr lang="en-US" dirty="0"/>
              <a:t>The information systems planning process</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404861" y="1447800"/>
            <a:ext cx="6410478"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7179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IT Planning</a:t>
            </a:r>
            <a:endParaRPr lang="en-US" dirty="0"/>
          </a:p>
        </p:txBody>
      </p:sp>
      <p:sp>
        <p:nvSpPr>
          <p:cNvPr id="4" name="Content Placeholder 3"/>
          <p:cNvSpPr>
            <a:spLocks noGrp="1"/>
          </p:cNvSpPr>
          <p:nvPr>
            <p:ph sz="quarter" idx="14"/>
          </p:nvPr>
        </p:nvSpPr>
        <p:spPr/>
        <p:txBody>
          <a:bodyPr>
            <a:normAutofit/>
          </a:bodyPr>
          <a:lstStyle/>
          <a:p>
            <a:r>
              <a:rPr lang="en-US" dirty="0" smtClean="0"/>
              <a:t>Organizational Strategic Plan</a:t>
            </a:r>
          </a:p>
          <a:p>
            <a:r>
              <a:rPr lang="en-US" dirty="0" smtClean="0"/>
              <a:t>IT Architecture</a:t>
            </a:r>
          </a:p>
          <a:p>
            <a:r>
              <a:rPr lang="en-US" dirty="0" smtClean="0"/>
              <a:t>IT Strategic Plan</a:t>
            </a:r>
          </a:p>
        </p:txBody>
      </p:sp>
    </p:spTree>
    <p:extLst>
      <p:ext uri="{BB962C8B-B14F-4D97-AF65-F5344CB8AC3E}">
        <p14:creationId xmlns:p14="http://schemas.microsoft.com/office/powerpoint/2010/main" val="151003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IT Strategic Plan</a:t>
            </a:r>
            <a:endParaRPr lang="en-US" dirty="0"/>
          </a:p>
        </p:txBody>
      </p:sp>
      <p:sp>
        <p:nvSpPr>
          <p:cNvPr id="4" name="Content Placeholder 3"/>
          <p:cNvSpPr>
            <a:spLocks noGrp="1"/>
          </p:cNvSpPr>
          <p:nvPr>
            <p:ph type="body" sz="quarter" idx="13"/>
          </p:nvPr>
        </p:nvSpPr>
        <p:spPr/>
        <p:txBody>
          <a:bodyPr>
            <a:normAutofit/>
          </a:bodyPr>
          <a:lstStyle/>
          <a:p>
            <a:r>
              <a:rPr lang="en-US" dirty="0" smtClean="0"/>
              <a:t>Must meet three main objectives</a:t>
            </a:r>
          </a:p>
          <a:p>
            <a:r>
              <a:rPr lang="en-US" dirty="0" smtClean="0"/>
              <a:t>IT Steering Committee</a:t>
            </a:r>
          </a:p>
          <a:p>
            <a:r>
              <a:rPr lang="en-US" dirty="0" smtClean="0"/>
              <a:t>Typical IS Operational Plan Contains the Following Elements:</a:t>
            </a:r>
          </a:p>
        </p:txBody>
      </p:sp>
    </p:spTree>
    <p:extLst>
      <p:ext uri="{BB962C8B-B14F-4D97-AF65-F5344CB8AC3E}">
        <p14:creationId xmlns:p14="http://schemas.microsoft.com/office/powerpoint/2010/main" val="4180812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Three Main Objectives of IT Strategic Plan</a:t>
            </a:r>
            <a:endParaRPr lang="en-US" dirty="0"/>
          </a:p>
        </p:txBody>
      </p:sp>
      <p:sp>
        <p:nvSpPr>
          <p:cNvPr id="4" name="Content Placeholder 3"/>
          <p:cNvSpPr>
            <a:spLocks noGrp="1"/>
          </p:cNvSpPr>
          <p:nvPr>
            <p:ph type="body" sz="quarter" idx="13"/>
          </p:nvPr>
        </p:nvSpPr>
        <p:spPr/>
        <p:txBody>
          <a:bodyPr>
            <a:normAutofit fontScale="92500" lnSpcReduction="20000"/>
          </a:bodyPr>
          <a:lstStyle/>
          <a:p>
            <a:r>
              <a:rPr lang="en-US" dirty="0" smtClean="0"/>
              <a:t>It must be aligned with the organization’s strategic plan</a:t>
            </a:r>
          </a:p>
          <a:p>
            <a:r>
              <a:rPr lang="en-US" dirty="0" smtClean="0"/>
              <a:t>It must provide for an IT architecture that seamlessly networks users, applications, and databases</a:t>
            </a:r>
          </a:p>
          <a:p>
            <a:r>
              <a:rPr lang="en-US" dirty="0" smtClean="0"/>
              <a:t>It must efficiently allocate IS development resources among competing projects so the projects can be completed on time an within budget and still have the required functionality</a:t>
            </a:r>
          </a:p>
        </p:txBody>
      </p:sp>
    </p:spTree>
    <p:extLst>
      <p:ext uri="{BB962C8B-B14F-4D97-AF65-F5344CB8AC3E}">
        <p14:creationId xmlns:p14="http://schemas.microsoft.com/office/powerpoint/2010/main" val="779945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A Typical IS Operational Plan Includes:</a:t>
            </a:r>
            <a:endParaRPr lang="en-US" dirty="0"/>
          </a:p>
        </p:txBody>
      </p:sp>
      <p:sp>
        <p:nvSpPr>
          <p:cNvPr id="4" name="Content Placeholder 3"/>
          <p:cNvSpPr>
            <a:spLocks noGrp="1"/>
          </p:cNvSpPr>
          <p:nvPr>
            <p:ph type="body" sz="quarter" idx="13"/>
          </p:nvPr>
        </p:nvSpPr>
        <p:spPr/>
        <p:txBody>
          <a:bodyPr>
            <a:normAutofit lnSpcReduction="10000"/>
          </a:bodyPr>
          <a:lstStyle/>
          <a:p>
            <a:r>
              <a:rPr lang="en-US" dirty="0" smtClean="0"/>
              <a:t>Mission Statement</a:t>
            </a:r>
          </a:p>
          <a:p>
            <a:r>
              <a:rPr lang="en-US" dirty="0" smtClean="0"/>
              <a:t>IS environment</a:t>
            </a:r>
          </a:p>
          <a:p>
            <a:r>
              <a:rPr lang="en-US" dirty="0" smtClean="0"/>
              <a:t>Objectives of the IS Function</a:t>
            </a:r>
          </a:p>
          <a:p>
            <a:r>
              <a:rPr lang="en-US" dirty="0" smtClean="0"/>
              <a:t>Constraints of the IS Function</a:t>
            </a:r>
          </a:p>
          <a:p>
            <a:r>
              <a:rPr lang="en-US" dirty="0" smtClean="0"/>
              <a:t>The application portfolio</a:t>
            </a:r>
          </a:p>
          <a:p>
            <a:r>
              <a:rPr lang="en-US" dirty="0" smtClean="0"/>
              <a:t>Resource allocation and project management</a:t>
            </a:r>
          </a:p>
        </p:txBody>
      </p:sp>
    </p:spTree>
    <p:extLst>
      <p:ext uri="{BB962C8B-B14F-4D97-AF65-F5344CB8AC3E}">
        <p14:creationId xmlns:p14="http://schemas.microsoft.com/office/powerpoint/2010/main" val="154297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546728" y="609600"/>
            <a:ext cx="8063871" cy="1447800"/>
          </a:xfrm>
        </p:spPr>
        <p:txBody>
          <a:bodyPr>
            <a:normAutofit fontScale="77500" lnSpcReduction="20000"/>
          </a:bodyPr>
          <a:lstStyle/>
          <a:p>
            <a:r>
              <a:rPr lang="en-US" dirty="0" smtClean="0"/>
              <a:t>Evaluating and Justifying IT Investment: Benefits, Costs, and Issues</a:t>
            </a:r>
            <a:endParaRPr lang="en-US" dirty="0"/>
          </a:p>
        </p:txBody>
      </p:sp>
      <p:sp>
        <p:nvSpPr>
          <p:cNvPr id="4" name="Content Placeholder 3"/>
          <p:cNvSpPr>
            <a:spLocks noGrp="1"/>
          </p:cNvSpPr>
          <p:nvPr>
            <p:ph sz="quarter" idx="14"/>
          </p:nvPr>
        </p:nvSpPr>
        <p:spPr/>
        <p:txBody>
          <a:bodyPr>
            <a:normAutofit/>
          </a:bodyPr>
          <a:lstStyle/>
          <a:p>
            <a:r>
              <a:rPr lang="en-US" dirty="0" smtClean="0"/>
              <a:t>Assessing the Costs</a:t>
            </a:r>
          </a:p>
          <a:p>
            <a:r>
              <a:rPr lang="en-US" dirty="0" smtClean="0"/>
              <a:t>Assessing the Benefits</a:t>
            </a:r>
          </a:p>
          <a:p>
            <a:r>
              <a:rPr lang="en-US" dirty="0" smtClean="0"/>
              <a:t>Conducting the Cost-Benefit Analysis</a:t>
            </a:r>
          </a:p>
        </p:txBody>
      </p:sp>
    </p:spTree>
    <p:extLst>
      <p:ext uri="{BB962C8B-B14F-4D97-AF65-F5344CB8AC3E}">
        <p14:creationId xmlns:p14="http://schemas.microsoft.com/office/powerpoint/2010/main" val="270420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Four Common Approaches to Cost-Benefit Analysis</a:t>
            </a:r>
            <a:endParaRPr lang="en-US" dirty="0"/>
          </a:p>
        </p:txBody>
      </p:sp>
      <p:sp>
        <p:nvSpPr>
          <p:cNvPr id="4" name="Content Placeholder 3"/>
          <p:cNvSpPr>
            <a:spLocks noGrp="1"/>
          </p:cNvSpPr>
          <p:nvPr>
            <p:ph type="body" sz="quarter" idx="13"/>
          </p:nvPr>
        </p:nvSpPr>
        <p:spPr/>
        <p:txBody>
          <a:bodyPr>
            <a:normAutofit/>
          </a:bodyPr>
          <a:lstStyle/>
          <a:p>
            <a:r>
              <a:rPr lang="en-US" dirty="0" smtClean="0"/>
              <a:t>Analysts use the net present value (NPV)</a:t>
            </a:r>
          </a:p>
          <a:p>
            <a:r>
              <a:rPr lang="en-US" dirty="0" smtClean="0"/>
              <a:t>Return on Investment (ROI)</a:t>
            </a:r>
          </a:p>
          <a:p>
            <a:r>
              <a:rPr lang="en-US" dirty="0" smtClean="0"/>
              <a:t>Breakeven analysis</a:t>
            </a:r>
          </a:p>
          <a:p>
            <a:r>
              <a:rPr lang="en-US" dirty="0" smtClean="0"/>
              <a:t>Business case approach</a:t>
            </a:r>
            <a:endParaRPr lang="en-US" dirty="0"/>
          </a:p>
        </p:txBody>
      </p:sp>
    </p:spTree>
    <p:extLst>
      <p:ext uri="{BB962C8B-B14F-4D97-AF65-F5344CB8AC3E}">
        <p14:creationId xmlns:p14="http://schemas.microsoft.com/office/powerpoint/2010/main" val="3379201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Strategies for Acquiring IT Applications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13.2</a:t>
            </a:r>
            <a:endParaRPr lang="en-US" dirty="0"/>
          </a:p>
        </p:txBody>
      </p:sp>
      <p:sp>
        <p:nvSpPr>
          <p:cNvPr id="4" name="Content Placeholder 3"/>
          <p:cNvSpPr>
            <a:spLocks noGrp="1"/>
          </p:cNvSpPr>
          <p:nvPr>
            <p:ph sz="quarter" idx="15"/>
          </p:nvPr>
        </p:nvSpPr>
        <p:spPr/>
        <p:txBody>
          <a:bodyPr>
            <a:normAutofit fontScale="92500"/>
          </a:bodyPr>
          <a:lstStyle/>
          <a:p>
            <a:r>
              <a:rPr lang="en-US" dirty="0" smtClean="0"/>
              <a:t>Fundamental Decisions in Acquiring IT Applications</a:t>
            </a:r>
          </a:p>
          <a:p>
            <a:r>
              <a:rPr lang="en-US" dirty="0" smtClean="0"/>
              <a:t>Purchase a Prewritten Application</a:t>
            </a:r>
          </a:p>
          <a:p>
            <a:r>
              <a:rPr lang="en-US" dirty="0" smtClean="0"/>
              <a:t>Customize a Prewritten Application</a:t>
            </a:r>
          </a:p>
          <a:p>
            <a:r>
              <a:rPr lang="en-US" dirty="0" smtClean="0"/>
              <a:t>Lease the Application</a:t>
            </a:r>
          </a:p>
          <a:p>
            <a:r>
              <a:rPr lang="en-US" dirty="0" smtClean="0"/>
              <a:t>Application Service Providers and Software-as-a-Service Vendors</a:t>
            </a:r>
          </a:p>
        </p:txBody>
      </p:sp>
    </p:spTree>
    <p:extLst>
      <p:ext uri="{BB962C8B-B14F-4D97-AF65-F5344CB8AC3E}">
        <p14:creationId xmlns:p14="http://schemas.microsoft.com/office/powerpoint/2010/main" val="4257586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Strategies for Acquiring IT Applications (Continued)</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13.2</a:t>
            </a:r>
            <a:endParaRPr lang="en-US" dirty="0"/>
          </a:p>
        </p:txBody>
      </p:sp>
      <p:sp>
        <p:nvSpPr>
          <p:cNvPr id="4" name="Content Placeholder 3"/>
          <p:cNvSpPr>
            <a:spLocks noGrp="1"/>
          </p:cNvSpPr>
          <p:nvPr>
            <p:ph sz="quarter" idx="15"/>
          </p:nvPr>
        </p:nvSpPr>
        <p:spPr/>
        <p:txBody>
          <a:bodyPr>
            <a:normAutofit/>
          </a:bodyPr>
          <a:lstStyle/>
          <a:p>
            <a:r>
              <a:rPr lang="en-US" dirty="0" smtClean="0"/>
              <a:t>Use Open-Source Software</a:t>
            </a:r>
          </a:p>
          <a:p>
            <a:r>
              <a:rPr lang="en-US" dirty="0" smtClean="0"/>
              <a:t>Outsourcing</a:t>
            </a:r>
          </a:p>
          <a:p>
            <a:r>
              <a:rPr lang="en-US" dirty="0" smtClean="0"/>
              <a:t>Continuous Development</a:t>
            </a:r>
          </a:p>
          <a:p>
            <a:r>
              <a:rPr lang="en-US" dirty="0" smtClean="0"/>
              <a:t>Employ Custom Development</a:t>
            </a:r>
          </a:p>
        </p:txBody>
      </p:sp>
    </p:spTree>
    <p:extLst>
      <p:ext uri="{BB962C8B-B14F-4D97-AF65-F5344CB8AC3E}">
        <p14:creationId xmlns:p14="http://schemas.microsoft.com/office/powerpoint/2010/main" val="471502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lnSpcReduction="10000"/>
          </a:bodyPr>
          <a:lstStyle/>
          <a:p>
            <a:r>
              <a:rPr lang="en-US" dirty="0" smtClean="0"/>
              <a:t>LinkedIn’s Fast Development Process Helps Save the Company</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13.1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Build Your Apps Yourself</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13.2</a:t>
            </a:r>
            <a:endParaRPr lang="en-US" dirty="0"/>
          </a:p>
        </p:txBody>
      </p:sp>
    </p:spTree>
    <p:extLst>
      <p:ext uri="{BB962C8B-B14F-4D97-AF65-F5344CB8AC3E}">
        <p14:creationId xmlns:p14="http://schemas.microsoft.com/office/powerpoint/2010/main" val="24970705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Fundamental Decisions in Acquiring IT Applications</a:t>
            </a:r>
            <a:endParaRPr lang="en-US" dirty="0"/>
          </a:p>
        </p:txBody>
      </p:sp>
      <p:sp>
        <p:nvSpPr>
          <p:cNvPr id="4" name="Content Placeholder 3"/>
          <p:cNvSpPr>
            <a:spLocks noGrp="1"/>
          </p:cNvSpPr>
          <p:nvPr>
            <p:ph sz="quarter" idx="14"/>
          </p:nvPr>
        </p:nvSpPr>
        <p:spPr/>
        <p:txBody>
          <a:bodyPr>
            <a:normAutofit/>
          </a:bodyPr>
          <a:lstStyle/>
          <a:p>
            <a:r>
              <a:rPr lang="en-US" dirty="0" smtClean="0"/>
              <a:t>How much computer code does the company want to write?</a:t>
            </a:r>
          </a:p>
          <a:p>
            <a:r>
              <a:rPr lang="en-US" dirty="0" smtClean="0"/>
              <a:t>How will the company pay for the application?</a:t>
            </a:r>
          </a:p>
          <a:p>
            <a:r>
              <a:rPr lang="en-US" dirty="0" smtClean="0"/>
              <a:t>Where will the application run?</a:t>
            </a:r>
          </a:p>
          <a:p>
            <a:r>
              <a:rPr lang="en-US" dirty="0" smtClean="0"/>
              <a:t>Where will the application originate?</a:t>
            </a:r>
          </a:p>
        </p:txBody>
      </p:sp>
    </p:spTree>
    <p:extLst>
      <p:ext uri="{BB962C8B-B14F-4D97-AF65-F5344CB8AC3E}">
        <p14:creationId xmlns:p14="http://schemas.microsoft.com/office/powerpoint/2010/main" val="3231838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Application Service Providers and Software-as-a-Service</a:t>
            </a:r>
            <a:endParaRPr lang="en-US" dirty="0"/>
          </a:p>
        </p:txBody>
      </p:sp>
      <p:sp>
        <p:nvSpPr>
          <p:cNvPr id="4" name="Content Placeholder 3"/>
          <p:cNvSpPr>
            <a:spLocks noGrp="1"/>
          </p:cNvSpPr>
          <p:nvPr>
            <p:ph sz="quarter" idx="14"/>
          </p:nvPr>
        </p:nvSpPr>
        <p:spPr/>
        <p:txBody>
          <a:bodyPr>
            <a:normAutofit/>
          </a:bodyPr>
          <a:lstStyle/>
          <a:p>
            <a:r>
              <a:rPr lang="en-US" dirty="0" smtClean="0"/>
              <a:t>Application service provider (ASP)</a:t>
            </a:r>
          </a:p>
          <a:p>
            <a:r>
              <a:rPr lang="en-US" dirty="0" smtClean="0"/>
              <a:t>Software-as-a-service (</a:t>
            </a:r>
            <a:r>
              <a:rPr lang="en-US" dirty="0" err="1" smtClean="0"/>
              <a:t>SaaS</a:t>
            </a:r>
            <a:r>
              <a:rPr lang="en-US" dirty="0" smtClean="0"/>
              <a:t>)</a:t>
            </a:r>
          </a:p>
        </p:txBody>
      </p:sp>
    </p:spTree>
    <p:extLst>
      <p:ext uri="{BB962C8B-B14F-4D97-AF65-F5344CB8AC3E}">
        <p14:creationId xmlns:p14="http://schemas.microsoft.com/office/powerpoint/2010/main" val="268220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13.2 </a:t>
            </a:r>
            <a:r>
              <a:rPr lang="en-US" dirty="0"/>
              <a:t>Operation of an application service provider</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263910" y="1447800"/>
            <a:ext cx="6692379"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7592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13.3 </a:t>
            </a:r>
            <a:r>
              <a:rPr lang="en-US" dirty="0"/>
              <a:t>Operation of a software-as-a-service vendor</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055956" y="1447800"/>
            <a:ext cx="7108287"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158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Traditional Systems Development Life Cycle</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13.3</a:t>
            </a:r>
            <a:endParaRPr lang="en-US" dirty="0"/>
          </a:p>
        </p:txBody>
      </p:sp>
      <p:sp>
        <p:nvSpPr>
          <p:cNvPr id="4" name="Content Placeholder 3"/>
          <p:cNvSpPr>
            <a:spLocks noGrp="1"/>
          </p:cNvSpPr>
          <p:nvPr>
            <p:ph sz="quarter" idx="15"/>
          </p:nvPr>
        </p:nvSpPr>
        <p:spPr/>
        <p:txBody>
          <a:bodyPr>
            <a:normAutofit fontScale="92500" lnSpcReduction="10000"/>
          </a:bodyPr>
          <a:lstStyle/>
          <a:p>
            <a:r>
              <a:rPr lang="en-US" dirty="0" smtClean="0"/>
              <a:t>Systems Development Life Cycle (SDLC)</a:t>
            </a:r>
          </a:p>
          <a:p>
            <a:pPr lvl="1"/>
            <a:r>
              <a:rPr lang="en-US" dirty="0" smtClean="0"/>
              <a:t>Systems Investigation</a:t>
            </a:r>
          </a:p>
          <a:p>
            <a:pPr lvl="1"/>
            <a:r>
              <a:rPr lang="en-US" dirty="0" smtClean="0"/>
              <a:t>Systems Analysis</a:t>
            </a:r>
          </a:p>
          <a:p>
            <a:pPr lvl="1"/>
            <a:r>
              <a:rPr lang="en-US" dirty="0" smtClean="0"/>
              <a:t>Systems Design</a:t>
            </a:r>
          </a:p>
          <a:p>
            <a:pPr lvl="1"/>
            <a:r>
              <a:rPr lang="en-US" dirty="0" smtClean="0"/>
              <a:t>Programming and Testing</a:t>
            </a:r>
          </a:p>
          <a:p>
            <a:pPr lvl="1"/>
            <a:r>
              <a:rPr lang="en-US" dirty="0" smtClean="0"/>
              <a:t>Implementation</a:t>
            </a:r>
          </a:p>
          <a:p>
            <a:pPr lvl="1"/>
            <a:r>
              <a:rPr lang="en-US" dirty="0" smtClean="0"/>
              <a:t>Operation and Maintenance</a:t>
            </a:r>
          </a:p>
        </p:txBody>
      </p:sp>
    </p:spTree>
    <p:extLst>
      <p:ext uri="{BB962C8B-B14F-4D97-AF65-F5344CB8AC3E}">
        <p14:creationId xmlns:p14="http://schemas.microsoft.com/office/powerpoint/2010/main" val="3171705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13.4 </a:t>
            </a:r>
            <a:r>
              <a:rPr lang="en-US" dirty="0"/>
              <a:t>A six-stage systems development life cycle with supporting tools</a:t>
            </a:r>
            <a:r>
              <a:rPr lang="en-US" dirty="0" smtClean="0"/>
              <a:t>.</a:t>
            </a:r>
            <a:endParaRPr lang="en-US" dirty="0"/>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12764" y="1905000"/>
            <a:ext cx="8926768" cy="3856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1205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The Traditional Systems Development Life Cycle (SDLC)</a:t>
            </a:r>
            <a:endParaRPr lang="en-US" dirty="0"/>
          </a:p>
        </p:txBody>
      </p:sp>
      <p:sp>
        <p:nvSpPr>
          <p:cNvPr id="4" name="Content Placeholder 3"/>
          <p:cNvSpPr>
            <a:spLocks noGrp="1"/>
          </p:cNvSpPr>
          <p:nvPr>
            <p:ph sz="quarter" idx="14"/>
          </p:nvPr>
        </p:nvSpPr>
        <p:spPr/>
        <p:txBody>
          <a:bodyPr>
            <a:normAutofit/>
          </a:bodyPr>
          <a:lstStyle/>
          <a:p>
            <a:r>
              <a:rPr lang="en-US" dirty="0" smtClean="0"/>
              <a:t>Six sequential processes of SDLC</a:t>
            </a:r>
          </a:p>
          <a:p>
            <a:pPr lvl="1"/>
            <a:r>
              <a:rPr lang="en-US" dirty="0" smtClean="0"/>
              <a:t>Systems investigation</a:t>
            </a:r>
          </a:p>
          <a:p>
            <a:pPr lvl="1"/>
            <a:r>
              <a:rPr lang="en-US" dirty="0" smtClean="0"/>
              <a:t>Systems analysis</a:t>
            </a:r>
          </a:p>
          <a:p>
            <a:pPr lvl="1"/>
            <a:r>
              <a:rPr lang="en-US" dirty="0" smtClean="0"/>
              <a:t>Systems design</a:t>
            </a:r>
          </a:p>
          <a:p>
            <a:pPr lvl="1"/>
            <a:r>
              <a:rPr lang="en-US" dirty="0" smtClean="0"/>
              <a:t>Programming and testing</a:t>
            </a:r>
          </a:p>
          <a:p>
            <a:pPr lvl="1"/>
            <a:r>
              <a:rPr lang="en-US" dirty="0" smtClean="0"/>
              <a:t>Implementation</a:t>
            </a:r>
          </a:p>
          <a:p>
            <a:pPr lvl="1"/>
            <a:r>
              <a:rPr lang="en-US" dirty="0" smtClean="0"/>
              <a:t>Operation and maintenance</a:t>
            </a:r>
          </a:p>
        </p:txBody>
      </p:sp>
    </p:spTree>
    <p:extLst>
      <p:ext uri="{BB962C8B-B14F-4D97-AF65-F5344CB8AC3E}">
        <p14:creationId xmlns:p14="http://schemas.microsoft.com/office/powerpoint/2010/main" val="310841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546728" y="609600"/>
            <a:ext cx="8063871" cy="1447800"/>
          </a:xfrm>
        </p:spPr>
        <p:txBody>
          <a:bodyPr>
            <a:normAutofit fontScale="77500" lnSpcReduction="20000"/>
          </a:bodyPr>
          <a:lstStyle/>
          <a:p>
            <a:r>
              <a:rPr lang="en-US" dirty="0" smtClean="0"/>
              <a:t>The Traditional Systems Development Life Cycle (SDLC) (</a:t>
            </a:r>
            <a:r>
              <a:rPr lang="en-US" dirty="0" err="1" smtClean="0"/>
              <a:t>Con’t</a:t>
            </a:r>
            <a:r>
              <a:rPr lang="en-US" dirty="0" smtClean="0"/>
              <a:t>)</a:t>
            </a:r>
            <a:endParaRPr lang="en-US" dirty="0"/>
          </a:p>
        </p:txBody>
      </p:sp>
      <p:sp>
        <p:nvSpPr>
          <p:cNvPr id="4" name="Content Placeholder 3"/>
          <p:cNvSpPr>
            <a:spLocks noGrp="1"/>
          </p:cNvSpPr>
          <p:nvPr>
            <p:ph sz="quarter" idx="14"/>
          </p:nvPr>
        </p:nvSpPr>
        <p:spPr/>
        <p:txBody>
          <a:bodyPr>
            <a:normAutofit/>
          </a:bodyPr>
          <a:lstStyle/>
          <a:p>
            <a:r>
              <a:rPr lang="en-US" dirty="0" smtClean="0"/>
              <a:t>Systems analysts</a:t>
            </a:r>
          </a:p>
          <a:p>
            <a:r>
              <a:rPr lang="en-US" dirty="0" smtClean="0"/>
              <a:t>Programmers</a:t>
            </a:r>
          </a:p>
          <a:p>
            <a:r>
              <a:rPr lang="en-US" dirty="0" smtClean="0"/>
              <a:t>Technical Specialists</a:t>
            </a:r>
          </a:p>
          <a:p>
            <a:r>
              <a:rPr lang="en-US" dirty="0" smtClean="0"/>
              <a:t>Stakeholders</a:t>
            </a:r>
          </a:p>
        </p:txBody>
      </p:sp>
    </p:spTree>
    <p:extLst>
      <p:ext uri="{BB962C8B-B14F-4D97-AF65-F5344CB8AC3E}">
        <p14:creationId xmlns:p14="http://schemas.microsoft.com/office/powerpoint/2010/main" val="1878575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SDLC: Systems Investigation</a:t>
            </a:r>
            <a:endParaRPr lang="en-US" dirty="0"/>
          </a:p>
        </p:txBody>
      </p:sp>
      <p:sp>
        <p:nvSpPr>
          <p:cNvPr id="4" name="Content Placeholder 3"/>
          <p:cNvSpPr>
            <a:spLocks noGrp="1"/>
          </p:cNvSpPr>
          <p:nvPr>
            <p:ph sz="quarter" idx="14"/>
          </p:nvPr>
        </p:nvSpPr>
        <p:spPr/>
        <p:txBody>
          <a:bodyPr>
            <a:normAutofit/>
          </a:bodyPr>
          <a:lstStyle/>
          <a:p>
            <a:r>
              <a:rPr lang="en-US" dirty="0" smtClean="0"/>
              <a:t>Three Basic Solutions</a:t>
            </a:r>
          </a:p>
          <a:p>
            <a:r>
              <a:rPr lang="en-US" dirty="0" smtClean="0"/>
              <a:t>Feasibility study</a:t>
            </a:r>
          </a:p>
          <a:p>
            <a:pPr lvl="1"/>
            <a:r>
              <a:rPr lang="en-US" dirty="0" smtClean="0"/>
              <a:t>Technical feasibility</a:t>
            </a:r>
          </a:p>
          <a:p>
            <a:pPr lvl="1"/>
            <a:r>
              <a:rPr lang="en-US" dirty="0" smtClean="0"/>
              <a:t>Economic feasibility</a:t>
            </a:r>
          </a:p>
          <a:p>
            <a:pPr lvl="1"/>
            <a:r>
              <a:rPr lang="en-US" dirty="0" smtClean="0"/>
              <a:t>Behavioral feasibility</a:t>
            </a:r>
          </a:p>
          <a:p>
            <a:r>
              <a:rPr lang="en-US" dirty="0" smtClean="0"/>
              <a:t>Go/No Go Decision</a:t>
            </a:r>
          </a:p>
        </p:txBody>
      </p:sp>
    </p:spTree>
    <p:extLst>
      <p:ext uri="{BB962C8B-B14F-4D97-AF65-F5344CB8AC3E}">
        <p14:creationId xmlns:p14="http://schemas.microsoft.com/office/powerpoint/2010/main" val="2500735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SDLC: Systems Analysis</a:t>
            </a:r>
            <a:endParaRPr lang="en-US" dirty="0"/>
          </a:p>
        </p:txBody>
      </p:sp>
      <p:sp>
        <p:nvSpPr>
          <p:cNvPr id="4" name="Content Placeholder 3"/>
          <p:cNvSpPr>
            <a:spLocks noGrp="1"/>
          </p:cNvSpPr>
          <p:nvPr>
            <p:ph sz="quarter" idx="14"/>
          </p:nvPr>
        </p:nvSpPr>
        <p:spPr/>
        <p:txBody>
          <a:bodyPr>
            <a:normAutofit/>
          </a:bodyPr>
          <a:lstStyle/>
          <a:p>
            <a:r>
              <a:rPr lang="en-US" dirty="0"/>
              <a:t>The process whereby systems analysts examine the business problem that the organization plans to solve with an IS.</a:t>
            </a:r>
          </a:p>
          <a:p>
            <a:endParaRPr lang="en-US" dirty="0"/>
          </a:p>
          <a:p>
            <a:r>
              <a:rPr lang="en-US" dirty="0"/>
              <a:t>Deliverable:</a:t>
            </a:r>
          </a:p>
          <a:p>
            <a:pPr lvl="1"/>
            <a:r>
              <a:rPr lang="en-US" dirty="0"/>
              <a:t>A set of system requirements (or User Requirements)</a:t>
            </a:r>
          </a:p>
        </p:txBody>
      </p:sp>
    </p:spTree>
    <p:extLst>
      <p:ext uri="{BB962C8B-B14F-4D97-AF65-F5344CB8AC3E}">
        <p14:creationId xmlns:p14="http://schemas.microsoft.com/office/powerpoint/2010/main" val="19650674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SDLC: Systems Design</a:t>
            </a:r>
            <a:endParaRPr lang="en-US" dirty="0"/>
          </a:p>
        </p:txBody>
      </p:sp>
      <p:sp>
        <p:nvSpPr>
          <p:cNvPr id="4" name="Content Placeholder 3"/>
          <p:cNvSpPr>
            <a:spLocks noGrp="1"/>
          </p:cNvSpPr>
          <p:nvPr>
            <p:ph sz="quarter" idx="14"/>
          </p:nvPr>
        </p:nvSpPr>
        <p:spPr/>
        <p:txBody>
          <a:bodyPr>
            <a:normAutofit/>
          </a:bodyPr>
          <a:lstStyle/>
          <a:p>
            <a:r>
              <a:rPr lang="en-US" dirty="0"/>
              <a:t>Describes how the system will resolve the business problem.</a:t>
            </a:r>
          </a:p>
          <a:p>
            <a:r>
              <a:rPr lang="en-US" dirty="0"/>
              <a:t>Deliverable: </a:t>
            </a:r>
          </a:p>
          <a:p>
            <a:pPr lvl="1"/>
            <a:r>
              <a:rPr lang="en-US" dirty="0"/>
              <a:t>a set of technical system specifications.</a:t>
            </a:r>
          </a:p>
          <a:p>
            <a:r>
              <a:rPr lang="en-US" dirty="0"/>
              <a:t>Scope Creep</a:t>
            </a:r>
          </a:p>
        </p:txBody>
      </p:sp>
    </p:spTree>
    <p:extLst>
      <p:ext uri="{BB962C8B-B14F-4D97-AF65-F5344CB8AC3E}">
        <p14:creationId xmlns:p14="http://schemas.microsoft.com/office/powerpoint/2010/main" val="121608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SDLC: </a:t>
            </a:r>
            <a:br>
              <a:rPr lang="en-US" dirty="0" smtClean="0"/>
            </a:br>
            <a:r>
              <a:rPr lang="en-US" dirty="0" smtClean="0"/>
              <a:t>Programming and Testing</a:t>
            </a:r>
            <a:endParaRPr lang="en-US" dirty="0"/>
          </a:p>
        </p:txBody>
      </p:sp>
      <p:sp>
        <p:nvSpPr>
          <p:cNvPr id="4" name="Content Placeholder 3"/>
          <p:cNvSpPr>
            <a:spLocks noGrp="1"/>
          </p:cNvSpPr>
          <p:nvPr>
            <p:ph sz="quarter" idx="14"/>
          </p:nvPr>
        </p:nvSpPr>
        <p:spPr/>
        <p:txBody>
          <a:bodyPr>
            <a:normAutofit/>
          </a:bodyPr>
          <a:lstStyle/>
          <a:p>
            <a:r>
              <a:rPr lang="en-US" dirty="0"/>
              <a:t>Programming</a:t>
            </a:r>
          </a:p>
          <a:p>
            <a:r>
              <a:rPr lang="en-US" dirty="0"/>
              <a:t>Testing</a:t>
            </a:r>
          </a:p>
        </p:txBody>
      </p:sp>
    </p:spTree>
    <p:extLst>
      <p:ext uri="{BB962C8B-B14F-4D97-AF65-F5344CB8AC3E}">
        <p14:creationId xmlns:p14="http://schemas.microsoft.com/office/powerpoint/2010/main" val="2501372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SDLC: Implementation</a:t>
            </a:r>
            <a:endParaRPr lang="en-US" dirty="0"/>
          </a:p>
        </p:txBody>
      </p:sp>
      <p:sp>
        <p:nvSpPr>
          <p:cNvPr id="4" name="Content Placeholder 3"/>
          <p:cNvSpPr>
            <a:spLocks noGrp="1"/>
          </p:cNvSpPr>
          <p:nvPr>
            <p:ph sz="quarter" idx="14"/>
          </p:nvPr>
        </p:nvSpPr>
        <p:spPr/>
        <p:txBody>
          <a:bodyPr>
            <a:normAutofit/>
          </a:bodyPr>
          <a:lstStyle/>
          <a:p>
            <a:r>
              <a:rPr lang="en-US" dirty="0"/>
              <a:t>Implementation</a:t>
            </a:r>
          </a:p>
          <a:p>
            <a:r>
              <a:rPr lang="en-US" dirty="0" smtClean="0"/>
              <a:t>Major </a:t>
            </a:r>
            <a:r>
              <a:rPr lang="en-US" dirty="0"/>
              <a:t>Conversion Strategies</a:t>
            </a:r>
          </a:p>
          <a:p>
            <a:pPr lvl="1"/>
            <a:r>
              <a:rPr lang="en-US" dirty="0" smtClean="0"/>
              <a:t>Direct conversion</a:t>
            </a:r>
          </a:p>
          <a:p>
            <a:pPr lvl="1"/>
            <a:r>
              <a:rPr lang="en-US" dirty="0" smtClean="0"/>
              <a:t>Pilot conversion</a:t>
            </a:r>
          </a:p>
          <a:p>
            <a:pPr lvl="1"/>
            <a:r>
              <a:rPr lang="en-US" dirty="0" smtClean="0"/>
              <a:t>Phased conversion</a:t>
            </a:r>
          </a:p>
          <a:p>
            <a:pPr lvl="1"/>
            <a:r>
              <a:rPr lang="en-US" dirty="0" smtClean="0"/>
              <a:t>Parallel conversion</a:t>
            </a:r>
          </a:p>
        </p:txBody>
      </p:sp>
    </p:spTree>
    <p:extLst>
      <p:ext uri="{BB962C8B-B14F-4D97-AF65-F5344CB8AC3E}">
        <p14:creationId xmlns:p14="http://schemas.microsoft.com/office/powerpoint/2010/main" val="2734993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SDLC: </a:t>
            </a:r>
            <a:br>
              <a:rPr lang="en-US" dirty="0" smtClean="0"/>
            </a:br>
            <a:r>
              <a:rPr lang="en-US" dirty="0" smtClean="0"/>
              <a:t>Operations &amp; Maintenance</a:t>
            </a:r>
            <a:endParaRPr lang="en-US" dirty="0"/>
          </a:p>
        </p:txBody>
      </p:sp>
      <p:sp>
        <p:nvSpPr>
          <p:cNvPr id="4" name="Content Placeholder 3"/>
          <p:cNvSpPr>
            <a:spLocks noGrp="1"/>
          </p:cNvSpPr>
          <p:nvPr>
            <p:ph sz="quarter" idx="14"/>
          </p:nvPr>
        </p:nvSpPr>
        <p:spPr/>
        <p:txBody>
          <a:bodyPr>
            <a:normAutofit/>
          </a:bodyPr>
          <a:lstStyle/>
          <a:p>
            <a:r>
              <a:rPr lang="en-US" dirty="0"/>
              <a:t>Systems Require Several Types of Maintenance:</a:t>
            </a:r>
          </a:p>
          <a:p>
            <a:pPr lvl="1"/>
            <a:r>
              <a:rPr lang="en-US" dirty="0"/>
              <a:t>Debugging</a:t>
            </a:r>
          </a:p>
          <a:p>
            <a:pPr lvl="1"/>
            <a:r>
              <a:rPr lang="en-US" dirty="0"/>
              <a:t>Updating</a:t>
            </a:r>
          </a:p>
          <a:p>
            <a:pPr lvl="1"/>
            <a:r>
              <a:rPr lang="en-US" dirty="0"/>
              <a:t>Adding</a:t>
            </a:r>
          </a:p>
        </p:txBody>
      </p:sp>
    </p:spTree>
    <p:extLst>
      <p:ext uri="{BB962C8B-B14F-4D97-AF65-F5344CB8AC3E}">
        <p14:creationId xmlns:p14="http://schemas.microsoft.com/office/powerpoint/2010/main" val="1680629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Avon Writes Off $125 Million on Failed Software Implementation</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13.3</a:t>
            </a:r>
            <a:endParaRPr lang="en-US" dirty="0"/>
          </a:p>
        </p:txBody>
      </p:sp>
    </p:spTree>
    <p:extLst>
      <p:ext uri="{BB962C8B-B14F-4D97-AF65-F5344CB8AC3E}">
        <p14:creationId xmlns:p14="http://schemas.microsoft.com/office/powerpoint/2010/main" val="24970705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13.5 </a:t>
            </a:r>
            <a:r>
              <a:rPr lang="en-US" dirty="0"/>
              <a:t>Comparison of user and developer involvement over the SDLC</a:t>
            </a:r>
            <a:r>
              <a:rPr lang="en-US" dirty="0" smtClean="0"/>
              <a:t>.</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804862" y="1781175"/>
            <a:ext cx="7610475"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8969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10000"/>
          </a:bodyPr>
          <a:lstStyle/>
          <a:p>
            <a:r>
              <a:rPr lang="en-US" dirty="0" smtClean="0"/>
              <a:t>Alternative Methods and Tools for Systems Development</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13.4</a:t>
            </a:r>
            <a:endParaRPr lang="en-US" dirty="0"/>
          </a:p>
        </p:txBody>
      </p:sp>
      <p:sp>
        <p:nvSpPr>
          <p:cNvPr id="4" name="Content Placeholder 3"/>
          <p:cNvSpPr>
            <a:spLocks noGrp="1"/>
          </p:cNvSpPr>
          <p:nvPr>
            <p:ph sz="quarter" idx="15"/>
          </p:nvPr>
        </p:nvSpPr>
        <p:spPr/>
        <p:txBody>
          <a:bodyPr>
            <a:normAutofit/>
          </a:bodyPr>
          <a:lstStyle/>
          <a:p>
            <a:r>
              <a:rPr lang="en-US" dirty="0" smtClean="0"/>
              <a:t>Joint Application Design (JAD)</a:t>
            </a:r>
          </a:p>
          <a:p>
            <a:r>
              <a:rPr lang="en-US" dirty="0" smtClean="0"/>
              <a:t>Rapid Application Development (RAD)</a:t>
            </a:r>
          </a:p>
          <a:p>
            <a:r>
              <a:rPr lang="en-US" dirty="0" smtClean="0"/>
              <a:t>Agile Development</a:t>
            </a:r>
          </a:p>
          <a:p>
            <a:r>
              <a:rPr lang="en-US" dirty="0" smtClean="0"/>
              <a:t>End-User Development</a:t>
            </a:r>
          </a:p>
          <a:p>
            <a:r>
              <a:rPr lang="en-US" dirty="0" smtClean="0"/>
              <a:t>Tools for Systems Development</a:t>
            </a:r>
            <a:endParaRPr lang="en-US" dirty="0"/>
          </a:p>
        </p:txBody>
      </p:sp>
    </p:spTree>
    <p:extLst>
      <p:ext uri="{BB962C8B-B14F-4D97-AF65-F5344CB8AC3E}">
        <p14:creationId xmlns:p14="http://schemas.microsoft.com/office/powerpoint/2010/main" val="4037938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13.6 </a:t>
            </a:r>
            <a:r>
              <a:rPr lang="en-US" dirty="0"/>
              <a:t>A rapid prototyping development process versus SDLC. </a:t>
            </a:r>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120840"/>
            <a:ext cx="8153400" cy="3759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71535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Tools for Systems Development</a:t>
            </a:r>
            <a:endParaRPr lang="en-US" dirty="0"/>
          </a:p>
        </p:txBody>
      </p:sp>
      <p:sp>
        <p:nvSpPr>
          <p:cNvPr id="4" name="Content Placeholder 3"/>
          <p:cNvSpPr>
            <a:spLocks noGrp="1"/>
          </p:cNvSpPr>
          <p:nvPr>
            <p:ph sz="quarter" idx="14"/>
          </p:nvPr>
        </p:nvSpPr>
        <p:spPr/>
        <p:txBody>
          <a:bodyPr>
            <a:normAutofit/>
          </a:bodyPr>
          <a:lstStyle/>
          <a:p>
            <a:r>
              <a:rPr lang="en-US" dirty="0" smtClean="0"/>
              <a:t>Prototyping</a:t>
            </a:r>
          </a:p>
          <a:p>
            <a:r>
              <a:rPr lang="en-US" dirty="0" smtClean="0"/>
              <a:t>Integrated Computer-Assisted Software Engineering Tools (CASE)</a:t>
            </a:r>
          </a:p>
          <a:p>
            <a:r>
              <a:rPr lang="en-US" dirty="0" smtClean="0"/>
              <a:t>Component-Based Development</a:t>
            </a:r>
          </a:p>
          <a:p>
            <a:r>
              <a:rPr lang="en-US" dirty="0" smtClean="0"/>
              <a:t>Object-Oriented Development</a:t>
            </a:r>
          </a:p>
          <a:p>
            <a:pPr lvl="1"/>
            <a:endParaRPr lang="en-US" dirty="0"/>
          </a:p>
        </p:txBody>
      </p:sp>
    </p:spTree>
    <p:extLst>
      <p:ext uri="{BB962C8B-B14F-4D97-AF65-F5344CB8AC3E}">
        <p14:creationId xmlns:p14="http://schemas.microsoft.com/office/powerpoint/2010/main" val="40984614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The Federal Aviation Administration’s Next Generation…</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Original Problem</a:t>
            </a:r>
          </a:p>
          <a:p>
            <a:r>
              <a:rPr lang="en-US" dirty="0" smtClean="0"/>
              <a:t>The </a:t>
            </a:r>
            <a:r>
              <a:rPr lang="en-US" dirty="0" smtClean="0">
                <a:solidFill>
                  <a:schemeClr val="tx1">
                    <a:lumMod val="65000"/>
                    <a:lumOff val="35000"/>
                  </a:schemeClr>
                </a:solidFill>
              </a:rPr>
              <a:t>Intended Solution</a:t>
            </a:r>
          </a:p>
          <a:p>
            <a:r>
              <a:rPr lang="en-US" dirty="0"/>
              <a:t>The </a:t>
            </a:r>
            <a:r>
              <a:rPr lang="en-US" dirty="0" smtClean="0"/>
              <a:t>Results </a:t>
            </a:r>
            <a:r>
              <a:rPr lang="en-US" dirty="0" smtClean="0">
                <a:solidFill>
                  <a:schemeClr val="tx1">
                    <a:lumMod val="65000"/>
                    <a:lumOff val="35000"/>
                  </a:schemeClr>
                </a:solidFill>
              </a:rPr>
              <a:t>So Far (Early 2015)</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16377</TotalTime>
  <Words>3456</Words>
  <Application>Microsoft Office PowerPoint</Application>
  <PresentationFormat>On-screen Show (4:3)</PresentationFormat>
  <Paragraphs>299</Paragraphs>
  <Slides>37</Slides>
  <Notes>28</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PowerPoint Presentation</vt:lpstr>
      <vt:lpstr>PowerPoint Presentation</vt:lpstr>
      <vt:lpstr>PowerPoint Presentation</vt:lpstr>
      <vt:lpstr>[ WEB RESOURCES]</vt:lpstr>
      <vt:lpstr>[ Opening Case A Poor Start  for Healthcare.gov]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The Federal Aviation Administration’s Next Generation…]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Rainer_6e_Chapter13_Slides</dc:title>
  <dc:creator>John Kenneth Corley</dc:creator>
  <cp:lastModifiedBy>techsupport</cp:lastModifiedBy>
  <cp:revision>513</cp:revision>
  <dcterms:created xsi:type="dcterms:W3CDTF">2013-08-07T23:49:12Z</dcterms:created>
  <dcterms:modified xsi:type="dcterms:W3CDTF">2015-10-01T20:06:07Z</dcterms:modified>
</cp:coreProperties>
</file>