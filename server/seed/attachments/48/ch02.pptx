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FFFF66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0EC94-9C91-457F-8126-CCAC6B9BE6A6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16D5D-259E-42AB-9BAC-CFD2FEDD9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8301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1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7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6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C7559-7B0B-4DE4-B058-865FFA7FFC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9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9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10A89-3E7E-40A8-B35B-8575B3C19E6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4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4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3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3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3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57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426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smtClean="0">
                <a:solidFill>
                  <a:schemeClr val="tx1"/>
                </a:solidFill>
              </a:rPr>
              <a:t>Bygrave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</a:t>
            </a:r>
            <a:r>
              <a:rPr lang="en-US" sz="1000" dirty="0" smtClean="0">
                <a:solidFill>
                  <a:schemeClr val="tx1"/>
                </a:solidFill>
              </a:rPr>
              <a:t> </a:t>
            </a:r>
            <a:r>
              <a:rPr lang="en-US" sz="1000" i="1" dirty="0" smtClean="0">
                <a:solidFill>
                  <a:schemeClr val="tx1"/>
                </a:solidFill>
              </a:rPr>
              <a:t>3</a:t>
            </a:r>
            <a:r>
              <a:rPr lang="en-US" sz="1000" i="1" baseline="30000" dirty="0" smtClean="0">
                <a:solidFill>
                  <a:schemeClr val="tx1"/>
                </a:solidFill>
              </a:rPr>
              <a:t>rd</a:t>
            </a:r>
            <a:r>
              <a:rPr lang="en-US" sz="1000" i="1" dirty="0" smtClean="0">
                <a:solidFill>
                  <a:schemeClr val="tx1"/>
                </a:solidFill>
              </a:rPr>
              <a:t> Edition. </a:t>
            </a:r>
            <a:r>
              <a:rPr lang="en-US" sz="1000" dirty="0" smtClean="0">
                <a:solidFill>
                  <a:schemeClr val="tx1"/>
                </a:solidFill>
              </a:rPr>
              <a:t>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248400"/>
            <a:ext cx="1143000" cy="58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67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ENTREPRENEURSHIP PROCESS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2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2"/>
          <a:stretch>
            <a:fillRect/>
          </a:stretch>
        </p:blipFill>
        <p:spPr bwMode="auto">
          <a:xfrm>
            <a:off x="228600" y="1295401"/>
            <a:ext cx="8656461" cy="472071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itle 6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ea typeface="ＭＳ Ｐゴシック" pitchFamily="34" charset="-128"/>
              </a:rPr>
              <a:t>The Entrepreneurship Process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300" dirty="0" smtClean="0">
                <a:ea typeface="ＭＳ Ｐゴシック" pitchFamily="34" charset="-128"/>
              </a:rPr>
              <a:t>Entrepreneurship Defined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Entrepreneur: </a:t>
            </a:r>
            <a:r>
              <a:rPr lang="en-US" altLang="en-US" sz="22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someone who perceives an opportunity and builds an organization to pursue that opportunity.</a:t>
            </a:r>
          </a:p>
          <a:p>
            <a:pPr eaLnBrk="1" hangingPunct="1"/>
            <a:endParaRPr lang="en-US" altLang="en-US" sz="1600" b="1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200" i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Entrepreneurship</a:t>
            </a:r>
            <a:r>
              <a:rPr lang="en-US" altLang="en-US" sz="22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involves all the functions, activities, and actions associated with perceiving opportunities and creating organizations to pursue them. These include:</a:t>
            </a:r>
          </a:p>
          <a:p>
            <a:pPr lvl="1" eaLnBrk="1" hangingPunct="1"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Market and customer research</a:t>
            </a:r>
          </a:p>
          <a:p>
            <a:pPr lvl="1" eaLnBrk="1" hangingPunct="1"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Service and product innovation</a:t>
            </a:r>
          </a:p>
          <a:p>
            <a:pPr lvl="1" eaLnBrk="1" hangingPunct="1"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Team building</a:t>
            </a:r>
          </a:p>
          <a:p>
            <a:pPr lvl="1" eaLnBrk="1" hangingPunct="1"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Finding &amp; managing resources</a:t>
            </a:r>
          </a:p>
          <a:p>
            <a:pPr lvl="1" eaLnBrk="1" hangingPunct="1">
              <a:buSzPct val="100000"/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Leadership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1600" b="1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eaLnBrk="1" hangingPunct="1"/>
            <a:endParaRPr lang="en-US" altLang="en-US" sz="1600" b="1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53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300" dirty="0" smtClean="0">
                <a:latin typeface="Novecento wide Book"/>
                <a:ea typeface="ＭＳ Ｐゴシック" pitchFamily="34" charset="-128"/>
              </a:rPr>
              <a:t>Factors Influencing an Entrepreneur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3352800"/>
            <a:ext cx="4114800" cy="2286000"/>
          </a:xfrm>
          <a:prstGeom prst="rect">
            <a:avLst/>
          </a:prstGeom>
        </p:spPr>
        <p:txBody>
          <a:bodyPr/>
          <a:lstStyle/>
          <a:p>
            <a:pPr marL="0" indent="-273050" eaLnBrk="1" hangingPunct="1">
              <a:lnSpc>
                <a:spcPct val="90000"/>
              </a:lnSpc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Higher internal locus of control</a:t>
            </a:r>
          </a:p>
          <a:p>
            <a:pPr marL="0" indent="-273050" eaLnBrk="1" hangingPunct="1">
              <a:lnSpc>
                <a:spcPct val="90000"/>
              </a:lnSpc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Desire for financial success</a:t>
            </a:r>
          </a:p>
          <a:p>
            <a:pPr marL="0" indent="-273050" eaLnBrk="1" hangingPunct="1">
              <a:lnSpc>
                <a:spcPct val="90000"/>
              </a:lnSpc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Desire to achieve self-realization</a:t>
            </a:r>
          </a:p>
          <a:p>
            <a:pPr marL="0" indent="-273050" eaLnBrk="1" hangingPunct="1">
              <a:lnSpc>
                <a:spcPct val="90000"/>
              </a:lnSpc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Desire for recognition</a:t>
            </a:r>
          </a:p>
          <a:p>
            <a:pPr marL="0" indent="-273050" eaLnBrk="1" hangingPunct="1">
              <a:lnSpc>
                <a:spcPct val="90000"/>
              </a:lnSpc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Joy of innovation</a:t>
            </a:r>
          </a:p>
          <a:p>
            <a:pPr marL="0" indent="-273050" eaLnBrk="1" hangingPunct="1">
              <a:lnSpc>
                <a:spcPct val="90000"/>
              </a:lnSpc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Risk tolerance</a:t>
            </a:r>
          </a:p>
          <a:p>
            <a:pPr marL="0" indent="-273050" eaLnBrk="1" hangingPunct="1">
              <a:lnSpc>
                <a:spcPct val="90000"/>
              </a:lnSpc>
            </a:pPr>
            <a:endParaRPr lang="en-US" altLang="en-US" sz="16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indent="-273050" eaLnBrk="1" hangingPunct="1">
              <a:lnSpc>
                <a:spcPct val="90000"/>
              </a:lnSpc>
            </a:pPr>
            <a:endParaRPr lang="en-US" altLang="en-US" sz="16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3556" name="Text Box 6"/>
          <p:cNvSpPr txBox="1">
            <a:spLocks noChangeArrowheads="1"/>
          </p:cNvSpPr>
          <p:nvPr/>
        </p:nvSpPr>
        <p:spPr bwMode="auto">
          <a:xfrm>
            <a:off x="896938" y="1524000"/>
            <a:ext cx="1866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Personal </a:t>
            </a:r>
          </a:p>
          <a:p>
            <a:pPr algn="ctr"/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</a:p>
        </p:txBody>
      </p:sp>
      <p:sp>
        <p:nvSpPr>
          <p:cNvPr id="23557" name="AutoShape 7"/>
          <p:cNvSpPr>
            <a:spLocks noChangeArrowheads="1"/>
          </p:cNvSpPr>
          <p:nvPr/>
        </p:nvSpPr>
        <p:spPr bwMode="auto">
          <a:xfrm rot="10800000">
            <a:off x="2971800" y="1981200"/>
            <a:ext cx="1143000" cy="1066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8" name="AutoShape 8"/>
          <p:cNvSpPr>
            <a:spLocks noChangeArrowheads="1"/>
          </p:cNvSpPr>
          <p:nvPr/>
        </p:nvSpPr>
        <p:spPr bwMode="auto">
          <a:xfrm rot="10800000" flipH="1">
            <a:off x="4648200" y="1981200"/>
            <a:ext cx="1143000" cy="1066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9" name="Text Box 9"/>
          <p:cNvSpPr txBox="1">
            <a:spLocks noChangeArrowheads="1"/>
          </p:cNvSpPr>
          <p:nvPr/>
        </p:nvSpPr>
        <p:spPr bwMode="auto">
          <a:xfrm>
            <a:off x="5638800" y="1524000"/>
            <a:ext cx="2655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</a:p>
          <a:p>
            <a:pPr algn="ctr"/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</a:p>
        </p:txBody>
      </p:sp>
      <p:sp>
        <p:nvSpPr>
          <p:cNvPr id="23560" name="AutoShape 10"/>
          <p:cNvSpPr>
            <a:spLocks noChangeArrowheads="1"/>
          </p:cNvSpPr>
          <p:nvPr/>
        </p:nvSpPr>
        <p:spPr bwMode="auto">
          <a:xfrm>
            <a:off x="1524000" y="2514600"/>
            <a:ext cx="685800" cy="762000"/>
          </a:xfrm>
          <a:prstGeom prst="downArrow">
            <a:avLst>
              <a:gd name="adj1" fmla="val 50000"/>
              <a:gd name="adj2" fmla="val 27778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61" name="AutoShape 11"/>
          <p:cNvSpPr>
            <a:spLocks noChangeArrowheads="1"/>
          </p:cNvSpPr>
          <p:nvPr/>
        </p:nvSpPr>
        <p:spPr bwMode="auto">
          <a:xfrm>
            <a:off x="6705600" y="2514600"/>
            <a:ext cx="685800" cy="762000"/>
          </a:xfrm>
          <a:prstGeom prst="downArrow">
            <a:avLst>
              <a:gd name="adj1" fmla="val 50000"/>
              <a:gd name="adj2" fmla="val 27778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62" name="Rectangle 14"/>
          <p:cNvSpPr>
            <a:spLocks noChangeArrowheads="1"/>
          </p:cNvSpPr>
          <p:nvPr/>
        </p:nvSpPr>
        <p:spPr bwMode="auto">
          <a:xfrm>
            <a:off x="4800600" y="3352800"/>
            <a:ext cx="4114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285750" indent="-285750"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Local, regional, or national attitudes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Social and cultural pressures for or against risk taking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Access to entrepreneurial role models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Responsibilities to family and community</a:t>
            </a:r>
          </a:p>
        </p:txBody>
      </p:sp>
      <p:sp>
        <p:nvSpPr>
          <p:cNvPr id="23563" name="Text Box 15"/>
          <p:cNvSpPr txBox="1">
            <a:spLocks noChangeArrowheads="1"/>
          </p:cNvSpPr>
          <p:nvPr/>
        </p:nvSpPr>
        <p:spPr bwMode="auto">
          <a:xfrm>
            <a:off x="378225" y="5715000"/>
            <a:ext cx="858440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Remember: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single type of person is best suited for entrepreneurship.  </a:t>
            </a:r>
          </a:p>
          <a:p>
            <a:pPr algn="ctr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Entrepreneurs come from all walks of life!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10A89-3E7E-40A8-B35B-8575B3C19E6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300" dirty="0" smtClean="0">
                <a:latin typeface="Novecento wide Book"/>
                <a:ea typeface="ＭＳ Ｐゴシック" pitchFamily="34" charset="-128"/>
              </a:rPr>
              <a:t>Ten D’s of Entrepreneurship</a:t>
            </a:r>
          </a:p>
        </p:txBody>
      </p:sp>
      <p:sp>
        <p:nvSpPr>
          <p:cNvPr id="24579" name="Content Placeholder 1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Dream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Decisiveness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Doers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Determination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Dedication</a:t>
            </a:r>
          </a:p>
        </p:txBody>
      </p:sp>
      <p:sp>
        <p:nvSpPr>
          <p:cNvPr id="24580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Devotion</a:t>
            </a:r>
          </a:p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Details</a:t>
            </a:r>
          </a:p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Destiny</a:t>
            </a:r>
          </a:p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Dollars </a:t>
            </a:r>
          </a:p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Distribute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C7559-7B0B-4DE4-B058-865FFA7FFC1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7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8392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ea typeface="ＭＳ Ｐゴシック" pitchFamily="34" charset="-128"/>
              </a:rPr>
              <a:t>Before Committing, Entrepreneurs Must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12775" y="1752600"/>
            <a:ext cx="8153400" cy="4495800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Assess their own financial reality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Live with little or no salary?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What external financial commitments are there? </a:t>
            </a:r>
          </a:p>
          <a:p>
            <a:pPr eaLnBrk="1" hangingPunct="1">
              <a:buFont typeface="+mj-lt"/>
              <a:buAutoNum type="arabicPeriod"/>
            </a:pPr>
            <a:endParaRPr lang="en-US" altLang="en-US" sz="16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Identify key contacts in their networks</a:t>
            </a:r>
            <a:endParaRPr lang="en-US" altLang="en-US" sz="22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Take an inventory of the resources in one’s network</a:t>
            </a:r>
          </a:p>
          <a:p>
            <a:pPr eaLnBrk="1" hangingPunct="1">
              <a:buFont typeface="+mj-lt"/>
              <a:buAutoNum type="arabicPeriod"/>
            </a:pPr>
            <a:endParaRPr lang="en-US" altLang="en-US" sz="16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Reach out to sources of free advice and feedback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Who can help or advise? </a:t>
            </a:r>
          </a:p>
          <a:p>
            <a:pPr eaLnBrk="1" hangingPunct="1">
              <a:buFont typeface="Wingdings" pitchFamily="2" charset="2"/>
              <a:buAutoNum type="arabicParenR" startAt="3"/>
            </a:pPr>
            <a:endParaRPr lang="en-US" altLang="en-US" sz="22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eaLnBrk="1" hangingPunct="1">
              <a:buFont typeface="Wingdings" pitchFamily="2" charset="2"/>
              <a:buAutoNum type="arabicParenR" startAt="3"/>
            </a:pPr>
            <a:endParaRPr lang="en-US" altLang="en-US" sz="22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8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7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300" dirty="0">
                <a:latin typeface="Novecento wide Book"/>
                <a:ea typeface="ＭＳ Ｐゴシック" pitchFamily="34" charset="-128"/>
              </a:rPr>
              <a:t>3</a:t>
            </a:r>
            <a:r>
              <a:rPr lang="en-US" altLang="en-US" sz="4300" dirty="0" smtClean="0">
                <a:latin typeface="Novecento wide Book"/>
                <a:ea typeface="ＭＳ Ｐゴシック" pitchFamily="34" charset="-128"/>
              </a:rPr>
              <a:t> Crucial Components of Success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295400" y="1676400"/>
            <a:ext cx="6262254" cy="3777817"/>
            <a:chOff x="1524000" y="2089583"/>
            <a:chExt cx="6262254" cy="3777817"/>
          </a:xfrm>
        </p:grpSpPr>
        <p:sp>
          <p:nvSpPr>
            <p:cNvPr id="2" name="Rectangle 1"/>
            <p:cNvSpPr/>
            <p:nvPr/>
          </p:nvSpPr>
          <p:spPr>
            <a:xfrm>
              <a:off x="1828800" y="2667000"/>
              <a:ext cx="2209800" cy="38100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Opportunity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581400" y="5486400"/>
              <a:ext cx="2209800" cy="3810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Resources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417127" y="2649683"/>
              <a:ext cx="2202873" cy="381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Entrepreneur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3467100" y="3657600"/>
              <a:ext cx="2438400" cy="891381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Fits &amp; Gaps Business plan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4648200" y="4548981"/>
              <a:ext cx="0" cy="9374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5417127" y="3048000"/>
              <a:ext cx="1669473" cy="24384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407727" y="4299383"/>
              <a:ext cx="1378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Uncertainty</a:t>
              </a:r>
              <a:endParaRPr lang="en-US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38600" y="2089583"/>
              <a:ext cx="1378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Uncertainty</a:t>
              </a:r>
              <a:endParaRPr lang="en-US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24000" y="4299383"/>
              <a:ext cx="1378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Uncertainty</a:t>
              </a:r>
              <a:endParaRPr lang="en-US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4059211" y="2819400"/>
              <a:ext cx="1378527" cy="1731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5562600" y="3033605"/>
              <a:ext cx="471395" cy="74014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3352800" y="3033605"/>
              <a:ext cx="471395" cy="74014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2209800" y="3033605"/>
              <a:ext cx="1676399" cy="24384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3200400" y="5772090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The Timmons Model</a:t>
            </a:r>
            <a:endParaRPr lang="en-US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10A89-3E7E-40A8-B35B-8575B3C19E6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9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ea typeface="ＭＳ Ｐゴシック" pitchFamily="34" charset="-128"/>
              </a:rPr>
              <a:t>Tenets of the Timmons Model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12775" y="1752600"/>
            <a:ext cx="8153400" cy="472440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Opportunity</a:t>
            </a:r>
          </a:p>
          <a:p>
            <a:pPr marL="661988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 there a clear customer need?</a:t>
            </a:r>
          </a:p>
          <a:p>
            <a:pPr marL="661988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 the timing right: team ready, market ready?</a:t>
            </a:r>
          </a:p>
          <a:p>
            <a:pPr marL="661988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Combine these factors with the execution of the business plan to make an idea an opportunity</a:t>
            </a:r>
          </a:p>
          <a:p>
            <a:pPr marL="661988" lvl="1" indent="-342900" eaLnBrk="1" hangingPunct="1">
              <a:lnSpc>
                <a:spcPct val="80000"/>
              </a:lnSpc>
              <a:buFont typeface="+mj-lt"/>
              <a:buAutoNum type="arabicPeriod"/>
            </a:pPr>
            <a:endParaRPr lang="en-US" altLang="en-US" sz="13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Lead Entrepreneur and Management Team</a:t>
            </a:r>
            <a:endParaRPr lang="en-US" altLang="en-US" sz="22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661988"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Experience within the proposed industry?</a:t>
            </a:r>
          </a:p>
          <a:p>
            <a:pPr marL="661988"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Investors prefer to see a track record of driving growth and profits</a:t>
            </a:r>
          </a:p>
          <a:p>
            <a:pPr marL="661988"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An ‘A’ team with a ‘B’ idea is almost always better than the opposite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US" altLang="en-US" sz="15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Resources</a:t>
            </a:r>
            <a:endParaRPr lang="en-US" altLang="en-US" sz="22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661988"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Capital, technology, equipment, and most importantly – people</a:t>
            </a:r>
          </a:p>
          <a:p>
            <a:pPr marL="661988"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Low overhead, high productivity, and controlling, but not owning resources</a:t>
            </a:r>
          </a:p>
          <a:p>
            <a:pPr marL="661988" lvl="1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Find ways to get things done faster, cheaper or better!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58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300" dirty="0" smtClean="0">
                <a:latin typeface="Novecento wide Book"/>
                <a:ea typeface="ＭＳ Ｐゴシック" pitchFamily="34" charset="-128"/>
              </a:rPr>
              <a:t>Key Forms of Start Up Capital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276600"/>
            <a:ext cx="3886200" cy="1905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18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No transfer of company ownership</a:t>
            </a:r>
          </a:p>
          <a:p>
            <a:pPr eaLnBrk="1" hangingPunct="1"/>
            <a:r>
              <a:rPr lang="en-US" altLang="en-US" sz="18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Potentially higher risk for the entrepreneur</a:t>
            </a:r>
          </a:p>
          <a:p>
            <a:pPr eaLnBrk="1" hangingPunct="1"/>
            <a:r>
              <a:rPr lang="en-US" altLang="en-US" sz="18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Requires repayment, and therefore careful cash flow planning</a:t>
            </a:r>
          </a:p>
          <a:p>
            <a:pPr eaLnBrk="1" hangingPunct="1"/>
            <a:endParaRPr lang="en-US" altLang="en-US" sz="1600" b="1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eaLnBrk="1" hangingPunct="1"/>
            <a:endParaRPr lang="en-US" altLang="en-US" sz="1600" b="1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313236" y="1600200"/>
            <a:ext cx="103906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Debt</a:t>
            </a:r>
          </a:p>
        </p:txBody>
      </p:sp>
      <p:sp>
        <p:nvSpPr>
          <p:cNvPr id="28677" name="AutoShape 5"/>
          <p:cNvSpPr>
            <a:spLocks noChangeArrowheads="1"/>
          </p:cNvSpPr>
          <p:nvPr/>
        </p:nvSpPr>
        <p:spPr bwMode="auto">
          <a:xfrm rot="10800000">
            <a:off x="2895600" y="1860550"/>
            <a:ext cx="1143000" cy="1066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 rot="10800000" flipH="1">
            <a:off x="4724400" y="1860550"/>
            <a:ext cx="1143000" cy="1066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6289284" y="1600200"/>
            <a:ext cx="136127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Equity</a:t>
            </a:r>
          </a:p>
        </p:txBody>
      </p:sp>
      <p:sp>
        <p:nvSpPr>
          <p:cNvPr id="28680" name="AutoShape 8"/>
          <p:cNvSpPr>
            <a:spLocks noChangeArrowheads="1"/>
          </p:cNvSpPr>
          <p:nvPr/>
        </p:nvSpPr>
        <p:spPr bwMode="auto">
          <a:xfrm>
            <a:off x="1524000" y="2241550"/>
            <a:ext cx="685800" cy="762000"/>
          </a:xfrm>
          <a:prstGeom prst="downArrow">
            <a:avLst>
              <a:gd name="adj1" fmla="val 50000"/>
              <a:gd name="adj2" fmla="val 27778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81" name="AutoShape 9"/>
          <p:cNvSpPr>
            <a:spLocks noChangeArrowheads="1"/>
          </p:cNvSpPr>
          <p:nvPr/>
        </p:nvSpPr>
        <p:spPr bwMode="auto">
          <a:xfrm>
            <a:off x="6705600" y="2241550"/>
            <a:ext cx="685800" cy="762000"/>
          </a:xfrm>
          <a:prstGeom prst="downArrow">
            <a:avLst>
              <a:gd name="adj1" fmla="val 50000"/>
              <a:gd name="adj2" fmla="val 27778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4495800" y="3200400"/>
            <a:ext cx="4419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39763" indent="-2730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652463" indent="-285750"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Investors gain an ownership stake</a:t>
            </a:r>
          </a:p>
          <a:p>
            <a:pPr marL="652463" indent="-285750"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Investor takes most risk, which explains the costs and expected returns</a:t>
            </a:r>
          </a:p>
          <a:p>
            <a:pPr marL="652463" indent="-285750" eaLnBrk="1" hangingPunct="1"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No repayment, but requires careful capital planning and investment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684838" y="5616714"/>
            <a:ext cx="771717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Remember:  Most companies will never take on outside investors, </a:t>
            </a:r>
          </a:p>
          <a:p>
            <a:pPr algn="ctr"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many will never use debt financing for growth.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10A89-3E7E-40A8-B35B-8575B3C19E6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4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300" dirty="0" smtClean="0">
                <a:latin typeface="Novecento wide Book"/>
                <a:ea typeface="ＭＳ Ｐゴシック" pitchFamily="34" charset="-128"/>
              </a:rPr>
              <a:t>A Sample Financing Path</a:t>
            </a:r>
          </a:p>
        </p:txBody>
      </p:sp>
      <p:sp>
        <p:nvSpPr>
          <p:cNvPr id="29699" name="AutoShape 5"/>
          <p:cNvSpPr>
            <a:spLocks noChangeArrowheads="1"/>
          </p:cNvSpPr>
          <p:nvPr/>
        </p:nvSpPr>
        <p:spPr bwMode="auto">
          <a:xfrm rot="5400000">
            <a:off x="6972300" y="2178050"/>
            <a:ext cx="1143000" cy="1066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Text Box 7"/>
          <p:cNvSpPr txBox="1">
            <a:spLocks noChangeArrowheads="1"/>
          </p:cNvSpPr>
          <p:nvPr/>
        </p:nvSpPr>
        <p:spPr bwMode="auto">
          <a:xfrm>
            <a:off x="4642098" y="1835150"/>
            <a:ext cx="221406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Angel</a:t>
            </a:r>
          </a:p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Investment</a:t>
            </a:r>
          </a:p>
        </p:txBody>
      </p:sp>
      <p:sp>
        <p:nvSpPr>
          <p:cNvPr id="29701" name="AutoShape 8"/>
          <p:cNvSpPr>
            <a:spLocks noChangeArrowheads="1"/>
          </p:cNvSpPr>
          <p:nvPr/>
        </p:nvSpPr>
        <p:spPr bwMode="auto">
          <a:xfrm rot="5400000">
            <a:off x="3771900" y="4883150"/>
            <a:ext cx="685800" cy="762000"/>
          </a:xfrm>
          <a:prstGeom prst="downArrow">
            <a:avLst>
              <a:gd name="adj1" fmla="val 50000"/>
              <a:gd name="adj2" fmla="val 27778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2" name="AutoShape 9"/>
          <p:cNvSpPr>
            <a:spLocks noChangeArrowheads="1"/>
          </p:cNvSpPr>
          <p:nvPr/>
        </p:nvSpPr>
        <p:spPr bwMode="auto">
          <a:xfrm rot="-5400000">
            <a:off x="3848100" y="1949450"/>
            <a:ext cx="685800" cy="762000"/>
          </a:xfrm>
          <a:prstGeom prst="downArrow">
            <a:avLst>
              <a:gd name="adj1" fmla="val 50000"/>
              <a:gd name="adj2" fmla="val 27778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3" name="Text Box 13"/>
          <p:cNvSpPr txBox="1">
            <a:spLocks noChangeArrowheads="1"/>
          </p:cNvSpPr>
          <p:nvPr/>
        </p:nvSpPr>
        <p:spPr bwMode="auto">
          <a:xfrm>
            <a:off x="310471" y="1835150"/>
            <a:ext cx="339067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Personal Savings</a:t>
            </a:r>
          </a:p>
          <a:p>
            <a:pPr algn="ctr"/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&amp; Sweat Equity</a:t>
            </a:r>
          </a:p>
        </p:txBody>
      </p:sp>
      <p:sp>
        <p:nvSpPr>
          <p:cNvPr id="29704" name="Text Box 14"/>
          <p:cNvSpPr txBox="1">
            <a:spLocks noChangeArrowheads="1"/>
          </p:cNvSpPr>
          <p:nvPr/>
        </p:nvSpPr>
        <p:spPr bwMode="auto">
          <a:xfrm>
            <a:off x="6472528" y="3403600"/>
            <a:ext cx="25203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Bank &amp; SBA </a:t>
            </a:r>
          </a:p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Loans</a:t>
            </a:r>
          </a:p>
        </p:txBody>
      </p:sp>
      <p:sp>
        <p:nvSpPr>
          <p:cNvPr id="29705" name="AutoShape 15"/>
          <p:cNvSpPr>
            <a:spLocks noChangeArrowheads="1"/>
          </p:cNvSpPr>
          <p:nvPr/>
        </p:nvSpPr>
        <p:spPr bwMode="auto">
          <a:xfrm rot="10800000">
            <a:off x="6858000" y="4578350"/>
            <a:ext cx="1143000" cy="1066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6" name="Text Box 16"/>
          <p:cNvSpPr txBox="1">
            <a:spLocks noChangeArrowheads="1"/>
          </p:cNvSpPr>
          <p:nvPr/>
        </p:nvSpPr>
        <p:spPr bwMode="auto">
          <a:xfrm>
            <a:off x="4881820" y="4775200"/>
            <a:ext cx="159492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Venture</a:t>
            </a:r>
          </a:p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Capital</a:t>
            </a:r>
          </a:p>
        </p:txBody>
      </p:sp>
      <p:sp>
        <p:nvSpPr>
          <p:cNvPr id="29707" name="Text Box 17"/>
          <p:cNvSpPr txBox="1">
            <a:spLocks noChangeArrowheads="1"/>
          </p:cNvSpPr>
          <p:nvPr/>
        </p:nvSpPr>
        <p:spPr bwMode="auto">
          <a:xfrm>
            <a:off x="968253" y="4775200"/>
            <a:ext cx="245451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Initial Public</a:t>
            </a:r>
          </a:p>
          <a:p>
            <a:pPr algn="ctr"/>
            <a:r>
              <a:rPr lang="en-US" altLang="en-US" sz="3000" b="1">
                <a:latin typeface="Arial" panose="020B0604020202020204" pitchFamily="34" charset="0"/>
                <a:cs typeface="Arial" panose="020B0604020202020204" pitchFamily="34" charset="0"/>
              </a:rPr>
              <a:t>Offering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10A89-3E7E-40A8-B35B-8575B3C19E6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8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ea typeface="ＭＳ Ｐゴシック" pitchFamily="34" charset="-128"/>
              </a:rPr>
              <a:t>Happiness is a Positive Cash Flow!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73075" y="1219200"/>
            <a:ext cx="8289925" cy="4724400"/>
          </a:xfrm>
        </p:spPr>
        <p:txBody>
          <a:bodyPr>
            <a:normAutofit lnSpcReduction="10000"/>
          </a:bodyPr>
          <a:lstStyle/>
          <a:p>
            <a:pPr marL="45720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Understand the difference between profits and cash flow: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Profitable companies can have negative cash flows and risk running out of money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Unprofitable companies can have positive cash flows and be on healthy trajectories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8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Profit is measured as a gain or loss on the income statement, but…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Doesn’t accurately reflect the cash inflows and outflows of the company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Some cash dealings impact cash flow but not profits. Example: loan repayments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8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200" b="1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Cash flow measures the flow of cash during a given timeframe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It’s comprised of three elements:  operations, investing and financing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Plan and monitor closely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What matters is the context – is the company growing,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struggling, etc.?</a:t>
            </a:r>
          </a:p>
          <a:p>
            <a:pPr lvl="1" eaLnBrk="1" hangingPunct="1">
              <a:lnSpc>
                <a:spcPct val="90000"/>
              </a:lnSpc>
              <a:buFontTx/>
              <a:buChar char="–"/>
            </a:pPr>
            <a:endParaRPr lang="en-US" altLang="en-US" sz="15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buFontTx/>
              <a:buChar char="–"/>
            </a:pPr>
            <a:endParaRPr lang="en-US" altLang="en-US" sz="15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44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6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300" dirty="0" smtClean="0">
                <a:latin typeface="Novecento wide Book"/>
                <a:ea typeface="ＭＳ Ｐゴシック" pitchFamily="34" charset="-128"/>
              </a:rPr>
              <a:t>Nine F’s of a Successful Company</a:t>
            </a:r>
          </a:p>
        </p:txBody>
      </p:sp>
      <p:sp>
        <p:nvSpPr>
          <p:cNvPr id="31747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Founders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Focused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Fast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Flexible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31748" name="Content Placeholder 9"/>
          <p:cNvSpPr>
            <a:spLocks noGrp="1"/>
          </p:cNvSpPr>
          <p:nvPr>
            <p:ph sz="half" idx="2"/>
          </p:nvPr>
        </p:nvSpPr>
        <p:spPr>
          <a:xfrm>
            <a:off x="4343400" y="1589088"/>
            <a:ext cx="4298950" cy="4572000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 startAt="5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Forever-innovating</a:t>
            </a:r>
          </a:p>
          <a:p>
            <a:pPr marL="514350" indent="-514350" eaLnBrk="1" hangingPunct="1">
              <a:buFont typeface="+mj-lt"/>
              <a:buAutoNum type="arabicPeriod" startAt="5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Flat</a:t>
            </a:r>
          </a:p>
          <a:p>
            <a:pPr marL="514350" indent="-514350" eaLnBrk="1" hangingPunct="1">
              <a:buFont typeface="+mj-lt"/>
              <a:buAutoNum type="arabicPeriod" startAt="5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Frugal</a:t>
            </a:r>
          </a:p>
          <a:p>
            <a:pPr marL="514350" indent="-514350" eaLnBrk="1" hangingPunct="1">
              <a:buFont typeface="+mj-lt"/>
              <a:buAutoNum type="arabicPeriod" startAt="5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Friendly</a:t>
            </a:r>
          </a:p>
          <a:p>
            <a:pPr marL="514350" indent="-514350" eaLnBrk="1" hangingPunct="1">
              <a:buFont typeface="+mj-lt"/>
              <a:buAutoNum type="arabicPeriod" startAt="5"/>
            </a:pPr>
            <a:r>
              <a:rPr lang="en-US" altLang="en-US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Fun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C7559-7B0B-4DE4-B058-865FFA7FFC1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439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487&quot;&gt;&lt;property id=&quot;20148&quot; value=&quot;5&quot;/&gt;&lt;property id=&quot;20300&quot; value=&quot;Slide 2 - &amp;quot;The Entrepreneurship Process&amp;quot;&quot;/&gt;&lt;property id=&quot;20307&quot; value=&quot;267&quot;/&gt;&lt;/object&gt;&lt;object type=&quot;3&quot; unique_id=&quot;10488&quot;&gt;&lt;property id=&quot;20148&quot; value=&quot;5&quot;/&gt;&lt;property id=&quot;20300&quot; value=&quot;Slide 3 - &amp;quot;Entrepreneurship Defined&amp;quot;&quot;/&gt;&lt;property id=&quot;20307&quot; value=&quot;268&quot;/&gt;&lt;/object&gt;&lt;object type=&quot;3&quot; unique_id=&quot;10489&quot;&gt;&lt;property id=&quot;20148&quot; value=&quot;5&quot;/&gt;&lt;property id=&quot;20300&quot; value=&quot;Slide 4 - &amp;quot;Factors Influencing an Entrepreneur&amp;quot;&quot;/&gt;&lt;property id=&quot;20307&quot; value=&quot;269&quot;/&gt;&lt;/object&gt;&lt;object type=&quot;3&quot; unique_id=&quot;10490&quot;&gt;&lt;property id=&quot;20148&quot; value=&quot;5&quot;/&gt;&lt;property id=&quot;20300&quot; value=&quot;Slide 5 - &amp;quot;Ten D’s of Entrepreneurship&amp;quot;&quot;/&gt;&lt;property id=&quot;20307&quot; value=&quot;270&quot;/&gt;&lt;/object&gt;&lt;object type=&quot;3&quot; unique_id=&quot;10491&quot;&gt;&lt;property id=&quot;20148&quot; value=&quot;5&quot;/&gt;&lt;property id=&quot;20300&quot; value=&quot;Slide 6 - &amp;quot;Before Committing, Entrepreneurs Must&amp;quot;&quot;/&gt;&lt;property id=&quot;20307&quot; value=&quot;271&quot;/&gt;&lt;/object&gt;&lt;object type=&quot;3&quot; unique_id=&quot;10492&quot;&gt;&lt;property id=&quot;20148&quot; value=&quot;5&quot;/&gt;&lt;property id=&quot;20300&quot; value=&quot;Slide 7 - &amp;quot;3 Crucial Components of Success&amp;quot;&quot;/&gt;&lt;property id=&quot;20307&quot; value=&quot;272&quot;/&gt;&lt;/object&gt;&lt;object type=&quot;3&quot; unique_id=&quot;10493&quot;&gt;&lt;property id=&quot;20148&quot; value=&quot;5&quot;/&gt;&lt;property id=&quot;20300&quot; value=&quot;Slide 8 - &amp;quot;Tenets of the Timmons Model&amp;quot;&quot;/&gt;&lt;property id=&quot;20307&quot; value=&quot;273&quot;/&gt;&lt;/object&gt;&lt;object type=&quot;3&quot; unique_id=&quot;10494&quot;&gt;&lt;property id=&quot;20148&quot; value=&quot;5&quot;/&gt;&lt;property id=&quot;20300&quot; value=&quot;Slide 9 - &amp;quot;Key Forms of Start Up Capital&amp;quot;&quot;/&gt;&lt;property id=&quot;20307&quot; value=&quot;274&quot;/&gt;&lt;/object&gt;&lt;object type=&quot;3&quot; unique_id=&quot;10495&quot;&gt;&lt;property id=&quot;20148&quot; value=&quot;5&quot;/&gt;&lt;property id=&quot;20300&quot; value=&quot;Slide 10 - &amp;quot;A Sample Financing Path&amp;quot;&quot;/&gt;&lt;property id=&quot;20307&quot; value=&quot;275&quot;/&gt;&lt;/object&gt;&lt;object type=&quot;3&quot; unique_id=&quot;10496&quot;&gt;&lt;property id=&quot;20148&quot; value=&quot;5&quot;/&gt;&lt;property id=&quot;20300&quot; value=&quot;Slide 11 - &amp;quot;Happiness is a Positive Cash Flow!&amp;quot;&quot;/&gt;&lt;property id=&quot;20307&quot; value=&quot;276&quot;/&gt;&lt;/object&gt;&lt;object type=&quot;3&quot; unique_id=&quot;10497&quot;&gt;&lt;property id=&quot;20148&quot; value=&quot;5&quot;/&gt;&lt;property id=&quot;20300&quot; value=&quot;Slide 12 - &amp;quot;Nine F’s of a Successful Company&amp;quot;&quot;/&gt;&lt;property id=&quot;20307&quot; value=&quot;27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</TotalTime>
  <Words>715</Words>
  <Application>Microsoft Office PowerPoint</Application>
  <PresentationFormat>On-screen Show (4:3)</PresentationFormat>
  <Paragraphs>146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The Entrepreneurship Process</vt:lpstr>
      <vt:lpstr>Entrepreneurship Defined</vt:lpstr>
      <vt:lpstr>Factors Influencing an Entrepreneur</vt:lpstr>
      <vt:lpstr>Ten D’s of Entrepreneurship</vt:lpstr>
      <vt:lpstr>Before Committing, Entrepreneurs Must</vt:lpstr>
      <vt:lpstr>3 Crucial Components of Success</vt:lpstr>
      <vt:lpstr>Tenets of the Timmons Model</vt:lpstr>
      <vt:lpstr>Key Forms of Start Up Capital</vt:lpstr>
      <vt:lpstr>A Sample Financing Path</vt:lpstr>
      <vt:lpstr>Happiness is a Positive Cash Flow!</vt:lpstr>
      <vt:lpstr>Nine F’s of a Successful Company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45</cp:revision>
  <dcterms:created xsi:type="dcterms:W3CDTF">2013-10-12T04:14:45Z</dcterms:created>
  <dcterms:modified xsi:type="dcterms:W3CDTF">2015-03-04T18:35:40Z</dcterms:modified>
</cp:coreProperties>
</file>