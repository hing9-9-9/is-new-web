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4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8" r:id="rId3"/>
    <p:sldId id="259" r:id="rId4"/>
    <p:sldId id="276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</p:sldIdLst>
  <p:sldSz cx="9144000" cy="6858000" type="screen4x3"/>
  <p:notesSz cx="6858000" cy="9144000"/>
  <p:custDataLst>
    <p:tags r:id="rId2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43"/>
    <a:srgbClr val="FFFF66"/>
    <a:srgbClr val="23732D"/>
    <a:srgbClr val="75D5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152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187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26"/>
    </mc:Choice>
    <mc:Fallback>
      <c:style val="26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777537755424548"/>
          <c:y val="0.13948906386701662"/>
          <c:w val="0.67314716026988775"/>
          <c:h val="0.84242939632545932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Sheet1!$C$10</c:f>
              <c:strCache>
                <c:ptCount val="1"/>
                <c:pt idx="0">
                  <c:v>Media</c:v>
                </c:pt>
              </c:strCache>
            </c:strRef>
          </c:tx>
          <c:invertIfNegative val="0"/>
          <c:val>
            <c:numRef>
              <c:f>Sheet1!$D$10:$H$10</c:f>
              <c:numCache>
                <c:formatCode>_("$"* #,##0.0_);_("$"* \(#,##0.0\);_("$"* "-"??_);_(@_)</c:formatCode>
                <c:ptCount val="5"/>
                <c:pt idx="0">
                  <c:v>9.2420000000000009</c:v>
                </c:pt>
                <c:pt idx="1">
                  <c:v>11.084</c:v>
                </c:pt>
                <c:pt idx="2">
                  <c:v>12.773999999999999</c:v>
                </c:pt>
                <c:pt idx="3">
                  <c:v>14.888</c:v>
                </c:pt>
                <c:pt idx="4">
                  <c:v>17.779</c:v>
                </c:pt>
              </c:numCache>
            </c:numRef>
          </c:val>
        </c:ser>
        <c:ser>
          <c:idx val="1"/>
          <c:order val="1"/>
          <c:tx>
            <c:strRef>
              <c:f>Sheet1!$C$11</c:f>
              <c:strCache>
                <c:ptCount val="1"/>
                <c:pt idx="0">
                  <c:v>Electronics</c:v>
                </c:pt>
              </c:strCache>
            </c:strRef>
          </c:tx>
          <c:invertIfNegative val="0"/>
          <c:val>
            <c:numRef>
              <c:f>Sheet1!$D$11:$H$11</c:f>
              <c:numCache>
                <c:formatCode>_("$"* #,##0.0_);_("$"* \(#,##0.0\);_("$"* "-"??_);_(@_)</c:formatCode>
                <c:ptCount val="5"/>
                <c:pt idx="0">
                  <c:v>5.21</c:v>
                </c:pt>
                <c:pt idx="1">
                  <c:v>7.54</c:v>
                </c:pt>
                <c:pt idx="2">
                  <c:v>11.082000000000001</c:v>
                </c:pt>
                <c:pt idx="3">
                  <c:v>18.363</c:v>
                </c:pt>
                <c:pt idx="4">
                  <c:v>28.712</c:v>
                </c:pt>
              </c:numCache>
            </c:numRef>
          </c:val>
        </c:ser>
        <c:ser>
          <c:idx val="2"/>
          <c:order val="2"/>
          <c:tx>
            <c:strRef>
              <c:f>Sheet1!$C$12</c:f>
              <c:strCache>
                <c:ptCount val="1"/>
                <c:pt idx="0">
                  <c:v>Other</c:v>
                </c:pt>
              </c:strCache>
            </c:strRef>
          </c:tx>
          <c:invertIfNegative val="0"/>
          <c:val>
            <c:numRef>
              <c:f>Sheet1!$D$12:$H$12</c:f>
              <c:numCache>
                <c:formatCode>_("$"* #,##0.0_);_("$"* \(#,##0.0\);_("$"* "-"??_);_(@_)</c:formatCode>
                <c:ptCount val="5"/>
                <c:pt idx="0">
                  <c:v>0.38300000000000001</c:v>
                </c:pt>
                <c:pt idx="1">
                  <c:v>0.54200000000000004</c:v>
                </c:pt>
                <c:pt idx="2">
                  <c:v>0.65300000000000002</c:v>
                </c:pt>
                <c:pt idx="3">
                  <c:v>0.95299999999999996</c:v>
                </c:pt>
                <c:pt idx="4">
                  <c:v>1.5860000000000001</c:v>
                </c:pt>
              </c:numCache>
            </c:numRef>
          </c:val>
        </c:ser>
        <c:ser>
          <c:idx val="3"/>
          <c:order val="3"/>
          <c:tx>
            <c:strRef>
              <c:f>Sheet1!$C$13</c:f>
              <c:strCache>
                <c:ptCount val="1"/>
                <c:pt idx="0">
                  <c:v>Cost of Revenue</c:v>
                </c:pt>
              </c:strCache>
            </c:strRef>
          </c:tx>
          <c:invertIfNegative val="0"/>
          <c:val>
            <c:numRef>
              <c:f>Sheet1!$D$13:$H$13</c:f>
              <c:numCache>
                <c:formatCode>_("$"* #,##0.0_);_("$"* \(#,##0.0\);_("$"* "-"??_);_(@_)</c:formatCode>
                <c:ptCount val="5"/>
                <c:pt idx="0">
                  <c:v>-11.481999999999999</c:v>
                </c:pt>
                <c:pt idx="1">
                  <c:v>-14.896000000000001</c:v>
                </c:pt>
                <c:pt idx="2">
                  <c:v>-18.978000000000002</c:v>
                </c:pt>
                <c:pt idx="3">
                  <c:v>-26.561</c:v>
                </c:pt>
                <c:pt idx="4">
                  <c:v>-37.287999999999997</c:v>
                </c:pt>
              </c:numCache>
            </c:numRef>
          </c:val>
        </c:ser>
        <c:ser>
          <c:idx val="4"/>
          <c:order val="4"/>
          <c:tx>
            <c:strRef>
              <c:f>Sheet1!$C$14</c:f>
              <c:strCache>
                <c:ptCount val="1"/>
                <c:pt idx="0">
                  <c:v>Operating Expenses</c:v>
                </c:pt>
              </c:strCache>
            </c:strRef>
          </c:tx>
          <c:invertIfNegative val="0"/>
          <c:val>
            <c:numRef>
              <c:f>Sheet1!$D$14:$H$14</c:f>
              <c:numCache>
                <c:formatCode>_("$"* #,##0.0_);_("$"* \(#,##0.0\);_("$"* "-"??_);_(@_)</c:formatCode>
                <c:ptCount val="5"/>
                <c:pt idx="0">
                  <c:v>-2.698</c:v>
                </c:pt>
                <c:pt idx="1">
                  <c:v>-3.4279999999999999</c:v>
                </c:pt>
                <c:pt idx="2">
                  <c:v>-4.0609999999999999</c:v>
                </c:pt>
                <c:pt idx="3">
                  <c:v>-5.8129999999999997</c:v>
                </c:pt>
                <c:pt idx="4">
                  <c:v>-9.3699999999999992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overlap val="100"/>
        <c:axId val="158533120"/>
        <c:axId val="158539776"/>
      </c:barChart>
      <c:catAx>
        <c:axId val="158533120"/>
        <c:scaling>
          <c:orientation val="minMax"/>
        </c:scaling>
        <c:delete val="1"/>
        <c:axPos val="b"/>
        <c:numFmt formatCode="m/d/yyyy" sourceLinked="0"/>
        <c:majorTickMark val="none"/>
        <c:minorTickMark val="none"/>
        <c:tickLblPos val="nextTo"/>
        <c:crossAx val="158539776"/>
        <c:crosses val="autoZero"/>
        <c:auto val="1"/>
        <c:lblAlgn val="ctr"/>
        <c:lblOffset val="100"/>
        <c:tickLblSkip val="3000"/>
        <c:noMultiLvlLbl val="0"/>
      </c:catAx>
      <c:valAx>
        <c:axId val="158539776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sz="1800"/>
                  <a:t>REVENUES &amp; COSTS ($ Millions)</a:t>
                </a:r>
              </a:p>
            </c:rich>
          </c:tx>
          <c:layout/>
          <c:overlay val="0"/>
        </c:title>
        <c:numFmt formatCode="_(&quot;$&quot;* #,##0.0_);_(&quot;$&quot;* \(#,##0.0\);_(&quot;$&quot;* &quot;-&quot;??_);_(@_)" sourceLinked="1"/>
        <c:majorTickMark val="none"/>
        <c:minorTickMark val="none"/>
        <c:tickLblPos val="nextTo"/>
        <c:crossAx val="158533120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81101384244777619"/>
          <c:y val="0.24753385826771654"/>
          <c:w val="0.17802725344263473"/>
          <c:h val="0.48715427238261882"/>
        </c:manualLayout>
      </c:layout>
      <c:overlay val="0"/>
      <c:txPr>
        <a:bodyPr/>
        <a:lstStyle/>
        <a:p>
          <a:pPr>
            <a:defRPr sz="1600"/>
          </a:pPr>
          <a:endParaRPr lang="en-US"/>
        </a:p>
      </c:txPr>
    </c:legend>
    <c:plotVisOnly val="1"/>
    <c:dispBlanksAs val="gap"/>
    <c:showDLblsOverMax val="0"/>
  </c:chart>
  <c:externalData r:id="rId1">
    <c:autoUpdate val="0"/>
  </c:externalData>
  <c:userShapes r:id="rId2"/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99B76DA-EFD2-8E40-A3D0-BB9E41D585CA}" type="doc">
      <dgm:prSet loTypeId="urn:microsoft.com/office/officeart/2005/8/layout/hierarchy2" loCatId="hierarchy" qsTypeId="urn:microsoft.com/office/officeart/2005/8/quickstyle/3D1" qsCatId="3D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31DF0569-E856-E842-A415-28DFB8742654}">
      <dgm:prSet phldrT="[Text]" custT="1"/>
      <dgm:spPr/>
      <dgm:t>
        <a:bodyPr/>
        <a:lstStyle/>
        <a:p>
          <a:r>
            <a:rPr lang="en-US" sz="2900" b="1" dirty="0" smtClean="0">
              <a:solidFill>
                <a:srgbClr val="FFFFFF"/>
              </a:solidFill>
            </a:rPr>
            <a:t>Business Model</a:t>
          </a:r>
          <a:endParaRPr lang="en-US" sz="2900" b="1" dirty="0">
            <a:solidFill>
              <a:srgbClr val="FFFFFF"/>
            </a:solidFill>
          </a:endParaRPr>
        </a:p>
      </dgm:t>
    </dgm:pt>
    <dgm:pt modelId="{E65AE2F4-DC33-0B4C-9688-5233E78A4B99}" type="parTrans" cxnId="{E4AC325D-2A26-764A-8E84-D3A9642928BA}">
      <dgm:prSet/>
      <dgm:spPr/>
      <dgm:t>
        <a:bodyPr/>
        <a:lstStyle/>
        <a:p>
          <a:endParaRPr lang="en-US"/>
        </a:p>
      </dgm:t>
    </dgm:pt>
    <dgm:pt modelId="{AC80D19A-4F71-AA4B-AE2E-4C95CD9FF86E}" type="sibTrans" cxnId="{E4AC325D-2A26-764A-8E84-D3A9642928BA}">
      <dgm:prSet/>
      <dgm:spPr/>
      <dgm:t>
        <a:bodyPr/>
        <a:lstStyle/>
        <a:p>
          <a:endParaRPr lang="en-US"/>
        </a:p>
      </dgm:t>
    </dgm:pt>
    <dgm:pt modelId="{EABBB810-7677-D74A-B119-EF8AABF19F61}">
      <dgm:prSet phldrT="[Text]" custT="1"/>
      <dgm:spPr/>
      <dgm:t>
        <a:bodyPr/>
        <a:lstStyle/>
        <a:p>
          <a:r>
            <a:rPr lang="en-US" sz="2900" b="1" dirty="0" smtClean="0">
              <a:solidFill>
                <a:srgbClr val="FFFFFF"/>
              </a:solidFill>
            </a:rPr>
            <a:t>Cost Model</a:t>
          </a:r>
          <a:endParaRPr lang="en-US" sz="2900" b="1" dirty="0">
            <a:solidFill>
              <a:srgbClr val="FFFFFF"/>
            </a:solidFill>
          </a:endParaRPr>
        </a:p>
      </dgm:t>
    </dgm:pt>
    <dgm:pt modelId="{244706CD-3476-0847-9134-43BA0BB1FC41}" type="parTrans" cxnId="{CEDBC15F-C2E4-384D-A495-390EA5B08EFD}">
      <dgm:prSet/>
      <dgm:spPr/>
      <dgm:t>
        <a:bodyPr/>
        <a:lstStyle/>
        <a:p>
          <a:endParaRPr lang="en-US"/>
        </a:p>
      </dgm:t>
    </dgm:pt>
    <dgm:pt modelId="{8E7E9386-A770-BF42-A386-96D26ABD5BA8}" type="sibTrans" cxnId="{CEDBC15F-C2E4-384D-A495-390EA5B08EFD}">
      <dgm:prSet/>
      <dgm:spPr/>
      <dgm:t>
        <a:bodyPr/>
        <a:lstStyle/>
        <a:p>
          <a:endParaRPr lang="en-US"/>
        </a:p>
      </dgm:t>
    </dgm:pt>
    <dgm:pt modelId="{9830EA75-F225-C64A-93FD-3A7FD9C8D4A4}">
      <dgm:prSet phldrT="[Text]" custT="1"/>
      <dgm:spPr/>
      <dgm:t>
        <a:bodyPr/>
        <a:lstStyle/>
        <a:p>
          <a:r>
            <a:rPr lang="en-US" sz="2900" b="1" dirty="0" smtClean="0">
              <a:solidFill>
                <a:srgbClr val="FFFFFF"/>
              </a:solidFill>
            </a:rPr>
            <a:t>Cost of Goods Sold</a:t>
          </a:r>
          <a:endParaRPr lang="en-US" sz="2900" b="1" dirty="0">
            <a:solidFill>
              <a:srgbClr val="FFFFFF"/>
            </a:solidFill>
          </a:endParaRPr>
        </a:p>
      </dgm:t>
    </dgm:pt>
    <dgm:pt modelId="{F1BC9B77-5136-434C-A26E-0D6614383079}" type="parTrans" cxnId="{E3C4E765-5A90-D442-A045-6961CC83389F}">
      <dgm:prSet/>
      <dgm:spPr/>
      <dgm:t>
        <a:bodyPr/>
        <a:lstStyle/>
        <a:p>
          <a:endParaRPr lang="en-US"/>
        </a:p>
      </dgm:t>
    </dgm:pt>
    <dgm:pt modelId="{C7A9264B-4D7A-2945-8AFE-BE8E53280885}" type="sibTrans" cxnId="{E3C4E765-5A90-D442-A045-6961CC83389F}">
      <dgm:prSet/>
      <dgm:spPr/>
      <dgm:t>
        <a:bodyPr/>
        <a:lstStyle/>
        <a:p>
          <a:endParaRPr lang="en-US"/>
        </a:p>
      </dgm:t>
    </dgm:pt>
    <dgm:pt modelId="{067F0622-6076-5442-8B23-CC8A261F3A05}">
      <dgm:prSet phldrT="[Text]" custT="1"/>
      <dgm:spPr/>
      <dgm:t>
        <a:bodyPr/>
        <a:lstStyle/>
        <a:p>
          <a:r>
            <a:rPr lang="en-US" sz="2900" b="1" dirty="0" smtClean="0">
              <a:solidFill>
                <a:srgbClr val="FFFFFF"/>
              </a:solidFill>
            </a:rPr>
            <a:t>Operating Expenses</a:t>
          </a:r>
          <a:endParaRPr lang="en-US" sz="2900" b="1" dirty="0">
            <a:solidFill>
              <a:srgbClr val="FFFFFF"/>
            </a:solidFill>
          </a:endParaRPr>
        </a:p>
      </dgm:t>
    </dgm:pt>
    <dgm:pt modelId="{B9BFB452-7218-E54D-8D08-F3AC25AFDEF2}" type="parTrans" cxnId="{C292AFC3-E996-AB4C-82F9-D40527F40466}">
      <dgm:prSet/>
      <dgm:spPr/>
      <dgm:t>
        <a:bodyPr/>
        <a:lstStyle/>
        <a:p>
          <a:endParaRPr lang="en-US"/>
        </a:p>
      </dgm:t>
    </dgm:pt>
    <dgm:pt modelId="{CE0ABCC8-379C-2D48-BDC0-D92CCF847D57}" type="sibTrans" cxnId="{C292AFC3-E996-AB4C-82F9-D40527F40466}">
      <dgm:prSet/>
      <dgm:spPr/>
      <dgm:t>
        <a:bodyPr/>
        <a:lstStyle/>
        <a:p>
          <a:endParaRPr lang="en-US"/>
        </a:p>
      </dgm:t>
    </dgm:pt>
    <dgm:pt modelId="{7808C8EA-B8AB-204E-B685-9223EA566DDC}">
      <dgm:prSet phldrT="[Text]" custT="1"/>
      <dgm:spPr/>
      <dgm:t>
        <a:bodyPr/>
        <a:lstStyle/>
        <a:p>
          <a:r>
            <a:rPr lang="en-US" sz="2900" b="1" dirty="0" smtClean="0">
              <a:solidFill>
                <a:srgbClr val="FFFFFF"/>
              </a:solidFill>
            </a:rPr>
            <a:t>Revenue Model</a:t>
          </a:r>
          <a:endParaRPr lang="en-US" sz="2900" b="1" dirty="0">
            <a:solidFill>
              <a:srgbClr val="FFFFFF"/>
            </a:solidFill>
          </a:endParaRPr>
        </a:p>
      </dgm:t>
    </dgm:pt>
    <dgm:pt modelId="{8E14AEAA-281E-8B4C-94FB-383B98EF995D}" type="parTrans" cxnId="{520151A8-3C46-724C-AB31-839415F0E87B}">
      <dgm:prSet/>
      <dgm:spPr/>
      <dgm:t>
        <a:bodyPr/>
        <a:lstStyle/>
        <a:p>
          <a:endParaRPr lang="en-US"/>
        </a:p>
      </dgm:t>
    </dgm:pt>
    <dgm:pt modelId="{38A6B6A8-B238-344D-9E4B-5DCC185ED3C8}" type="sibTrans" cxnId="{520151A8-3C46-724C-AB31-839415F0E87B}">
      <dgm:prSet/>
      <dgm:spPr/>
      <dgm:t>
        <a:bodyPr/>
        <a:lstStyle/>
        <a:p>
          <a:endParaRPr lang="en-US"/>
        </a:p>
      </dgm:t>
    </dgm:pt>
    <dgm:pt modelId="{3F4E2651-6A71-3C42-85E1-B09B52B230C1}">
      <dgm:prSet phldrT="[Text]" custT="1"/>
      <dgm:spPr/>
      <dgm:t>
        <a:bodyPr/>
        <a:lstStyle/>
        <a:p>
          <a:r>
            <a:rPr lang="en-US" sz="2900" b="1" dirty="0" smtClean="0">
              <a:solidFill>
                <a:srgbClr val="FFFFFF"/>
              </a:solidFill>
            </a:rPr>
            <a:t>Sources of Revenue</a:t>
          </a:r>
          <a:endParaRPr lang="en-US" sz="2900" b="1" dirty="0">
            <a:solidFill>
              <a:srgbClr val="FFFFFF"/>
            </a:solidFill>
          </a:endParaRPr>
        </a:p>
      </dgm:t>
    </dgm:pt>
    <dgm:pt modelId="{30B4D055-BA9B-CB4E-80E9-7DD2475EE338}" type="parTrans" cxnId="{490BE737-0819-E84B-8503-471523EC994A}">
      <dgm:prSet/>
      <dgm:spPr/>
      <dgm:t>
        <a:bodyPr/>
        <a:lstStyle/>
        <a:p>
          <a:endParaRPr lang="en-US"/>
        </a:p>
      </dgm:t>
    </dgm:pt>
    <dgm:pt modelId="{68016BA9-48F6-B942-ADF0-C0D55B5C3A71}" type="sibTrans" cxnId="{490BE737-0819-E84B-8503-471523EC994A}">
      <dgm:prSet/>
      <dgm:spPr/>
      <dgm:t>
        <a:bodyPr/>
        <a:lstStyle/>
        <a:p>
          <a:endParaRPr lang="en-US"/>
        </a:p>
      </dgm:t>
    </dgm:pt>
    <dgm:pt modelId="{927B3481-6F47-C644-A6C2-88B0D1FB1461}" type="pres">
      <dgm:prSet presAssocID="{B99B76DA-EFD2-8E40-A3D0-BB9E41D585CA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70856EA-F4A6-FB42-B30D-891B44F06120}" type="pres">
      <dgm:prSet presAssocID="{31DF0569-E856-E842-A415-28DFB8742654}" presName="root1" presStyleCnt="0"/>
      <dgm:spPr/>
    </dgm:pt>
    <dgm:pt modelId="{F204B980-B86C-AD44-BBE3-0F1F205B4008}" type="pres">
      <dgm:prSet presAssocID="{31DF0569-E856-E842-A415-28DFB8742654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F108260-ED8B-3D48-9744-62373CDE1190}" type="pres">
      <dgm:prSet presAssocID="{31DF0569-E856-E842-A415-28DFB8742654}" presName="level2hierChild" presStyleCnt="0"/>
      <dgm:spPr/>
    </dgm:pt>
    <dgm:pt modelId="{6022BEDE-1123-1D4E-9F6C-0CC90EAEFC58}" type="pres">
      <dgm:prSet presAssocID="{244706CD-3476-0847-9134-43BA0BB1FC41}" presName="conn2-1" presStyleLbl="parChTrans1D2" presStyleIdx="0" presStyleCnt="2"/>
      <dgm:spPr/>
      <dgm:t>
        <a:bodyPr/>
        <a:lstStyle/>
        <a:p>
          <a:endParaRPr lang="en-US"/>
        </a:p>
      </dgm:t>
    </dgm:pt>
    <dgm:pt modelId="{9D487E93-979A-0B4B-98CA-9EC54D1F3821}" type="pres">
      <dgm:prSet presAssocID="{244706CD-3476-0847-9134-43BA0BB1FC41}" presName="connTx" presStyleLbl="parChTrans1D2" presStyleIdx="0" presStyleCnt="2"/>
      <dgm:spPr/>
      <dgm:t>
        <a:bodyPr/>
        <a:lstStyle/>
        <a:p>
          <a:endParaRPr lang="en-US"/>
        </a:p>
      </dgm:t>
    </dgm:pt>
    <dgm:pt modelId="{F0E08951-0A5E-254E-8392-6E2E38E94B9D}" type="pres">
      <dgm:prSet presAssocID="{EABBB810-7677-D74A-B119-EF8AABF19F61}" presName="root2" presStyleCnt="0"/>
      <dgm:spPr/>
    </dgm:pt>
    <dgm:pt modelId="{4B5A1676-9A02-104B-80F3-3A8679B7613E}" type="pres">
      <dgm:prSet presAssocID="{EABBB810-7677-D74A-B119-EF8AABF19F61}" presName="LevelTwoTextNode" presStyleLbl="node2" presStyleIdx="0" presStyleCnt="2" custLinFactY="57553" custLinFactNeighborY="10000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EBD8DCF-E86B-FA4E-95B8-B0B5D0B2A5FD}" type="pres">
      <dgm:prSet presAssocID="{EABBB810-7677-D74A-B119-EF8AABF19F61}" presName="level3hierChild" presStyleCnt="0"/>
      <dgm:spPr/>
    </dgm:pt>
    <dgm:pt modelId="{FFA28A68-4E2F-234D-9F00-512CA0155943}" type="pres">
      <dgm:prSet presAssocID="{F1BC9B77-5136-434C-A26E-0D6614383079}" presName="conn2-1" presStyleLbl="parChTrans1D3" presStyleIdx="0" presStyleCnt="3"/>
      <dgm:spPr/>
      <dgm:t>
        <a:bodyPr/>
        <a:lstStyle/>
        <a:p>
          <a:endParaRPr lang="en-US"/>
        </a:p>
      </dgm:t>
    </dgm:pt>
    <dgm:pt modelId="{29517203-50C2-984E-A99A-C2F942F07160}" type="pres">
      <dgm:prSet presAssocID="{F1BC9B77-5136-434C-A26E-0D6614383079}" presName="connTx" presStyleLbl="parChTrans1D3" presStyleIdx="0" presStyleCnt="3"/>
      <dgm:spPr/>
      <dgm:t>
        <a:bodyPr/>
        <a:lstStyle/>
        <a:p>
          <a:endParaRPr lang="en-US"/>
        </a:p>
      </dgm:t>
    </dgm:pt>
    <dgm:pt modelId="{5A395BF3-1F96-9D4E-8845-8E6595E74154}" type="pres">
      <dgm:prSet presAssocID="{9830EA75-F225-C64A-93FD-3A7FD9C8D4A4}" presName="root2" presStyleCnt="0"/>
      <dgm:spPr/>
    </dgm:pt>
    <dgm:pt modelId="{27DADB35-86E0-C542-A6A8-80CF96D15E93}" type="pres">
      <dgm:prSet presAssocID="{9830EA75-F225-C64A-93FD-3A7FD9C8D4A4}" presName="LevelTwoTextNode" presStyleLbl="node3" presStyleIdx="0" presStyleCnt="3" custLinFactY="64340" custLinFactNeighborY="10000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7805E0F-8257-E549-A950-382B533BF77D}" type="pres">
      <dgm:prSet presAssocID="{9830EA75-F225-C64A-93FD-3A7FD9C8D4A4}" presName="level3hierChild" presStyleCnt="0"/>
      <dgm:spPr/>
    </dgm:pt>
    <dgm:pt modelId="{B9DECE35-AE4F-8346-B5D8-2189D1E01EE4}" type="pres">
      <dgm:prSet presAssocID="{B9BFB452-7218-E54D-8D08-F3AC25AFDEF2}" presName="conn2-1" presStyleLbl="parChTrans1D3" presStyleIdx="1" presStyleCnt="3"/>
      <dgm:spPr/>
      <dgm:t>
        <a:bodyPr/>
        <a:lstStyle/>
        <a:p>
          <a:endParaRPr lang="en-US"/>
        </a:p>
      </dgm:t>
    </dgm:pt>
    <dgm:pt modelId="{D798C1D8-3428-A944-A713-72BD99C9DF05}" type="pres">
      <dgm:prSet presAssocID="{B9BFB452-7218-E54D-8D08-F3AC25AFDEF2}" presName="connTx" presStyleLbl="parChTrans1D3" presStyleIdx="1" presStyleCnt="3"/>
      <dgm:spPr/>
      <dgm:t>
        <a:bodyPr/>
        <a:lstStyle/>
        <a:p>
          <a:endParaRPr lang="en-US"/>
        </a:p>
      </dgm:t>
    </dgm:pt>
    <dgm:pt modelId="{BDB14572-6348-9F42-9436-FFABDB8EE747}" type="pres">
      <dgm:prSet presAssocID="{067F0622-6076-5442-8B23-CC8A261F3A05}" presName="root2" presStyleCnt="0"/>
      <dgm:spPr/>
    </dgm:pt>
    <dgm:pt modelId="{FEAD0FFB-DA8B-0B4B-AACF-AE7ED662D27B}" type="pres">
      <dgm:prSet presAssocID="{067F0622-6076-5442-8B23-CC8A261F3A05}" presName="LevelTwoTextNode" presStyleLbl="node3" presStyleIdx="1" presStyleCnt="3" custLinFactY="55828" custLinFactNeighborY="10000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870A30E-547C-5646-B420-418D626B5828}" type="pres">
      <dgm:prSet presAssocID="{067F0622-6076-5442-8B23-CC8A261F3A05}" presName="level3hierChild" presStyleCnt="0"/>
      <dgm:spPr/>
    </dgm:pt>
    <dgm:pt modelId="{2E112D10-16C4-F548-832A-2273979C2558}" type="pres">
      <dgm:prSet presAssocID="{8E14AEAA-281E-8B4C-94FB-383B98EF995D}" presName="conn2-1" presStyleLbl="parChTrans1D2" presStyleIdx="1" presStyleCnt="2"/>
      <dgm:spPr/>
      <dgm:t>
        <a:bodyPr/>
        <a:lstStyle/>
        <a:p>
          <a:endParaRPr lang="en-US"/>
        </a:p>
      </dgm:t>
    </dgm:pt>
    <dgm:pt modelId="{3D69501F-C0B8-274F-885C-94B80958C846}" type="pres">
      <dgm:prSet presAssocID="{8E14AEAA-281E-8B4C-94FB-383B98EF995D}" presName="connTx" presStyleLbl="parChTrans1D2" presStyleIdx="1" presStyleCnt="2"/>
      <dgm:spPr/>
      <dgm:t>
        <a:bodyPr/>
        <a:lstStyle/>
        <a:p>
          <a:endParaRPr lang="en-US"/>
        </a:p>
      </dgm:t>
    </dgm:pt>
    <dgm:pt modelId="{51E1BE7D-35BB-4D48-A479-7DAF09E51932}" type="pres">
      <dgm:prSet presAssocID="{7808C8EA-B8AB-204E-B685-9223EA566DDC}" presName="root2" presStyleCnt="0"/>
      <dgm:spPr/>
    </dgm:pt>
    <dgm:pt modelId="{3878B572-FC4C-EA43-B7DF-00A5D706B1E3}" type="pres">
      <dgm:prSet presAssocID="{7808C8EA-B8AB-204E-B685-9223EA566DDC}" presName="LevelTwoTextNode" presStyleLbl="node2" presStyleIdx="1" presStyleCnt="2" custLinFactY="-82621" custLinFactNeighborY="-10000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F2D41C3-A878-9547-88BA-5BB8010370DE}" type="pres">
      <dgm:prSet presAssocID="{7808C8EA-B8AB-204E-B685-9223EA566DDC}" presName="level3hierChild" presStyleCnt="0"/>
      <dgm:spPr/>
    </dgm:pt>
    <dgm:pt modelId="{CC7880E0-507E-0945-9912-AA6D33BF82DA}" type="pres">
      <dgm:prSet presAssocID="{30B4D055-BA9B-CB4E-80E9-7DD2475EE338}" presName="conn2-1" presStyleLbl="parChTrans1D3" presStyleIdx="2" presStyleCnt="3"/>
      <dgm:spPr/>
      <dgm:t>
        <a:bodyPr/>
        <a:lstStyle/>
        <a:p>
          <a:endParaRPr lang="en-US"/>
        </a:p>
      </dgm:t>
    </dgm:pt>
    <dgm:pt modelId="{9312708A-8E15-6A46-A307-52C0245EBB9A}" type="pres">
      <dgm:prSet presAssocID="{30B4D055-BA9B-CB4E-80E9-7DD2475EE338}" presName="connTx" presStyleLbl="parChTrans1D3" presStyleIdx="2" presStyleCnt="3"/>
      <dgm:spPr/>
      <dgm:t>
        <a:bodyPr/>
        <a:lstStyle/>
        <a:p>
          <a:endParaRPr lang="en-US"/>
        </a:p>
      </dgm:t>
    </dgm:pt>
    <dgm:pt modelId="{70773460-87AA-1144-8AE2-A0261C6B29C3}" type="pres">
      <dgm:prSet presAssocID="{3F4E2651-6A71-3C42-85E1-B09B52B230C1}" presName="root2" presStyleCnt="0"/>
      <dgm:spPr/>
    </dgm:pt>
    <dgm:pt modelId="{187EB755-483C-E94F-B3F3-7C564EEE04F0}" type="pres">
      <dgm:prSet presAssocID="{3F4E2651-6A71-3C42-85E1-B09B52B230C1}" presName="LevelTwoTextNode" presStyleLbl="node3" presStyleIdx="2" presStyleCnt="3" custLinFactY="-82621" custLinFactNeighborY="-10000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5EA97C0-52AB-A443-A742-3293B88CC082}" type="pres">
      <dgm:prSet presAssocID="{3F4E2651-6A71-3C42-85E1-B09B52B230C1}" presName="level3hierChild" presStyleCnt="0"/>
      <dgm:spPr/>
    </dgm:pt>
  </dgm:ptLst>
  <dgm:cxnLst>
    <dgm:cxn modelId="{2B590D11-04D2-472A-98EE-8F37B3BCBF07}" type="presOf" srcId="{B99B76DA-EFD2-8E40-A3D0-BB9E41D585CA}" destId="{927B3481-6F47-C644-A6C2-88B0D1FB1461}" srcOrd="0" destOrd="0" presId="urn:microsoft.com/office/officeart/2005/8/layout/hierarchy2"/>
    <dgm:cxn modelId="{E3C4E765-5A90-D442-A045-6961CC83389F}" srcId="{EABBB810-7677-D74A-B119-EF8AABF19F61}" destId="{9830EA75-F225-C64A-93FD-3A7FD9C8D4A4}" srcOrd="0" destOrd="0" parTransId="{F1BC9B77-5136-434C-A26E-0D6614383079}" sibTransId="{C7A9264B-4D7A-2945-8AFE-BE8E53280885}"/>
    <dgm:cxn modelId="{E4AC325D-2A26-764A-8E84-D3A9642928BA}" srcId="{B99B76DA-EFD2-8E40-A3D0-BB9E41D585CA}" destId="{31DF0569-E856-E842-A415-28DFB8742654}" srcOrd="0" destOrd="0" parTransId="{E65AE2F4-DC33-0B4C-9688-5233E78A4B99}" sibTransId="{AC80D19A-4F71-AA4B-AE2E-4C95CD9FF86E}"/>
    <dgm:cxn modelId="{527D8B79-4BCD-4C64-B4C4-3881B701AC79}" type="presOf" srcId="{3F4E2651-6A71-3C42-85E1-B09B52B230C1}" destId="{187EB755-483C-E94F-B3F3-7C564EEE04F0}" srcOrd="0" destOrd="0" presId="urn:microsoft.com/office/officeart/2005/8/layout/hierarchy2"/>
    <dgm:cxn modelId="{04437E7E-8DD6-4192-B880-693B1677DF83}" type="presOf" srcId="{EABBB810-7677-D74A-B119-EF8AABF19F61}" destId="{4B5A1676-9A02-104B-80F3-3A8679B7613E}" srcOrd="0" destOrd="0" presId="urn:microsoft.com/office/officeart/2005/8/layout/hierarchy2"/>
    <dgm:cxn modelId="{EBEF1FED-D750-48B4-B430-4B4975BB4E90}" type="presOf" srcId="{B9BFB452-7218-E54D-8D08-F3AC25AFDEF2}" destId="{D798C1D8-3428-A944-A713-72BD99C9DF05}" srcOrd="1" destOrd="0" presId="urn:microsoft.com/office/officeart/2005/8/layout/hierarchy2"/>
    <dgm:cxn modelId="{D15FE779-D263-405A-A7AA-94A00B8A2263}" type="presOf" srcId="{7808C8EA-B8AB-204E-B685-9223EA566DDC}" destId="{3878B572-FC4C-EA43-B7DF-00A5D706B1E3}" srcOrd="0" destOrd="0" presId="urn:microsoft.com/office/officeart/2005/8/layout/hierarchy2"/>
    <dgm:cxn modelId="{B3D1F1EE-EC39-4C58-81DC-8040091F0392}" type="presOf" srcId="{244706CD-3476-0847-9134-43BA0BB1FC41}" destId="{9D487E93-979A-0B4B-98CA-9EC54D1F3821}" srcOrd="1" destOrd="0" presId="urn:microsoft.com/office/officeart/2005/8/layout/hierarchy2"/>
    <dgm:cxn modelId="{9BD73CA5-B33A-4CA0-8099-15E09AFA95DF}" type="presOf" srcId="{B9BFB452-7218-E54D-8D08-F3AC25AFDEF2}" destId="{B9DECE35-AE4F-8346-B5D8-2189D1E01EE4}" srcOrd="0" destOrd="0" presId="urn:microsoft.com/office/officeart/2005/8/layout/hierarchy2"/>
    <dgm:cxn modelId="{C292AFC3-E996-AB4C-82F9-D40527F40466}" srcId="{EABBB810-7677-D74A-B119-EF8AABF19F61}" destId="{067F0622-6076-5442-8B23-CC8A261F3A05}" srcOrd="1" destOrd="0" parTransId="{B9BFB452-7218-E54D-8D08-F3AC25AFDEF2}" sibTransId="{CE0ABCC8-379C-2D48-BDC0-D92CCF847D57}"/>
    <dgm:cxn modelId="{191DA849-06F9-4249-8B9C-FB6F391214F2}" type="presOf" srcId="{244706CD-3476-0847-9134-43BA0BB1FC41}" destId="{6022BEDE-1123-1D4E-9F6C-0CC90EAEFC58}" srcOrd="0" destOrd="0" presId="urn:microsoft.com/office/officeart/2005/8/layout/hierarchy2"/>
    <dgm:cxn modelId="{520151A8-3C46-724C-AB31-839415F0E87B}" srcId="{31DF0569-E856-E842-A415-28DFB8742654}" destId="{7808C8EA-B8AB-204E-B685-9223EA566DDC}" srcOrd="1" destOrd="0" parTransId="{8E14AEAA-281E-8B4C-94FB-383B98EF995D}" sibTransId="{38A6B6A8-B238-344D-9E4B-5DCC185ED3C8}"/>
    <dgm:cxn modelId="{25D0D410-E921-4D67-AC1F-B469C9F4211C}" type="presOf" srcId="{F1BC9B77-5136-434C-A26E-0D6614383079}" destId="{29517203-50C2-984E-A99A-C2F942F07160}" srcOrd="1" destOrd="0" presId="urn:microsoft.com/office/officeart/2005/8/layout/hierarchy2"/>
    <dgm:cxn modelId="{3695D980-7E58-4998-80B4-E257741E1156}" type="presOf" srcId="{30B4D055-BA9B-CB4E-80E9-7DD2475EE338}" destId="{CC7880E0-507E-0945-9912-AA6D33BF82DA}" srcOrd="0" destOrd="0" presId="urn:microsoft.com/office/officeart/2005/8/layout/hierarchy2"/>
    <dgm:cxn modelId="{65E15322-4BA2-4D70-A19F-4DEF250F6FB1}" type="presOf" srcId="{F1BC9B77-5136-434C-A26E-0D6614383079}" destId="{FFA28A68-4E2F-234D-9F00-512CA0155943}" srcOrd="0" destOrd="0" presId="urn:microsoft.com/office/officeart/2005/8/layout/hierarchy2"/>
    <dgm:cxn modelId="{CEDBC15F-C2E4-384D-A495-390EA5B08EFD}" srcId="{31DF0569-E856-E842-A415-28DFB8742654}" destId="{EABBB810-7677-D74A-B119-EF8AABF19F61}" srcOrd="0" destOrd="0" parTransId="{244706CD-3476-0847-9134-43BA0BB1FC41}" sibTransId="{8E7E9386-A770-BF42-A386-96D26ABD5BA8}"/>
    <dgm:cxn modelId="{490BE737-0819-E84B-8503-471523EC994A}" srcId="{7808C8EA-B8AB-204E-B685-9223EA566DDC}" destId="{3F4E2651-6A71-3C42-85E1-B09B52B230C1}" srcOrd="0" destOrd="0" parTransId="{30B4D055-BA9B-CB4E-80E9-7DD2475EE338}" sibTransId="{68016BA9-48F6-B942-ADF0-C0D55B5C3A71}"/>
    <dgm:cxn modelId="{40675032-DF99-4F34-9F60-1F9315D5853C}" type="presOf" srcId="{067F0622-6076-5442-8B23-CC8A261F3A05}" destId="{FEAD0FFB-DA8B-0B4B-AACF-AE7ED662D27B}" srcOrd="0" destOrd="0" presId="urn:microsoft.com/office/officeart/2005/8/layout/hierarchy2"/>
    <dgm:cxn modelId="{9A19E6BC-2013-431D-8917-D3CA4356EED2}" type="presOf" srcId="{8E14AEAA-281E-8B4C-94FB-383B98EF995D}" destId="{3D69501F-C0B8-274F-885C-94B80958C846}" srcOrd="1" destOrd="0" presId="urn:microsoft.com/office/officeart/2005/8/layout/hierarchy2"/>
    <dgm:cxn modelId="{E13FBE14-DE9C-4E60-B995-22F41146CE49}" type="presOf" srcId="{8E14AEAA-281E-8B4C-94FB-383B98EF995D}" destId="{2E112D10-16C4-F548-832A-2273979C2558}" srcOrd="0" destOrd="0" presId="urn:microsoft.com/office/officeart/2005/8/layout/hierarchy2"/>
    <dgm:cxn modelId="{41070A1C-79EB-4A62-9844-E1A11559201E}" type="presOf" srcId="{30B4D055-BA9B-CB4E-80E9-7DD2475EE338}" destId="{9312708A-8E15-6A46-A307-52C0245EBB9A}" srcOrd="1" destOrd="0" presId="urn:microsoft.com/office/officeart/2005/8/layout/hierarchy2"/>
    <dgm:cxn modelId="{8A15A01D-F13F-4493-8184-E7F687914FDB}" type="presOf" srcId="{9830EA75-F225-C64A-93FD-3A7FD9C8D4A4}" destId="{27DADB35-86E0-C542-A6A8-80CF96D15E93}" srcOrd="0" destOrd="0" presId="urn:microsoft.com/office/officeart/2005/8/layout/hierarchy2"/>
    <dgm:cxn modelId="{23D97B31-C884-41AF-A417-1A0ED7A3626B}" type="presOf" srcId="{31DF0569-E856-E842-A415-28DFB8742654}" destId="{F204B980-B86C-AD44-BBE3-0F1F205B4008}" srcOrd="0" destOrd="0" presId="urn:microsoft.com/office/officeart/2005/8/layout/hierarchy2"/>
    <dgm:cxn modelId="{D8EDA9C4-FAC7-4109-B4AF-BFD8134DD712}" type="presParOf" srcId="{927B3481-6F47-C644-A6C2-88B0D1FB1461}" destId="{970856EA-F4A6-FB42-B30D-891B44F06120}" srcOrd="0" destOrd="0" presId="urn:microsoft.com/office/officeart/2005/8/layout/hierarchy2"/>
    <dgm:cxn modelId="{ED3AFF74-E0D9-4AFD-A209-58443286C31F}" type="presParOf" srcId="{970856EA-F4A6-FB42-B30D-891B44F06120}" destId="{F204B980-B86C-AD44-BBE3-0F1F205B4008}" srcOrd="0" destOrd="0" presId="urn:microsoft.com/office/officeart/2005/8/layout/hierarchy2"/>
    <dgm:cxn modelId="{070EE30A-E02C-4AB9-AF89-EBF909AC3FF1}" type="presParOf" srcId="{970856EA-F4A6-FB42-B30D-891B44F06120}" destId="{7F108260-ED8B-3D48-9744-62373CDE1190}" srcOrd="1" destOrd="0" presId="urn:microsoft.com/office/officeart/2005/8/layout/hierarchy2"/>
    <dgm:cxn modelId="{4F79F7BA-2229-42DB-8AEA-D4D06EEA3421}" type="presParOf" srcId="{7F108260-ED8B-3D48-9744-62373CDE1190}" destId="{6022BEDE-1123-1D4E-9F6C-0CC90EAEFC58}" srcOrd="0" destOrd="0" presId="urn:microsoft.com/office/officeart/2005/8/layout/hierarchy2"/>
    <dgm:cxn modelId="{4581E3BC-ECC5-4975-A0E7-250AD2D85BD3}" type="presParOf" srcId="{6022BEDE-1123-1D4E-9F6C-0CC90EAEFC58}" destId="{9D487E93-979A-0B4B-98CA-9EC54D1F3821}" srcOrd="0" destOrd="0" presId="urn:microsoft.com/office/officeart/2005/8/layout/hierarchy2"/>
    <dgm:cxn modelId="{CFAA67CD-6188-4C38-9CB5-B164D86B8DF1}" type="presParOf" srcId="{7F108260-ED8B-3D48-9744-62373CDE1190}" destId="{F0E08951-0A5E-254E-8392-6E2E38E94B9D}" srcOrd="1" destOrd="0" presId="urn:microsoft.com/office/officeart/2005/8/layout/hierarchy2"/>
    <dgm:cxn modelId="{947ED8F4-5F6A-4289-84AA-EA20F863874E}" type="presParOf" srcId="{F0E08951-0A5E-254E-8392-6E2E38E94B9D}" destId="{4B5A1676-9A02-104B-80F3-3A8679B7613E}" srcOrd="0" destOrd="0" presId="urn:microsoft.com/office/officeart/2005/8/layout/hierarchy2"/>
    <dgm:cxn modelId="{DA563C19-8246-49F4-BD2C-C530502C5EC5}" type="presParOf" srcId="{F0E08951-0A5E-254E-8392-6E2E38E94B9D}" destId="{AEBD8DCF-E86B-FA4E-95B8-B0B5D0B2A5FD}" srcOrd="1" destOrd="0" presId="urn:microsoft.com/office/officeart/2005/8/layout/hierarchy2"/>
    <dgm:cxn modelId="{891B626A-2B28-4009-93AA-3FAF9F658083}" type="presParOf" srcId="{AEBD8DCF-E86B-FA4E-95B8-B0B5D0B2A5FD}" destId="{FFA28A68-4E2F-234D-9F00-512CA0155943}" srcOrd="0" destOrd="0" presId="urn:microsoft.com/office/officeart/2005/8/layout/hierarchy2"/>
    <dgm:cxn modelId="{CE9D7A9E-7B64-4FDD-9AF9-D6419A2C8D0F}" type="presParOf" srcId="{FFA28A68-4E2F-234D-9F00-512CA0155943}" destId="{29517203-50C2-984E-A99A-C2F942F07160}" srcOrd="0" destOrd="0" presId="urn:microsoft.com/office/officeart/2005/8/layout/hierarchy2"/>
    <dgm:cxn modelId="{E6D019C8-7A20-4123-B2A2-26EEE075C068}" type="presParOf" srcId="{AEBD8DCF-E86B-FA4E-95B8-B0B5D0B2A5FD}" destId="{5A395BF3-1F96-9D4E-8845-8E6595E74154}" srcOrd="1" destOrd="0" presId="urn:microsoft.com/office/officeart/2005/8/layout/hierarchy2"/>
    <dgm:cxn modelId="{89340D48-1534-4A3C-AFA1-DE724BFD70A7}" type="presParOf" srcId="{5A395BF3-1F96-9D4E-8845-8E6595E74154}" destId="{27DADB35-86E0-C542-A6A8-80CF96D15E93}" srcOrd="0" destOrd="0" presId="urn:microsoft.com/office/officeart/2005/8/layout/hierarchy2"/>
    <dgm:cxn modelId="{A66DC5BC-658F-46E7-ADBE-E864D72806F7}" type="presParOf" srcId="{5A395BF3-1F96-9D4E-8845-8E6595E74154}" destId="{D7805E0F-8257-E549-A950-382B533BF77D}" srcOrd="1" destOrd="0" presId="urn:microsoft.com/office/officeart/2005/8/layout/hierarchy2"/>
    <dgm:cxn modelId="{FF04D4CD-1F26-4E66-9430-BECA6B886570}" type="presParOf" srcId="{AEBD8DCF-E86B-FA4E-95B8-B0B5D0B2A5FD}" destId="{B9DECE35-AE4F-8346-B5D8-2189D1E01EE4}" srcOrd="2" destOrd="0" presId="urn:microsoft.com/office/officeart/2005/8/layout/hierarchy2"/>
    <dgm:cxn modelId="{5111E28F-6250-46E0-9D43-AF750A9307C3}" type="presParOf" srcId="{B9DECE35-AE4F-8346-B5D8-2189D1E01EE4}" destId="{D798C1D8-3428-A944-A713-72BD99C9DF05}" srcOrd="0" destOrd="0" presId="urn:microsoft.com/office/officeart/2005/8/layout/hierarchy2"/>
    <dgm:cxn modelId="{326745A9-5501-4AB3-AB28-E624F0FF8548}" type="presParOf" srcId="{AEBD8DCF-E86B-FA4E-95B8-B0B5D0B2A5FD}" destId="{BDB14572-6348-9F42-9436-FFABDB8EE747}" srcOrd="3" destOrd="0" presId="urn:microsoft.com/office/officeart/2005/8/layout/hierarchy2"/>
    <dgm:cxn modelId="{87BF6B88-DD80-42CC-9259-69AB2A3716C2}" type="presParOf" srcId="{BDB14572-6348-9F42-9436-FFABDB8EE747}" destId="{FEAD0FFB-DA8B-0B4B-AACF-AE7ED662D27B}" srcOrd="0" destOrd="0" presId="urn:microsoft.com/office/officeart/2005/8/layout/hierarchy2"/>
    <dgm:cxn modelId="{20FD353C-1BBE-4CC9-A163-1E2B68DA1CD8}" type="presParOf" srcId="{BDB14572-6348-9F42-9436-FFABDB8EE747}" destId="{F870A30E-547C-5646-B420-418D626B5828}" srcOrd="1" destOrd="0" presId="urn:microsoft.com/office/officeart/2005/8/layout/hierarchy2"/>
    <dgm:cxn modelId="{CB2B4D51-8290-494D-A6C8-3C2C2B07A763}" type="presParOf" srcId="{7F108260-ED8B-3D48-9744-62373CDE1190}" destId="{2E112D10-16C4-F548-832A-2273979C2558}" srcOrd="2" destOrd="0" presId="urn:microsoft.com/office/officeart/2005/8/layout/hierarchy2"/>
    <dgm:cxn modelId="{3F3B0042-0459-4C76-B173-FD3514A2397A}" type="presParOf" srcId="{2E112D10-16C4-F548-832A-2273979C2558}" destId="{3D69501F-C0B8-274F-885C-94B80958C846}" srcOrd="0" destOrd="0" presId="urn:microsoft.com/office/officeart/2005/8/layout/hierarchy2"/>
    <dgm:cxn modelId="{543D91CE-E215-461B-9B0B-05469D3DA451}" type="presParOf" srcId="{7F108260-ED8B-3D48-9744-62373CDE1190}" destId="{51E1BE7D-35BB-4D48-A479-7DAF09E51932}" srcOrd="3" destOrd="0" presId="urn:microsoft.com/office/officeart/2005/8/layout/hierarchy2"/>
    <dgm:cxn modelId="{AC8440F6-E087-46D1-A5C7-0465CC5422F0}" type="presParOf" srcId="{51E1BE7D-35BB-4D48-A479-7DAF09E51932}" destId="{3878B572-FC4C-EA43-B7DF-00A5D706B1E3}" srcOrd="0" destOrd="0" presId="urn:microsoft.com/office/officeart/2005/8/layout/hierarchy2"/>
    <dgm:cxn modelId="{D17C89BC-E294-4DBD-A301-90008D86941E}" type="presParOf" srcId="{51E1BE7D-35BB-4D48-A479-7DAF09E51932}" destId="{EF2D41C3-A878-9547-88BA-5BB8010370DE}" srcOrd="1" destOrd="0" presId="urn:microsoft.com/office/officeart/2005/8/layout/hierarchy2"/>
    <dgm:cxn modelId="{8E121A75-9306-4F13-9F5B-0BAB6A67A55F}" type="presParOf" srcId="{EF2D41C3-A878-9547-88BA-5BB8010370DE}" destId="{CC7880E0-507E-0945-9912-AA6D33BF82DA}" srcOrd="0" destOrd="0" presId="urn:microsoft.com/office/officeart/2005/8/layout/hierarchy2"/>
    <dgm:cxn modelId="{7455EBDC-D80C-4423-80C3-254FCC73EBAC}" type="presParOf" srcId="{CC7880E0-507E-0945-9912-AA6D33BF82DA}" destId="{9312708A-8E15-6A46-A307-52C0245EBB9A}" srcOrd="0" destOrd="0" presId="urn:microsoft.com/office/officeart/2005/8/layout/hierarchy2"/>
    <dgm:cxn modelId="{1DA61A8E-AFA2-485F-BE49-33057225BC0B}" type="presParOf" srcId="{EF2D41C3-A878-9547-88BA-5BB8010370DE}" destId="{70773460-87AA-1144-8AE2-A0261C6B29C3}" srcOrd="1" destOrd="0" presId="urn:microsoft.com/office/officeart/2005/8/layout/hierarchy2"/>
    <dgm:cxn modelId="{8D0E9316-69BB-4EC6-B2B6-BF12B8DAC39B}" type="presParOf" srcId="{70773460-87AA-1144-8AE2-A0261C6B29C3}" destId="{187EB755-483C-E94F-B3F3-7C564EEE04F0}" srcOrd="0" destOrd="0" presId="urn:microsoft.com/office/officeart/2005/8/layout/hierarchy2"/>
    <dgm:cxn modelId="{824B8847-9726-47A5-83F3-1EFCEBDA4255}" type="presParOf" srcId="{70773460-87AA-1144-8AE2-A0261C6B29C3}" destId="{55EA97C0-52AB-A443-A742-3293B88CC082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29A8EC8-7E1E-AE45-80F7-668EA9F98166}" type="doc">
      <dgm:prSet loTypeId="urn:microsoft.com/office/officeart/2005/8/layout/cycle1" loCatId="cycle" qsTypeId="urn:microsoft.com/office/officeart/2005/8/quickstyle/3D1" qsCatId="3D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908F5D6F-C8DC-5147-87BF-98E4DB83620C}">
      <dgm:prSet phldrT="[Text]" custT="1"/>
      <dgm:spPr/>
      <dgm:t>
        <a:bodyPr/>
        <a:lstStyle/>
        <a:p>
          <a:r>
            <a:rPr lang="en-US" sz="4800" dirty="0" smtClean="0"/>
            <a:t>Faster</a:t>
          </a:r>
          <a:endParaRPr lang="en-US" sz="3700" dirty="0"/>
        </a:p>
      </dgm:t>
    </dgm:pt>
    <dgm:pt modelId="{341B4823-0275-1E42-945D-E86B1BD51A0E}" type="parTrans" cxnId="{9B9615C0-0576-B647-9B7B-6333949EC851}">
      <dgm:prSet/>
      <dgm:spPr/>
      <dgm:t>
        <a:bodyPr/>
        <a:lstStyle/>
        <a:p>
          <a:endParaRPr lang="en-US"/>
        </a:p>
      </dgm:t>
    </dgm:pt>
    <dgm:pt modelId="{57368919-C67F-FE45-8A92-1ABA46AC94C6}" type="sibTrans" cxnId="{9B9615C0-0576-B647-9B7B-6333949EC851}">
      <dgm:prSet/>
      <dgm:spPr/>
      <dgm:t>
        <a:bodyPr/>
        <a:lstStyle/>
        <a:p>
          <a:endParaRPr lang="en-US"/>
        </a:p>
      </dgm:t>
    </dgm:pt>
    <dgm:pt modelId="{40F0D365-0210-2947-BACA-70B1AC6C0EC5}">
      <dgm:prSet phldrT="[Text]" custT="1"/>
      <dgm:spPr/>
      <dgm:t>
        <a:bodyPr/>
        <a:lstStyle/>
        <a:p>
          <a:r>
            <a:rPr lang="en-US" sz="4800" dirty="0" smtClean="0"/>
            <a:t>Better</a:t>
          </a:r>
          <a:endParaRPr lang="en-US" sz="3700" dirty="0"/>
        </a:p>
      </dgm:t>
    </dgm:pt>
    <dgm:pt modelId="{5D214419-C30D-3942-AA71-04A5875ABBB6}" type="parTrans" cxnId="{1DAD3662-1F3C-504B-AAB1-B9BACA32A01E}">
      <dgm:prSet/>
      <dgm:spPr/>
      <dgm:t>
        <a:bodyPr/>
        <a:lstStyle/>
        <a:p>
          <a:endParaRPr lang="en-US"/>
        </a:p>
      </dgm:t>
    </dgm:pt>
    <dgm:pt modelId="{93EFA190-086D-574B-AFD6-A1747DFDD29A}" type="sibTrans" cxnId="{1DAD3662-1F3C-504B-AAB1-B9BACA32A01E}">
      <dgm:prSet/>
      <dgm:spPr/>
      <dgm:t>
        <a:bodyPr/>
        <a:lstStyle/>
        <a:p>
          <a:endParaRPr lang="en-US"/>
        </a:p>
      </dgm:t>
    </dgm:pt>
    <dgm:pt modelId="{9E15DBC1-7934-DF44-BDEE-5A87D73EBED9}">
      <dgm:prSet phldrT="[Text]" custT="1"/>
      <dgm:spPr/>
      <dgm:t>
        <a:bodyPr/>
        <a:lstStyle/>
        <a:p>
          <a:r>
            <a:rPr lang="en-US" sz="4800" dirty="0" smtClean="0"/>
            <a:t>Cheaper</a:t>
          </a:r>
          <a:endParaRPr lang="en-US" sz="3700" dirty="0"/>
        </a:p>
      </dgm:t>
    </dgm:pt>
    <dgm:pt modelId="{CE6AECB1-2FF8-1C40-BF79-179AEEC01B41}" type="parTrans" cxnId="{11BD1184-B758-0940-B201-E6E04FCDCD5A}">
      <dgm:prSet/>
      <dgm:spPr/>
      <dgm:t>
        <a:bodyPr/>
        <a:lstStyle/>
        <a:p>
          <a:endParaRPr lang="en-US"/>
        </a:p>
      </dgm:t>
    </dgm:pt>
    <dgm:pt modelId="{AD54F11D-D337-3E48-9096-3C95A4EDAD7B}" type="sibTrans" cxnId="{11BD1184-B758-0940-B201-E6E04FCDCD5A}">
      <dgm:prSet/>
      <dgm:spPr/>
      <dgm:t>
        <a:bodyPr/>
        <a:lstStyle/>
        <a:p>
          <a:endParaRPr lang="en-US"/>
        </a:p>
      </dgm:t>
    </dgm:pt>
    <dgm:pt modelId="{966AA9FE-1834-A64C-9E0B-FE51A777B06A}" type="pres">
      <dgm:prSet presAssocID="{429A8EC8-7E1E-AE45-80F7-668EA9F98166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8FB9B4B-93D4-7342-9CBC-FD3BB34D9630}" type="pres">
      <dgm:prSet presAssocID="{908F5D6F-C8DC-5147-87BF-98E4DB83620C}" presName="dummy" presStyleCnt="0"/>
      <dgm:spPr/>
    </dgm:pt>
    <dgm:pt modelId="{8C3B3DAD-56EB-1C40-BB13-763A006AC119}" type="pres">
      <dgm:prSet presAssocID="{908F5D6F-C8DC-5147-87BF-98E4DB83620C}" presName="node" presStyleLbl="revTx" presStyleIdx="0" presStyleCnt="3" custScaleY="46255" custRadScaleRad="96463" custRadScaleInc="966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D79B5BF-1D93-9F49-9FEC-E4B24A002A99}" type="pres">
      <dgm:prSet presAssocID="{57368919-C67F-FE45-8A92-1ABA46AC94C6}" presName="sibTrans" presStyleLbl="node1" presStyleIdx="0" presStyleCnt="3"/>
      <dgm:spPr/>
      <dgm:t>
        <a:bodyPr/>
        <a:lstStyle/>
        <a:p>
          <a:endParaRPr lang="en-US"/>
        </a:p>
      </dgm:t>
    </dgm:pt>
    <dgm:pt modelId="{3CC4AE85-13B2-E347-AACE-2AB9F1521F39}" type="pres">
      <dgm:prSet presAssocID="{40F0D365-0210-2947-BACA-70B1AC6C0EC5}" presName="dummy" presStyleCnt="0"/>
      <dgm:spPr/>
    </dgm:pt>
    <dgm:pt modelId="{4FC7E756-8A44-4F4A-9A53-45872855AB57}" type="pres">
      <dgm:prSet presAssocID="{40F0D365-0210-2947-BACA-70B1AC6C0EC5}" presName="node" presStyleLbl="revTx" presStyleIdx="1" presStyleCnt="3" custRadScaleRad="91251" custRadScaleInc="1397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F392097-4404-9447-8F32-8F6E6B2D20DB}" type="pres">
      <dgm:prSet presAssocID="{93EFA190-086D-574B-AFD6-A1747DFDD29A}" presName="sibTrans" presStyleLbl="node1" presStyleIdx="1" presStyleCnt="3"/>
      <dgm:spPr/>
      <dgm:t>
        <a:bodyPr/>
        <a:lstStyle/>
        <a:p>
          <a:endParaRPr lang="en-US"/>
        </a:p>
      </dgm:t>
    </dgm:pt>
    <dgm:pt modelId="{E3D1973D-F96C-274E-AF32-3BAB7053EC70}" type="pres">
      <dgm:prSet presAssocID="{9E15DBC1-7934-DF44-BDEE-5A87D73EBED9}" presName="dummy" presStyleCnt="0"/>
      <dgm:spPr/>
    </dgm:pt>
    <dgm:pt modelId="{90715222-5ED3-DD48-8AB8-BE13C9C48F40}" type="pres">
      <dgm:prSet presAssocID="{9E15DBC1-7934-DF44-BDEE-5A87D73EBED9}" presName="node" presStyleLbl="revTx" presStyleIdx="2" presStyleCnt="3" custScaleX="148658" custScaleY="42780" custRadScaleRad="113276" custRadScaleInc="-1344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5626AA2-C1F3-F64E-914B-862B4C76D000}" type="pres">
      <dgm:prSet presAssocID="{AD54F11D-D337-3E48-9096-3C95A4EDAD7B}" presName="sibTrans" presStyleLbl="node1" presStyleIdx="2" presStyleCnt="3"/>
      <dgm:spPr/>
      <dgm:t>
        <a:bodyPr/>
        <a:lstStyle/>
        <a:p>
          <a:endParaRPr lang="en-US"/>
        </a:p>
      </dgm:t>
    </dgm:pt>
  </dgm:ptLst>
  <dgm:cxnLst>
    <dgm:cxn modelId="{7BAE451F-42F3-429C-9F68-776F96B25752}" type="presOf" srcId="{908F5D6F-C8DC-5147-87BF-98E4DB83620C}" destId="{8C3B3DAD-56EB-1C40-BB13-763A006AC119}" srcOrd="0" destOrd="0" presId="urn:microsoft.com/office/officeart/2005/8/layout/cycle1"/>
    <dgm:cxn modelId="{9B9615C0-0576-B647-9B7B-6333949EC851}" srcId="{429A8EC8-7E1E-AE45-80F7-668EA9F98166}" destId="{908F5D6F-C8DC-5147-87BF-98E4DB83620C}" srcOrd="0" destOrd="0" parTransId="{341B4823-0275-1E42-945D-E86B1BD51A0E}" sibTransId="{57368919-C67F-FE45-8A92-1ABA46AC94C6}"/>
    <dgm:cxn modelId="{CCC37276-DAD8-4CB2-B64C-A009C87E1F6F}" type="presOf" srcId="{AD54F11D-D337-3E48-9096-3C95A4EDAD7B}" destId="{25626AA2-C1F3-F64E-914B-862B4C76D000}" srcOrd="0" destOrd="0" presId="urn:microsoft.com/office/officeart/2005/8/layout/cycle1"/>
    <dgm:cxn modelId="{1DAD3662-1F3C-504B-AAB1-B9BACA32A01E}" srcId="{429A8EC8-7E1E-AE45-80F7-668EA9F98166}" destId="{40F0D365-0210-2947-BACA-70B1AC6C0EC5}" srcOrd="1" destOrd="0" parTransId="{5D214419-C30D-3942-AA71-04A5875ABBB6}" sibTransId="{93EFA190-086D-574B-AFD6-A1747DFDD29A}"/>
    <dgm:cxn modelId="{11BD1184-B758-0940-B201-E6E04FCDCD5A}" srcId="{429A8EC8-7E1E-AE45-80F7-668EA9F98166}" destId="{9E15DBC1-7934-DF44-BDEE-5A87D73EBED9}" srcOrd="2" destOrd="0" parTransId="{CE6AECB1-2FF8-1C40-BF79-179AEEC01B41}" sibTransId="{AD54F11D-D337-3E48-9096-3C95A4EDAD7B}"/>
    <dgm:cxn modelId="{7BD48016-99C1-41BC-987B-0CB5294E1090}" type="presOf" srcId="{93EFA190-086D-574B-AFD6-A1747DFDD29A}" destId="{4F392097-4404-9447-8F32-8F6E6B2D20DB}" srcOrd="0" destOrd="0" presId="urn:microsoft.com/office/officeart/2005/8/layout/cycle1"/>
    <dgm:cxn modelId="{9E925F41-4917-4ED2-8FF8-07C13CDA280C}" type="presOf" srcId="{9E15DBC1-7934-DF44-BDEE-5A87D73EBED9}" destId="{90715222-5ED3-DD48-8AB8-BE13C9C48F40}" srcOrd="0" destOrd="0" presId="urn:microsoft.com/office/officeart/2005/8/layout/cycle1"/>
    <dgm:cxn modelId="{4EE441DD-6257-4D42-BB16-85867A6393DB}" type="presOf" srcId="{429A8EC8-7E1E-AE45-80F7-668EA9F98166}" destId="{966AA9FE-1834-A64C-9E0B-FE51A777B06A}" srcOrd="0" destOrd="0" presId="urn:microsoft.com/office/officeart/2005/8/layout/cycle1"/>
    <dgm:cxn modelId="{D8C1CC4C-989E-4936-9D8D-0C66B33778A6}" type="presOf" srcId="{57368919-C67F-FE45-8A92-1ABA46AC94C6}" destId="{4D79B5BF-1D93-9F49-9FEC-E4B24A002A99}" srcOrd="0" destOrd="0" presId="urn:microsoft.com/office/officeart/2005/8/layout/cycle1"/>
    <dgm:cxn modelId="{EE634DBF-8E6A-476F-B103-DC3047C6A529}" type="presOf" srcId="{40F0D365-0210-2947-BACA-70B1AC6C0EC5}" destId="{4FC7E756-8A44-4F4A-9A53-45872855AB57}" srcOrd="0" destOrd="0" presId="urn:microsoft.com/office/officeart/2005/8/layout/cycle1"/>
    <dgm:cxn modelId="{FFE74145-36B8-4A59-B5BB-6B1C160F7B9D}" type="presParOf" srcId="{966AA9FE-1834-A64C-9E0B-FE51A777B06A}" destId="{C8FB9B4B-93D4-7342-9CBC-FD3BB34D9630}" srcOrd="0" destOrd="0" presId="urn:microsoft.com/office/officeart/2005/8/layout/cycle1"/>
    <dgm:cxn modelId="{3AC5B30B-EF19-47FF-B4F0-D25E5C90E02B}" type="presParOf" srcId="{966AA9FE-1834-A64C-9E0B-FE51A777B06A}" destId="{8C3B3DAD-56EB-1C40-BB13-763A006AC119}" srcOrd="1" destOrd="0" presId="urn:microsoft.com/office/officeart/2005/8/layout/cycle1"/>
    <dgm:cxn modelId="{6655BD0D-D8DF-49AA-9D9C-65B49E8F394E}" type="presParOf" srcId="{966AA9FE-1834-A64C-9E0B-FE51A777B06A}" destId="{4D79B5BF-1D93-9F49-9FEC-E4B24A002A99}" srcOrd="2" destOrd="0" presId="urn:microsoft.com/office/officeart/2005/8/layout/cycle1"/>
    <dgm:cxn modelId="{D4BDDDCB-8E3D-4F23-800A-976ADE9B93E4}" type="presParOf" srcId="{966AA9FE-1834-A64C-9E0B-FE51A777B06A}" destId="{3CC4AE85-13B2-E347-AACE-2AB9F1521F39}" srcOrd="3" destOrd="0" presId="urn:microsoft.com/office/officeart/2005/8/layout/cycle1"/>
    <dgm:cxn modelId="{9267EEAD-9258-444E-BC3A-7FE1ACBB956B}" type="presParOf" srcId="{966AA9FE-1834-A64C-9E0B-FE51A777B06A}" destId="{4FC7E756-8A44-4F4A-9A53-45872855AB57}" srcOrd="4" destOrd="0" presId="urn:microsoft.com/office/officeart/2005/8/layout/cycle1"/>
    <dgm:cxn modelId="{9D3E8F8A-C182-4F6F-BD24-0D478B1283C5}" type="presParOf" srcId="{966AA9FE-1834-A64C-9E0B-FE51A777B06A}" destId="{4F392097-4404-9447-8F32-8F6E6B2D20DB}" srcOrd="5" destOrd="0" presId="urn:microsoft.com/office/officeart/2005/8/layout/cycle1"/>
    <dgm:cxn modelId="{E64FE71F-9C00-4F37-9FBF-33829BAF47A3}" type="presParOf" srcId="{966AA9FE-1834-A64C-9E0B-FE51A777B06A}" destId="{E3D1973D-F96C-274E-AF32-3BAB7053EC70}" srcOrd="6" destOrd="0" presId="urn:microsoft.com/office/officeart/2005/8/layout/cycle1"/>
    <dgm:cxn modelId="{4BCB0CE6-6DA0-4037-9D65-7379705F1DFF}" type="presParOf" srcId="{966AA9FE-1834-A64C-9E0B-FE51A777B06A}" destId="{90715222-5ED3-DD48-8AB8-BE13C9C48F40}" srcOrd="7" destOrd="0" presId="urn:microsoft.com/office/officeart/2005/8/layout/cycle1"/>
    <dgm:cxn modelId="{EF14743C-29DF-48CA-B2F2-32B5B174B916}" type="presParOf" srcId="{966AA9FE-1834-A64C-9E0B-FE51A777B06A}" destId="{25626AA2-C1F3-F64E-914B-862B4C76D000}" srcOrd="8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32CF05C-577F-054F-BA86-86A248537802}" type="doc">
      <dgm:prSet loTypeId="urn:microsoft.com/office/officeart/2005/8/layout/venn1" loCatId="relationship" qsTypeId="urn:microsoft.com/office/officeart/2005/8/quickstyle/simple3" qsCatId="simple" csTypeId="urn:microsoft.com/office/officeart/2005/8/colors/colorful4" csCatId="colorful" phldr="1"/>
      <dgm:spPr/>
    </dgm:pt>
    <dgm:pt modelId="{4695C2F2-F2A5-CE45-8AFC-D1BD27CCD66B}">
      <dgm:prSet phldrT="[Text]" custT="1"/>
      <dgm:spPr/>
      <dgm:t>
        <a:bodyPr/>
        <a:lstStyle/>
        <a:p>
          <a:r>
            <a:rPr lang="en-US" sz="2400" dirty="0" smtClean="0"/>
            <a:t>Values</a:t>
          </a:r>
          <a:endParaRPr lang="en-US" sz="2400" dirty="0"/>
        </a:p>
      </dgm:t>
    </dgm:pt>
    <dgm:pt modelId="{5820B916-76E3-9E46-AA59-BDB28F694EC7}" type="parTrans" cxnId="{0F4913AF-4DF9-9944-B7A4-EEBA60ADEEA1}">
      <dgm:prSet/>
      <dgm:spPr/>
      <dgm:t>
        <a:bodyPr/>
        <a:lstStyle/>
        <a:p>
          <a:endParaRPr lang="en-US" sz="1800"/>
        </a:p>
      </dgm:t>
    </dgm:pt>
    <dgm:pt modelId="{F0501A64-D56C-DD42-9BCF-6F02A8ED2377}" type="sibTrans" cxnId="{0F4913AF-4DF9-9944-B7A4-EEBA60ADEEA1}">
      <dgm:prSet/>
      <dgm:spPr/>
      <dgm:t>
        <a:bodyPr/>
        <a:lstStyle/>
        <a:p>
          <a:endParaRPr lang="en-US" sz="1800"/>
        </a:p>
      </dgm:t>
    </dgm:pt>
    <dgm:pt modelId="{5CC8B588-21CB-D140-BA21-5B51B75FF640}">
      <dgm:prSet phldrT="[Text]" custT="1"/>
      <dgm:spPr/>
      <dgm:t>
        <a:bodyPr/>
        <a:lstStyle/>
        <a:p>
          <a:r>
            <a:rPr lang="en-US" sz="2400" dirty="0" smtClean="0"/>
            <a:t>Structure</a:t>
          </a:r>
          <a:endParaRPr lang="en-US" sz="2400" dirty="0"/>
        </a:p>
      </dgm:t>
    </dgm:pt>
    <dgm:pt modelId="{94A9675C-2D17-F24D-A32A-4E1C579638C0}" type="parTrans" cxnId="{01811017-7C4C-9642-970E-41E85E82F1C1}">
      <dgm:prSet/>
      <dgm:spPr/>
      <dgm:t>
        <a:bodyPr/>
        <a:lstStyle/>
        <a:p>
          <a:endParaRPr lang="en-US" sz="1800"/>
        </a:p>
      </dgm:t>
    </dgm:pt>
    <dgm:pt modelId="{0629D516-7B30-204D-83B3-FF1EA0B99676}" type="sibTrans" cxnId="{01811017-7C4C-9642-970E-41E85E82F1C1}">
      <dgm:prSet/>
      <dgm:spPr/>
      <dgm:t>
        <a:bodyPr/>
        <a:lstStyle/>
        <a:p>
          <a:endParaRPr lang="en-US" sz="1800"/>
        </a:p>
      </dgm:t>
    </dgm:pt>
    <dgm:pt modelId="{D0C47515-1916-F44D-AFB0-E755CC4C7864}">
      <dgm:prSet phldrT="[Text]" custT="1"/>
      <dgm:spPr/>
      <dgm:t>
        <a:bodyPr/>
        <a:lstStyle/>
        <a:p>
          <a:r>
            <a:rPr lang="en-US" sz="2400" dirty="0" smtClean="0"/>
            <a:t>Selection</a:t>
          </a:r>
          <a:endParaRPr lang="en-US" sz="2400" dirty="0"/>
        </a:p>
      </dgm:t>
    </dgm:pt>
    <dgm:pt modelId="{FBE21E8F-57AB-274B-970B-D19EA47EEA17}" type="parTrans" cxnId="{CBBC9652-0C98-1A4F-A043-C9D7BAAFC9EC}">
      <dgm:prSet/>
      <dgm:spPr/>
      <dgm:t>
        <a:bodyPr/>
        <a:lstStyle/>
        <a:p>
          <a:endParaRPr lang="en-US" sz="1800"/>
        </a:p>
      </dgm:t>
    </dgm:pt>
    <dgm:pt modelId="{453D08FE-FABD-7443-893B-0BC2E97655E7}" type="sibTrans" cxnId="{CBBC9652-0C98-1A4F-A043-C9D7BAAFC9EC}">
      <dgm:prSet/>
      <dgm:spPr/>
      <dgm:t>
        <a:bodyPr/>
        <a:lstStyle/>
        <a:p>
          <a:endParaRPr lang="en-US" sz="1800"/>
        </a:p>
      </dgm:t>
    </dgm:pt>
    <dgm:pt modelId="{826528F1-8661-F540-B68F-16648F294A83}" type="pres">
      <dgm:prSet presAssocID="{D32CF05C-577F-054F-BA86-86A248537802}" presName="compositeShape" presStyleCnt="0">
        <dgm:presLayoutVars>
          <dgm:chMax val="7"/>
          <dgm:dir/>
          <dgm:resizeHandles val="exact"/>
        </dgm:presLayoutVars>
      </dgm:prSet>
      <dgm:spPr/>
    </dgm:pt>
    <dgm:pt modelId="{00B0832D-702A-B246-AA62-B625DC089DC4}" type="pres">
      <dgm:prSet presAssocID="{4695C2F2-F2A5-CE45-8AFC-D1BD27CCD66B}" presName="circ1" presStyleLbl="vennNode1" presStyleIdx="0" presStyleCnt="3"/>
      <dgm:spPr/>
      <dgm:t>
        <a:bodyPr/>
        <a:lstStyle/>
        <a:p>
          <a:endParaRPr lang="en-US"/>
        </a:p>
      </dgm:t>
    </dgm:pt>
    <dgm:pt modelId="{E8DB27F3-32E2-4B4C-89A4-642C575E55BC}" type="pres">
      <dgm:prSet presAssocID="{4695C2F2-F2A5-CE45-8AFC-D1BD27CCD66B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3AA6626-53C7-E640-AED2-203E12827B6C}" type="pres">
      <dgm:prSet presAssocID="{5CC8B588-21CB-D140-BA21-5B51B75FF640}" presName="circ2" presStyleLbl="vennNode1" presStyleIdx="1" presStyleCnt="3"/>
      <dgm:spPr/>
      <dgm:t>
        <a:bodyPr/>
        <a:lstStyle/>
        <a:p>
          <a:endParaRPr lang="en-US"/>
        </a:p>
      </dgm:t>
    </dgm:pt>
    <dgm:pt modelId="{11FB6852-E7A0-824D-A333-A83AE0B40043}" type="pres">
      <dgm:prSet presAssocID="{5CC8B588-21CB-D140-BA21-5B51B75FF640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88453AD-6476-EA42-B3B8-8E5BBC5C630E}" type="pres">
      <dgm:prSet presAssocID="{D0C47515-1916-F44D-AFB0-E755CC4C7864}" presName="circ3" presStyleLbl="vennNode1" presStyleIdx="2" presStyleCnt="3"/>
      <dgm:spPr/>
      <dgm:t>
        <a:bodyPr/>
        <a:lstStyle/>
        <a:p>
          <a:endParaRPr lang="en-US"/>
        </a:p>
      </dgm:t>
    </dgm:pt>
    <dgm:pt modelId="{D7658B14-F6C2-EB49-A736-ACB85C053984}" type="pres">
      <dgm:prSet presAssocID="{D0C47515-1916-F44D-AFB0-E755CC4C7864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BBC9652-0C98-1A4F-A043-C9D7BAAFC9EC}" srcId="{D32CF05C-577F-054F-BA86-86A248537802}" destId="{D0C47515-1916-F44D-AFB0-E755CC4C7864}" srcOrd="2" destOrd="0" parTransId="{FBE21E8F-57AB-274B-970B-D19EA47EEA17}" sibTransId="{453D08FE-FABD-7443-893B-0BC2E97655E7}"/>
    <dgm:cxn modelId="{0F4913AF-4DF9-9944-B7A4-EEBA60ADEEA1}" srcId="{D32CF05C-577F-054F-BA86-86A248537802}" destId="{4695C2F2-F2A5-CE45-8AFC-D1BD27CCD66B}" srcOrd="0" destOrd="0" parTransId="{5820B916-76E3-9E46-AA59-BDB28F694EC7}" sibTransId="{F0501A64-D56C-DD42-9BCF-6F02A8ED2377}"/>
    <dgm:cxn modelId="{8FFBA138-1C3C-4E43-8745-001DB9D6BA01}" type="presOf" srcId="{5CC8B588-21CB-D140-BA21-5B51B75FF640}" destId="{B3AA6626-53C7-E640-AED2-203E12827B6C}" srcOrd="0" destOrd="0" presId="urn:microsoft.com/office/officeart/2005/8/layout/venn1"/>
    <dgm:cxn modelId="{EF53E16C-15DD-4FC1-A12C-2E107032B553}" type="presOf" srcId="{4695C2F2-F2A5-CE45-8AFC-D1BD27CCD66B}" destId="{00B0832D-702A-B246-AA62-B625DC089DC4}" srcOrd="0" destOrd="0" presId="urn:microsoft.com/office/officeart/2005/8/layout/venn1"/>
    <dgm:cxn modelId="{D8121AA2-22FA-4126-8C62-B6F8E4E80385}" type="presOf" srcId="{D32CF05C-577F-054F-BA86-86A248537802}" destId="{826528F1-8661-F540-B68F-16648F294A83}" srcOrd="0" destOrd="0" presId="urn:microsoft.com/office/officeart/2005/8/layout/venn1"/>
    <dgm:cxn modelId="{DCF4267C-47CA-4964-AF68-B396530FC639}" type="presOf" srcId="{D0C47515-1916-F44D-AFB0-E755CC4C7864}" destId="{988453AD-6476-EA42-B3B8-8E5BBC5C630E}" srcOrd="0" destOrd="0" presId="urn:microsoft.com/office/officeart/2005/8/layout/venn1"/>
    <dgm:cxn modelId="{BBC4F7F6-278C-4EBD-9978-AB04AB4C78A2}" type="presOf" srcId="{4695C2F2-F2A5-CE45-8AFC-D1BD27CCD66B}" destId="{E8DB27F3-32E2-4B4C-89A4-642C575E55BC}" srcOrd="1" destOrd="0" presId="urn:microsoft.com/office/officeart/2005/8/layout/venn1"/>
    <dgm:cxn modelId="{BDD82A0F-2D3E-4621-A11B-F530344E2794}" type="presOf" srcId="{5CC8B588-21CB-D140-BA21-5B51B75FF640}" destId="{11FB6852-E7A0-824D-A333-A83AE0B40043}" srcOrd="1" destOrd="0" presId="urn:microsoft.com/office/officeart/2005/8/layout/venn1"/>
    <dgm:cxn modelId="{01811017-7C4C-9642-970E-41E85E82F1C1}" srcId="{D32CF05C-577F-054F-BA86-86A248537802}" destId="{5CC8B588-21CB-D140-BA21-5B51B75FF640}" srcOrd="1" destOrd="0" parTransId="{94A9675C-2D17-F24D-A32A-4E1C579638C0}" sibTransId="{0629D516-7B30-204D-83B3-FF1EA0B99676}"/>
    <dgm:cxn modelId="{899E7E39-A8C9-4AFD-B413-E95E552B8665}" type="presOf" srcId="{D0C47515-1916-F44D-AFB0-E755CC4C7864}" destId="{D7658B14-F6C2-EB49-A736-ACB85C053984}" srcOrd="1" destOrd="0" presId="urn:microsoft.com/office/officeart/2005/8/layout/venn1"/>
    <dgm:cxn modelId="{40E3A20E-5E2A-4EAE-B266-B535A14AA212}" type="presParOf" srcId="{826528F1-8661-F540-B68F-16648F294A83}" destId="{00B0832D-702A-B246-AA62-B625DC089DC4}" srcOrd="0" destOrd="0" presId="urn:microsoft.com/office/officeart/2005/8/layout/venn1"/>
    <dgm:cxn modelId="{A96B9D16-EAE1-47C6-8017-79E8EA91BEAA}" type="presParOf" srcId="{826528F1-8661-F540-B68F-16648F294A83}" destId="{E8DB27F3-32E2-4B4C-89A4-642C575E55BC}" srcOrd="1" destOrd="0" presId="urn:microsoft.com/office/officeart/2005/8/layout/venn1"/>
    <dgm:cxn modelId="{1F825E60-0BC1-4618-A4AD-EE767687907F}" type="presParOf" srcId="{826528F1-8661-F540-B68F-16648F294A83}" destId="{B3AA6626-53C7-E640-AED2-203E12827B6C}" srcOrd="2" destOrd="0" presId="urn:microsoft.com/office/officeart/2005/8/layout/venn1"/>
    <dgm:cxn modelId="{EFFD76C0-5EE9-4078-A811-7E6BB26F22A6}" type="presParOf" srcId="{826528F1-8661-F540-B68F-16648F294A83}" destId="{11FB6852-E7A0-824D-A333-A83AE0B40043}" srcOrd="3" destOrd="0" presId="urn:microsoft.com/office/officeart/2005/8/layout/venn1"/>
    <dgm:cxn modelId="{DA1F11AA-7451-473C-BADE-EA1E071F1C8D}" type="presParOf" srcId="{826528F1-8661-F540-B68F-16648F294A83}" destId="{988453AD-6476-EA42-B3B8-8E5BBC5C630E}" srcOrd="4" destOrd="0" presId="urn:microsoft.com/office/officeart/2005/8/layout/venn1"/>
    <dgm:cxn modelId="{026A2C5D-0EFB-4851-9DBE-CE8ACF853589}" type="presParOf" srcId="{826528F1-8661-F540-B68F-16648F294A83}" destId="{D7658B14-F6C2-EB49-A736-ACB85C053984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16EF15E-23B4-F746-8554-2516D5C33608}" type="doc">
      <dgm:prSet loTypeId="urn:microsoft.com/office/officeart/2005/8/layout/funnel1" loCatId="relationship" qsTypeId="urn:microsoft.com/office/officeart/2005/8/quickstyle/3D1" qsCatId="3D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7D869D05-3B55-2745-8039-F0ED7921394C}">
      <dgm:prSet phldrT="[Text]" custT="1"/>
      <dgm:spPr/>
      <dgm:t>
        <a:bodyPr/>
        <a:lstStyle/>
        <a:p>
          <a:r>
            <a:rPr lang="en-US" sz="2000" b="1" dirty="0" smtClean="0">
              <a:solidFill>
                <a:srgbClr val="FFFFFF"/>
              </a:solidFill>
            </a:rPr>
            <a:t>Franchising</a:t>
          </a:r>
          <a:endParaRPr lang="en-US" sz="2000" b="1" dirty="0">
            <a:solidFill>
              <a:srgbClr val="FFFFFF"/>
            </a:solidFill>
          </a:endParaRPr>
        </a:p>
      </dgm:t>
    </dgm:pt>
    <dgm:pt modelId="{A31C360F-960B-174F-829D-2F5ABDA8B80E}" type="parTrans" cxnId="{6DAE8DF2-5365-C245-88D5-B275F8A37B3C}">
      <dgm:prSet/>
      <dgm:spPr/>
      <dgm:t>
        <a:bodyPr/>
        <a:lstStyle/>
        <a:p>
          <a:endParaRPr lang="en-US"/>
        </a:p>
      </dgm:t>
    </dgm:pt>
    <dgm:pt modelId="{A5BB272C-1A08-3949-B97F-3B39C26FC2D0}" type="sibTrans" cxnId="{6DAE8DF2-5365-C245-88D5-B275F8A37B3C}">
      <dgm:prSet/>
      <dgm:spPr/>
      <dgm:t>
        <a:bodyPr/>
        <a:lstStyle/>
        <a:p>
          <a:endParaRPr lang="en-US"/>
        </a:p>
      </dgm:t>
    </dgm:pt>
    <dgm:pt modelId="{787BB331-20B8-6E43-901F-DAC18A5D903D}">
      <dgm:prSet phldrT="[Text]" custT="1"/>
      <dgm:spPr/>
      <dgm:t>
        <a:bodyPr/>
        <a:lstStyle/>
        <a:p>
          <a:r>
            <a:rPr lang="en-US" sz="2000" b="1" dirty="0" smtClean="0">
              <a:solidFill>
                <a:srgbClr val="FFFFFF"/>
              </a:solidFill>
            </a:rPr>
            <a:t>Product mix expansion</a:t>
          </a:r>
          <a:endParaRPr lang="en-US" sz="2000" b="1" dirty="0">
            <a:solidFill>
              <a:srgbClr val="FFFFFF"/>
            </a:solidFill>
          </a:endParaRPr>
        </a:p>
      </dgm:t>
    </dgm:pt>
    <dgm:pt modelId="{4377B114-119E-CE4C-8E19-A931BFB01FB4}" type="parTrans" cxnId="{B2C1B883-79D0-5349-8A8B-6114BA3415CF}">
      <dgm:prSet/>
      <dgm:spPr/>
      <dgm:t>
        <a:bodyPr/>
        <a:lstStyle/>
        <a:p>
          <a:endParaRPr lang="en-US"/>
        </a:p>
      </dgm:t>
    </dgm:pt>
    <dgm:pt modelId="{C8BEEC70-A673-DB42-92FE-E394DFC97BC5}" type="sibTrans" cxnId="{B2C1B883-79D0-5349-8A8B-6114BA3415CF}">
      <dgm:prSet/>
      <dgm:spPr/>
      <dgm:t>
        <a:bodyPr/>
        <a:lstStyle/>
        <a:p>
          <a:endParaRPr lang="en-US"/>
        </a:p>
      </dgm:t>
    </dgm:pt>
    <dgm:pt modelId="{A3D3C45A-3ADA-2C4B-A5E8-4CF17C915C70}">
      <dgm:prSet phldrT="[Text]" custT="1"/>
      <dgm:spPr/>
      <dgm:t>
        <a:bodyPr/>
        <a:lstStyle/>
        <a:p>
          <a:r>
            <a:rPr lang="en-US" sz="2000" b="1" dirty="0" smtClean="0">
              <a:solidFill>
                <a:srgbClr val="FFFFFF"/>
              </a:solidFill>
            </a:rPr>
            <a:t>Geographic expansion</a:t>
          </a:r>
          <a:endParaRPr lang="en-US" sz="2000" b="1" dirty="0">
            <a:solidFill>
              <a:srgbClr val="FFFFFF"/>
            </a:solidFill>
          </a:endParaRPr>
        </a:p>
      </dgm:t>
    </dgm:pt>
    <dgm:pt modelId="{2F975CF5-D7E0-F54E-BBE0-E5313FC1CA67}" type="parTrans" cxnId="{4BFED2AA-9439-EE43-A8E1-77C8DF2DC451}">
      <dgm:prSet/>
      <dgm:spPr/>
      <dgm:t>
        <a:bodyPr/>
        <a:lstStyle/>
        <a:p>
          <a:endParaRPr lang="en-US"/>
        </a:p>
      </dgm:t>
    </dgm:pt>
    <dgm:pt modelId="{CF36965D-CD08-5A48-B76F-4FB3056E847D}" type="sibTrans" cxnId="{4BFED2AA-9439-EE43-A8E1-77C8DF2DC451}">
      <dgm:prSet/>
      <dgm:spPr/>
      <dgm:t>
        <a:bodyPr/>
        <a:lstStyle/>
        <a:p>
          <a:endParaRPr lang="en-US"/>
        </a:p>
      </dgm:t>
    </dgm:pt>
    <dgm:pt modelId="{2D7142E2-D429-B943-B1F5-EDA301AEFC11}">
      <dgm:prSet phldrT="[Text]" custT="1"/>
      <dgm:spPr/>
      <dgm:t>
        <a:bodyPr/>
        <a:lstStyle/>
        <a:p>
          <a:r>
            <a:rPr lang="en-US" sz="3600" dirty="0" smtClean="0"/>
            <a:t>Growth</a:t>
          </a:r>
          <a:endParaRPr lang="en-US" sz="3600" dirty="0"/>
        </a:p>
      </dgm:t>
    </dgm:pt>
    <dgm:pt modelId="{84BF1C5F-E4A4-A444-A2E9-5DE2664953F3}" type="parTrans" cxnId="{78239841-C781-E847-A9C4-61714ED62EB9}">
      <dgm:prSet/>
      <dgm:spPr/>
      <dgm:t>
        <a:bodyPr/>
        <a:lstStyle/>
        <a:p>
          <a:endParaRPr lang="en-US"/>
        </a:p>
      </dgm:t>
    </dgm:pt>
    <dgm:pt modelId="{2AC6834A-51D3-0F4C-8079-CF67046DF3B6}" type="sibTrans" cxnId="{78239841-C781-E847-A9C4-61714ED62EB9}">
      <dgm:prSet/>
      <dgm:spPr/>
      <dgm:t>
        <a:bodyPr/>
        <a:lstStyle/>
        <a:p>
          <a:endParaRPr lang="en-US"/>
        </a:p>
      </dgm:t>
    </dgm:pt>
    <dgm:pt modelId="{435B125F-58F6-D546-BDF5-F9539FAAC8F2}" type="pres">
      <dgm:prSet presAssocID="{916EF15E-23B4-F746-8554-2516D5C33608}" presName="Name0" presStyleCnt="0">
        <dgm:presLayoutVars>
          <dgm:chMax val="4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F4AC7B5-C326-0542-BD8B-0913C69C5FC6}" type="pres">
      <dgm:prSet presAssocID="{916EF15E-23B4-F746-8554-2516D5C33608}" presName="ellipse" presStyleLbl="trBgShp" presStyleIdx="0" presStyleCnt="1" custLinFactNeighborY="18646"/>
      <dgm:spPr/>
    </dgm:pt>
    <dgm:pt modelId="{F931FED2-4BD8-8649-A186-7770F02BAA63}" type="pres">
      <dgm:prSet presAssocID="{916EF15E-23B4-F746-8554-2516D5C33608}" presName="arrow1" presStyleLbl="fgShp" presStyleIdx="0" presStyleCnt="1" custLinFactNeighborY="24650"/>
      <dgm:spPr/>
    </dgm:pt>
    <dgm:pt modelId="{8C6DE172-8B8E-8B41-BABB-1E26B74D1B12}" type="pres">
      <dgm:prSet presAssocID="{916EF15E-23B4-F746-8554-2516D5C33608}" presName="rectangle" presStyleLbl="revTx" presStyleIdx="0" presStyleCnt="1" custLinFactNeighborY="983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3449EFB-EEB5-6140-9088-B17D2557CCC9}" type="pres">
      <dgm:prSet presAssocID="{787BB331-20B8-6E43-901F-DAC18A5D903D}" presName="item1" presStyleLbl="node1" presStyleIdx="0" presStyleCnt="3" custScaleX="135699" custScaleY="11337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3A71818-AA9C-3444-AD0D-2E92EB04D503}" type="pres">
      <dgm:prSet presAssocID="{A3D3C45A-3ADA-2C4B-A5E8-4CF17C915C70}" presName="item2" presStyleLbl="node1" presStyleIdx="1" presStyleCnt="3" custScaleX="135699" custScaleY="11337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B2CBF57-CF49-5B46-BFA5-3263A12F9B20}" type="pres">
      <dgm:prSet presAssocID="{2D7142E2-D429-B943-B1F5-EDA301AEFC11}" presName="item3" presStyleLbl="node1" presStyleIdx="2" presStyleCnt="3" custScaleX="135699" custScaleY="11337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69A2855-A1AC-1347-AFE8-147443E1F4E7}" type="pres">
      <dgm:prSet presAssocID="{916EF15E-23B4-F746-8554-2516D5C33608}" presName="funnel" presStyleLbl="trAlignAcc1" presStyleIdx="0" presStyleCnt="1" custScaleX="115448" custScaleY="102251" custLinFactNeighborY="7215"/>
      <dgm:spPr/>
    </dgm:pt>
  </dgm:ptLst>
  <dgm:cxnLst>
    <dgm:cxn modelId="{72043BF8-177A-4C69-8414-DEE2AEBDB98D}" type="presOf" srcId="{2D7142E2-D429-B943-B1F5-EDA301AEFC11}" destId="{8C6DE172-8B8E-8B41-BABB-1E26B74D1B12}" srcOrd="0" destOrd="0" presId="urn:microsoft.com/office/officeart/2005/8/layout/funnel1"/>
    <dgm:cxn modelId="{B2C1B883-79D0-5349-8A8B-6114BA3415CF}" srcId="{916EF15E-23B4-F746-8554-2516D5C33608}" destId="{787BB331-20B8-6E43-901F-DAC18A5D903D}" srcOrd="1" destOrd="0" parTransId="{4377B114-119E-CE4C-8E19-A931BFB01FB4}" sibTransId="{C8BEEC70-A673-DB42-92FE-E394DFC97BC5}"/>
    <dgm:cxn modelId="{BCBF7A0B-04AB-4F5A-BF3B-92323B4BAFE2}" type="presOf" srcId="{916EF15E-23B4-F746-8554-2516D5C33608}" destId="{435B125F-58F6-D546-BDF5-F9539FAAC8F2}" srcOrd="0" destOrd="0" presId="urn:microsoft.com/office/officeart/2005/8/layout/funnel1"/>
    <dgm:cxn modelId="{78239841-C781-E847-A9C4-61714ED62EB9}" srcId="{916EF15E-23B4-F746-8554-2516D5C33608}" destId="{2D7142E2-D429-B943-B1F5-EDA301AEFC11}" srcOrd="3" destOrd="0" parTransId="{84BF1C5F-E4A4-A444-A2E9-5DE2664953F3}" sibTransId="{2AC6834A-51D3-0F4C-8079-CF67046DF3B6}"/>
    <dgm:cxn modelId="{D20BB5B6-5201-40E7-BC88-84D60D9BEDBD}" type="presOf" srcId="{787BB331-20B8-6E43-901F-DAC18A5D903D}" destId="{F3A71818-AA9C-3444-AD0D-2E92EB04D503}" srcOrd="0" destOrd="0" presId="urn:microsoft.com/office/officeart/2005/8/layout/funnel1"/>
    <dgm:cxn modelId="{4FDEE69A-8447-43C2-90B6-CF3FF5D27251}" type="presOf" srcId="{7D869D05-3B55-2745-8039-F0ED7921394C}" destId="{7B2CBF57-CF49-5B46-BFA5-3263A12F9B20}" srcOrd="0" destOrd="0" presId="urn:microsoft.com/office/officeart/2005/8/layout/funnel1"/>
    <dgm:cxn modelId="{4BFED2AA-9439-EE43-A8E1-77C8DF2DC451}" srcId="{916EF15E-23B4-F746-8554-2516D5C33608}" destId="{A3D3C45A-3ADA-2C4B-A5E8-4CF17C915C70}" srcOrd="2" destOrd="0" parTransId="{2F975CF5-D7E0-F54E-BBE0-E5313FC1CA67}" sibTransId="{CF36965D-CD08-5A48-B76F-4FB3056E847D}"/>
    <dgm:cxn modelId="{5F49FCC1-E9BD-4246-A7E1-53B1F10F95E7}" type="presOf" srcId="{A3D3C45A-3ADA-2C4B-A5E8-4CF17C915C70}" destId="{A3449EFB-EEB5-6140-9088-B17D2557CCC9}" srcOrd="0" destOrd="0" presId="urn:microsoft.com/office/officeart/2005/8/layout/funnel1"/>
    <dgm:cxn modelId="{6DAE8DF2-5365-C245-88D5-B275F8A37B3C}" srcId="{916EF15E-23B4-F746-8554-2516D5C33608}" destId="{7D869D05-3B55-2745-8039-F0ED7921394C}" srcOrd="0" destOrd="0" parTransId="{A31C360F-960B-174F-829D-2F5ABDA8B80E}" sibTransId="{A5BB272C-1A08-3949-B97F-3B39C26FC2D0}"/>
    <dgm:cxn modelId="{41563039-795D-41D2-A48B-D68909B0742A}" type="presParOf" srcId="{435B125F-58F6-D546-BDF5-F9539FAAC8F2}" destId="{BF4AC7B5-C326-0542-BD8B-0913C69C5FC6}" srcOrd="0" destOrd="0" presId="urn:microsoft.com/office/officeart/2005/8/layout/funnel1"/>
    <dgm:cxn modelId="{25D7BAB1-FC4E-4A78-9D7E-5CA2CA20E5C1}" type="presParOf" srcId="{435B125F-58F6-D546-BDF5-F9539FAAC8F2}" destId="{F931FED2-4BD8-8649-A186-7770F02BAA63}" srcOrd="1" destOrd="0" presId="urn:microsoft.com/office/officeart/2005/8/layout/funnel1"/>
    <dgm:cxn modelId="{EE30B2AD-0978-476D-BF6B-5A74430C9E02}" type="presParOf" srcId="{435B125F-58F6-D546-BDF5-F9539FAAC8F2}" destId="{8C6DE172-8B8E-8B41-BABB-1E26B74D1B12}" srcOrd="2" destOrd="0" presId="urn:microsoft.com/office/officeart/2005/8/layout/funnel1"/>
    <dgm:cxn modelId="{437EE16E-5C80-4158-A23B-F365B35E9B0C}" type="presParOf" srcId="{435B125F-58F6-D546-BDF5-F9539FAAC8F2}" destId="{A3449EFB-EEB5-6140-9088-B17D2557CCC9}" srcOrd="3" destOrd="0" presId="urn:microsoft.com/office/officeart/2005/8/layout/funnel1"/>
    <dgm:cxn modelId="{5539FE63-661A-4025-B5DE-16FCB10ECD79}" type="presParOf" srcId="{435B125F-58F6-D546-BDF5-F9539FAAC8F2}" destId="{F3A71818-AA9C-3444-AD0D-2E92EB04D503}" srcOrd="4" destOrd="0" presId="urn:microsoft.com/office/officeart/2005/8/layout/funnel1"/>
    <dgm:cxn modelId="{46B1B828-BCD3-497C-84DE-BB45AD9EB7A1}" type="presParOf" srcId="{435B125F-58F6-D546-BDF5-F9539FAAC8F2}" destId="{7B2CBF57-CF49-5B46-BFA5-3263A12F9B20}" srcOrd="5" destOrd="0" presId="urn:microsoft.com/office/officeart/2005/8/layout/funnel1"/>
    <dgm:cxn modelId="{65359AE1-020D-4E80-AE8E-9D0BBD8B0B92}" type="presParOf" srcId="{435B125F-58F6-D546-BDF5-F9539FAAC8F2}" destId="{669A2855-A1AC-1347-AFE8-147443E1F4E7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04B980-B86C-AD44-BBE3-0F1F205B4008}">
      <dsp:nvSpPr>
        <dsp:cNvPr id="0" name=""/>
        <dsp:cNvSpPr/>
      </dsp:nvSpPr>
      <dsp:spPr>
        <a:xfrm>
          <a:off x="4085" y="2033106"/>
          <a:ext cx="2163534" cy="10817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b="1" kern="1200" dirty="0" smtClean="0">
              <a:solidFill>
                <a:srgbClr val="FFFFFF"/>
              </a:solidFill>
            </a:rPr>
            <a:t>Business Model</a:t>
          </a:r>
          <a:endParaRPr lang="en-US" sz="2900" b="1" kern="1200" dirty="0">
            <a:solidFill>
              <a:srgbClr val="FFFFFF"/>
            </a:solidFill>
          </a:endParaRPr>
        </a:p>
      </dsp:txBody>
      <dsp:txXfrm>
        <a:off x="35769" y="2064790"/>
        <a:ext cx="2100166" cy="1018399"/>
      </dsp:txXfrm>
    </dsp:sp>
    <dsp:sp modelId="{6022BEDE-1123-1D4E-9F6C-0CC90EAEFC58}">
      <dsp:nvSpPr>
        <dsp:cNvPr id="0" name=""/>
        <dsp:cNvSpPr/>
      </dsp:nvSpPr>
      <dsp:spPr>
        <a:xfrm rot="2502613">
          <a:off x="2020693" y="2938144"/>
          <a:ext cx="1159264" cy="43022"/>
        </a:xfrm>
        <a:custGeom>
          <a:avLst/>
          <a:gdLst/>
          <a:ahLst/>
          <a:cxnLst/>
          <a:rect l="0" t="0" r="0" b="0"/>
          <a:pathLst>
            <a:path>
              <a:moveTo>
                <a:pt x="0" y="21511"/>
              </a:moveTo>
              <a:lnTo>
                <a:pt x="1159264" y="21511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2571344" y="2930674"/>
        <a:ext cx="57963" cy="57963"/>
      </dsp:txXfrm>
    </dsp:sp>
    <dsp:sp modelId="{4B5A1676-9A02-104B-80F3-3A8679B7613E}">
      <dsp:nvSpPr>
        <dsp:cNvPr id="0" name=""/>
        <dsp:cNvSpPr/>
      </dsp:nvSpPr>
      <dsp:spPr>
        <a:xfrm>
          <a:off x="3033032" y="2804438"/>
          <a:ext cx="2163534" cy="10817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b="1" kern="1200" dirty="0" smtClean="0">
              <a:solidFill>
                <a:srgbClr val="FFFFFF"/>
              </a:solidFill>
            </a:rPr>
            <a:t>Cost Model</a:t>
          </a:r>
          <a:endParaRPr lang="en-US" sz="2900" b="1" kern="1200" dirty="0">
            <a:solidFill>
              <a:srgbClr val="FFFFFF"/>
            </a:solidFill>
          </a:endParaRPr>
        </a:p>
      </dsp:txBody>
      <dsp:txXfrm>
        <a:off x="3064716" y="2836122"/>
        <a:ext cx="2100166" cy="1018399"/>
      </dsp:txXfrm>
    </dsp:sp>
    <dsp:sp modelId="{FFA28A68-4E2F-234D-9F00-512CA0155943}">
      <dsp:nvSpPr>
        <dsp:cNvPr id="0" name=""/>
        <dsp:cNvSpPr/>
      </dsp:nvSpPr>
      <dsp:spPr>
        <a:xfrm rot="19657733">
          <a:off x="5116950" y="3049512"/>
          <a:ext cx="1024645" cy="43022"/>
        </a:xfrm>
        <a:custGeom>
          <a:avLst/>
          <a:gdLst/>
          <a:ahLst/>
          <a:cxnLst/>
          <a:rect l="0" t="0" r="0" b="0"/>
          <a:pathLst>
            <a:path>
              <a:moveTo>
                <a:pt x="0" y="21511"/>
              </a:moveTo>
              <a:lnTo>
                <a:pt x="1024645" y="21511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5603657" y="3045407"/>
        <a:ext cx="51232" cy="51232"/>
      </dsp:txXfrm>
    </dsp:sp>
    <dsp:sp modelId="{27DADB35-86E0-C542-A6A8-80CF96D15E93}">
      <dsp:nvSpPr>
        <dsp:cNvPr id="0" name=""/>
        <dsp:cNvSpPr/>
      </dsp:nvSpPr>
      <dsp:spPr>
        <a:xfrm>
          <a:off x="6061980" y="2255841"/>
          <a:ext cx="2163534" cy="10817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b="1" kern="1200" dirty="0" smtClean="0">
              <a:solidFill>
                <a:srgbClr val="FFFFFF"/>
              </a:solidFill>
            </a:rPr>
            <a:t>Cost of Goods Sold</a:t>
          </a:r>
          <a:endParaRPr lang="en-US" sz="2900" b="1" kern="1200" dirty="0">
            <a:solidFill>
              <a:srgbClr val="FFFFFF"/>
            </a:solidFill>
          </a:endParaRPr>
        </a:p>
      </dsp:txBody>
      <dsp:txXfrm>
        <a:off x="6093664" y="2287525"/>
        <a:ext cx="2100166" cy="1018399"/>
      </dsp:txXfrm>
    </dsp:sp>
    <dsp:sp modelId="{B9DECE35-AE4F-8346-B5D8-2189D1E01EE4}">
      <dsp:nvSpPr>
        <dsp:cNvPr id="0" name=""/>
        <dsp:cNvSpPr/>
      </dsp:nvSpPr>
      <dsp:spPr>
        <a:xfrm rot="2093024">
          <a:off x="5101784" y="3625488"/>
          <a:ext cx="1054978" cy="43022"/>
        </a:xfrm>
        <a:custGeom>
          <a:avLst/>
          <a:gdLst/>
          <a:ahLst/>
          <a:cxnLst/>
          <a:rect l="0" t="0" r="0" b="0"/>
          <a:pathLst>
            <a:path>
              <a:moveTo>
                <a:pt x="0" y="21511"/>
              </a:moveTo>
              <a:lnTo>
                <a:pt x="1054978" y="21511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5602899" y="3620625"/>
        <a:ext cx="52748" cy="52748"/>
      </dsp:txXfrm>
    </dsp:sp>
    <dsp:sp modelId="{FEAD0FFB-DA8B-0B4B-AACF-AE7ED662D27B}">
      <dsp:nvSpPr>
        <dsp:cNvPr id="0" name=""/>
        <dsp:cNvSpPr/>
      </dsp:nvSpPr>
      <dsp:spPr>
        <a:xfrm>
          <a:off x="6061980" y="3407793"/>
          <a:ext cx="2163534" cy="10817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b="1" kern="1200" dirty="0" smtClean="0">
              <a:solidFill>
                <a:srgbClr val="FFFFFF"/>
              </a:solidFill>
            </a:rPr>
            <a:t>Operating Expenses</a:t>
          </a:r>
          <a:endParaRPr lang="en-US" sz="2900" b="1" kern="1200" dirty="0">
            <a:solidFill>
              <a:srgbClr val="FFFFFF"/>
            </a:solidFill>
          </a:endParaRPr>
        </a:p>
      </dsp:txBody>
      <dsp:txXfrm>
        <a:off x="6093664" y="3439477"/>
        <a:ext cx="2100166" cy="1018399"/>
      </dsp:txXfrm>
    </dsp:sp>
    <dsp:sp modelId="{2E112D10-16C4-F548-832A-2273979C2558}">
      <dsp:nvSpPr>
        <dsp:cNvPr id="0" name=""/>
        <dsp:cNvSpPr/>
      </dsp:nvSpPr>
      <dsp:spPr>
        <a:xfrm rot="18581815">
          <a:off x="1922873" y="2031223"/>
          <a:ext cx="1354904" cy="43022"/>
        </a:xfrm>
        <a:custGeom>
          <a:avLst/>
          <a:gdLst/>
          <a:ahLst/>
          <a:cxnLst/>
          <a:rect l="0" t="0" r="0" b="0"/>
          <a:pathLst>
            <a:path>
              <a:moveTo>
                <a:pt x="0" y="21511"/>
              </a:moveTo>
              <a:lnTo>
                <a:pt x="1354904" y="21511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2566453" y="2018862"/>
        <a:ext cx="67745" cy="67745"/>
      </dsp:txXfrm>
    </dsp:sp>
    <dsp:sp modelId="{3878B572-FC4C-EA43-B7DF-00A5D706B1E3}">
      <dsp:nvSpPr>
        <dsp:cNvPr id="0" name=""/>
        <dsp:cNvSpPr/>
      </dsp:nvSpPr>
      <dsp:spPr>
        <a:xfrm>
          <a:off x="3033032" y="990596"/>
          <a:ext cx="2163534" cy="10817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b="1" kern="1200" dirty="0" smtClean="0">
              <a:solidFill>
                <a:srgbClr val="FFFFFF"/>
              </a:solidFill>
            </a:rPr>
            <a:t>Revenue Model</a:t>
          </a:r>
          <a:endParaRPr lang="en-US" sz="2900" b="1" kern="1200" dirty="0">
            <a:solidFill>
              <a:srgbClr val="FFFFFF"/>
            </a:solidFill>
          </a:endParaRPr>
        </a:p>
      </dsp:txBody>
      <dsp:txXfrm>
        <a:off x="3064716" y="1022280"/>
        <a:ext cx="2100166" cy="1018399"/>
      </dsp:txXfrm>
    </dsp:sp>
    <dsp:sp modelId="{CC7880E0-507E-0945-9912-AA6D33BF82DA}">
      <dsp:nvSpPr>
        <dsp:cNvPr id="0" name=""/>
        <dsp:cNvSpPr/>
      </dsp:nvSpPr>
      <dsp:spPr>
        <a:xfrm>
          <a:off x="5196567" y="1509968"/>
          <a:ext cx="865413" cy="43022"/>
        </a:xfrm>
        <a:custGeom>
          <a:avLst/>
          <a:gdLst/>
          <a:ahLst/>
          <a:cxnLst/>
          <a:rect l="0" t="0" r="0" b="0"/>
          <a:pathLst>
            <a:path>
              <a:moveTo>
                <a:pt x="0" y="21511"/>
              </a:moveTo>
              <a:lnTo>
                <a:pt x="865413" y="21511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5607638" y="1509844"/>
        <a:ext cx="43270" cy="43270"/>
      </dsp:txXfrm>
    </dsp:sp>
    <dsp:sp modelId="{187EB755-483C-E94F-B3F3-7C564EEE04F0}">
      <dsp:nvSpPr>
        <dsp:cNvPr id="0" name=""/>
        <dsp:cNvSpPr/>
      </dsp:nvSpPr>
      <dsp:spPr>
        <a:xfrm>
          <a:off x="6061980" y="990596"/>
          <a:ext cx="2163534" cy="10817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b="1" kern="1200" dirty="0" smtClean="0">
              <a:solidFill>
                <a:srgbClr val="FFFFFF"/>
              </a:solidFill>
            </a:rPr>
            <a:t>Sources of Revenue</a:t>
          </a:r>
          <a:endParaRPr lang="en-US" sz="2900" b="1" kern="1200" dirty="0">
            <a:solidFill>
              <a:srgbClr val="FFFFFF"/>
            </a:solidFill>
          </a:endParaRPr>
        </a:p>
      </dsp:txBody>
      <dsp:txXfrm>
        <a:off x="6093664" y="1022280"/>
        <a:ext cx="2100166" cy="10183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3B3DAD-56EB-1C40-BB13-763A006AC119}">
      <dsp:nvSpPr>
        <dsp:cNvPr id="0" name=""/>
        <dsp:cNvSpPr/>
      </dsp:nvSpPr>
      <dsp:spPr>
        <a:xfrm>
          <a:off x="4903146" y="916616"/>
          <a:ext cx="1707802" cy="7899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800" kern="1200" dirty="0" smtClean="0"/>
            <a:t>Faster</a:t>
          </a:r>
          <a:endParaRPr lang="en-US" sz="3700" kern="1200" dirty="0"/>
        </a:p>
      </dsp:txBody>
      <dsp:txXfrm>
        <a:off x="4903146" y="916616"/>
        <a:ext cx="1707802" cy="789944"/>
      </dsp:txXfrm>
    </dsp:sp>
    <dsp:sp modelId="{4D79B5BF-1D93-9F49-9FEC-E4B24A002A99}">
      <dsp:nvSpPr>
        <dsp:cNvPr id="0" name=""/>
        <dsp:cNvSpPr/>
      </dsp:nvSpPr>
      <dsp:spPr>
        <a:xfrm>
          <a:off x="2227145" y="-124378"/>
          <a:ext cx="4034392" cy="4034392"/>
        </a:xfrm>
        <a:prstGeom prst="circularArrow">
          <a:avLst>
            <a:gd name="adj1" fmla="val 8255"/>
            <a:gd name="adj2" fmla="val 576638"/>
            <a:gd name="adj3" fmla="val 3126376"/>
            <a:gd name="adj4" fmla="val 21212621"/>
            <a:gd name="adj5" fmla="val 963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FC7E756-8A44-4F4A-9A53-45872855AB57}">
      <dsp:nvSpPr>
        <dsp:cNvPr id="0" name=""/>
        <dsp:cNvSpPr/>
      </dsp:nvSpPr>
      <dsp:spPr>
        <a:xfrm>
          <a:off x="3321399" y="2665762"/>
          <a:ext cx="1707802" cy="17078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800" kern="1200" dirty="0" smtClean="0"/>
            <a:t>Better</a:t>
          </a:r>
          <a:endParaRPr lang="en-US" sz="3700" kern="1200" dirty="0"/>
        </a:p>
      </dsp:txBody>
      <dsp:txXfrm>
        <a:off x="3321399" y="2665762"/>
        <a:ext cx="1707802" cy="1707802"/>
      </dsp:txXfrm>
    </dsp:sp>
    <dsp:sp modelId="{4F392097-4404-9447-8F32-8F6E6B2D20DB}">
      <dsp:nvSpPr>
        <dsp:cNvPr id="0" name=""/>
        <dsp:cNvSpPr/>
      </dsp:nvSpPr>
      <dsp:spPr>
        <a:xfrm>
          <a:off x="2128436" y="-306232"/>
          <a:ext cx="4034392" cy="4034392"/>
        </a:xfrm>
        <a:prstGeom prst="circularArrow">
          <a:avLst>
            <a:gd name="adj1" fmla="val 8255"/>
            <a:gd name="adj2" fmla="val 576638"/>
            <a:gd name="adj3" fmla="val 10455989"/>
            <a:gd name="adj4" fmla="val 7190474"/>
            <a:gd name="adj5" fmla="val 9630"/>
          </a:avLst>
        </a:prstGeom>
        <a:gradFill rotWithShape="0">
          <a:gsLst>
            <a:gs pos="0">
              <a:schemeClr val="accent4">
                <a:hueOff val="-2232385"/>
                <a:satOff val="13449"/>
                <a:lumOff val="1078"/>
                <a:alphaOff val="0"/>
                <a:shade val="51000"/>
                <a:satMod val="130000"/>
              </a:schemeClr>
            </a:gs>
            <a:gs pos="80000">
              <a:schemeClr val="accent4">
                <a:hueOff val="-2232385"/>
                <a:satOff val="13449"/>
                <a:lumOff val="1078"/>
                <a:alphaOff val="0"/>
                <a:shade val="93000"/>
                <a:satMod val="130000"/>
              </a:schemeClr>
            </a:gs>
            <a:gs pos="100000">
              <a:schemeClr val="accent4">
                <a:hueOff val="-2232385"/>
                <a:satOff val="13449"/>
                <a:lumOff val="107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0715222-5ED3-DD48-8AB8-BE13C9C48F40}">
      <dsp:nvSpPr>
        <dsp:cNvPr id="0" name=""/>
        <dsp:cNvSpPr/>
      </dsp:nvSpPr>
      <dsp:spPr>
        <a:xfrm>
          <a:off x="1347404" y="868363"/>
          <a:ext cx="2538785" cy="7305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800" kern="1200" dirty="0" smtClean="0"/>
            <a:t>Cheaper</a:t>
          </a:r>
          <a:endParaRPr lang="en-US" sz="3700" kern="1200" dirty="0"/>
        </a:p>
      </dsp:txBody>
      <dsp:txXfrm>
        <a:off x="1347404" y="868363"/>
        <a:ext cx="2538785" cy="730598"/>
      </dsp:txXfrm>
    </dsp:sp>
    <dsp:sp modelId="{25626AA2-C1F3-F64E-914B-862B4C76D000}">
      <dsp:nvSpPr>
        <dsp:cNvPr id="0" name=""/>
        <dsp:cNvSpPr/>
      </dsp:nvSpPr>
      <dsp:spPr>
        <a:xfrm>
          <a:off x="2124752" y="-127834"/>
          <a:ext cx="4034392" cy="4034392"/>
        </a:xfrm>
        <a:prstGeom prst="circularArrow">
          <a:avLst>
            <a:gd name="adj1" fmla="val 8255"/>
            <a:gd name="adj2" fmla="val 576638"/>
            <a:gd name="adj3" fmla="val 18865608"/>
            <a:gd name="adj4" fmla="val 13083168"/>
            <a:gd name="adj5" fmla="val 9630"/>
          </a:avLst>
        </a:prstGeom>
        <a:gradFill rotWithShape="0">
          <a:gsLst>
            <a:gs pos="0">
              <a:schemeClr val="accent4">
                <a:hueOff val="-4464770"/>
                <a:satOff val="26899"/>
                <a:lumOff val="2156"/>
                <a:alphaOff val="0"/>
                <a:shade val="51000"/>
                <a:satMod val="130000"/>
              </a:schemeClr>
            </a:gs>
            <a:gs pos="80000">
              <a:schemeClr val="accent4">
                <a:hueOff val="-4464770"/>
                <a:satOff val="26899"/>
                <a:lumOff val="2156"/>
                <a:alphaOff val="0"/>
                <a:shade val="93000"/>
                <a:satMod val="130000"/>
              </a:schemeClr>
            </a:gs>
            <a:gs pos="100000">
              <a:schemeClr val="accent4">
                <a:hueOff val="-4464770"/>
                <a:satOff val="26899"/>
                <a:lumOff val="215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B0832D-702A-B246-AA62-B625DC089DC4}">
      <dsp:nvSpPr>
        <dsp:cNvPr id="0" name=""/>
        <dsp:cNvSpPr/>
      </dsp:nvSpPr>
      <dsp:spPr>
        <a:xfrm>
          <a:off x="1836419" y="45719"/>
          <a:ext cx="2194560" cy="2194560"/>
        </a:xfrm>
        <a:prstGeom prst="ellipse">
          <a:avLst/>
        </a:prstGeom>
        <a:gradFill rotWithShape="0">
          <a:gsLst>
            <a:gs pos="0">
              <a:schemeClr val="accent4">
                <a:alpha val="5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alpha val="5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alpha val="5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Values</a:t>
          </a:r>
          <a:endParaRPr lang="en-US" sz="2400" kern="1200" dirty="0"/>
        </a:p>
      </dsp:txBody>
      <dsp:txXfrm>
        <a:off x="2129027" y="429767"/>
        <a:ext cx="1609344" cy="987551"/>
      </dsp:txXfrm>
    </dsp:sp>
    <dsp:sp modelId="{B3AA6626-53C7-E640-AED2-203E12827B6C}">
      <dsp:nvSpPr>
        <dsp:cNvPr id="0" name=""/>
        <dsp:cNvSpPr/>
      </dsp:nvSpPr>
      <dsp:spPr>
        <a:xfrm>
          <a:off x="2628290" y="1417319"/>
          <a:ext cx="2194560" cy="2194560"/>
        </a:xfrm>
        <a:prstGeom prst="ellipse">
          <a:avLst/>
        </a:prstGeom>
        <a:gradFill rotWithShape="0">
          <a:gsLst>
            <a:gs pos="0">
              <a:schemeClr val="accent4">
                <a:alpha val="50000"/>
                <a:hueOff val="-2232385"/>
                <a:satOff val="13449"/>
                <a:lumOff val="1078"/>
                <a:alphaOff val="0"/>
                <a:tint val="50000"/>
                <a:satMod val="300000"/>
              </a:schemeClr>
            </a:gs>
            <a:gs pos="35000">
              <a:schemeClr val="accent4">
                <a:alpha val="50000"/>
                <a:hueOff val="-2232385"/>
                <a:satOff val="13449"/>
                <a:lumOff val="1078"/>
                <a:alphaOff val="0"/>
                <a:tint val="37000"/>
                <a:satMod val="300000"/>
              </a:schemeClr>
            </a:gs>
            <a:gs pos="100000">
              <a:schemeClr val="accent4">
                <a:alpha val="50000"/>
                <a:hueOff val="-2232385"/>
                <a:satOff val="13449"/>
                <a:lumOff val="1078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Structure</a:t>
          </a:r>
          <a:endParaRPr lang="en-US" sz="2400" kern="1200" dirty="0"/>
        </a:p>
      </dsp:txBody>
      <dsp:txXfrm>
        <a:off x="3299460" y="1984247"/>
        <a:ext cx="1316736" cy="1207008"/>
      </dsp:txXfrm>
    </dsp:sp>
    <dsp:sp modelId="{988453AD-6476-EA42-B3B8-8E5BBC5C630E}">
      <dsp:nvSpPr>
        <dsp:cNvPr id="0" name=""/>
        <dsp:cNvSpPr/>
      </dsp:nvSpPr>
      <dsp:spPr>
        <a:xfrm>
          <a:off x="1044549" y="1417319"/>
          <a:ext cx="2194560" cy="2194560"/>
        </a:xfrm>
        <a:prstGeom prst="ellipse">
          <a:avLst/>
        </a:prstGeom>
        <a:gradFill rotWithShape="0">
          <a:gsLst>
            <a:gs pos="0">
              <a:schemeClr val="accent4">
                <a:alpha val="50000"/>
                <a:hueOff val="-4464770"/>
                <a:satOff val="26899"/>
                <a:lumOff val="2156"/>
                <a:alphaOff val="0"/>
                <a:tint val="50000"/>
                <a:satMod val="300000"/>
              </a:schemeClr>
            </a:gs>
            <a:gs pos="35000">
              <a:schemeClr val="accent4">
                <a:alpha val="50000"/>
                <a:hueOff val="-4464770"/>
                <a:satOff val="26899"/>
                <a:lumOff val="2156"/>
                <a:alphaOff val="0"/>
                <a:tint val="37000"/>
                <a:satMod val="300000"/>
              </a:schemeClr>
            </a:gs>
            <a:gs pos="100000">
              <a:schemeClr val="accent4">
                <a:alpha val="50000"/>
                <a:hueOff val="-4464770"/>
                <a:satOff val="26899"/>
                <a:lumOff val="2156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Selection</a:t>
          </a:r>
          <a:endParaRPr lang="en-US" sz="2400" kern="1200" dirty="0"/>
        </a:p>
      </dsp:txBody>
      <dsp:txXfrm>
        <a:off x="1251203" y="1984247"/>
        <a:ext cx="1316736" cy="120700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4AC7B5-C326-0542-BD8B-0913C69C5FC6}">
      <dsp:nvSpPr>
        <dsp:cNvPr id="0" name=""/>
        <dsp:cNvSpPr/>
      </dsp:nvSpPr>
      <dsp:spPr>
        <a:xfrm>
          <a:off x="2204370" y="457194"/>
          <a:ext cx="3809047" cy="1322832"/>
        </a:xfrm>
        <a:prstGeom prst="ellipse">
          <a:avLst/>
        </a:prstGeom>
        <a:solidFill>
          <a:schemeClr val="accent4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z="-190500" extrusionH="12700"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31FED2-4BD8-8649-A186-7770F02BAA63}">
      <dsp:nvSpPr>
        <dsp:cNvPr id="0" name=""/>
        <dsp:cNvSpPr/>
      </dsp:nvSpPr>
      <dsp:spPr>
        <a:xfrm>
          <a:off x="3745706" y="3566162"/>
          <a:ext cx="738187" cy="472439"/>
        </a:xfrm>
        <a:prstGeom prst="downArrow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C6DE172-8B8E-8B41-BABB-1E26B74D1B12}">
      <dsp:nvSpPr>
        <dsp:cNvPr id="0" name=""/>
        <dsp:cNvSpPr/>
      </dsp:nvSpPr>
      <dsp:spPr>
        <a:xfrm>
          <a:off x="2343150" y="3838574"/>
          <a:ext cx="3543300" cy="8858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 smtClean="0"/>
            <a:t>Growth</a:t>
          </a:r>
          <a:endParaRPr lang="en-US" sz="3600" kern="1200" dirty="0"/>
        </a:p>
      </dsp:txBody>
      <dsp:txXfrm>
        <a:off x="2343150" y="3838574"/>
        <a:ext cx="3543300" cy="885825"/>
      </dsp:txXfrm>
    </dsp:sp>
    <dsp:sp modelId="{A3449EFB-EEB5-6140-9088-B17D2557CCC9}">
      <dsp:nvSpPr>
        <dsp:cNvPr id="0" name=""/>
        <dsp:cNvSpPr/>
      </dsp:nvSpPr>
      <dsp:spPr>
        <a:xfrm>
          <a:off x="3352037" y="1546710"/>
          <a:ext cx="1803083" cy="1506389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solidFill>
                <a:srgbClr val="FFFFFF"/>
              </a:solidFill>
            </a:rPr>
            <a:t>Geographic expansion</a:t>
          </a:r>
          <a:endParaRPr lang="en-US" sz="2000" b="1" kern="1200" dirty="0">
            <a:solidFill>
              <a:srgbClr val="FFFFFF"/>
            </a:solidFill>
          </a:endParaRPr>
        </a:p>
      </dsp:txBody>
      <dsp:txXfrm>
        <a:off x="3616092" y="1767316"/>
        <a:ext cx="1274973" cy="1065177"/>
      </dsp:txXfrm>
    </dsp:sp>
    <dsp:sp modelId="{F3A71818-AA9C-3444-AD0D-2E92EB04D503}">
      <dsp:nvSpPr>
        <dsp:cNvPr id="0" name=""/>
        <dsp:cNvSpPr/>
      </dsp:nvSpPr>
      <dsp:spPr>
        <a:xfrm>
          <a:off x="2401251" y="549861"/>
          <a:ext cx="1803083" cy="1506389"/>
        </a:xfrm>
        <a:prstGeom prst="ellipse">
          <a:avLst/>
        </a:prstGeom>
        <a:gradFill rotWithShape="0">
          <a:gsLst>
            <a:gs pos="0">
              <a:schemeClr val="accent4">
                <a:hueOff val="-2232385"/>
                <a:satOff val="13449"/>
                <a:lumOff val="1078"/>
                <a:alphaOff val="0"/>
                <a:shade val="51000"/>
                <a:satMod val="130000"/>
              </a:schemeClr>
            </a:gs>
            <a:gs pos="80000">
              <a:schemeClr val="accent4">
                <a:hueOff val="-2232385"/>
                <a:satOff val="13449"/>
                <a:lumOff val="1078"/>
                <a:alphaOff val="0"/>
                <a:shade val="93000"/>
                <a:satMod val="130000"/>
              </a:schemeClr>
            </a:gs>
            <a:gs pos="100000">
              <a:schemeClr val="accent4">
                <a:hueOff val="-2232385"/>
                <a:satOff val="13449"/>
                <a:lumOff val="107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solidFill>
                <a:srgbClr val="FFFFFF"/>
              </a:solidFill>
            </a:rPr>
            <a:t>Product mix expansion</a:t>
          </a:r>
          <a:endParaRPr lang="en-US" sz="2000" b="1" kern="1200" dirty="0">
            <a:solidFill>
              <a:srgbClr val="FFFFFF"/>
            </a:solidFill>
          </a:endParaRPr>
        </a:p>
      </dsp:txBody>
      <dsp:txXfrm>
        <a:off x="2665306" y="770467"/>
        <a:ext cx="1274973" cy="1065177"/>
      </dsp:txXfrm>
    </dsp:sp>
    <dsp:sp modelId="{7B2CBF57-CF49-5B46-BFA5-3263A12F9B20}">
      <dsp:nvSpPr>
        <dsp:cNvPr id="0" name=""/>
        <dsp:cNvSpPr/>
      </dsp:nvSpPr>
      <dsp:spPr>
        <a:xfrm>
          <a:off x="3759516" y="228602"/>
          <a:ext cx="1803083" cy="1506389"/>
        </a:xfrm>
        <a:prstGeom prst="ellipse">
          <a:avLst/>
        </a:prstGeom>
        <a:gradFill rotWithShape="0">
          <a:gsLst>
            <a:gs pos="0">
              <a:schemeClr val="accent4">
                <a:hueOff val="-4464770"/>
                <a:satOff val="26899"/>
                <a:lumOff val="2156"/>
                <a:alphaOff val="0"/>
                <a:shade val="51000"/>
                <a:satMod val="130000"/>
              </a:schemeClr>
            </a:gs>
            <a:gs pos="80000">
              <a:schemeClr val="accent4">
                <a:hueOff val="-4464770"/>
                <a:satOff val="26899"/>
                <a:lumOff val="2156"/>
                <a:alphaOff val="0"/>
                <a:shade val="93000"/>
                <a:satMod val="130000"/>
              </a:schemeClr>
            </a:gs>
            <a:gs pos="100000">
              <a:schemeClr val="accent4">
                <a:hueOff val="-4464770"/>
                <a:satOff val="26899"/>
                <a:lumOff val="215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solidFill>
                <a:srgbClr val="FFFFFF"/>
              </a:solidFill>
            </a:rPr>
            <a:t>Franchising</a:t>
          </a:r>
          <a:endParaRPr lang="en-US" sz="2000" b="1" kern="1200" dirty="0">
            <a:solidFill>
              <a:srgbClr val="FFFFFF"/>
            </a:solidFill>
          </a:endParaRPr>
        </a:p>
      </dsp:txBody>
      <dsp:txXfrm>
        <a:off x="4023571" y="449208"/>
        <a:ext cx="1274973" cy="1065177"/>
      </dsp:txXfrm>
    </dsp:sp>
    <dsp:sp modelId="{669A2855-A1AC-1347-AFE8-147443E1F4E7}">
      <dsp:nvSpPr>
        <dsp:cNvPr id="0" name=""/>
        <dsp:cNvSpPr/>
      </dsp:nvSpPr>
      <dsp:spPr>
        <a:xfrm>
          <a:off x="1728576" y="249522"/>
          <a:ext cx="4772447" cy="3381522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0.41361</cdr:x>
      <cdr:y>0.33287</cdr:y>
    </cdr:from>
    <cdr:to>
      <cdr:x>0.49738</cdr:x>
      <cdr:y>0.39441</cdr:y>
    </cdr:to>
    <cdr:sp macro="" textlink="">
      <cdr:nvSpPr>
        <cdr:cNvPr id="2" name="Rectangle 1"/>
        <cdr:cNvSpPr/>
      </cdr:nvSpPr>
      <cdr:spPr>
        <a:xfrm xmlns:a="http://schemas.openxmlformats.org/drawingml/2006/main">
          <a:off x="3762375" y="1648692"/>
          <a:ext cx="762000" cy="304799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ot="0" spcFirstLastPara="0" vert="horz" wrap="square" lIns="91440" tIns="45720" rIns="91440" bIns="45720" numCol="1" spcCol="0" rtlCol="0" fromWordArt="0" anchor="ctr" anchorCtr="0" forceAA="0" compatLnSpc="1">
          <a:prstTxWarp prst="textNoShape">
            <a:avLst/>
          </a:prstTxWarp>
          <a:noAutofit/>
        </a:bodyPr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dirty="0" smtClean="0">
              <a:solidFill>
                <a:schemeClr val="tx1"/>
              </a:solidFill>
            </a:rPr>
            <a:t>24.5</a:t>
          </a:r>
          <a:endParaRPr lang="en-US" dirty="0">
            <a:solidFill>
              <a:schemeClr val="tx1"/>
            </a:solidFill>
          </a:endParaRPr>
        </a:p>
      </cdr:txBody>
    </cdr:sp>
  </cdr:relSizeAnchor>
  <cdr:relSizeAnchor xmlns:cdr="http://schemas.openxmlformats.org/drawingml/2006/chartDrawing">
    <cdr:from>
      <cdr:x>0.27425</cdr:x>
      <cdr:y>0.36466</cdr:y>
    </cdr:from>
    <cdr:to>
      <cdr:x>0.35802</cdr:x>
      <cdr:y>0.43217</cdr:y>
    </cdr:to>
    <cdr:sp macro="" textlink="">
      <cdr:nvSpPr>
        <cdr:cNvPr id="3" name="Rectangle 2"/>
        <cdr:cNvSpPr/>
      </cdr:nvSpPr>
      <cdr:spPr>
        <a:xfrm xmlns:a="http://schemas.openxmlformats.org/drawingml/2006/main">
          <a:off x="2494684" y="1806149"/>
          <a:ext cx="762000" cy="334378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ot="0" spcFirstLastPara="0" vert="horz" wrap="square" lIns="91440" tIns="45720" rIns="91440" bIns="45720" numCol="1" spcCol="0" rtlCol="0" fromWordArt="0" anchor="ctr" anchorCtr="0" forceAA="0" compatLnSpc="1">
          <a:prstTxWarp prst="textNoShape">
            <a:avLst/>
          </a:prstTxWarp>
          <a:noAutofit/>
        </a:bodyPr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dirty="0" smtClean="0">
              <a:solidFill>
                <a:schemeClr val="tx1"/>
              </a:solidFill>
            </a:rPr>
            <a:t>19.2</a:t>
          </a:r>
          <a:endParaRPr lang="en-US" dirty="0">
            <a:solidFill>
              <a:schemeClr val="tx1"/>
            </a:solidFill>
          </a:endParaRPr>
        </a:p>
      </cdr:txBody>
    </cdr:sp>
  </cdr:relSizeAnchor>
  <cdr:relSizeAnchor xmlns:cdr="http://schemas.openxmlformats.org/drawingml/2006/chartDrawing">
    <cdr:from>
      <cdr:x>0.54231</cdr:x>
      <cdr:y>0.26154</cdr:y>
    </cdr:from>
    <cdr:to>
      <cdr:x>0.62608</cdr:x>
      <cdr:y>0.33846</cdr:y>
    </cdr:to>
    <cdr:sp macro="" textlink="">
      <cdr:nvSpPr>
        <cdr:cNvPr id="4" name="Rectangle 3"/>
        <cdr:cNvSpPr/>
      </cdr:nvSpPr>
      <cdr:spPr>
        <a:xfrm xmlns:a="http://schemas.openxmlformats.org/drawingml/2006/main">
          <a:off x="4933084" y="1295400"/>
          <a:ext cx="762000" cy="380999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ot="0" spcFirstLastPara="0" vert="horz" wrap="square" lIns="91440" tIns="45720" rIns="91440" bIns="45720" numCol="1" spcCol="0" rtlCol="0" fromWordArt="0" anchor="ctr" anchorCtr="0" forceAA="0" compatLnSpc="1">
          <a:prstTxWarp prst="textNoShape">
            <a:avLst/>
          </a:prstTxWarp>
          <a:noAutofit/>
        </a:bodyPr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dirty="0" smtClean="0">
              <a:solidFill>
                <a:schemeClr val="tx1"/>
              </a:solidFill>
            </a:rPr>
            <a:t>34.2</a:t>
          </a:r>
          <a:endParaRPr lang="en-US" dirty="0">
            <a:solidFill>
              <a:schemeClr val="tx1"/>
            </a:solidFill>
          </a:endParaRPr>
        </a:p>
      </cdr:txBody>
    </cdr:sp>
  </cdr:relSizeAnchor>
  <cdr:relSizeAnchor xmlns:cdr="http://schemas.openxmlformats.org/drawingml/2006/chartDrawing">
    <cdr:from>
      <cdr:x>0.55069</cdr:x>
      <cdr:y>0.78951</cdr:y>
    </cdr:from>
    <cdr:to>
      <cdr:x>0.63446</cdr:x>
      <cdr:y>0.85105</cdr:y>
    </cdr:to>
    <cdr:sp macro="" textlink="">
      <cdr:nvSpPr>
        <cdr:cNvPr id="5" name="Rectangle 4"/>
        <cdr:cNvSpPr/>
      </cdr:nvSpPr>
      <cdr:spPr>
        <a:xfrm xmlns:a="http://schemas.openxmlformats.org/drawingml/2006/main">
          <a:off x="5009284" y="3910445"/>
          <a:ext cx="762000" cy="304800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ot="0" spcFirstLastPara="0" vert="horz" wrap="square" lIns="91440" tIns="45720" rIns="91440" bIns="45720" numCol="1" spcCol="0" rtlCol="0" fromWordArt="0" anchor="ctr" anchorCtr="0" forceAA="0" compatLnSpc="1">
          <a:prstTxWarp prst="textNoShape">
            <a:avLst/>
          </a:prstTxWarp>
          <a:noAutofit/>
        </a:bodyPr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dirty="0" smtClean="0">
              <a:solidFill>
                <a:schemeClr val="tx1"/>
              </a:solidFill>
            </a:rPr>
            <a:t>(32.4)</a:t>
          </a:r>
          <a:endParaRPr lang="en-US" dirty="0">
            <a:solidFill>
              <a:schemeClr val="tx1"/>
            </a:solidFill>
          </a:endParaRPr>
        </a:p>
      </cdr:txBody>
    </cdr:sp>
  </cdr:relSizeAnchor>
  <cdr:relSizeAnchor xmlns:cdr="http://schemas.openxmlformats.org/drawingml/2006/chartDrawing">
    <cdr:from>
      <cdr:x>0.67853</cdr:x>
      <cdr:y>0.89231</cdr:y>
    </cdr:from>
    <cdr:to>
      <cdr:x>0.7623</cdr:x>
      <cdr:y>0.95385</cdr:y>
    </cdr:to>
    <cdr:sp macro="" textlink="">
      <cdr:nvSpPr>
        <cdr:cNvPr id="6" name="Rectangle 5"/>
        <cdr:cNvSpPr/>
      </cdr:nvSpPr>
      <cdr:spPr>
        <a:xfrm xmlns:a="http://schemas.openxmlformats.org/drawingml/2006/main">
          <a:off x="6172200" y="4419600"/>
          <a:ext cx="762000" cy="304800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ot="0" spcFirstLastPara="0" vert="horz" wrap="square" lIns="91440" tIns="45720" rIns="91440" bIns="45720" numCol="1" spcCol="0" rtlCol="0" fromWordArt="0" anchor="ctr" anchorCtr="0" forceAA="0" compatLnSpc="1">
          <a:prstTxWarp prst="textNoShape">
            <a:avLst/>
          </a:prstTxWarp>
          <a:noAutofit/>
        </a:bodyPr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dirty="0" smtClean="0">
              <a:solidFill>
                <a:schemeClr val="tx1"/>
              </a:solidFill>
            </a:rPr>
            <a:t>(46.7)</a:t>
          </a:r>
          <a:endParaRPr lang="en-US" dirty="0">
            <a:solidFill>
              <a:schemeClr val="tx1"/>
            </a:solidFill>
          </a:endParaRP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2629AD-0743-4235-B183-5043A3A889DA}" type="datetimeFigureOut">
              <a:rPr lang="en-US" smtClean="0"/>
              <a:t>3/2/2015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C06CE5-B2E7-4CF2-AD0F-1C959D39E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9456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B3FA2-E9CD-4A8F-AF2A-BB3421F84744}" type="datetimeFigureOut">
              <a:rPr lang="en-US" smtClean="0"/>
              <a:t>3/2/2015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7EF4E9-A616-437F-9247-EF46AEF96A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90496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7EF4E9-A616-437F-9247-EF46AEF96A22}" type="slidenum">
              <a:rPr lang="en-US" smtClean="0"/>
              <a:t>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493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993F4-8DDC-4B37-ABB2-AB5EF86B88D0}" type="datetime1">
              <a:rPr lang="en-US" smtClean="0"/>
              <a:t>3/2/2015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615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3D26C-0FCF-4A73-B547-BC120251D3C5}" type="datetime1">
              <a:rPr lang="en-US" smtClean="0"/>
              <a:t>3/2/2015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946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8C5FA-CEB6-4530-99D5-8FD03DB116D9}" type="datetime1">
              <a:rPr lang="en-US" smtClean="0"/>
              <a:t>3/2/2015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6347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80F28-F275-404A-9D1E-41C11C4A6B0A}" type="datetime1">
              <a:rPr lang="en-US" smtClean="0"/>
              <a:t>3/2/2015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615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3E9FA-55A6-4C31-9F6B-EE9CB95F5ADE}" type="datetime1">
              <a:rPr lang="en-US" smtClean="0"/>
              <a:t>3/2/2015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827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46CE5-6DBE-429F-8CD0-C8B993D5464B}" type="datetime1">
              <a:rPr lang="en-US" smtClean="0"/>
              <a:t>3/2/2015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C045C-59BC-3344-B24A-27B1615062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579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6B7D7-C371-4971-935D-245FF1BF4AF8}" type="datetime1">
              <a:rPr lang="en-US" smtClean="0"/>
              <a:t>3/2/2015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015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082F-881C-4F43-964D-8F78F77E51D3}" type="datetime1">
              <a:rPr lang="en-US" smtClean="0"/>
              <a:t>3/2/2015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779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68EB1-78EA-4588-88C6-B91580D1240F}" type="datetime1">
              <a:rPr lang="en-US" smtClean="0"/>
              <a:t>3/2/2015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816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165FC-73DF-49EF-BC87-F0449E166CE5}" type="datetime1">
              <a:rPr lang="en-US" smtClean="0"/>
              <a:t>3/2/2015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1241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035FC-C6CE-450D-A9F0-945B497971F4}" type="datetime1">
              <a:rPr lang="en-US" smtClean="0"/>
              <a:t>3/2/2015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29883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2000" y="6400800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83874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0476E13A-5EDD-4316-998F-F3876866691C}" type="datetime1">
              <a:rPr lang="en-US" smtClean="0"/>
              <a:t>3/2/2015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81750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fld id="{E0156464-0A9D-1E48-AD60-467FF3189BA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234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904179-EB2B-4A18-8979-25C5214223E0}" type="datetime1">
              <a:rPr lang="en-US" smtClean="0"/>
              <a:t>3/2/2015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2287F6-59FA-4BED-A87A-D8E031B1831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10"/>
          <p:cNvSpPr txBox="1">
            <a:spLocks/>
          </p:cNvSpPr>
          <p:nvPr userDrawn="1"/>
        </p:nvSpPr>
        <p:spPr>
          <a:xfrm>
            <a:off x="76200" y="6477000"/>
            <a:ext cx="381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00" dirty="0" err="1" smtClean="0">
                <a:solidFill>
                  <a:schemeClr val="tx1"/>
                </a:solidFill>
              </a:rPr>
              <a:t>Bygrave</a:t>
            </a:r>
            <a:r>
              <a:rPr lang="en-US" sz="1000" dirty="0" smtClean="0">
                <a:solidFill>
                  <a:schemeClr val="tx1"/>
                </a:solidFill>
              </a:rPr>
              <a:t> &amp; Zacharakis, </a:t>
            </a:r>
            <a:r>
              <a:rPr lang="en-US" sz="1000" i="1" dirty="0" smtClean="0">
                <a:solidFill>
                  <a:schemeClr val="tx1"/>
                </a:solidFill>
              </a:rPr>
              <a:t>Entrepreneurship,</a:t>
            </a:r>
            <a:r>
              <a:rPr lang="en-US" sz="1000" dirty="0" smtClean="0">
                <a:solidFill>
                  <a:schemeClr val="tx1"/>
                </a:solidFill>
              </a:rPr>
              <a:t> New York: Wiley, 2014 </a:t>
            </a:r>
            <a:r>
              <a:rPr lang="en-US" sz="1100" dirty="0" smtClean="0">
                <a:solidFill>
                  <a:schemeClr val="tx1"/>
                </a:solidFill>
              </a:rPr>
              <a:t>©</a:t>
            </a:r>
            <a:endParaRPr 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0600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8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0" y="1524000"/>
            <a:ext cx="7772400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UNDERSTANDING YOUR BUSINESS MODEL &amp; DEVELOPING STRATEGY</a:t>
            </a:r>
          </a:p>
          <a:p>
            <a:pPr algn="ctr"/>
            <a:endParaRPr 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48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Chapter 4</a:t>
            </a:r>
          </a:p>
          <a:p>
            <a:pPr algn="ctr"/>
            <a:endParaRPr lang="en-US" sz="4800" b="1" dirty="0" smtClean="0">
              <a:solidFill>
                <a:schemeClr val="tx1">
                  <a:lumMod val="85000"/>
                  <a:lumOff val="15000"/>
                </a:schemeClr>
              </a:solidFill>
              <a:latin typeface="Novecento wide Book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8730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612648" y="304800"/>
            <a:ext cx="8153400" cy="990600"/>
          </a:xfrm>
        </p:spPr>
        <p:txBody>
          <a:bodyPr>
            <a:normAutofit/>
          </a:bodyPr>
          <a:lstStyle/>
          <a:p>
            <a:r>
              <a:rPr lang="en-US" sz="4400" dirty="0" smtClean="0"/>
              <a:t>Your first steps are to…</a:t>
            </a:r>
            <a:endParaRPr lang="en-US" sz="4400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idx="1"/>
          </p:nvPr>
        </p:nvSpPr>
        <p:spPr>
          <a:xfrm>
            <a:off x="612648" y="1828800"/>
            <a:ext cx="8153400" cy="4267200"/>
          </a:xfrm>
        </p:spPr>
        <p:txBody>
          <a:bodyPr/>
          <a:lstStyle/>
          <a:p>
            <a:pPr indent="-274320">
              <a:buFont typeface="Wingdings" charset="2"/>
              <a:buChar char="q"/>
            </a:pPr>
            <a:r>
              <a:rPr lang="en-US" sz="3600" dirty="0" smtClean="0"/>
              <a:t>Select a business model</a:t>
            </a:r>
          </a:p>
          <a:p>
            <a:pPr indent="-274320">
              <a:buFont typeface="Wingdings" charset="2"/>
              <a:buChar char="q"/>
            </a:pPr>
            <a:r>
              <a:rPr lang="en-US" sz="3600" dirty="0" smtClean="0"/>
              <a:t>Determine a basic strategy category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 smtClean="0"/>
              <a:t>Differentiation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 smtClean="0"/>
              <a:t>Low cost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 smtClean="0"/>
              <a:t>Niche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238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1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/>
          <p:cNvSpPr>
            <a:spLocks noGrp="1"/>
          </p:cNvSpPr>
          <p:nvPr>
            <p:ph type="title"/>
          </p:nvPr>
        </p:nvSpPr>
        <p:spPr>
          <a:xfrm>
            <a:off x="609600" y="228600"/>
            <a:ext cx="8229600" cy="106680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Create your business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odel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1" name="SmartArt Placeholder 20"/>
          <p:cNvGraphicFramePr>
            <a:graphicFrameLocks noGrp="1"/>
          </p:cNvGraphicFramePr>
          <p:nvPr>
            <p:ph type="dgm" idx="1"/>
            <p:extLst>
              <p:ext uri="{D42A27DB-BD31-4B8C-83A1-F6EECF244321}">
                <p14:modId xmlns:p14="http://schemas.microsoft.com/office/powerpoint/2010/main" val="407225785"/>
              </p:ext>
            </p:extLst>
          </p:nvPr>
        </p:nvGraphicFramePr>
        <p:xfrm>
          <a:off x="457200" y="9906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549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57200" y="228600"/>
            <a:ext cx="8534400" cy="990600"/>
          </a:xfrm>
        </p:spPr>
        <p:txBody>
          <a:bodyPr>
            <a:noAutofit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Amazon’s revenue &amp; cost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model requires high volume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31723514"/>
              </p:ext>
            </p:extLst>
          </p:nvPr>
        </p:nvGraphicFramePr>
        <p:xfrm>
          <a:off x="19916" y="782782"/>
          <a:ext cx="9096375" cy="495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Rectangle 1"/>
          <p:cNvSpPr/>
          <p:nvPr/>
        </p:nvSpPr>
        <p:spPr>
          <a:xfrm>
            <a:off x="1316182" y="2819400"/>
            <a:ext cx="7620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14.8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205971" y="1600200"/>
            <a:ext cx="762000" cy="419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48.1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323109" y="4267200"/>
            <a:ext cx="762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(14.2)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514600" y="4343400"/>
            <a:ext cx="7620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(18.3)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810000" y="4495800"/>
            <a:ext cx="7620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(23.0)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66800" y="5638800"/>
            <a:ext cx="6172200" cy="3810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tx1"/>
                </a:solidFill>
              </a:rPr>
              <a:t>      2007              2008               2009              2010               2011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738745" y="1639669"/>
            <a:ext cx="2833255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Revenues just exceed costs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479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12648" y="304800"/>
            <a:ext cx="8302752" cy="990600"/>
          </a:xfrm>
        </p:spPr>
        <p:txBody>
          <a:bodyPr>
            <a:noAutofit/>
          </a:bodyPr>
          <a:lstStyle/>
          <a:p>
            <a:r>
              <a:rPr lang="en-US" sz="4400" dirty="0" smtClean="0"/>
              <a:t>To succeed as a successful first mover you must…</a:t>
            </a:r>
            <a:endParaRPr lang="en-US" sz="4400" dirty="0"/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2057400"/>
            <a:ext cx="8229600" cy="2819399"/>
          </a:xfrm>
        </p:spPr>
        <p:txBody>
          <a:bodyPr>
            <a:noAutofit/>
          </a:bodyPr>
          <a:lstStyle/>
          <a:p>
            <a:pPr marL="452628" indent="-571500">
              <a:buFont typeface="Wingdings" panose="05000000000000000000" pitchFamily="2" charset="2"/>
              <a:buChar char="ü"/>
            </a:pPr>
            <a:r>
              <a:rPr lang="en-US" sz="3200" dirty="0" smtClean="0"/>
              <a:t>Be </a:t>
            </a:r>
            <a:r>
              <a:rPr lang="en-US" sz="3200" dirty="0"/>
              <a:t>first (or very early) into the market</a:t>
            </a:r>
            <a:endParaRPr lang="en-US" sz="3200" dirty="0" smtClean="0"/>
          </a:p>
          <a:p>
            <a:pPr marL="452628" indent="-571500">
              <a:buFont typeface="Wingdings" panose="05000000000000000000" pitchFamily="2" charset="2"/>
              <a:buChar char="ü"/>
            </a:pPr>
            <a:r>
              <a:rPr lang="en-US" sz="3200" dirty="0" smtClean="0"/>
              <a:t>Capture </a:t>
            </a:r>
            <a:r>
              <a:rPr lang="en-US" sz="3200" dirty="0"/>
              <a:t>a large percentage of the market quickly </a:t>
            </a:r>
            <a:endParaRPr lang="en-US" sz="3200" dirty="0" smtClean="0"/>
          </a:p>
          <a:p>
            <a:pPr marL="452628" indent="-571500">
              <a:buFont typeface="Wingdings" panose="05000000000000000000" pitchFamily="2" charset="2"/>
              <a:buChar char="ü"/>
            </a:pPr>
            <a:r>
              <a:rPr lang="en-US" sz="3200" dirty="0" smtClean="0"/>
              <a:t>Create </a:t>
            </a:r>
            <a:r>
              <a:rPr lang="en-US" sz="3200" dirty="0"/>
              <a:t>switching costs so</a:t>
            </a:r>
            <a:r>
              <a:rPr lang="en-US" sz="3200" dirty="0" smtClean="0"/>
              <a:t> customers stick </a:t>
            </a:r>
            <a:r>
              <a:rPr lang="en-US" sz="3200" dirty="0"/>
              <a:t>with </a:t>
            </a:r>
            <a:r>
              <a:rPr lang="en-US" sz="3200" dirty="0" smtClean="0"/>
              <a:t>you</a:t>
            </a:r>
            <a:endParaRPr 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990600" y="5512713"/>
            <a:ext cx="7086600" cy="43088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200" dirty="0" smtClean="0"/>
              <a:t>First movers rarely win and its an expensive strategy to take</a:t>
            </a:r>
            <a:endParaRPr lang="en-US" sz="22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81664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8610600" cy="990600"/>
          </a:xfrm>
        </p:spPr>
        <p:txBody>
          <a:bodyPr>
            <a:noAutofit/>
          </a:bodyPr>
          <a:lstStyle/>
          <a:p>
            <a:r>
              <a:rPr lang="en-US" sz="4400" dirty="0" smtClean="0"/>
              <a:t>First mover’s are often surpassed</a:t>
            </a:r>
            <a:endParaRPr lang="en-US" sz="44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2365301"/>
              </p:ext>
            </p:extLst>
          </p:nvPr>
        </p:nvGraphicFramePr>
        <p:xfrm>
          <a:off x="457200" y="1371600"/>
          <a:ext cx="8153400" cy="449580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935224"/>
                <a:gridCol w="2500376"/>
                <a:gridCol w="2717800"/>
              </a:tblGrid>
              <a:tr h="374650">
                <a:tc>
                  <a:txBody>
                    <a:bodyPr/>
                    <a:lstStyle/>
                    <a:p>
                      <a:r>
                        <a:rPr lang="en-US" dirty="0" smtClean="0"/>
                        <a:t>Industry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First Mover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Current Leader</a:t>
                      </a:r>
                      <a:endParaRPr lang="en-US" dirty="0"/>
                    </a:p>
                  </a:txBody>
                  <a:tcPr/>
                </a:tc>
              </a:tr>
              <a:tr h="374650">
                <a:tc>
                  <a:txBody>
                    <a:bodyPr/>
                    <a:lstStyle/>
                    <a:p>
                      <a:r>
                        <a:rPr lang="en-US" dirty="0" smtClean="0"/>
                        <a:t>Social Networking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Friendster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Facebook</a:t>
                      </a:r>
                      <a:endParaRPr lang="en-US" dirty="0"/>
                    </a:p>
                  </a:txBody>
                  <a:tcPr/>
                </a:tc>
              </a:tr>
              <a:tr h="374650">
                <a:tc>
                  <a:txBody>
                    <a:bodyPr/>
                    <a:lstStyle/>
                    <a:p>
                      <a:r>
                        <a:rPr lang="en-US" dirty="0" smtClean="0"/>
                        <a:t>Video Games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Atari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Nintendo</a:t>
                      </a:r>
                      <a:endParaRPr lang="en-US" dirty="0"/>
                    </a:p>
                  </a:txBody>
                  <a:tcPr/>
                </a:tc>
              </a:tr>
              <a:tr h="374650">
                <a:tc>
                  <a:txBody>
                    <a:bodyPr/>
                    <a:lstStyle/>
                    <a:p>
                      <a:r>
                        <a:rPr lang="en-US" dirty="0" smtClean="0"/>
                        <a:t>Web</a:t>
                      </a:r>
                      <a:r>
                        <a:rPr lang="en-US" baseline="0" dirty="0" smtClean="0"/>
                        <a:t> Browser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Mosaic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Google</a:t>
                      </a:r>
                    </a:p>
                  </a:txBody>
                  <a:tcPr/>
                </a:tc>
              </a:tr>
              <a:tr h="374650">
                <a:tc>
                  <a:txBody>
                    <a:bodyPr/>
                    <a:lstStyle/>
                    <a:p>
                      <a:r>
                        <a:rPr lang="en-US" dirty="0" smtClean="0"/>
                        <a:t>Internet Search Engine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Excite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Google</a:t>
                      </a:r>
                      <a:endParaRPr lang="en-US" dirty="0"/>
                    </a:p>
                  </a:txBody>
                  <a:tcPr/>
                </a:tc>
              </a:tr>
              <a:tr h="374650">
                <a:tc>
                  <a:txBody>
                    <a:bodyPr/>
                    <a:lstStyle/>
                    <a:p>
                      <a:r>
                        <a:rPr lang="en-US" dirty="0" smtClean="0"/>
                        <a:t>Word Processing Software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WordStar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Microsoft Word</a:t>
                      </a:r>
                      <a:endParaRPr lang="en-US" dirty="0"/>
                    </a:p>
                  </a:txBody>
                  <a:tcPr/>
                </a:tc>
              </a:tr>
              <a:tr h="374650">
                <a:tc>
                  <a:txBody>
                    <a:bodyPr/>
                    <a:lstStyle/>
                    <a:p>
                      <a:r>
                        <a:rPr lang="en-US" dirty="0" smtClean="0"/>
                        <a:t>Personal Computer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Altair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Dell</a:t>
                      </a:r>
                      <a:endParaRPr lang="en-US" dirty="0"/>
                    </a:p>
                  </a:txBody>
                  <a:tcPr/>
                </a:tc>
              </a:tr>
              <a:tr h="374650">
                <a:tc>
                  <a:txBody>
                    <a:bodyPr/>
                    <a:lstStyle/>
                    <a:p>
                      <a:r>
                        <a:rPr lang="en-US" dirty="0" smtClean="0"/>
                        <a:t>Email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Juno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Yahoo Mail</a:t>
                      </a:r>
                      <a:endParaRPr lang="en-US" dirty="0"/>
                    </a:p>
                  </a:txBody>
                  <a:tcPr/>
                </a:tc>
              </a:tr>
              <a:tr h="374650">
                <a:tc>
                  <a:txBody>
                    <a:bodyPr/>
                    <a:lstStyle/>
                    <a:p>
                      <a:r>
                        <a:rPr lang="en-US" dirty="0" smtClean="0"/>
                        <a:t>Diet</a:t>
                      </a:r>
                      <a:r>
                        <a:rPr lang="en-US" baseline="0" dirty="0" smtClean="0"/>
                        <a:t> Soda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No-Cal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Diet Coke</a:t>
                      </a:r>
                      <a:endParaRPr lang="en-US" dirty="0"/>
                    </a:p>
                  </a:txBody>
                  <a:tcPr/>
                </a:tc>
              </a:tr>
              <a:tr h="374650">
                <a:tc>
                  <a:txBody>
                    <a:bodyPr/>
                    <a:lstStyle/>
                    <a:p>
                      <a:r>
                        <a:rPr lang="en-US" dirty="0" smtClean="0"/>
                        <a:t>Presentation Software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Harvard Graphics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Microsoft</a:t>
                      </a:r>
                      <a:r>
                        <a:rPr lang="en-US" baseline="0" dirty="0" smtClean="0"/>
                        <a:t> PowerPoint</a:t>
                      </a:r>
                      <a:endParaRPr lang="en-US" dirty="0"/>
                    </a:p>
                  </a:txBody>
                  <a:tcPr/>
                </a:tc>
              </a:tr>
              <a:tr h="374650">
                <a:tc>
                  <a:txBody>
                    <a:bodyPr/>
                    <a:lstStyle/>
                    <a:p>
                      <a:r>
                        <a:rPr lang="en-US" dirty="0" smtClean="0"/>
                        <a:t>Online Bookseller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Book Stacks Unlimited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Amazon</a:t>
                      </a:r>
                      <a:endParaRPr lang="en-US" dirty="0"/>
                    </a:p>
                  </a:txBody>
                  <a:tcPr/>
                </a:tc>
              </a:tr>
              <a:tr h="374650">
                <a:tc>
                  <a:txBody>
                    <a:bodyPr/>
                    <a:lstStyle/>
                    <a:p>
                      <a:r>
                        <a:rPr lang="en-US" dirty="0" smtClean="0"/>
                        <a:t>ATM Machines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Docutel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Diebold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694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8305800" cy="1219200"/>
          </a:xfrm>
        </p:spPr>
        <p:txBody>
          <a:bodyPr>
            <a:noAutofit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To win, your strategy must be to be one, or more, of these…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7" name="SmartArt Placeholder 16"/>
          <p:cNvGraphicFramePr>
            <a:graphicFrameLocks noGrp="1"/>
          </p:cNvGraphicFramePr>
          <p:nvPr>
            <p:ph type="dgm" idx="1"/>
            <p:extLst>
              <p:ext uri="{D42A27DB-BD31-4B8C-83A1-F6EECF244321}">
                <p14:modId xmlns:p14="http://schemas.microsoft.com/office/powerpoint/2010/main" val="2978272441"/>
              </p:ext>
            </p:extLst>
          </p:nvPr>
        </p:nvGraphicFramePr>
        <p:xfrm>
          <a:off x="457200" y="1874837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603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Rectangle 4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8229600" cy="990600"/>
          </a:xfrm>
        </p:spPr>
        <p:txBody>
          <a:bodyPr>
            <a:noAutofit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Your People are your Advantage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8" name="SmartArt Placeholder 17"/>
          <p:cNvGraphicFramePr>
            <a:graphicFrameLocks noGrp="1"/>
          </p:cNvGraphicFramePr>
          <p:nvPr>
            <p:ph type="dgm" idx="1"/>
            <p:extLst>
              <p:ext uri="{D42A27DB-BD31-4B8C-83A1-F6EECF244321}">
                <p14:modId xmlns:p14="http://schemas.microsoft.com/office/powerpoint/2010/main" val="404557342"/>
              </p:ext>
            </p:extLst>
          </p:nvPr>
        </p:nvGraphicFramePr>
        <p:xfrm>
          <a:off x="1600200" y="1295400"/>
          <a:ext cx="5867400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5097959"/>
            <a:ext cx="7315200" cy="76944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200" dirty="0" smtClean="0"/>
              <a:t>Founders need to create a culture and align the employees they select with the values and structure of the company</a:t>
            </a:r>
            <a:endParaRPr lang="en-US" sz="22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951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8" name="Text Box 8"/>
          <p:cNvSpPr txBox="1">
            <a:spLocks noChangeArrowheads="1"/>
          </p:cNvSpPr>
          <p:nvPr/>
        </p:nvSpPr>
        <p:spPr bwMode="auto">
          <a:xfrm>
            <a:off x="3406588" y="1661401"/>
            <a:ext cx="238461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dirty="0">
                <a:latin typeface="Tw Cen MT"/>
                <a:cs typeface="Tw Cen MT"/>
              </a:rPr>
              <a:t>Benchmark</a:t>
            </a:r>
          </a:p>
        </p:txBody>
      </p:sp>
      <p:sp>
        <p:nvSpPr>
          <p:cNvPr id="46089" name="Text Box 9"/>
          <p:cNvSpPr txBox="1">
            <a:spLocks noChangeArrowheads="1"/>
          </p:cNvSpPr>
          <p:nvPr/>
        </p:nvSpPr>
        <p:spPr bwMode="auto">
          <a:xfrm>
            <a:off x="2362200" y="3566401"/>
            <a:ext cx="43434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dirty="0">
                <a:latin typeface="Tw Cen MT"/>
                <a:cs typeface="Tw Cen MT"/>
              </a:rPr>
              <a:t>Devise Initial Market Test</a:t>
            </a:r>
          </a:p>
        </p:txBody>
      </p:sp>
      <p:sp>
        <p:nvSpPr>
          <p:cNvPr id="46090" name="Text Box 10"/>
          <p:cNvSpPr txBox="1">
            <a:spLocks noChangeArrowheads="1"/>
          </p:cNvSpPr>
          <p:nvPr/>
        </p:nvSpPr>
        <p:spPr bwMode="auto">
          <a:xfrm>
            <a:off x="2841812" y="5471401"/>
            <a:ext cx="340658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dirty="0">
                <a:latin typeface="Tw Cen MT"/>
                <a:cs typeface="Tw Cen MT"/>
              </a:rPr>
              <a:t>Create a Platform</a:t>
            </a:r>
          </a:p>
        </p:txBody>
      </p:sp>
      <p:sp>
        <p:nvSpPr>
          <p:cNvPr id="46091" name="AutoShape 11"/>
          <p:cNvSpPr>
            <a:spLocks noChangeArrowheads="1"/>
          </p:cNvSpPr>
          <p:nvPr/>
        </p:nvSpPr>
        <p:spPr bwMode="auto">
          <a:xfrm>
            <a:off x="4343400" y="2347201"/>
            <a:ext cx="381000" cy="1143000"/>
          </a:xfrm>
          <a:prstGeom prst="downArrow">
            <a:avLst>
              <a:gd name="adj1" fmla="val 50000"/>
              <a:gd name="adj2" fmla="val 90000"/>
            </a:avLst>
          </a:prstGeom>
          <a:solidFill>
            <a:srgbClr val="6CC368"/>
          </a:solidFill>
          <a:ln>
            <a:solidFill>
              <a:srgbClr val="4BC666"/>
            </a:solidFill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eaVert"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092" name="AutoShape 12"/>
          <p:cNvSpPr>
            <a:spLocks noChangeArrowheads="1"/>
          </p:cNvSpPr>
          <p:nvPr/>
        </p:nvSpPr>
        <p:spPr bwMode="auto">
          <a:xfrm>
            <a:off x="4343400" y="4242021"/>
            <a:ext cx="381000" cy="1143000"/>
          </a:xfrm>
          <a:prstGeom prst="downArrow">
            <a:avLst>
              <a:gd name="adj1" fmla="val 50000"/>
              <a:gd name="adj2" fmla="val 90000"/>
            </a:avLst>
          </a:prstGeom>
          <a:solidFill>
            <a:srgbClr val="6CC368"/>
          </a:solidFill>
          <a:ln>
            <a:solidFill>
              <a:srgbClr val="4BC666"/>
            </a:solidFill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eaVert"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096" name="AutoShape 16"/>
          <p:cNvSpPr>
            <a:spLocks noChangeArrowheads="1"/>
          </p:cNvSpPr>
          <p:nvPr/>
        </p:nvSpPr>
        <p:spPr bwMode="auto">
          <a:xfrm rot="10457724">
            <a:off x="6096001" y="1509001"/>
            <a:ext cx="1447799" cy="4343400"/>
          </a:xfrm>
          <a:prstGeom prst="curvedRightArrow">
            <a:avLst>
              <a:gd name="adj1" fmla="val 20768"/>
              <a:gd name="adj2" fmla="val 79715"/>
              <a:gd name="adj3" fmla="val 33333"/>
            </a:avLst>
          </a:prstGeom>
          <a:solidFill>
            <a:srgbClr val="6CC368"/>
          </a:solidFill>
          <a:ln>
            <a:solidFill>
              <a:srgbClr val="4BC666"/>
            </a:solidFill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609600" y="304800"/>
            <a:ext cx="8153400" cy="9906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Novecento wide Book"/>
              </a:rPr>
              <a:t>Develop your Entry Strategy</a:t>
            </a:r>
            <a:endParaRPr lang="en-US" dirty="0">
              <a:latin typeface="Novecento wide Book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035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8" grpId="0"/>
      <p:bldP spid="46089" grpId="0"/>
      <p:bldP spid="46090" grpId="0"/>
      <p:bldP spid="46091" grpId="0" animBg="1"/>
      <p:bldP spid="4609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8153400" cy="990600"/>
          </a:xfrm>
        </p:spPr>
        <p:txBody>
          <a:bodyPr>
            <a:noAutofit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Benchmark your Competition: The JetBlue Example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1628775"/>
            <a:ext cx="8011480" cy="4391025"/>
          </a:xfrm>
          <a:prstGeom prst="rect">
            <a:avLst/>
          </a:prstGeom>
          <a:noFill/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154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609600" y="304800"/>
            <a:ext cx="8534400" cy="990600"/>
          </a:xfrm>
        </p:spPr>
        <p:txBody>
          <a:bodyPr>
            <a:noAutofit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You can drive growth 3 ways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6" name="SmartArt Placeholder 15"/>
          <p:cNvGraphicFramePr>
            <a:graphicFrameLocks noGrp="1"/>
          </p:cNvGraphicFramePr>
          <p:nvPr>
            <p:ph type="dgm" idx="1"/>
            <p:extLst>
              <p:ext uri="{D42A27DB-BD31-4B8C-83A1-F6EECF244321}">
                <p14:modId xmlns:p14="http://schemas.microsoft.com/office/powerpoint/2010/main" val="2513581553"/>
              </p:ext>
            </p:extLst>
          </p:nvPr>
        </p:nvGraphicFramePr>
        <p:xfrm>
          <a:off x="457200" y="1371600"/>
          <a:ext cx="8229600" cy="4724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60089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/>
          <p:cNvSpPr txBox="1">
            <a:spLocks/>
          </p:cNvSpPr>
          <p:nvPr/>
        </p:nvSpPr>
        <p:spPr>
          <a:xfrm>
            <a:off x="609600" y="3048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Franchising has 3 main benefits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-274320">
              <a:buFont typeface="Wingdings" charset="2"/>
              <a:buChar char="q"/>
            </a:pPr>
            <a:r>
              <a:rPr lang="en-US" sz="3600" dirty="0" smtClean="0"/>
              <a:t> </a:t>
            </a:r>
            <a:r>
              <a:rPr lang="en-US" sz="3600" dirty="0" err="1" smtClean="0"/>
              <a:t>Replicability</a:t>
            </a:r>
            <a:endParaRPr lang="en-US" sz="3600" dirty="0" smtClean="0"/>
          </a:p>
          <a:p>
            <a:pPr lvl="1">
              <a:buSzPct val="60000"/>
              <a:buFont typeface="Wingdings" panose="05000000000000000000" pitchFamily="2" charset="2"/>
              <a:buChar char="§"/>
            </a:pPr>
            <a:r>
              <a:rPr lang="en-US" sz="3200" dirty="0" smtClean="0"/>
              <a:t>Established and proven methods</a:t>
            </a:r>
          </a:p>
          <a:p>
            <a:pPr>
              <a:buFont typeface="Wingdings" charset="2"/>
              <a:buChar char="q"/>
            </a:pPr>
            <a:r>
              <a:rPr lang="en-US" sz="3600" dirty="0" smtClean="0"/>
              <a:t>New sources of revenue</a:t>
            </a:r>
          </a:p>
          <a:p>
            <a:pPr lvl="1">
              <a:buSzPct val="60000"/>
              <a:buFont typeface="Wingdings" panose="05000000000000000000" pitchFamily="2" charset="2"/>
              <a:buChar char="§"/>
            </a:pPr>
            <a:r>
              <a:rPr lang="en-US" sz="3200" dirty="0" smtClean="0"/>
              <a:t>Royalties and fees from franchisees</a:t>
            </a:r>
          </a:p>
          <a:p>
            <a:pPr>
              <a:buFont typeface="Wingdings" charset="2"/>
              <a:buChar char="q"/>
            </a:pPr>
            <a:r>
              <a:rPr lang="en-US" sz="3600" dirty="0" smtClean="0"/>
              <a:t>New capital funds growth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09600" y="5021759"/>
            <a:ext cx="7848600" cy="76944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200" dirty="0" smtClean="0"/>
              <a:t>Franchising works best with service businesses that are easy to replicate. Be sure to monitor franchisees to maintain brand purity</a:t>
            </a:r>
            <a:endParaRPr lang="en-US" sz="22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490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6246784"/>
              </p:ext>
            </p:extLst>
          </p:nvPr>
        </p:nvGraphicFramePr>
        <p:xfrm>
          <a:off x="533400" y="1371600"/>
          <a:ext cx="8153400" cy="434848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835025"/>
                <a:gridCol w="2057400"/>
                <a:gridCol w="1999615"/>
                <a:gridCol w="1630680"/>
                <a:gridCol w="163068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#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Chain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US Total Franchise Sales ($)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US Franchise Units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Sales per</a:t>
                      </a:r>
                      <a:r>
                        <a:rPr lang="en-US" baseline="0" dirty="0" smtClean="0"/>
                        <a:t> store ($ rounded)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McDonald’s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24 billion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11,833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 million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Subway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8.2 billion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21,195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387,000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Burger King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7.6 billion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6,280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1.2 million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Wendy’s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5.8 billion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4,662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1.3 million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Dunkin’</a:t>
                      </a:r>
                      <a:r>
                        <a:rPr lang="en-US" baseline="0" dirty="0" smtClean="0"/>
                        <a:t> Donuts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 billion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5,451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913,000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Taco Bell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4.2 billion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4,322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983,000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KFC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 billion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4,302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925,000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Pizza Hut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3.9 billion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6,196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629,000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Applebee’s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3.3</a:t>
                      </a:r>
                      <a:r>
                        <a:rPr lang="en-US" baseline="0" dirty="0" smtClean="0"/>
                        <a:t> billion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1,343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2.5 million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SONIC Drive-Ins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 billion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2,706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1.1 million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197225" y="5791200"/>
            <a:ext cx="5486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w Cen MT"/>
                <a:cs typeface="Tw Cen MT"/>
              </a:rPr>
              <a:t>Source: </a:t>
            </a:r>
            <a:r>
              <a:rPr lang="en-US" sz="1400" dirty="0" err="1" smtClean="0">
                <a:latin typeface="Tw Cen MT"/>
                <a:cs typeface="Tw Cen MT"/>
              </a:rPr>
              <a:t>Technomic</a:t>
            </a:r>
            <a:r>
              <a:rPr lang="en-US" sz="1400" dirty="0" smtClean="0">
                <a:latin typeface="Tw Cen MT"/>
                <a:cs typeface="Tw Cen MT"/>
              </a:rPr>
              <a:t>/Restaurant Finance, compiled by Blue </a:t>
            </a:r>
            <a:r>
              <a:rPr lang="en-US" sz="1400" dirty="0" err="1" smtClean="0">
                <a:latin typeface="Tw Cen MT"/>
                <a:cs typeface="Tw Cen MT"/>
              </a:rPr>
              <a:t>MauMau</a:t>
            </a:r>
            <a:r>
              <a:rPr lang="en-US" sz="1400" dirty="0" smtClean="0">
                <a:latin typeface="Tw Cen MT"/>
                <a:cs typeface="Tw Cen MT"/>
              </a:rPr>
              <a:t> 2007</a:t>
            </a:r>
            <a:endParaRPr lang="en-US" sz="1400" dirty="0">
              <a:latin typeface="Tw Cen MT"/>
              <a:cs typeface="Tw Cen MT"/>
            </a:endParaRPr>
          </a:p>
        </p:txBody>
      </p:sp>
      <p:sp>
        <p:nvSpPr>
          <p:cNvPr id="7" name="Title 2"/>
          <p:cNvSpPr txBox="1">
            <a:spLocks/>
          </p:cNvSpPr>
          <p:nvPr/>
        </p:nvSpPr>
        <p:spPr>
          <a:xfrm>
            <a:off x="457200" y="304800"/>
            <a:ext cx="83820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</a:t>
            </a:r>
            <a:r>
              <a:rPr lang="en-US" sz="4400" dirty="0" smtClean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op 10 US franchisors do well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471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16"/>
          <p:cNvSpPr>
            <a:spLocks noGrp="1"/>
          </p:cNvSpPr>
          <p:nvPr>
            <p:ph idx="1"/>
          </p:nvPr>
        </p:nvSpPr>
        <p:spPr>
          <a:xfrm>
            <a:off x="612648" y="1600200"/>
            <a:ext cx="8153400" cy="4724400"/>
          </a:xfrm>
        </p:spPr>
        <p:txBody>
          <a:bodyPr/>
          <a:lstStyle/>
          <a:p>
            <a:pPr>
              <a:buFont typeface="Wingdings" charset="2"/>
              <a:buChar char="q"/>
            </a:pPr>
            <a:r>
              <a:rPr lang="en-US" sz="3600" dirty="0" smtClean="0"/>
              <a:t>Tangents and adjacencies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 smtClean="0"/>
              <a:t>What makes sense with current offerings?</a:t>
            </a:r>
          </a:p>
          <a:p>
            <a:pPr>
              <a:buFont typeface="Wingdings" charset="2"/>
              <a:buChar char="q"/>
            </a:pPr>
            <a:r>
              <a:rPr lang="en-US" sz="3600" dirty="0" smtClean="0"/>
              <a:t>Spread current costs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 smtClean="0"/>
              <a:t>New products </a:t>
            </a:r>
            <a:r>
              <a:rPr lang="en-US" sz="3200" dirty="0" smtClean="0">
                <a:latin typeface="Wingdings"/>
                <a:ea typeface="Wingdings"/>
                <a:cs typeface="Wingdings"/>
              </a:rPr>
              <a:t></a:t>
            </a:r>
            <a:r>
              <a:rPr lang="en-US" sz="3200" dirty="0" smtClean="0"/>
              <a:t> revenues more than costs</a:t>
            </a:r>
          </a:p>
          <a:p>
            <a:pPr>
              <a:buFont typeface="Wingdings" charset="2"/>
              <a:buChar char="q"/>
            </a:pPr>
            <a:r>
              <a:rPr lang="en-US" sz="3600" dirty="0" smtClean="0"/>
              <a:t>Maintain same distribution channels</a:t>
            </a:r>
          </a:p>
          <a:p>
            <a:pPr>
              <a:buFont typeface="Wingdings" charset="2"/>
              <a:buChar char="q"/>
            </a:pPr>
            <a:endParaRPr lang="en-US" dirty="0" smtClean="0"/>
          </a:p>
          <a:p>
            <a:pPr lvl="1"/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685800" y="5174159"/>
            <a:ext cx="7772400" cy="76944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200" dirty="0" smtClean="0"/>
              <a:t>Build on the base that was already created from existing products. Share resources, relationships and channels with current lines?</a:t>
            </a:r>
            <a:endParaRPr lang="en-US" sz="2200" dirty="0"/>
          </a:p>
        </p:txBody>
      </p:sp>
      <p:sp>
        <p:nvSpPr>
          <p:cNvPr id="6" name="Title 2"/>
          <p:cNvSpPr txBox="1">
            <a:spLocks/>
          </p:cNvSpPr>
          <p:nvPr/>
        </p:nvSpPr>
        <p:spPr>
          <a:xfrm>
            <a:off x="533400" y="304800"/>
            <a:ext cx="8153400" cy="990600"/>
          </a:xfrm>
          <a:prstGeom prst="rect">
            <a:avLst/>
          </a:prstGeom>
        </p:spPr>
        <p:txBody>
          <a:bodyPr vert="horz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dirty="0" smtClean="0">
                <a:latin typeface="Novecento wide Book"/>
                <a:ea typeface="+mj-ea"/>
                <a:cs typeface="+mj-cs"/>
              </a:rPr>
              <a:t>Drive growth with product mix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Novecento wide Book"/>
              <a:ea typeface="+mj-ea"/>
              <a:cs typeface="+mj-cs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8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16"/>
          <p:cNvSpPr>
            <a:spLocks noGrp="1"/>
          </p:cNvSpPr>
          <p:nvPr>
            <p:ph idx="1"/>
          </p:nvPr>
        </p:nvSpPr>
        <p:spPr>
          <a:xfrm>
            <a:off x="612648" y="2057400"/>
            <a:ext cx="8153400" cy="4724400"/>
          </a:xfrm>
        </p:spPr>
        <p:txBody>
          <a:bodyPr/>
          <a:lstStyle/>
          <a:p>
            <a:pPr>
              <a:buFont typeface="Wingdings" charset="2"/>
              <a:buChar char="q"/>
            </a:pPr>
            <a:r>
              <a:rPr lang="en-US" sz="2800" dirty="0" smtClean="0"/>
              <a:t>Customers</a:t>
            </a:r>
          </a:p>
          <a:p>
            <a:pPr lvl="1">
              <a:buSzPct val="60000"/>
              <a:buFont typeface="Wingdings" panose="05000000000000000000" pitchFamily="2" charset="2"/>
              <a:buChar char="§"/>
            </a:pPr>
            <a:r>
              <a:rPr lang="en-US" sz="2400" dirty="0" smtClean="0"/>
              <a:t>Go where they are</a:t>
            </a:r>
          </a:p>
          <a:p>
            <a:pPr lvl="1">
              <a:buSzPct val="60000"/>
              <a:buFont typeface="Wingdings" panose="05000000000000000000" pitchFamily="2" charset="2"/>
              <a:buChar char="§"/>
            </a:pPr>
            <a:r>
              <a:rPr lang="en-US" sz="2400" dirty="0" smtClean="0"/>
              <a:t>Mimic proven success strategies</a:t>
            </a:r>
          </a:p>
          <a:p>
            <a:pPr>
              <a:buFont typeface="Wingdings" charset="2"/>
              <a:buChar char="q"/>
            </a:pPr>
            <a:r>
              <a:rPr lang="en-US" sz="2800" dirty="0" smtClean="0"/>
              <a:t>Vendors</a:t>
            </a:r>
          </a:p>
          <a:p>
            <a:pPr lvl="1">
              <a:buSzPct val="60000"/>
              <a:buFont typeface="Wingdings" panose="05000000000000000000" pitchFamily="2" charset="2"/>
              <a:buChar char="§"/>
            </a:pPr>
            <a:r>
              <a:rPr lang="en-US" sz="2400" dirty="0" smtClean="0"/>
              <a:t>Can you use the same vendors?</a:t>
            </a:r>
          </a:p>
          <a:p>
            <a:pPr lvl="1">
              <a:buSzPct val="60000"/>
              <a:buFont typeface="Wingdings" panose="05000000000000000000" pitchFamily="2" charset="2"/>
              <a:buChar char="§"/>
            </a:pPr>
            <a:r>
              <a:rPr lang="en-US" sz="2400" dirty="0" smtClean="0"/>
              <a:t>Any new costs? Leverage volume for better pricing</a:t>
            </a:r>
          </a:p>
          <a:p>
            <a:pPr>
              <a:buFont typeface="Wingdings" charset="2"/>
              <a:buChar char="q"/>
            </a:pPr>
            <a:r>
              <a:rPr lang="en-US" sz="2800" dirty="0" smtClean="0"/>
              <a:t>Distribution</a:t>
            </a:r>
          </a:p>
          <a:p>
            <a:pPr lvl="1">
              <a:buSzPct val="60000"/>
              <a:buFont typeface="Wingdings" panose="05000000000000000000" pitchFamily="2" charset="2"/>
              <a:buChar char="§"/>
            </a:pPr>
            <a:r>
              <a:rPr lang="en-US" sz="2400" dirty="0" smtClean="0"/>
              <a:t>Same channels? </a:t>
            </a:r>
          </a:p>
          <a:p>
            <a:pPr lvl="1">
              <a:buSzPct val="60000"/>
              <a:buFont typeface="Wingdings" panose="05000000000000000000" pitchFamily="2" charset="2"/>
              <a:buChar char="§"/>
            </a:pPr>
            <a:r>
              <a:rPr lang="en-US" sz="2400" dirty="0" smtClean="0"/>
              <a:t>Leverage volume</a:t>
            </a:r>
          </a:p>
          <a:p>
            <a:pPr lvl="1"/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  <p:sp>
        <p:nvSpPr>
          <p:cNvPr id="4" name="Title 2"/>
          <p:cNvSpPr txBox="1">
            <a:spLocks/>
          </p:cNvSpPr>
          <p:nvPr/>
        </p:nvSpPr>
        <p:spPr>
          <a:xfrm>
            <a:off x="609600" y="533400"/>
            <a:ext cx="8153400" cy="1143000"/>
          </a:xfrm>
          <a:prstGeom prst="rect">
            <a:avLst/>
          </a:prstGeom>
        </p:spPr>
        <p:txBody>
          <a:bodyPr vert="horz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dirty="0" smtClean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Consider these 3 topics before expanding geographically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132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2" name="Picture 4" descr="figure 1a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3F3F3"/>
              </a:clrFrom>
              <a:clrTo>
                <a:srgbClr val="F3F3F3">
                  <a:alpha val="0"/>
                </a:srgbClr>
              </a:clrTo>
            </a:clrChange>
            <a:alphaModFix amt="75000"/>
          </a:blip>
          <a:srcRect l="3738" t="16667" r="1869" b="6667"/>
          <a:stretch>
            <a:fillRect/>
          </a:stretch>
        </p:blipFill>
        <p:spPr bwMode="auto">
          <a:xfrm>
            <a:off x="304800" y="1828800"/>
            <a:ext cx="8579588" cy="3907536"/>
          </a:xfrm>
          <a:prstGeom prst="rect">
            <a:avLst/>
          </a:prstGeom>
          <a:solidFill>
            <a:srgbClr val="C0C0C0">
              <a:alpha val="75000"/>
            </a:srgbClr>
          </a:solidFill>
          <a:ln w="9525">
            <a:noFill/>
            <a:miter lim="800000"/>
            <a:headEnd/>
            <a:tailEnd/>
          </a:ln>
        </p:spPr>
      </p:pic>
      <p:sp>
        <p:nvSpPr>
          <p:cNvPr id="4" name="Title 2"/>
          <p:cNvSpPr>
            <a:spLocks noGrp="1"/>
          </p:cNvSpPr>
          <p:nvPr>
            <p:ph type="title"/>
          </p:nvPr>
        </p:nvSpPr>
        <p:spPr>
          <a:xfrm>
            <a:off x="457200" y="304800"/>
            <a:ext cx="8427188" cy="990600"/>
          </a:xfrm>
        </p:spPr>
        <p:txBody>
          <a:bodyPr>
            <a:noAutofit/>
          </a:bodyPr>
          <a:lstStyle/>
          <a:p>
            <a:r>
              <a:rPr lang="en-US" sz="4400" dirty="0" smtClean="0"/>
              <a:t>There are 8 basic ways to expanded internationally</a:t>
            </a:r>
            <a:endParaRPr lang="en-US" sz="44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447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28600" y="152400"/>
            <a:ext cx="8686800" cy="1143000"/>
          </a:xfrm>
        </p:spPr>
        <p:txBody>
          <a:bodyPr>
            <a:noAutofit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International expansion has risks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4422" name="Group 150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690564140"/>
              </p:ext>
            </p:extLst>
          </p:nvPr>
        </p:nvGraphicFramePr>
        <p:xfrm>
          <a:off x="533400" y="1295400"/>
          <a:ext cx="8138160" cy="4635298"/>
        </p:xfrm>
        <a:graphic>
          <a:graphicData uri="http://schemas.openxmlformats.org/drawingml/2006/table">
            <a:tbl>
              <a:tblPr firstRow="1">
                <a:tableStyleId>{5A111915-BE36-4E01-A7E5-04B1672EAD32}</a:tableStyleId>
              </a:tblPr>
              <a:tblGrid>
                <a:gridCol w="1981200"/>
                <a:gridCol w="3124200"/>
                <a:gridCol w="3032760"/>
              </a:tblGrid>
              <a:tr h="4216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</a:rPr>
                        <a:t>Means</a:t>
                      </a:r>
                      <a:r>
                        <a:rPr kumimoji="0" lang="en-US" sz="220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</a:rPr>
                        <a:t> 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w Cen MT"/>
                        <a:cs typeface="Tw Cen MT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</a:rPr>
                        <a:t>Pros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w Cen MT"/>
                        <a:cs typeface="Tw Cen MT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</a:rPr>
                        <a:t>Cons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w Cen MT"/>
                        <a:cs typeface="Tw Cen MT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3011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Technology Transfer 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/>
                        <a:cs typeface="Tw Cen MT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- Reduces entry costs 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/>
                        <a:cs typeface="Tw Cen MT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- Risk of losing the technology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/>
                        <a:cs typeface="Tw Cen MT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3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Technology Licensing 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/>
                        <a:cs typeface="Tw Cen MT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-</a:t>
                      </a:r>
                      <a:r>
                        <a:rPr kumimoji="0" lang="en-US" sz="15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Creates revenue, conserves resources</a:t>
                      </a:r>
                    </a:p>
                  </a:txBody>
                  <a:tcPr horzOverflow="overflow">
                    <a:lnL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-</a:t>
                      </a:r>
                      <a:r>
                        <a:rPr kumimoji="0" lang="en-US" sz="15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Doesn’t extend the brand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/>
                        <a:cs typeface="Tw Cen MT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1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Outsourcing 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/>
                        <a:cs typeface="Tw Cen MT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- Cost-saving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/>
                        <a:cs typeface="Tw Cen MT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w Cen MT"/>
                          <a:cs typeface="Tw Cen MT"/>
                        </a:rPr>
                        <a:t>- Managing partners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/>
                        <a:cs typeface="Tw Cen MT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22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Exporting </a:t>
                      </a: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/>
                        <a:cs typeface="Tw Cen MT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0" 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0" lang="en-US" sz="15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Cheap and easy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/>
                        <a:cs typeface="Tw Cen MT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0" lang="en-US" sz="15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Extra sales and transport costs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0" lang="en-US" sz="15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Moral hazard 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/>
                        <a:cs typeface="Tw Cen MT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41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Foreign Direct </a:t>
                      </a:r>
                      <a:r>
                        <a:rPr kumimoji="0" lang="en-US" sz="15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Investment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/>
                        <a:cs typeface="Tw Cen MT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- Physical presence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- Control of assets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/>
                        <a:cs typeface="Tw Cen MT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- Expensive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/>
                        <a:cs typeface="Tw Cen MT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41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Franchising </a:t>
                      </a: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/>
                        <a:cs typeface="Tw Cen MT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- Licenses an operational system 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/>
                        <a:cs typeface="Tw Cen MT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- Risk of damaging the brand name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/>
                        <a:cs typeface="Tw Cen MT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382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Venture financing </a:t>
                      </a: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/>
                        <a:cs typeface="Tw Cen MT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-</a:t>
                      </a:r>
                      <a:r>
                        <a:rPr kumimoji="0" lang="en-US" sz="15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Enabling </a:t>
                      </a:r>
                      <a:r>
                        <a:rPr kumimoji="0" 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and</a:t>
                      </a:r>
                      <a:r>
                        <a:rPr kumimoji="0" lang="en-US" sz="15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enacting </a:t>
                      </a:r>
                      <a:r>
                        <a:rPr kumimoji="0" 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mechanism 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/>
                        <a:cs typeface="Tw Cen MT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-</a:t>
                      </a:r>
                      <a:r>
                        <a:rPr kumimoji="0" lang="en-US" sz="15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Can lead </a:t>
                      </a:r>
                      <a:r>
                        <a:rPr kumimoji="0" 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to mergers and acquisitions with foreign companies 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/>
                        <a:cs typeface="Tw Cen MT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31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Mergers and </a:t>
                      </a:r>
                      <a:r>
                        <a:rPr kumimoji="0" lang="en-US" sz="15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acquisitions 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/>
                        <a:cs typeface="Tw Cen MT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- Established infrastructure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-</a:t>
                      </a:r>
                      <a:r>
                        <a:rPr kumimoji="0" lang="en-US" sz="15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Company can </a:t>
                      </a:r>
                      <a:r>
                        <a:rPr kumimoji="0" 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grow</a:t>
                      </a:r>
                      <a:r>
                        <a:rPr kumimoji="0" lang="en-US" sz="15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quickly 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/>
                        <a:cs typeface="Tw Cen MT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- Very expensive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w Cen MT"/>
                        <a:cs typeface="Tw Cen MT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837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58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US" sz="4400" dirty="0" smtClean="0"/>
              <a:t>Recap</a:t>
            </a:r>
            <a:endParaRPr lang="en-US" sz="44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-274320">
              <a:buFont typeface="Wingdings" charset="2"/>
              <a:buChar char="q"/>
            </a:pPr>
            <a:r>
              <a:rPr lang="en-US" sz="2800" dirty="0" smtClean="0"/>
              <a:t>Determine revenue and cost structure</a:t>
            </a:r>
          </a:p>
          <a:p>
            <a:pPr indent="-274320">
              <a:buFont typeface="Wingdings" charset="2"/>
              <a:buChar char="q"/>
            </a:pPr>
            <a:r>
              <a:rPr lang="en-US" sz="2800" dirty="0" smtClean="0"/>
              <a:t>Choose a strategy</a:t>
            </a:r>
          </a:p>
          <a:p>
            <a:pPr indent="-274320">
              <a:buFont typeface="Wingdings" charset="2"/>
              <a:buChar char="q"/>
            </a:pPr>
            <a:r>
              <a:rPr lang="en-US" sz="2800" dirty="0" smtClean="0"/>
              <a:t>Create a culture </a:t>
            </a:r>
          </a:p>
          <a:p>
            <a:pPr indent="-274320">
              <a:buFont typeface="Wingdings" charset="2"/>
              <a:buChar char="q"/>
            </a:pPr>
            <a:r>
              <a:rPr lang="en-US" sz="2800" dirty="0" smtClean="0"/>
              <a:t>Seek and select people who fit culture and goals</a:t>
            </a:r>
          </a:p>
          <a:p>
            <a:pPr indent="-274320">
              <a:buFont typeface="Wingdings" charset="2"/>
              <a:buChar char="q"/>
            </a:pPr>
            <a:r>
              <a:rPr lang="en-US" sz="2800" dirty="0" smtClean="0"/>
              <a:t>Plan entry approach, including benchmarks</a:t>
            </a:r>
          </a:p>
          <a:p>
            <a:pPr indent="-274320">
              <a:buFont typeface="Wingdings" charset="2"/>
              <a:buChar char="q"/>
            </a:pPr>
            <a:r>
              <a:rPr lang="en-US" sz="2800" dirty="0" smtClean="0"/>
              <a:t>Plan growth drivers</a:t>
            </a:r>
            <a:endParaRPr lang="en-US" sz="28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840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&quot;/&gt;&lt;property id=&quot;20307&quot; value=&quot;256&quot;/&gt;&lt;/object&gt;&lt;object type=&quot;3&quot; unique_id=&quot;10419&quot;&gt;&lt;property id=&quot;20148&quot; value=&quot;5&quot;/&gt;&lt;property id=&quot;20300&quot; value=&quot;Slide 2 - &amp;quot;Your first steps are to…&amp;quot;&quot;/&gt;&lt;property id=&quot;20307&quot; value=&quot;258&quot;/&gt;&lt;/object&gt;&lt;object type=&quot;3&quot; unique_id=&quot;10420&quot;&gt;&lt;property id=&quot;20148&quot; value=&quot;5&quot;/&gt;&lt;property id=&quot;20300&quot; value=&quot;Slide 3 - &amp;quot;Create your business model&amp;quot;&quot;/&gt;&lt;property id=&quot;20307&quot; value=&quot;259&quot;/&gt;&lt;/object&gt;&lt;object type=&quot;3&quot; unique_id=&quot;10423&quot;&gt;&lt;property id=&quot;20148&quot; value=&quot;5&quot;/&gt;&lt;property id=&quot;20300&quot; value=&quot;Slide 5 - &amp;quot;To succeed as a successful first mover you must…&amp;quot;&quot;/&gt;&lt;property id=&quot;20307&quot; value=&quot;262&quot;/&gt;&lt;/object&gt;&lt;object type=&quot;3&quot; unique_id=&quot;10424&quot;&gt;&lt;property id=&quot;20148&quot; value=&quot;5&quot;/&gt;&lt;property id=&quot;20300&quot; value=&quot;Slide 6 - &amp;quot;First mover’s are often surpassed&amp;quot;&quot;/&gt;&lt;property id=&quot;20307&quot; value=&quot;263&quot;/&gt;&lt;/object&gt;&lt;object type=&quot;3&quot; unique_id=&quot;10425&quot;&gt;&lt;property id=&quot;20148&quot; value=&quot;5&quot;/&gt;&lt;property id=&quot;20300&quot; value=&quot;Slide 7 - &amp;quot;To win, your strategy must be to be one, or more, of these…&amp;quot;&quot;/&gt;&lt;property id=&quot;20307&quot; value=&quot;264&quot;/&gt;&lt;/object&gt;&lt;object type=&quot;3&quot; unique_id=&quot;10426&quot;&gt;&lt;property id=&quot;20148&quot; value=&quot;5&quot;/&gt;&lt;property id=&quot;20300&quot; value=&quot;Slide 8 - &amp;quot;Your People are your Advantage&amp;quot;&quot;/&gt;&lt;property id=&quot;20307&quot; value=&quot;265&quot;/&gt;&lt;/object&gt;&lt;object type=&quot;3&quot; unique_id=&quot;10427&quot;&gt;&lt;property id=&quot;20148&quot; value=&quot;5&quot;/&gt;&lt;property id=&quot;20300&quot; value=&quot;Slide 9 - &amp;quot;Develop your Entry Strategy&amp;quot;&quot;/&gt;&lt;property id=&quot;20307&quot; value=&quot;266&quot;/&gt;&lt;/object&gt;&lt;object type=&quot;3&quot; unique_id=&quot;10428&quot;&gt;&lt;property id=&quot;20148&quot; value=&quot;5&quot;/&gt;&lt;property id=&quot;20300&quot; value=&quot;Slide 10 - &amp;quot;Benchmark your Competition: The JetBlue Example &amp;quot;&quot;/&gt;&lt;property id=&quot;20307&quot; value=&quot;267&quot;/&gt;&lt;/object&gt;&lt;object type=&quot;3&quot; unique_id=&quot;10429&quot;&gt;&lt;property id=&quot;20148&quot; value=&quot;5&quot;/&gt;&lt;property id=&quot;20300&quot; value=&quot;Slide 11 - &amp;quot;You can drive growth 3 ways&amp;quot;&quot;/&gt;&lt;property id=&quot;20307&quot; value=&quot;268&quot;/&gt;&lt;/object&gt;&lt;object type=&quot;3&quot; unique_id=&quot;10430&quot;&gt;&lt;property id=&quot;20148&quot; value=&quot;5&quot;/&gt;&lt;property id=&quot;20300&quot; value=&quot;Slide 12&quot;/&gt;&lt;property id=&quot;20307&quot; value=&quot;269&quot;/&gt;&lt;/object&gt;&lt;object type=&quot;3&quot; unique_id=&quot;10431&quot;&gt;&lt;property id=&quot;20148&quot; value=&quot;5&quot;/&gt;&lt;property id=&quot;20300&quot; value=&quot;Slide 13&quot;/&gt;&lt;property id=&quot;20307&quot; value=&quot;270&quot;/&gt;&lt;/object&gt;&lt;object type=&quot;3&quot; unique_id=&quot;10432&quot;&gt;&lt;property id=&quot;20148&quot; value=&quot;5&quot;/&gt;&lt;property id=&quot;20300&quot; value=&quot;Slide 14&quot;/&gt;&lt;property id=&quot;20307&quot; value=&quot;271&quot;/&gt;&lt;/object&gt;&lt;object type=&quot;3&quot; unique_id=&quot;10433&quot;&gt;&lt;property id=&quot;20148&quot; value=&quot;5&quot;/&gt;&lt;property id=&quot;20300&quot; value=&quot;Slide 15&quot;/&gt;&lt;property id=&quot;20307&quot; value=&quot;272&quot;/&gt;&lt;/object&gt;&lt;object type=&quot;3&quot; unique_id=&quot;10434&quot;&gt;&lt;property id=&quot;20148&quot; value=&quot;5&quot;/&gt;&lt;property id=&quot;20300&quot; value=&quot;Slide 16 - &amp;quot;There are 8 basic ways to expanded internationally&amp;quot;&quot;/&gt;&lt;property id=&quot;20307&quot; value=&quot;273&quot;/&gt;&lt;/object&gt;&lt;object type=&quot;3&quot; unique_id=&quot;10435&quot;&gt;&lt;property id=&quot;20148&quot; value=&quot;5&quot;/&gt;&lt;property id=&quot;20300&quot; value=&quot;Slide 17 - &amp;quot;International expansion has risks&amp;quot;&quot;/&gt;&lt;property id=&quot;20307&quot; value=&quot;274&quot;/&gt;&lt;/object&gt;&lt;object type=&quot;3&quot; unique_id=&quot;10436&quot;&gt;&lt;property id=&quot;20148&quot; value=&quot;5&quot;/&gt;&lt;property id=&quot;20300&quot; value=&quot;Slide 18 - &amp;quot;Recap&amp;quot;&quot;/&gt;&lt;property id=&quot;20307&quot; value=&quot;275&quot;/&gt;&lt;/object&gt;&lt;object type=&quot;3&quot; unique_id=&quot;10458&quot;&gt;&lt;property id=&quot;20148&quot; value=&quot;5&quot;/&gt;&lt;property id=&quot;20300&quot; value=&quot;Slide 4 - &amp;quot;Amazon’s revenue &amp;amp; cost model requires high volume&amp;quot;&quot;/&gt;&lt;property id=&quot;20307&quot; value=&quot;276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1096</TotalTime>
  <Words>845</Words>
  <Application>Microsoft Office PowerPoint</Application>
  <PresentationFormat>On-screen Show (4:3)</PresentationFormat>
  <Paragraphs>233</Paragraphs>
  <Slides>18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Your first steps are to…</vt:lpstr>
      <vt:lpstr>Create your business model</vt:lpstr>
      <vt:lpstr>Amazon’s revenue &amp; cost model requires high volume</vt:lpstr>
      <vt:lpstr>To succeed as a successful first mover you must…</vt:lpstr>
      <vt:lpstr>First mover’s are often surpassed</vt:lpstr>
      <vt:lpstr>To win, your strategy must be to be one, or more, of these…</vt:lpstr>
      <vt:lpstr>Your People are your Advantage</vt:lpstr>
      <vt:lpstr>Develop your Entry Strategy</vt:lpstr>
      <vt:lpstr>Benchmark your Competition: The JetBlue Example </vt:lpstr>
      <vt:lpstr>You can drive growth 3 ways</vt:lpstr>
      <vt:lpstr>PowerPoint Presentation</vt:lpstr>
      <vt:lpstr>PowerPoint Presentation</vt:lpstr>
      <vt:lpstr>PowerPoint Presentation</vt:lpstr>
      <vt:lpstr>PowerPoint Presentation</vt:lpstr>
      <vt:lpstr>There are 8 basic ways to expanded internationally</vt:lpstr>
      <vt:lpstr>International expansion has risks</vt:lpstr>
      <vt:lpstr>Recap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Lauren</dc:creator>
  <cp:lastModifiedBy>Dallas, Amanda - Hoboken</cp:lastModifiedBy>
  <cp:revision>40</cp:revision>
  <dcterms:created xsi:type="dcterms:W3CDTF">2013-10-12T04:14:45Z</dcterms:created>
  <dcterms:modified xsi:type="dcterms:W3CDTF">2015-03-02T20:40:58Z</dcterms:modified>
</cp:coreProperties>
</file>