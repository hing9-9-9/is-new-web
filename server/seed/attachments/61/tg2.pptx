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1213" r:id="rId2"/>
    <p:sldId id="1223" r:id="rId3"/>
    <p:sldId id="1224" r:id="rId4"/>
    <p:sldId id="1219" r:id="rId5"/>
    <p:sldId id="1254" r:id="rId6"/>
    <p:sldId id="1298" r:id="rId7"/>
    <p:sldId id="1255" r:id="rId8"/>
    <p:sldId id="1256" r:id="rId9"/>
    <p:sldId id="1257" r:id="rId10"/>
    <p:sldId id="1258" r:id="rId11"/>
    <p:sldId id="1259"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Software: </a:t>
            </a:r>
            <a:r>
              <a:rPr lang="en-US" dirty="0" smtClean="0"/>
              <a:t>computer programs or the</a:t>
            </a:r>
            <a:r>
              <a:rPr lang="en-US" baseline="0" dirty="0" smtClean="0"/>
              <a:t> instructions given to hardware.</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a:t>
            </a:fld>
            <a:endParaRPr lang="en-US"/>
          </a:p>
        </p:txBody>
      </p:sp>
    </p:spTree>
    <p:extLst>
      <p:ext uri="{BB962C8B-B14F-4D97-AF65-F5344CB8AC3E}">
        <p14:creationId xmlns:p14="http://schemas.microsoft.com/office/powerpoint/2010/main" val="48772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Software: </a:t>
            </a:r>
            <a:r>
              <a:rPr lang="en-US" dirty="0" smtClean="0"/>
              <a:t>computer programs or the</a:t>
            </a:r>
            <a:r>
              <a:rPr lang="en-US" baseline="0" dirty="0" smtClean="0"/>
              <a:t> instructions given to hardware.</a:t>
            </a:r>
          </a:p>
          <a:p>
            <a:r>
              <a:rPr lang="en-US" b="1" baseline="0" dirty="0" smtClean="0"/>
              <a:t>Programming: </a:t>
            </a:r>
            <a:r>
              <a:rPr lang="en-US" sz="1200" b="0" i="0" u="none" strike="noStrike" kern="1200" baseline="0" dirty="0" smtClean="0">
                <a:solidFill>
                  <a:schemeClr val="tx1"/>
                </a:solidFill>
                <a:latin typeface="+mn-lt"/>
                <a:ea typeface="+mn-ea"/>
                <a:cs typeface="+mn-cs"/>
              </a:rPr>
              <a:t>The process of writing or coding programs.</a:t>
            </a:r>
          </a:p>
          <a:p>
            <a:r>
              <a:rPr lang="en-US" sz="1200" b="1" i="0" u="none" strike="noStrike" kern="1200" baseline="0" dirty="0" smtClean="0">
                <a:solidFill>
                  <a:schemeClr val="tx1"/>
                </a:solidFill>
                <a:latin typeface="+mn-lt"/>
                <a:ea typeface="+mn-ea"/>
                <a:cs typeface="+mn-cs"/>
              </a:rPr>
              <a:t>Programmers: </a:t>
            </a:r>
            <a:r>
              <a:rPr lang="en-US" sz="1200" b="0" i="0" u="none" strike="noStrike" kern="1200" baseline="0" dirty="0" smtClean="0">
                <a:solidFill>
                  <a:schemeClr val="tx1"/>
                </a:solidFill>
                <a:latin typeface="+mn-lt"/>
                <a:ea typeface="+mn-ea"/>
                <a:cs typeface="+mn-cs"/>
              </a:rPr>
              <a:t>individuals who program.</a:t>
            </a:r>
          </a:p>
          <a:p>
            <a:r>
              <a:rPr lang="en-US" sz="1200" b="1" i="0" u="none" strike="noStrike" kern="1200" baseline="0" dirty="0" smtClean="0">
                <a:solidFill>
                  <a:schemeClr val="tx1"/>
                </a:solidFill>
                <a:latin typeface="+mn-lt"/>
                <a:ea typeface="+mn-ea"/>
                <a:cs typeface="+mn-cs"/>
              </a:rPr>
              <a:t>Systems Software: </a:t>
            </a:r>
            <a:r>
              <a:rPr lang="en-US" sz="1200" b="0" i="0" u="none" strike="noStrike" kern="1200" baseline="0" dirty="0" smtClean="0">
                <a:solidFill>
                  <a:schemeClr val="tx1"/>
                </a:solidFill>
                <a:latin typeface="+mn-lt"/>
                <a:ea typeface="+mn-ea"/>
                <a:cs typeface="+mn-cs"/>
              </a:rPr>
              <a:t>is a set of instructions that serves primarily as an intermediary between computer hardware and application programs.</a:t>
            </a:r>
          </a:p>
          <a:p>
            <a:r>
              <a:rPr lang="en-US" sz="1200" b="1" i="0" u="none" strike="noStrike" kern="1200" baseline="0" dirty="0" smtClean="0">
                <a:solidFill>
                  <a:schemeClr val="tx1"/>
                </a:solidFill>
                <a:latin typeface="+mn-lt"/>
                <a:ea typeface="+mn-ea"/>
                <a:cs typeface="+mn-cs"/>
              </a:rPr>
              <a:t>Application Software: </a:t>
            </a:r>
            <a:r>
              <a:rPr lang="en-US" sz="1200" b="0" i="0" u="none" strike="noStrike" kern="1200" baseline="0" dirty="0" smtClean="0">
                <a:solidFill>
                  <a:schemeClr val="tx1"/>
                </a:solidFill>
                <a:latin typeface="+mn-lt"/>
                <a:ea typeface="+mn-ea"/>
                <a:cs typeface="+mn-cs"/>
              </a:rPr>
              <a:t>is a set of computer instructions that provides more specific functionality to a user.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3833232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2.1 </a:t>
            </a:r>
            <a:r>
              <a:rPr lang="en-US" dirty="0" smtClean="0"/>
              <a:t>Systems software serves as an intermediary between hardware and functional applications.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1840645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Software Defects: </a:t>
            </a:r>
            <a:r>
              <a:rPr lang="en-US" dirty="0" smtClean="0"/>
              <a:t>All too often, computer program code is inefficient, poorly designed, and riddled with errors. The Software Engineering Institute (SEI) at Carnegie Mellon University in Pittsburgh defines good software as usable, reliable, defect free, cost effective, and maintainable.</a:t>
            </a:r>
          </a:p>
          <a:p>
            <a:r>
              <a:rPr lang="en-US" b="1" dirty="0" smtClean="0"/>
              <a:t>Software Licensing: </a:t>
            </a:r>
            <a:r>
              <a:rPr lang="en-US" dirty="0" smtClean="0"/>
              <a:t>Many people routinely copy proprietary soft ware. However, making copies without the manufacturer’s explicit permission—a practice known as piracy—is illegal.</a:t>
            </a:r>
          </a:p>
          <a:p>
            <a:r>
              <a:rPr lang="en-US" b="1" dirty="0" smtClean="0"/>
              <a:t>Open Systems: </a:t>
            </a:r>
            <a:r>
              <a:rPr lang="en-US" dirty="0" smtClean="0"/>
              <a:t>a concept referring to a group of computing products that work together. In an open system, the same operating system with compatible soft ware is installed on all computers that interact within an organization.</a:t>
            </a:r>
          </a:p>
          <a:p>
            <a:r>
              <a:rPr lang="en-US" b="1" dirty="0" smtClean="0"/>
              <a:t>Proprietary Software: </a:t>
            </a:r>
            <a:r>
              <a:rPr lang="en-US" dirty="0" smtClean="0"/>
              <a:t>is purchased soft ware that has restrictions on its use, copying, and modification. The company that develops proprietary software keeps the source code private.</a:t>
            </a:r>
          </a:p>
          <a:p>
            <a:r>
              <a:rPr lang="en-US" b="1" dirty="0" smtClean="0"/>
              <a:t>Open-Source Software: </a:t>
            </a:r>
            <a:r>
              <a:rPr lang="en-US" dirty="0" smtClean="0"/>
              <a:t>the source code for open-source software is available at no cost to both developers and users, and is distributed with license terms that ensure that its source code will always be available.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3420941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Software: </a:t>
            </a:r>
            <a:r>
              <a:rPr lang="en-US" dirty="0" smtClean="0"/>
              <a:t>programs contained in systems software control and support the computer system and its information-processing activities.</a:t>
            </a:r>
          </a:p>
          <a:p>
            <a:r>
              <a:rPr lang="en-US" b="1" dirty="0" smtClean="0"/>
              <a:t>Operating System (OS): </a:t>
            </a:r>
            <a:r>
              <a:rPr lang="en-US" dirty="0" smtClean="0"/>
              <a:t>the “director” of your computer system’s operations. It supervises the overall operation of the computer by monitoring the computer’s status, scheduling operations, and managing input and output processes. It also provides an interface between the user and the hardware.</a:t>
            </a:r>
          </a:p>
          <a:p>
            <a:r>
              <a:rPr lang="en-US" b="1" dirty="0" smtClean="0"/>
              <a:t>Graphical User Interface (GUI): </a:t>
            </a:r>
            <a:r>
              <a:rPr lang="en-US" dirty="0" smtClean="0"/>
              <a:t>allows users to directly control the hardware by manipulating visible objects (such as icons) and actions that replace complex commands.</a:t>
            </a:r>
          </a:p>
          <a:p>
            <a:r>
              <a:rPr lang="en-US" b="1" dirty="0" smtClean="0"/>
              <a:t>Social Interface: </a:t>
            </a:r>
            <a:r>
              <a:rPr lang="en-US" dirty="0" smtClean="0"/>
              <a:t>guides the user through computer applications by using cartoon-like characters, graphics, animation, and voice commands.</a:t>
            </a:r>
          </a:p>
          <a:p>
            <a:r>
              <a:rPr lang="en-US" b="1" dirty="0" smtClean="0"/>
              <a:t>Motion Control Gaming Consoles:</a:t>
            </a:r>
            <a:r>
              <a:rPr lang="en-US" dirty="0" smtClean="0"/>
              <a:t> another type of human-computer interface (Example: the Xbox 360 Kinect, the PS3 PlayStation Move, and the Nintendo Wii).</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3752879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Application Software: </a:t>
            </a:r>
            <a:r>
              <a:rPr lang="en-US" dirty="0" smtClean="0"/>
              <a:t>consists of instructions that direct a computer system to perform specific information-processing activities and also to provide functionality for users.</a:t>
            </a:r>
          </a:p>
          <a:p>
            <a:r>
              <a:rPr lang="en-US" b="1" dirty="0" smtClean="0"/>
              <a:t>Personal Application Software: </a:t>
            </a:r>
            <a:r>
              <a:rPr lang="en-US" dirty="0" smtClean="0"/>
              <a:t>general-purpose, off -the-shelf application programs designed to help individual users increase their productivity.</a:t>
            </a:r>
          </a:p>
          <a:p>
            <a:r>
              <a:rPr lang="en-US" b="1" dirty="0" smtClean="0"/>
              <a:t>Examples of Personal Application Software:</a:t>
            </a:r>
          </a:p>
          <a:p>
            <a:pPr marL="171450" indent="-171450">
              <a:buFont typeface="Arial" panose="020B0604020202020204" pitchFamily="34" charset="0"/>
              <a:buChar char="•"/>
            </a:pPr>
            <a:r>
              <a:rPr lang="en-US" dirty="0" smtClean="0"/>
              <a:t>Spreadsheets</a:t>
            </a:r>
          </a:p>
          <a:p>
            <a:pPr marL="171450" indent="-171450">
              <a:buFont typeface="Arial" panose="020B0604020202020204" pitchFamily="34" charset="0"/>
              <a:buChar char="•"/>
            </a:pPr>
            <a:r>
              <a:rPr lang="en-US" dirty="0" smtClean="0"/>
              <a:t>Word processing</a:t>
            </a:r>
          </a:p>
          <a:p>
            <a:pPr marL="171450" indent="-171450">
              <a:buFont typeface="Arial" panose="020B0604020202020204" pitchFamily="34" charset="0"/>
              <a:buChar char="•"/>
            </a:pPr>
            <a:r>
              <a:rPr lang="en-US" dirty="0" smtClean="0"/>
              <a:t>Desktop publishing</a:t>
            </a:r>
          </a:p>
          <a:p>
            <a:pPr marL="171450" indent="-171450">
              <a:buFont typeface="Arial" panose="020B0604020202020204" pitchFamily="34" charset="0"/>
              <a:buChar char="•"/>
            </a:pPr>
            <a:r>
              <a:rPr lang="en-US" dirty="0" smtClean="0"/>
              <a:t>Data management</a:t>
            </a:r>
          </a:p>
          <a:p>
            <a:pPr marL="171450" indent="-171450">
              <a:buFont typeface="Arial" panose="020B0604020202020204" pitchFamily="34" charset="0"/>
              <a:buChar char="•"/>
            </a:pPr>
            <a:r>
              <a:rPr lang="en-US" dirty="0" smtClean="0"/>
              <a:t>Presentation</a:t>
            </a:r>
          </a:p>
          <a:p>
            <a:pPr marL="171450" indent="-171450">
              <a:buFont typeface="Arial" panose="020B0604020202020204" pitchFamily="34" charset="0"/>
              <a:buChar char="•"/>
            </a:pPr>
            <a:r>
              <a:rPr lang="en-US" dirty="0" smtClean="0"/>
              <a:t>Graphics</a:t>
            </a:r>
          </a:p>
          <a:p>
            <a:pPr marL="171450" indent="-171450">
              <a:buFont typeface="Arial" panose="020B0604020202020204" pitchFamily="34" charset="0"/>
              <a:buChar char="•"/>
            </a:pPr>
            <a:r>
              <a:rPr lang="en-US" dirty="0" smtClean="0"/>
              <a:t>Personal information management</a:t>
            </a:r>
          </a:p>
          <a:p>
            <a:pPr marL="171450" indent="-171450">
              <a:buFont typeface="Arial" panose="020B0604020202020204" pitchFamily="34" charset="0"/>
              <a:buChar char="•"/>
            </a:pPr>
            <a:r>
              <a:rPr lang="en-US" dirty="0" smtClean="0"/>
              <a:t>Personal finance</a:t>
            </a:r>
          </a:p>
          <a:p>
            <a:pPr marL="171450" indent="-171450">
              <a:buFont typeface="Arial" panose="020B0604020202020204" pitchFamily="34" charset="0"/>
              <a:buChar char="•"/>
            </a:pPr>
            <a:r>
              <a:rPr lang="en-US" dirty="0" smtClean="0"/>
              <a:t>Web authoring</a:t>
            </a:r>
          </a:p>
          <a:p>
            <a:pPr marL="171450" indent="-171450">
              <a:buFont typeface="Arial" panose="020B0604020202020204" pitchFamily="34" charset="0"/>
              <a:buChar char="•"/>
            </a:pPr>
            <a:r>
              <a:rPr lang="en-US" dirty="0" smtClean="0"/>
              <a:t>Communications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22960462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chGuide Title">
    <p:spTree>
      <p:nvGrpSpPr>
        <p:cNvPr id="1" name=""/>
        <p:cNvGrpSpPr/>
        <p:nvPr/>
      </p:nvGrpSpPr>
      <p:grpSpPr>
        <a:xfrm>
          <a:off x="0" y="0"/>
          <a:ext cx="0" cy="0"/>
          <a:chOff x="0" y="0"/>
          <a:chExt cx="0" cy="0"/>
        </a:xfrm>
      </p:grpSpPr>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7391400" y="1219200"/>
            <a:ext cx="1219200" cy="12192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0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7391400" y="1219200"/>
            <a:ext cx="1219200" cy="1219200"/>
          </a:xfrm>
        </p:spPr>
        <p:txBody>
          <a:bodyPr anchor="ctr" anchorCtr="0">
            <a:normAutofit/>
          </a:bodyPr>
          <a:lstStyle>
            <a:lvl1pPr marL="0" indent="0" algn="ctr">
              <a:buFontTx/>
              <a:buNone/>
              <a:defRPr sz="72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1</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6213" y="1600200"/>
            <a:ext cx="6632787" cy="681079"/>
          </a:xfrm>
          <a:prstGeom prst="rect">
            <a:avLst/>
          </a:prstGeom>
        </p:spPr>
      </p:pic>
    </p:spTree>
    <p:extLst>
      <p:ext uri="{BB962C8B-B14F-4D97-AF65-F5344CB8AC3E}">
        <p14:creationId xmlns:p14="http://schemas.microsoft.com/office/powerpoint/2010/main" val="25546915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G_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0" y="457200"/>
            <a:ext cx="1905000" cy="2590800"/>
          </a:xfrm>
        </p:spPr>
        <p:txBody>
          <a:bodyPr>
            <a:noAutofit/>
          </a:bodyPr>
          <a:lstStyle>
            <a:lvl1pPr marL="0" indent="0" algn="ctr">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TG 1.1</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chemeClr val="accent1">
                    <a:lumMod val="75000"/>
                  </a:schemeClr>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1744217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 id="2147483677" r:id="rId23"/>
    <p:sldLayoutId id="2147483678" r:id="rId2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Software</a:t>
            </a:r>
            <a:endParaRPr lang="en-US" dirty="0"/>
          </a:p>
        </p:txBody>
      </p:sp>
      <p:sp>
        <p:nvSpPr>
          <p:cNvPr id="5" name="Text Placeholder 4"/>
          <p:cNvSpPr>
            <a:spLocks noGrp="1"/>
          </p:cNvSpPr>
          <p:nvPr>
            <p:ph type="body" sz="quarter" idx="13"/>
          </p:nvPr>
        </p:nvSpPr>
        <p:spPr/>
        <p:txBody>
          <a:bodyPr/>
          <a:lstStyle/>
          <a:p>
            <a:r>
              <a:rPr lang="en-US" dirty="0" smtClean="0"/>
              <a:t>2</a:t>
            </a:r>
            <a:endParaRPr lang="en-US" dirty="0"/>
          </a:p>
        </p:txBody>
      </p:sp>
    </p:spTree>
    <p:extLst>
      <p:ext uri="{BB962C8B-B14F-4D97-AF65-F5344CB8AC3E}">
        <p14:creationId xmlns:p14="http://schemas.microsoft.com/office/powerpoint/2010/main" val="72698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Discuss the major software issues that confront modern organizations.</a:t>
            </a:r>
          </a:p>
          <a:p>
            <a:r>
              <a:rPr lang="en-US" dirty="0"/>
              <a:t>Analyze the advantages and disadvantages of open-source software.</a:t>
            </a:r>
          </a:p>
          <a:p>
            <a:r>
              <a:rPr lang="en-US" dirty="0"/>
              <a:t>Differentiate between the two major types of software.</a:t>
            </a:r>
          </a:p>
          <a:p>
            <a:r>
              <a:rPr lang="en-US" dirty="0"/>
              <a:t>Describe the general functions of the operating system.</a:t>
            </a:r>
          </a:p>
          <a:p>
            <a:r>
              <a:rPr lang="en-US" dirty="0"/>
              <a:t>Identify the major types of application software.</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1513857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Introduction to Software</a:t>
            </a:r>
          </a:p>
          <a:p>
            <a:r>
              <a:rPr lang="en-US" dirty="0"/>
              <a:t>Software Issues</a:t>
            </a:r>
          </a:p>
          <a:p>
            <a:r>
              <a:rPr lang="en-US" dirty="0"/>
              <a:t>Systems Software</a:t>
            </a:r>
          </a:p>
          <a:p>
            <a:r>
              <a:rPr lang="en-US" dirty="0"/>
              <a:t>Application Software</a:t>
            </a:r>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3297807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26912920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Introduction to Software</a:t>
            </a:r>
            <a:endParaRPr lang="en-US" dirty="0"/>
          </a:p>
        </p:txBody>
      </p:sp>
      <p:sp>
        <p:nvSpPr>
          <p:cNvPr id="5" name="Text Placeholder 4"/>
          <p:cNvSpPr>
            <a:spLocks noGrp="1"/>
          </p:cNvSpPr>
          <p:nvPr>
            <p:ph type="body" sz="quarter" idx="14"/>
          </p:nvPr>
        </p:nvSpPr>
        <p:spPr/>
        <p:txBody>
          <a:bodyPr/>
          <a:lstStyle/>
          <a:p>
            <a:r>
              <a:rPr lang="en-US" dirty="0" smtClean="0"/>
              <a:t>TG 2.1</a:t>
            </a:r>
            <a:endParaRPr lang="en-US" dirty="0"/>
          </a:p>
        </p:txBody>
      </p:sp>
      <p:sp>
        <p:nvSpPr>
          <p:cNvPr id="6" name="Content Placeholder 5"/>
          <p:cNvSpPr>
            <a:spLocks noGrp="1"/>
          </p:cNvSpPr>
          <p:nvPr>
            <p:ph sz="quarter" idx="15"/>
          </p:nvPr>
        </p:nvSpPr>
        <p:spPr/>
        <p:txBody>
          <a:bodyPr/>
          <a:lstStyle/>
          <a:p>
            <a:r>
              <a:rPr lang="en-US" dirty="0" smtClean="0"/>
              <a:t>Software</a:t>
            </a:r>
          </a:p>
          <a:p>
            <a:r>
              <a:rPr lang="en-US" dirty="0" smtClean="0"/>
              <a:t>Computer Programs</a:t>
            </a:r>
          </a:p>
          <a:p>
            <a:r>
              <a:rPr lang="en-US" dirty="0" smtClean="0"/>
              <a:t>Programming</a:t>
            </a:r>
          </a:p>
          <a:p>
            <a:r>
              <a:rPr lang="en-US" dirty="0" smtClean="0"/>
              <a:t>Documentation</a:t>
            </a:r>
          </a:p>
          <a:p>
            <a:r>
              <a:rPr lang="en-US" dirty="0" smtClean="0"/>
              <a:t>Systems Software</a:t>
            </a:r>
          </a:p>
          <a:p>
            <a:r>
              <a:rPr lang="en-US" dirty="0" smtClean="0"/>
              <a:t>Application Software</a:t>
            </a:r>
            <a:endParaRPr lang="en-US" dirty="0"/>
          </a:p>
        </p:txBody>
      </p:sp>
    </p:spTree>
    <p:extLst>
      <p:ext uri="{BB962C8B-B14F-4D97-AF65-F5344CB8AC3E}">
        <p14:creationId xmlns:p14="http://schemas.microsoft.com/office/powerpoint/2010/main" val="2038548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0000" lnSpcReduction="20000"/>
          </a:bodyPr>
          <a:lstStyle/>
          <a:p>
            <a:r>
              <a:rPr lang="en-US" b="1" dirty="0"/>
              <a:t>FIGURE TG 2.1 </a:t>
            </a:r>
            <a:r>
              <a:rPr lang="en-US" dirty="0"/>
              <a:t>Systems software serves as an intermediary between hardware and functional applications</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071387" y="1447800"/>
            <a:ext cx="507742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530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Software Issues</a:t>
            </a:r>
            <a:endParaRPr lang="en-US" dirty="0"/>
          </a:p>
        </p:txBody>
      </p:sp>
      <p:sp>
        <p:nvSpPr>
          <p:cNvPr id="5" name="Text Placeholder 4"/>
          <p:cNvSpPr>
            <a:spLocks noGrp="1"/>
          </p:cNvSpPr>
          <p:nvPr>
            <p:ph type="body" sz="quarter" idx="14"/>
          </p:nvPr>
        </p:nvSpPr>
        <p:spPr/>
        <p:txBody>
          <a:bodyPr/>
          <a:lstStyle/>
          <a:p>
            <a:r>
              <a:rPr lang="en-US" dirty="0" smtClean="0"/>
              <a:t>TG 2.2</a:t>
            </a:r>
            <a:endParaRPr lang="en-US" dirty="0"/>
          </a:p>
        </p:txBody>
      </p:sp>
      <p:sp>
        <p:nvSpPr>
          <p:cNvPr id="6" name="Content Placeholder 5"/>
          <p:cNvSpPr>
            <a:spLocks noGrp="1"/>
          </p:cNvSpPr>
          <p:nvPr>
            <p:ph sz="quarter" idx="15"/>
          </p:nvPr>
        </p:nvSpPr>
        <p:spPr/>
        <p:txBody>
          <a:bodyPr/>
          <a:lstStyle/>
          <a:p>
            <a:r>
              <a:rPr lang="en-US" dirty="0" smtClean="0"/>
              <a:t>Software Defects</a:t>
            </a:r>
          </a:p>
          <a:p>
            <a:r>
              <a:rPr lang="en-US" dirty="0" smtClean="0"/>
              <a:t>Software Licensing</a:t>
            </a:r>
          </a:p>
          <a:p>
            <a:r>
              <a:rPr lang="en-US" dirty="0" smtClean="0"/>
              <a:t>Open Systems</a:t>
            </a:r>
          </a:p>
          <a:p>
            <a:r>
              <a:rPr lang="en-US" dirty="0" smtClean="0"/>
              <a:t>Open-Source Software</a:t>
            </a:r>
            <a:endParaRPr lang="en-US" dirty="0"/>
          </a:p>
        </p:txBody>
      </p:sp>
    </p:spTree>
    <p:extLst>
      <p:ext uri="{BB962C8B-B14F-4D97-AF65-F5344CB8AC3E}">
        <p14:creationId xmlns:p14="http://schemas.microsoft.com/office/powerpoint/2010/main" val="3357523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Systems Software</a:t>
            </a:r>
            <a:endParaRPr lang="en-US" dirty="0"/>
          </a:p>
        </p:txBody>
      </p:sp>
      <p:sp>
        <p:nvSpPr>
          <p:cNvPr id="5" name="Text Placeholder 4"/>
          <p:cNvSpPr>
            <a:spLocks noGrp="1"/>
          </p:cNvSpPr>
          <p:nvPr>
            <p:ph type="body" sz="quarter" idx="14"/>
          </p:nvPr>
        </p:nvSpPr>
        <p:spPr/>
        <p:txBody>
          <a:bodyPr/>
          <a:lstStyle/>
          <a:p>
            <a:r>
              <a:rPr lang="en-US" dirty="0" smtClean="0"/>
              <a:t>TG 2.3</a:t>
            </a:r>
            <a:endParaRPr lang="en-US" dirty="0"/>
          </a:p>
        </p:txBody>
      </p:sp>
      <p:sp>
        <p:nvSpPr>
          <p:cNvPr id="2" name="Content Placeholder 1"/>
          <p:cNvSpPr>
            <a:spLocks noGrp="1"/>
          </p:cNvSpPr>
          <p:nvPr>
            <p:ph sz="quarter" idx="15"/>
          </p:nvPr>
        </p:nvSpPr>
        <p:spPr/>
        <p:txBody>
          <a:bodyPr/>
          <a:lstStyle/>
          <a:p>
            <a:r>
              <a:rPr lang="en-US" dirty="0" smtClean="0"/>
              <a:t>Operating System</a:t>
            </a:r>
          </a:p>
          <a:p>
            <a:r>
              <a:rPr lang="en-US" dirty="0" smtClean="0"/>
              <a:t>Graphical User Interface (GUI)</a:t>
            </a:r>
          </a:p>
          <a:p>
            <a:r>
              <a:rPr lang="en-US" dirty="0" smtClean="0"/>
              <a:t>Social Interface</a:t>
            </a:r>
            <a:endParaRPr lang="en-US" dirty="0"/>
          </a:p>
        </p:txBody>
      </p:sp>
    </p:spTree>
    <p:extLst>
      <p:ext uri="{BB962C8B-B14F-4D97-AF65-F5344CB8AC3E}">
        <p14:creationId xmlns:p14="http://schemas.microsoft.com/office/powerpoint/2010/main" val="426751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Application Software</a:t>
            </a:r>
            <a:endParaRPr lang="en-US" dirty="0"/>
          </a:p>
        </p:txBody>
      </p:sp>
      <p:sp>
        <p:nvSpPr>
          <p:cNvPr id="5" name="Text Placeholder 4"/>
          <p:cNvSpPr>
            <a:spLocks noGrp="1"/>
          </p:cNvSpPr>
          <p:nvPr>
            <p:ph type="body" sz="quarter" idx="14"/>
          </p:nvPr>
        </p:nvSpPr>
        <p:spPr/>
        <p:txBody>
          <a:bodyPr/>
          <a:lstStyle/>
          <a:p>
            <a:r>
              <a:rPr lang="en-US" dirty="0" smtClean="0"/>
              <a:t>TG 2.5</a:t>
            </a:r>
            <a:endParaRPr lang="en-US" dirty="0"/>
          </a:p>
        </p:txBody>
      </p:sp>
      <p:sp>
        <p:nvSpPr>
          <p:cNvPr id="2" name="Content Placeholder 1"/>
          <p:cNvSpPr>
            <a:spLocks noGrp="1"/>
          </p:cNvSpPr>
          <p:nvPr>
            <p:ph sz="quarter" idx="15"/>
          </p:nvPr>
        </p:nvSpPr>
        <p:spPr/>
        <p:txBody>
          <a:bodyPr/>
          <a:lstStyle/>
          <a:p>
            <a:r>
              <a:rPr lang="en-US" dirty="0" smtClean="0"/>
              <a:t>Application</a:t>
            </a:r>
          </a:p>
          <a:p>
            <a:r>
              <a:rPr lang="en-US" dirty="0" smtClean="0"/>
              <a:t>Package or Software Suite</a:t>
            </a:r>
          </a:p>
          <a:p>
            <a:r>
              <a:rPr lang="en-US" dirty="0" smtClean="0"/>
              <a:t>Personal Application Software</a:t>
            </a:r>
          </a:p>
          <a:p>
            <a:r>
              <a:rPr lang="en-US" dirty="0" smtClean="0"/>
              <a:t>Speech-Recognition Software</a:t>
            </a:r>
          </a:p>
          <a:p>
            <a:r>
              <a:rPr lang="en-US" dirty="0" smtClean="0"/>
              <a:t>Voice-Recognition Software</a:t>
            </a:r>
          </a:p>
          <a:p>
            <a:pPr lvl="1"/>
            <a:r>
              <a:rPr lang="en-US" dirty="0" smtClean="0"/>
              <a:t>Discreet versus Continuous Speech</a:t>
            </a:r>
            <a:endParaRPr lang="en-US" dirty="0"/>
          </a:p>
        </p:txBody>
      </p:sp>
    </p:spTree>
    <p:extLst>
      <p:ext uri="{BB962C8B-B14F-4D97-AF65-F5344CB8AC3E}">
        <p14:creationId xmlns:p14="http://schemas.microsoft.com/office/powerpoint/2010/main" val="1993166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Personal Application Software</a:t>
            </a:r>
            <a:endParaRPr lang="en-US" dirty="0"/>
          </a:p>
        </p:txBody>
      </p:sp>
      <p:sp>
        <p:nvSpPr>
          <p:cNvPr id="5" name="Text Placeholder 4"/>
          <p:cNvSpPr>
            <a:spLocks noGrp="1"/>
          </p:cNvSpPr>
          <p:nvPr>
            <p:ph type="body" sz="quarter" idx="13"/>
          </p:nvPr>
        </p:nvSpPr>
        <p:spPr/>
        <p:txBody>
          <a:bodyPr>
            <a:normAutofit/>
          </a:bodyPr>
          <a:lstStyle/>
          <a:p>
            <a:r>
              <a:rPr lang="en-US" dirty="0" smtClean="0"/>
              <a:t>Spreadsheets</a:t>
            </a:r>
          </a:p>
          <a:p>
            <a:r>
              <a:rPr lang="en-US" dirty="0" smtClean="0"/>
              <a:t>Word Processing</a:t>
            </a:r>
          </a:p>
          <a:p>
            <a:r>
              <a:rPr lang="en-US" dirty="0" smtClean="0"/>
              <a:t>Desktop Publishing</a:t>
            </a:r>
          </a:p>
          <a:p>
            <a:r>
              <a:rPr lang="en-US" dirty="0" smtClean="0"/>
              <a:t>Data Management</a:t>
            </a:r>
          </a:p>
          <a:p>
            <a:r>
              <a:rPr lang="en-US" dirty="0" smtClean="0"/>
              <a:t>Presentation</a:t>
            </a:r>
          </a:p>
        </p:txBody>
      </p:sp>
    </p:spTree>
    <p:extLst>
      <p:ext uri="{BB962C8B-B14F-4D97-AF65-F5344CB8AC3E}">
        <p14:creationId xmlns:p14="http://schemas.microsoft.com/office/powerpoint/2010/main" val="40242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Personal Application Software </a:t>
            </a:r>
            <a:r>
              <a:rPr lang="en-US" smtClean="0"/>
              <a:t>(Continued)</a:t>
            </a:r>
            <a:endParaRPr lang="en-US" dirty="0"/>
          </a:p>
        </p:txBody>
      </p:sp>
      <p:sp>
        <p:nvSpPr>
          <p:cNvPr id="5" name="Text Placeholder 4"/>
          <p:cNvSpPr>
            <a:spLocks noGrp="1"/>
          </p:cNvSpPr>
          <p:nvPr>
            <p:ph type="body" sz="quarter" idx="13"/>
          </p:nvPr>
        </p:nvSpPr>
        <p:spPr/>
        <p:txBody>
          <a:bodyPr>
            <a:normAutofit/>
          </a:bodyPr>
          <a:lstStyle/>
          <a:p>
            <a:r>
              <a:rPr lang="en-US" dirty="0" smtClean="0"/>
              <a:t>Graphics</a:t>
            </a:r>
          </a:p>
          <a:p>
            <a:r>
              <a:rPr lang="en-US" dirty="0" smtClean="0"/>
              <a:t>Personal Information Management</a:t>
            </a:r>
          </a:p>
          <a:p>
            <a:r>
              <a:rPr lang="en-US" dirty="0" smtClean="0"/>
              <a:t>Personal Finance</a:t>
            </a:r>
          </a:p>
          <a:p>
            <a:r>
              <a:rPr lang="en-US" dirty="0" smtClean="0"/>
              <a:t>Web Authoring</a:t>
            </a:r>
          </a:p>
          <a:p>
            <a:r>
              <a:rPr lang="en-US" dirty="0" smtClean="0"/>
              <a:t>Communications</a:t>
            </a:r>
            <a:endParaRPr lang="en-US" dirty="0"/>
          </a:p>
        </p:txBody>
      </p:sp>
    </p:spTree>
    <p:extLst>
      <p:ext uri="{BB962C8B-B14F-4D97-AF65-F5344CB8AC3E}">
        <p14:creationId xmlns:p14="http://schemas.microsoft.com/office/powerpoint/2010/main" val="3951805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16435</TotalTime>
  <Words>712</Words>
  <Application>Microsoft Office PowerPoint</Application>
  <PresentationFormat>On-screen Show (4:3)</PresentationFormat>
  <Paragraphs>99</Paragraphs>
  <Slides>11</Slides>
  <Notes>6</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 WEB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Rainer_6e_TechGuide1_Slides</dc:title>
  <dc:creator>John Kenneth Corley</dc:creator>
  <cp:lastModifiedBy>techsupport</cp:lastModifiedBy>
  <cp:revision>521</cp:revision>
  <dcterms:created xsi:type="dcterms:W3CDTF">2013-08-07T23:49:12Z</dcterms:created>
  <dcterms:modified xsi:type="dcterms:W3CDTF">2015-10-01T20:06:28Z</dcterms:modified>
</cp:coreProperties>
</file>