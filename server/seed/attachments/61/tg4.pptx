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1216" r:id="rId2"/>
    <p:sldId id="1227" r:id="rId3"/>
    <p:sldId id="1228" r:id="rId4"/>
    <p:sldId id="1217" r:id="rId5"/>
    <p:sldId id="1278" r:id="rId6"/>
    <p:sldId id="1306" r:id="rId7"/>
    <p:sldId id="1279" r:id="rId8"/>
    <p:sldId id="1304" r:id="rId9"/>
    <p:sldId id="1280" r:id="rId10"/>
    <p:sldId id="1281" r:id="rId11"/>
    <p:sldId id="1282" r:id="rId12"/>
    <p:sldId id="1307" r:id="rId13"/>
    <p:sldId id="1283" r:id="rId14"/>
    <p:sldId id="1285" r:id="rId15"/>
    <p:sldId id="1308" r:id="rId16"/>
    <p:sldId id="1309" r:id="rId17"/>
    <p:sldId id="1286" r:id="rId18"/>
    <p:sldId id="1287" r:id="rId19"/>
    <p:sldId id="1305" r:id="rId20"/>
    <p:sldId id="1288" r:id="rId21"/>
    <p:sldId id="1289" r:id="rId22"/>
    <p:sldId id="1290" r:id="rId23"/>
    <p:sldId id="1291" r:id="rId24"/>
    <p:sldId id="129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Intelligent systems: </a:t>
            </a:r>
            <a:r>
              <a:rPr lang="en-US" dirty="0" smtClean="0"/>
              <a:t>information systems that can make decisions by themselves. The term describes the various commercial applications of artificial intelligence (AI).</a:t>
            </a:r>
          </a:p>
          <a:p>
            <a:r>
              <a:rPr lang="en-US" b="1" dirty="0" smtClean="0"/>
              <a:t>Artificial Intelligence: </a:t>
            </a:r>
            <a:r>
              <a:rPr lang="en-US" dirty="0" smtClean="0"/>
              <a:t>behavior by a machine that, if performed by a human being, would be considered intelligent. It is a subfield of computer science that studies the thought processes of humans and re-creates the effects of those processes via machines, such as computers and robots.</a:t>
            </a:r>
          </a:p>
          <a:p>
            <a:r>
              <a:rPr lang="en-US" b="1" dirty="0" smtClean="0"/>
              <a:t>Intelligent Behavior: </a:t>
            </a:r>
            <a:r>
              <a:rPr lang="en-US" dirty="0" smtClean="0"/>
              <a:t>learning or understanding from experience, making sense of ambiguous or contradictory messages, and responding quickly and successfully to new situations.</a:t>
            </a:r>
          </a:p>
          <a:p>
            <a:r>
              <a:rPr lang="en-US" b="1" dirty="0" smtClean="0"/>
              <a:t>Algorithm: </a:t>
            </a:r>
            <a:r>
              <a:rPr lang="en-US" dirty="0" smtClean="0"/>
              <a:t>a problem-solving method expressed as a finite sequence of steps.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2348664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Natural</a:t>
            </a:r>
            <a:r>
              <a:rPr lang="en-US" b="1" baseline="0" dirty="0" smtClean="0"/>
              <a:t> Intelligence:  </a:t>
            </a:r>
            <a:r>
              <a:rPr lang="en-US" b="0" baseline="0" dirty="0" smtClean="0"/>
              <a:t>Human Intelligence</a:t>
            </a:r>
            <a:endParaRPr lang="en-US" dirty="0" smtClean="0"/>
          </a:p>
          <a:p>
            <a:r>
              <a:rPr lang="en-US" b="1" dirty="0" smtClean="0"/>
              <a:t>Artificial Intelligence (AI): </a:t>
            </a:r>
            <a:r>
              <a:rPr lang="en-US" dirty="0" smtClean="0"/>
              <a:t>behavior by a machine that, if performed by a human being, would be considered intelligent. It is a subfield of computer science that studies the thought processes of humans and re-creates the effects of those processes via machines, such as computers and robots.</a:t>
            </a:r>
          </a:p>
          <a:p>
            <a:r>
              <a:rPr lang="en-US" b="1" dirty="0" smtClean="0"/>
              <a:t>Intelligent Behavior: </a:t>
            </a:r>
            <a:r>
              <a:rPr lang="en-US" dirty="0" smtClean="0"/>
              <a:t>learning or understanding from experience, making sense of ambiguous or contradictory messages, and responding quickly and successfully to new situations.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2450036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4.1 </a:t>
            </a:r>
            <a:r>
              <a:rPr lang="en-US" dirty="0" smtClean="0"/>
              <a:t>Structure and process of an expert system.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1014553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Knowledge acquisition: </a:t>
            </a:r>
            <a:r>
              <a:rPr lang="en-US" dirty="0" smtClean="0"/>
              <a:t>Knowledge is acquired from domain experts or from documented sources.</a:t>
            </a:r>
          </a:p>
          <a:p>
            <a:r>
              <a:rPr lang="en-US" b="1" dirty="0" smtClean="0"/>
              <a:t>2. Knowledge representation: </a:t>
            </a:r>
            <a:r>
              <a:rPr lang="en-US" dirty="0" smtClean="0"/>
              <a:t>Acquired knowledge is organized as rules or frames (object-oriented) and stored electronically in a knowledge base.</a:t>
            </a:r>
          </a:p>
          <a:p>
            <a:r>
              <a:rPr lang="en-US" b="1" dirty="0" smtClean="0"/>
              <a:t>3. Knowledge </a:t>
            </a:r>
            <a:r>
              <a:rPr lang="en-US" b="1" dirty="0" err="1" smtClean="0"/>
              <a:t>inferencing</a:t>
            </a:r>
            <a:r>
              <a:rPr lang="en-US" b="1" dirty="0" smtClean="0"/>
              <a:t>: </a:t>
            </a:r>
            <a:r>
              <a:rPr lang="en-US" dirty="0" smtClean="0"/>
              <a:t>The computer is programmed so that it can make inferences based on the stored knowledge.</a:t>
            </a:r>
          </a:p>
          <a:p>
            <a:r>
              <a:rPr lang="en-US" b="1" dirty="0" smtClean="0"/>
              <a:t>4. Knowledge transfer: </a:t>
            </a:r>
            <a:r>
              <a:rPr lang="en-US" dirty="0" smtClean="0"/>
              <a:t>The </a:t>
            </a:r>
            <a:r>
              <a:rPr lang="en-US" dirty="0" err="1" smtClean="0"/>
              <a:t>inferenced</a:t>
            </a:r>
            <a:r>
              <a:rPr lang="en-US" dirty="0" smtClean="0"/>
              <a:t> expertise is transferred to the user in the form of a recommendation.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3597437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Knowledge Base: </a:t>
            </a:r>
            <a:r>
              <a:rPr lang="en-US" dirty="0" smtClean="0"/>
              <a:t>contains knowledge necessary for understanding, formulating, and solving problems. It comprises two basic elements: (1) facts, such as the problem situation, and (2) rules that direct the use of knowledge to solve specific problems in a particular domain.</a:t>
            </a:r>
          </a:p>
          <a:p>
            <a:r>
              <a:rPr lang="en-US" b="1" dirty="0" smtClean="0"/>
              <a:t>Inference Engine: </a:t>
            </a:r>
            <a:r>
              <a:rPr lang="en-US" dirty="0" smtClean="0"/>
              <a:t>a computer program that provides a methodology for reasoning and formulating conclusions. It enables the system to make inferences based on the stored knowledge. It is considered the “brain” of the ES.</a:t>
            </a:r>
          </a:p>
          <a:p>
            <a:r>
              <a:rPr lang="en-US" b="1" dirty="0" smtClean="0"/>
              <a:t>User Interface: </a:t>
            </a:r>
            <a:r>
              <a:rPr lang="en-US" dirty="0" smtClean="0"/>
              <a:t>enables users to communicate with the computer. Communication is carried out in a natural language, usually a question-and-answer format, and in some cases is supplemented by graphics. Dialogue between the user and the computer triggers the inference engine to match the problem symptoms with the knowledge contained in the knowledge base and then generate advice.</a:t>
            </a:r>
          </a:p>
          <a:p>
            <a:r>
              <a:rPr lang="en-US" b="1" dirty="0" smtClean="0"/>
              <a:t>Blackboard: </a:t>
            </a:r>
            <a:r>
              <a:rPr lang="en-US" dirty="0" smtClean="0"/>
              <a:t>is an area of working memory set aside for the description of a current problem, as specified by the input data. Thus, it is a kind of database.</a:t>
            </a:r>
          </a:p>
          <a:p>
            <a:r>
              <a:rPr lang="en-US" b="1" dirty="0" smtClean="0"/>
              <a:t>Explanation Subsystem (or justifier): </a:t>
            </a:r>
            <a:r>
              <a:rPr lang="en-US" dirty="0" smtClean="0"/>
              <a:t>explains ES recommendations  and interactively answers questions such as the following: Why did the ES ask a certain question? How did the ES reach a particular conclusion? What is the plan to reach the solution? This type of evaluation is necessary in computerized learning as well so that the program can be improved by analyzing the reasons for its success or failure. This component is currently being developed in experimental systems and is not available for commercial applications at the present time.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1884118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Interpretation: </a:t>
            </a:r>
            <a:r>
              <a:rPr lang="en-US" dirty="0" smtClean="0"/>
              <a:t>Inferring situation descriptions from observations</a:t>
            </a:r>
          </a:p>
          <a:p>
            <a:r>
              <a:rPr lang="en-US" b="1" dirty="0" smtClean="0"/>
              <a:t>2. Prediction: </a:t>
            </a:r>
            <a:r>
              <a:rPr lang="en-US" dirty="0" smtClean="0"/>
              <a:t>Inferring likely consequences of given situations</a:t>
            </a:r>
          </a:p>
          <a:p>
            <a:r>
              <a:rPr lang="en-US" b="1" dirty="0" smtClean="0"/>
              <a:t>3. Diagnosis: </a:t>
            </a:r>
            <a:r>
              <a:rPr lang="en-US" dirty="0" smtClean="0"/>
              <a:t>Inferring system malfunctions from observations</a:t>
            </a:r>
          </a:p>
          <a:p>
            <a:r>
              <a:rPr lang="en-US" b="1" dirty="0" smtClean="0"/>
              <a:t>4. Design: </a:t>
            </a:r>
            <a:r>
              <a:rPr lang="en-US" dirty="0" smtClean="0"/>
              <a:t>Configuring objects under constraints</a:t>
            </a:r>
          </a:p>
          <a:p>
            <a:r>
              <a:rPr lang="en-US" b="1" dirty="0" smtClean="0"/>
              <a:t>5. Planning: </a:t>
            </a:r>
            <a:r>
              <a:rPr lang="en-US" dirty="0" smtClean="0"/>
              <a:t>Developing plans to achieve goal(s)</a:t>
            </a:r>
          </a:p>
          <a:p>
            <a:r>
              <a:rPr lang="en-US" b="1" dirty="0" smtClean="0"/>
              <a:t>6. Monitoring: </a:t>
            </a:r>
            <a:r>
              <a:rPr lang="en-US" dirty="0" smtClean="0"/>
              <a:t>Comparing observations to plans, flagging exceptions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3532228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7. Debugging: </a:t>
            </a:r>
            <a:r>
              <a:rPr lang="en-US" dirty="0" smtClean="0"/>
              <a:t>Prescribing remedies for malfunctions</a:t>
            </a:r>
          </a:p>
          <a:p>
            <a:r>
              <a:rPr lang="en-US" b="1" dirty="0" smtClean="0"/>
              <a:t>8. Repair: </a:t>
            </a:r>
            <a:r>
              <a:rPr lang="en-US" dirty="0" smtClean="0"/>
              <a:t>Executing a plan to administer a prescribed remedy</a:t>
            </a:r>
          </a:p>
          <a:p>
            <a:r>
              <a:rPr lang="en-US" b="1" dirty="0" smtClean="0"/>
              <a:t>9. Instruction: </a:t>
            </a:r>
            <a:r>
              <a:rPr lang="en-US" dirty="0" smtClean="0"/>
              <a:t>Diagnosing, debugging, and correcting student performance</a:t>
            </a:r>
          </a:p>
          <a:p>
            <a:r>
              <a:rPr lang="en-US" b="1" dirty="0" smtClean="0"/>
              <a:t>10. Control: </a:t>
            </a:r>
            <a:r>
              <a:rPr lang="en-US" dirty="0" smtClean="0"/>
              <a:t>Interpreting, predicting, repairing, and monitoring systems behavior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3532228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Increased output and productivity: </a:t>
            </a:r>
            <a:r>
              <a:rPr lang="en-US" dirty="0" smtClean="0"/>
              <a:t>ESs can configure components for each custom order, increasing production capabilities.</a:t>
            </a:r>
          </a:p>
          <a:p>
            <a:r>
              <a:rPr lang="en-US" b="1" dirty="0" smtClean="0"/>
              <a:t>2. Increased quality: </a:t>
            </a:r>
            <a:r>
              <a:rPr lang="en-US" dirty="0" smtClean="0"/>
              <a:t>ESs can provide consistent advice and reduce error rates.</a:t>
            </a:r>
          </a:p>
          <a:p>
            <a:r>
              <a:rPr lang="en-US" b="1" dirty="0" smtClean="0"/>
              <a:t>3. Capture and dissemination of scarce expertise: </a:t>
            </a:r>
            <a:r>
              <a:rPr lang="en-US" dirty="0" smtClean="0"/>
              <a:t>Expertise from anywhere in the world can be obtained and used.</a:t>
            </a:r>
          </a:p>
          <a:p>
            <a:r>
              <a:rPr lang="en-US" b="1" dirty="0" smtClean="0"/>
              <a:t>4. Operation in hazardous environments:</a:t>
            </a:r>
            <a:r>
              <a:rPr lang="en-US" dirty="0" smtClean="0"/>
              <a:t> Sensors can collect information that an ES interprets, enabling human workers to avoid hot, humid, or toxic environments.</a:t>
            </a:r>
          </a:p>
          <a:p>
            <a:r>
              <a:rPr lang="en-US" b="1" dirty="0" smtClean="0"/>
              <a:t>5. Accessibility to knowledge and help desks: </a:t>
            </a:r>
            <a:r>
              <a:rPr lang="en-US" dirty="0" smtClean="0"/>
              <a:t>ESs can increase the productivity of help desk employees, or even automate this function.</a:t>
            </a:r>
          </a:p>
          <a:p>
            <a:r>
              <a:rPr lang="en-US" b="1" dirty="0" smtClean="0"/>
              <a:t>6. Reliability: </a:t>
            </a:r>
            <a:r>
              <a:rPr lang="en-US" dirty="0" smtClean="0"/>
              <a:t>ESs do not become tired or bored, call in sick, or go on strike. They consistently pay attention to details.</a:t>
            </a:r>
          </a:p>
          <a:p>
            <a:r>
              <a:rPr lang="en-US" b="1" dirty="0" smtClean="0"/>
              <a:t>7. Ability to work with incomplete or uncertain information: </a:t>
            </a:r>
            <a:r>
              <a:rPr lang="en-US" dirty="0" smtClean="0"/>
              <a:t>Even with an answer of “don’t know,” an ES can produce an answer, although it may not be a definite one.</a:t>
            </a:r>
          </a:p>
          <a:p>
            <a:r>
              <a:rPr lang="en-US" b="1" dirty="0" smtClean="0"/>
              <a:t>8. Provision of training: </a:t>
            </a:r>
            <a:r>
              <a:rPr lang="en-US" dirty="0" smtClean="0"/>
              <a:t>The explanation facility of an ES can serve as a teaching device and a knowledge base for novices.</a:t>
            </a:r>
          </a:p>
          <a:p>
            <a:r>
              <a:rPr lang="en-US" b="1" dirty="0" smtClean="0"/>
              <a:t>9. Enhancement of decision-making and problem-solving capabilities: </a:t>
            </a:r>
            <a:r>
              <a:rPr lang="en-US" dirty="0" smtClean="0"/>
              <a:t>ESs allow the integration of expert judgment into analysis (e.g., diagnosis of machine malfunction and even medical diagnosis).</a:t>
            </a:r>
          </a:p>
          <a:p>
            <a:r>
              <a:rPr lang="en-US" b="1" dirty="0" smtClean="0"/>
              <a:t>10. Decreased decision-making time: </a:t>
            </a:r>
            <a:r>
              <a:rPr lang="en-US" dirty="0" smtClean="0"/>
              <a:t>ESs usually can make faster decisions than humans working alone.</a:t>
            </a:r>
          </a:p>
          <a:p>
            <a:r>
              <a:rPr lang="en-US" b="1" dirty="0" smtClean="0"/>
              <a:t>11. Reduced downtime: </a:t>
            </a:r>
            <a:r>
              <a:rPr lang="en-US" dirty="0" smtClean="0"/>
              <a:t>ESs can quickly diagnose machine malfunctions and prescribe repairs.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4128005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Increased output and productivity: </a:t>
            </a:r>
            <a:r>
              <a:rPr lang="en-US" dirty="0" smtClean="0"/>
              <a:t>ESs can configure components for each custom order, increasing production capabilities.</a:t>
            </a:r>
          </a:p>
          <a:p>
            <a:r>
              <a:rPr lang="en-US" b="1" dirty="0" smtClean="0"/>
              <a:t>2. Increased quality: </a:t>
            </a:r>
            <a:r>
              <a:rPr lang="en-US" dirty="0" smtClean="0"/>
              <a:t>ESs can provide consistent advice and reduce error rates.</a:t>
            </a:r>
          </a:p>
          <a:p>
            <a:r>
              <a:rPr lang="en-US" b="1" dirty="0" smtClean="0"/>
              <a:t>3. Capture and dissemination of scarce expertise: </a:t>
            </a:r>
            <a:r>
              <a:rPr lang="en-US" dirty="0" smtClean="0"/>
              <a:t>Expertise from anywhere in the world can be obtained and used.</a:t>
            </a:r>
          </a:p>
          <a:p>
            <a:r>
              <a:rPr lang="en-US" b="1" dirty="0" smtClean="0"/>
              <a:t>4. Operation in hazardous environments:</a:t>
            </a:r>
            <a:r>
              <a:rPr lang="en-US" dirty="0" smtClean="0"/>
              <a:t> Sensors can collect information that an ES interprets, enabling human workers to avoid hot, humid, or toxic environments.</a:t>
            </a:r>
          </a:p>
          <a:p>
            <a:r>
              <a:rPr lang="en-US" b="1" dirty="0" smtClean="0"/>
              <a:t>5. Accessibility to knowledge and help desks: </a:t>
            </a:r>
            <a:r>
              <a:rPr lang="en-US" dirty="0" smtClean="0"/>
              <a:t>ESs can increase the productivity of help desk employees, or even automate this function.</a:t>
            </a:r>
          </a:p>
          <a:p>
            <a:r>
              <a:rPr lang="en-US" b="1" dirty="0" smtClean="0"/>
              <a:t>6. Reliability: </a:t>
            </a:r>
            <a:r>
              <a:rPr lang="en-US" dirty="0" smtClean="0"/>
              <a:t>ESs do not become tired or bored, call in sick, or go on strike. They consistently pay attention to details.</a:t>
            </a:r>
          </a:p>
          <a:p>
            <a:r>
              <a:rPr lang="en-US" b="1" dirty="0" smtClean="0"/>
              <a:t>7. Ability to work with incomplete or uncertain information: </a:t>
            </a:r>
            <a:r>
              <a:rPr lang="en-US" dirty="0" smtClean="0"/>
              <a:t>Even with an answer of “don’t know,” an ES can produce an answer, although it may not be a definite one.</a:t>
            </a:r>
          </a:p>
          <a:p>
            <a:r>
              <a:rPr lang="en-US" b="1" dirty="0" smtClean="0"/>
              <a:t>8. Provision of training: </a:t>
            </a:r>
            <a:r>
              <a:rPr lang="en-US" dirty="0" smtClean="0"/>
              <a:t>The explanation facility of an ES can serve as a teaching device and a knowledge base for novices.</a:t>
            </a:r>
          </a:p>
          <a:p>
            <a:r>
              <a:rPr lang="en-US" b="1" dirty="0" smtClean="0"/>
              <a:t>9. Enhancement of decision-making and problem-solving capabilities: </a:t>
            </a:r>
            <a:r>
              <a:rPr lang="en-US" dirty="0" smtClean="0"/>
              <a:t>ESs allow the integration of expert judgment into analysis (e.g., diagnosis of machine malfunction and even medical diagnosis).</a:t>
            </a:r>
          </a:p>
          <a:p>
            <a:r>
              <a:rPr lang="en-US" b="1" dirty="0" smtClean="0"/>
              <a:t>10. Decreased decision-making time: </a:t>
            </a:r>
            <a:r>
              <a:rPr lang="en-US" dirty="0" smtClean="0"/>
              <a:t>ESs usually can make faster decisions than humans working alone.</a:t>
            </a:r>
          </a:p>
          <a:p>
            <a:r>
              <a:rPr lang="en-US" b="1" dirty="0" smtClean="0"/>
              <a:t>11. Reduced downtime: </a:t>
            </a:r>
            <a:r>
              <a:rPr lang="en-US" dirty="0" smtClean="0"/>
              <a:t>ESs can quickly diagnose machine malfunctions and prescribe repairs.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4128005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Increased output and productivity: </a:t>
            </a:r>
            <a:r>
              <a:rPr lang="en-US" dirty="0" smtClean="0"/>
              <a:t>ESs can configure components for each custom order, increasing production capabilities.</a:t>
            </a:r>
          </a:p>
          <a:p>
            <a:r>
              <a:rPr lang="en-US" b="1" dirty="0" smtClean="0"/>
              <a:t>2. Increased quality: </a:t>
            </a:r>
            <a:r>
              <a:rPr lang="en-US" dirty="0" smtClean="0"/>
              <a:t>ESs can provide consistent advice and reduce error rates.</a:t>
            </a:r>
          </a:p>
          <a:p>
            <a:r>
              <a:rPr lang="en-US" b="1" dirty="0" smtClean="0"/>
              <a:t>3. Capture and dissemination of scarce expertise: </a:t>
            </a:r>
            <a:r>
              <a:rPr lang="en-US" dirty="0" smtClean="0"/>
              <a:t>Expertise from anywhere in the world can be obtained and used.</a:t>
            </a:r>
          </a:p>
          <a:p>
            <a:r>
              <a:rPr lang="en-US" b="1" dirty="0" smtClean="0"/>
              <a:t>4. Operation in hazardous environments:</a:t>
            </a:r>
            <a:r>
              <a:rPr lang="en-US" dirty="0" smtClean="0"/>
              <a:t> Sensors can collect information that an ES interprets, enabling human workers to avoid hot, humid, or toxic environments.</a:t>
            </a:r>
          </a:p>
          <a:p>
            <a:r>
              <a:rPr lang="en-US" b="1" dirty="0" smtClean="0"/>
              <a:t>5. Accessibility to knowledge and help desks: </a:t>
            </a:r>
            <a:r>
              <a:rPr lang="en-US" dirty="0" smtClean="0"/>
              <a:t>ESs can increase the productivity of help desk employees, or even automate this function.</a:t>
            </a:r>
          </a:p>
          <a:p>
            <a:r>
              <a:rPr lang="en-US" b="1" dirty="0" smtClean="0"/>
              <a:t>6. Reliability: </a:t>
            </a:r>
            <a:r>
              <a:rPr lang="en-US" dirty="0" smtClean="0"/>
              <a:t>ESs do not become tired or bored, call in sick, or go on strike. They consistently pay attention to details.</a:t>
            </a:r>
          </a:p>
          <a:p>
            <a:r>
              <a:rPr lang="en-US" b="1" dirty="0" smtClean="0"/>
              <a:t>7. Ability to work with incomplete or uncertain information: </a:t>
            </a:r>
            <a:r>
              <a:rPr lang="en-US" dirty="0" smtClean="0"/>
              <a:t>Even with an answer of “don’t know,” an ES can produce an answer, although it may not be a definite one.</a:t>
            </a:r>
          </a:p>
          <a:p>
            <a:r>
              <a:rPr lang="en-US" b="1" dirty="0" smtClean="0"/>
              <a:t>8. Provision of training: </a:t>
            </a:r>
            <a:r>
              <a:rPr lang="en-US" dirty="0" smtClean="0"/>
              <a:t>The explanation facility of an ES can serve as a teaching device and a knowledge base for novices.</a:t>
            </a:r>
          </a:p>
          <a:p>
            <a:r>
              <a:rPr lang="en-US" b="1" dirty="0" smtClean="0"/>
              <a:t>9. Enhancement of decision-making and problem-solving capabilities: </a:t>
            </a:r>
            <a:r>
              <a:rPr lang="en-US" dirty="0" smtClean="0"/>
              <a:t>ESs allow the integration of expert judgment into analysis (e.g., diagnosis of machine malfunction and even medical diagnosis).</a:t>
            </a:r>
          </a:p>
          <a:p>
            <a:r>
              <a:rPr lang="en-US" b="1" dirty="0" smtClean="0"/>
              <a:t>10. Decreased decision-making time: </a:t>
            </a:r>
            <a:r>
              <a:rPr lang="en-US" dirty="0" smtClean="0"/>
              <a:t>ESs usually can make faster decisions than humans working alone.</a:t>
            </a:r>
          </a:p>
          <a:p>
            <a:r>
              <a:rPr lang="en-US" b="1" dirty="0" smtClean="0"/>
              <a:t>11. Reduced downtime: </a:t>
            </a:r>
            <a:r>
              <a:rPr lang="en-US" dirty="0" smtClean="0"/>
              <a:t>ESs can quickly diagnose machine malfunctions and prescribe repairs.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4128005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Transferring domain expertise from human experts to the expert system can be difficult: </a:t>
            </a:r>
            <a:r>
              <a:rPr lang="en-US" dirty="0" smtClean="0"/>
              <a:t>because people cannot always explain how they know what they know. Often they are not aware of their complete reasoning process.</a:t>
            </a:r>
          </a:p>
          <a:p>
            <a:r>
              <a:rPr lang="en-US" b="1" dirty="0" smtClean="0"/>
              <a:t>Automating the reasoning process of domain experts may not be possible:  </a:t>
            </a:r>
            <a:r>
              <a:rPr lang="en-US" dirty="0" smtClean="0"/>
              <a:t>Even if the domain experts can explain their entire reasoning process, automating that process may not be possible. The process might be either too complex or too vague, or it might require too many rules.</a:t>
            </a:r>
          </a:p>
          <a:p>
            <a:r>
              <a:rPr lang="en-US" b="1" dirty="0" smtClean="0"/>
              <a:t>Potential liability from the use of expert systems. </a:t>
            </a:r>
            <a:r>
              <a:rPr lang="en-US" dirty="0" smtClean="0"/>
              <a:t>Humans make errors occasionally, but they are generally “let off the hook” if they took reasonable care and applied generally accepted methods. An organization that uses an expert system, however, may lack this legal protection if problems arise later. The usual example of this issue is medical treatment, but it can also arise if a business decision driven by an expert system harms someone financially.</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4265762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t>
            </a:r>
          </a:p>
          <a:p>
            <a:r>
              <a:rPr lang="en-US" b="1" dirty="0" smtClean="0"/>
              <a:t>Neural Network: </a:t>
            </a:r>
            <a:r>
              <a:rPr lang="en-US" dirty="0" smtClean="0"/>
              <a:t>a system of programs and data structures that simulates the underlying functions of the biological brain. Neural networks are particularly adept at recognizing subtle, hidden, and newly emerging patterns within complex data, as well as interpreting incomplete inputs.</a:t>
            </a:r>
          </a:p>
          <a:p>
            <a:r>
              <a:rPr lang="en-US" b="1" i="1" u="none" dirty="0" smtClean="0"/>
              <a:t>Examples</a:t>
            </a:r>
            <a:r>
              <a:rPr lang="en-US" b="1" i="1" u="none" baseline="0" dirty="0" smtClean="0"/>
              <a:t> :</a:t>
            </a:r>
          </a:p>
          <a:p>
            <a:r>
              <a:rPr lang="en-US" baseline="0" dirty="0" smtClean="0"/>
              <a:t>-- </a:t>
            </a:r>
            <a:r>
              <a:rPr lang="en-US" b="1" baseline="0" dirty="0" smtClean="0"/>
              <a:t>The Bruce nuclear facility in Ontario, Canada</a:t>
            </a:r>
            <a:r>
              <a:rPr lang="en-US" b="0" baseline="0" dirty="0" smtClean="0"/>
              <a:t>: it</a:t>
            </a:r>
            <a:r>
              <a:rPr lang="en-US" baseline="0" dirty="0" smtClean="0"/>
              <a:t> has eight nuclear reactors, making it the largest facility in North America and the second largest in the world. The plant uses a neural network in its checkpoint X-ray screening system to detect weapons concealed in personal belongings. The system also identifies biologically dangerous liquids.</a:t>
            </a:r>
          </a:p>
          <a:p>
            <a:r>
              <a:rPr lang="en-US" b="1" dirty="0" smtClean="0"/>
              <a:t>-- Research into diseases: </a:t>
            </a:r>
            <a:r>
              <a:rPr lang="en-US" dirty="0" smtClean="0"/>
              <a:t>like Alzheimer’s, Parkinson’s, and epilepsy. Researchers build robots with simulated rat brains that mimic the rats’ neural activity. The researchers then can study the brain’s function and its reaction to stimuli.</a:t>
            </a:r>
          </a:p>
          <a:p>
            <a:r>
              <a:rPr lang="en-US" b="1" dirty="0" smtClean="0"/>
              <a:t>-- Investor Forecasting: </a:t>
            </a:r>
            <a:r>
              <a:rPr lang="en-US" dirty="0" smtClean="0"/>
              <a:t>forecasting the performance of stock index futures, currencies, natural gas, and oil stocks, T-bond futures, gold stocks, and other major investments.</a:t>
            </a:r>
          </a:p>
          <a:p>
            <a:r>
              <a:rPr lang="en-US" b="1" dirty="0" smtClean="0"/>
              <a:t>-- Detecting Fraud in Banking Systems: </a:t>
            </a:r>
            <a:r>
              <a:rPr lang="en-US" dirty="0" smtClean="0"/>
              <a:t>fraud detection in credit card transactions and insurance claims, fight crime, and gauge customer satisfaction.</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t>
            </a:r>
          </a:p>
          <a:p>
            <a:r>
              <a:rPr lang="en-US" b="1" dirty="0" smtClean="0"/>
              <a:t>Machine Learning Systems: </a:t>
            </a:r>
            <a:r>
              <a:rPr lang="en-US" dirty="0" smtClean="0"/>
              <a:t>artificial intelligence systems that learn from data. For instance, a machine learning system can be trained on e-mail messages to learn to distinguish between spam and non-spam messages.</a:t>
            </a:r>
          </a:p>
          <a:p>
            <a:r>
              <a:rPr lang="en-US" b="1" i="1" u="none" dirty="0" smtClean="0"/>
              <a:t>Examples :</a:t>
            </a:r>
          </a:p>
          <a:p>
            <a:r>
              <a:rPr lang="en-US" b="1" dirty="0" smtClean="0"/>
              <a:t>-- Optical character recognition: </a:t>
            </a:r>
            <a:r>
              <a:rPr lang="en-US" dirty="0" smtClean="0"/>
              <a:t>Printed, handwritten characters are recognized automatically based on previous examples.</a:t>
            </a:r>
          </a:p>
          <a:p>
            <a:r>
              <a:rPr lang="en-US" b="1" dirty="0" smtClean="0"/>
              <a:t>-- Face recognition: </a:t>
            </a:r>
            <a:r>
              <a:rPr lang="en-US" dirty="0" smtClean="0"/>
              <a:t>Identify faces in images.</a:t>
            </a:r>
          </a:p>
          <a:p>
            <a:r>
              <a:rPr lang="en-US" b="1" dirty="0" smtClean="0"/>
              <a:t>-- Topic identification: </a:t>
            </a:r>
            <a:r>
              <a:rPr lang="en-US" dirty="0" smtClean="0"/>
              <a:t>Categorize news articles as to whether they are about politics, sports, entertainment, and so on.</a:t>
            </a:r>
          </a:p>
          <a:p>
            <a:r>
              <a:rPr lang="en-US" b="1" dirty="0" smtClean="0"/>
              <a:t>-- Fraud detection: </a:t>
            </a:r>
            <a:r>
              <a:rPr lang="en-US" dirty="0" smtClean="0"/>
              <a:t>Identify credit card transactions that may be fraudulent.</a:t>
            </a:r>
          </a:p>
          <a:p>
            <a:r>
              <a:rPr lang="en-US" b="1" dirty="0" smtClean="0"/>
              <a:t>-- Customer segmentation: </a:t>
            </a:r>
            <a:r>
              <a:rPr lang="en-US" dirty="0" smtClean="0"/>
              <a:t>Identify which customers may respond positively to a particular promotion.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1765892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4.2 </a:t>
            </a:r>
            <a:r>
              <a:rPr lang="en-US" dirty="0" smtClean="0"/>
              <a:t>Neural network.</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2616729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Fuzzy logic: </a:t>
            </a:r>
            <a:r>
              <a:rPr lang="en-US" dirty="0" smtClean="0"/>
              <a:t>is a branch of mathematics that deals with uncertainties by simulating the processes of human reasoning. A computer programmed to use fuzzy logic precisely defines subjective concepts that humans do not define precisely. For example, for the concept “income,” descriptive terms such as “high” and “moderate” are subjective and imprecise. Using fuzzy logic, however, a computer could define “high” incomes as those exceeding $200,000 per year, and “moderate” incomes as those ranging from $150,000 to $200,000 per year.</a:t>
            </a:r>
          </a:p>
          <a:p>
            <a:r>
              <a:rPr lang="en-US" b="1" i="1" dirty="0" smtClean="0"/>
              <a:t>Examples:</a:t>
            </a:r>
          </a:p>
          <a:p>
            <a:r>
              <a:rPr lang="en-US" dirty="0" smtClean="0"/>
              <a:t>-- Bank loan application approval</a:t>
            </a:r>
          </a:p>
          <a:p>
            <a:r>
              <a:rPr lang="en-US" dirty="0" smtClean="0"/>
              <a:t>-- Financial analysis</a:t>
            </a:r>
          </a:p>
          <a:p>
            <a:r>
              <a:rPr lang="en-US" dirty="0" smtClean="0"/>
              <a:t>-- Internet search engines (Google uses fuzzy logic to locate answers to your search terms, based on your perception of the topic as </a:t>
            </a:r>
            <a:r>
              <a:rPr lang="en-US" dirty="0" err="1" smtClean="0"/>
              <a:t>refl</a:t>
            </a:r>
            <a:r>
              <a:rPr lang="en-US" dirty="0" smtClean="0"/>
              <a:t> </a:t>
            </a:r>
            <a:r>
              <a:rPr lang="en-US" dirty="0" err="1" smtClean="0"/>
              <a:t>ected</a:t>
            </a:r>
            <a:r>
              <a:rPr lang="en-US" dirty="0" smtClean="0"/>
              <a:t> in how you phrase your query, which determines the relevance of the Web pages that Google delivers to you.</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3585723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smtClean="0"/>
              <a:t>Genetic Algorithm:  </a:t>
            </a:r>
            <a:r>
              <a:rPr lang="en-US" b="0" i="0" dirty="0" smtClean="0"/>
              <a:t>mimics the evolutionary “survival-of-the-fittest” process to generate increasingly better solutions to a problem. That is, a genetic algorithm is an optimizing method that finds the combination of inputs that produces the best outputs.</a:t>
            </a:r>
          </a:p>
          <a:p>
            <a:r>
              <a:rPr lang="en-US" b="1" i="0" dirty="0" smtClean="0"/>
              <a:t>Genetic algorithms are best suited </a:t>
            </a:r>
            <a:r>
              <a:rPr lang="en-US" b="0" i="0" dirty="0" smtClean="0"/>
              <a:t>to decision-making environments in which thousands or millions of solutions are possible. Genetic algorithms can find and evaluate solutions intelligently, and they can process many more possibilities more thoroughly and quickly than a human can.</a:t>
            </a:r>
          </a:p>
          <a:p>
            <a:r>
              <a:rPr lang="en-US" b="1" i="1" u="sng" dirty="0" smtClean="0"/>
              <a:t>Three functional</a:t>
            </a:r>
            <a:r>
              <a:rPr lang="en-US" b="1" i="1" u="sng" baseline="0" dirty="0" smtClean="0"/>
              <a:t> Characteristics of Genetic Algorithms:</a:t>
            </a:r>
          </a:p>
          <a:p>
            <a:r>
              <a:rPr lang="en-US" b="1" dirty="0" smtClean="0"/>
              <a:t>Selection: </a:t>
            </a:r>
            <a:r>
              <a:rPr lang="en-US" dirty="0" smtClean="0"/>
              <a:t>(survival of the fittest) The key to selection is to give preference to better and better outcomes.</a:t>
            </a:r>
          </a:p>
          <a:p>
            <a:r>
              <a:rPr lang="en-US" b="1" dirty="0" smtClean="0"/>
              <a:t>Crossover: </a:t>
            </a:r>
            <a:r>
              <a:rPr lang="en-US" dirty="0" smtClean="0"/>
              <a:t>Combining portions of good outcomes in the hope of creating an even better outcome.</a:t>
            </a:r>
          </a:p>
          <a:p>
            <a:r>
              <a:rPr lang="en-US" b="1" dirty="0" smtClean="0"/>
              <a:t>Mutation: </a:t>
            </a:r>
            <a:r>
              <a:rPr lang="en-US" dirty="0" smtClean="0"/>
              <a:t>Randomly trying combinations and evaluating the success (or failure) of an outcome.</a:t>
            </a:r>
          </a:p>
          <a:p>
            <a:r>
              <a:rPr lang="en-US" b="1" i="1" u="sng" dirty="0" smtClean="0"/>
              <a:t>Examples</a:t>
            </a:r>
            <a:r>
              <a:rPr lang="en-US" b="1" i="1" u="sng" baseline="0" dirty="0" smtClean="0"/>
              <a:t> of Applied Genetic Algorithms:</a:t>
            </a:r>
          </a:p>
          <a:p>
            <a:r>
              <a:rPr lang="en-US" b="1" dirty="0" smtClean="0"/>
              <a:t>Boeing for Design: </a:t>
            </a:r>
            <a:r>
              <a:rPr lang="en-US" dirty="0" smtClean="0"/>
              <a:t>uses genetic algorithms to design aircraft parts such as the fan blades on its 777 jet.</a:t>
            </a:r>
          </a:p>
          <a:p>
            <a:r>
              <a:rPr lang="en-US" b="1" dirty="0" smtClean="0"/>
              <a:t>Inventory Management by Retailers: </a:t>
            </a:r>
            <a:r>
              <a:rPr lang="en-US" dirty="0" smtClean="0"/>
              <a:t>Retailers such as Marks and Spencer, a British chain with 320 stores, use genetic algorithms to manage their inventories more effectively and to optimize their store displays.</a:t>
            </a:r>
          </a:p>
          <a:p>
            <a:r>
              <a:rPr lang="en-US" b="1" dirty="0" smtClean="0"/>
              <a:t>Air </a:t>
            </a:r>
            <a:r>
              <a:rPr lang="en-US" b="1" dirty="0" err="1" smtClean="0"/>
              <a:t>Liquide</a:t>
            </a:r>
            <a:r>
              <a:rPr lang="en-US" b="1" dirty="0" smtClean="0"/>
              <a:t> to Optimize Operations: </a:t>
            </a:r>
            <a:r>
              <a:rPr lang="en-US" dirty="0" smtClean="0"/>
              <a:t>Air </a:t>
            </a:r>
            <a:r>
              <a:rPr lang="en-US" dirty="0" err="1" smtClean="0"/>
              <a:t>Liquide</a:t>
            </a:r>
            <a:r>
              <a:rPr lang="en-US" dirty="0" smtClean="0"/>
              <a:t> a producer of industrial gases, uses genetic algorithms to fi </a:t>
            </a:r>
            <a:r>
              <a:rPr lang="en-US" dirty="0" err="1" smtClean="0"/>
              <a:t>nd</a:t>
            </a:r>
            <a:r>
              <a:rPr lang="en-US" dirty="0" smtClean="0"/>
              <a:t> optimal production schedules and distribution points in its supply chain. </a:t>
            </a:r>
            <a:r>
              <a:rPr lang="en-US" dirty="0" err="1" smtClean="0"/>
              <a:t>Th</a:t>
            </a:r>
            <a:r>
              <a:rPr lang="en-US" dirty="0" smtClean="0"/>
              <a:t> e company, which has 40 plants and 8,000 client sites, must consider factors such as power prices and projections of customer demand, as well as the power costs and efficiency of each plant.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2710189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u="sng" dirty="0" smtClean="0"/>
              <a:t>Three functional</a:t>
            </a:r>
            <a:r>
              <a:rPr lang="en-US" b="1" i="1" u="sng" baseline="0" dirty="0" smtClean="0"/>
              <a:t> Characteristics of Genetic Algorithms:</a:t>
            </a:r>
          </a:p>
          <a:p>
            <a:r>
              <a:rPr lang="en-US" b="1" dirty="0" smtClean="0"/>
              <a:t>Selection: </a:t>
            </a:r>
            <a:r>
              <a:rPr lang="en-US" dirty="0" smtClean="0"/>
              <a:t>(survival of the fittest) The key to selection is to give preference to better and better outcomes.</a:t>
            </a:r>
          </a:p>
          <a:p>
            <a:r>
              <a:rPr lang="en-US" b="1" dirty="0" smtClean="0"/>
              <a:t>Crossover: </a:t>
            </a:r>
            <a:r>
              <a:rPr lang="en-US" dirty="0" smtClean="0"/>
              <a:t>Combining portions of good outcomes in the hope of creating an even better outcome.</a:t>
            </a:r>
          </a:p>
          <a:p>
            <a:r>
              <a:rPr lang="en-US" b="1" dirty="0" smtClean="0"/>
              <a:t>Mutation: </a:t>
            </a:r>
            <a:r>
              <a:rPr lang="en-US" dirty="0" smtClean="0"/>
              <a:t>Randomly trying combinations and evaluating the success (or failure) of an outcome.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1763295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u="sng" dirty="0" smtClean="0"/>
              <a:t>Examples</a:t>
            </a:r>
            <a:r>
              <a:rPr lang="en-US" b="1" i="1" u="sng" baseline="0" dirty="0" smtClean="0"/>
              <a:t> of Applied Genetic Algorithms:</a:t>
            </a:r>
          </a:p>
          <a:p>
            <a:r>
              <a:rPr lang="en-US" b="1" dirty="0" smtClean="0"/>
              <a:t>Boeing for Design: </a:t>
            </a:r>
            <a:r>
              <a:rPr lang="en-US" dirty="0" smtClean="0"/>
              <a:t>uses genetic algorithms to design aircraft parts such as the fan blades on its 777 jet.</a:t>
            </a:r>
          </a:p>
          <a:p>
            <a:r>
              <a:rPr lang="en-US" b="1" dirty="0" smtClean="0"/>
              <a:t>Inventory Management by Retailers: </a:t>
            </a:r>
            <a:r>
              <a:rPr lang="en-US" dirty="0" smtClean="0"/>
              <a:t>Retailers such as Marks and Spencer, a British chain with 320 stores, use genetic algorithms to manage their inventories more effectively and to optimize their store displays.</a:t>
            </a:r>
          </a:p>
          <a:p>
            <a:r>
              <a:rPr lang="en-US" b="1" dirty="0" smtClean="0"/>
              <a:t>Air </a:t>
            </a:r>
            <a:r>
              <a:rPr lang="en-US" b="1" dirty="0" err="1" smtClean="0"/>
              <a:t>Liquide</a:t>
            </a:r>
            <a:r>
              <a:rPr lang="en-US" b="1" dirty="0" smtClean="0"/>
              <a:t> to Optimize Operations: </a:t>
            </a:r>
            <a:r>
              <a:rPr lang="en-US" dirty="0" smtClean="0"/>
              <a:t>Air </a:t>
            </a:r>
            <a:r>
              <a:rPr lang="en-US" dirty="0" err="1" smtClean="0"/>
              <a:t>Liquide</a:t>
            </a:r>
            <a:r>
              <a:rPr lang="en-US" dirty="0" smtClean="0"/>
              <a:t> a producer of industrial gases, uses genetic algorithms to fi </a:t>
            </a:r>
            <a:r>
              <a:rPr lang="en-US" dirty="0" err="1" smtClean="0"/>
              <a:t>nd</a:t>
            </a:r>
            <a:r>
              <a:rPr lang="en-US" dirty="0" smtClean="0"/>
              <a:t> optimal production schedules and distribution points in its supply chain. </a:t>
            </a:r>
            <a:r>
              <a:rPr lang="en-US" dirty="0" err="1" smtClean="0"/>
              <a:t>Th</a:t>
            </a:r>
            <a:r>
              <a:rPr lang="en-US" dirty="0" smtClean="0"/>
              <a:t> e company, which has 40 plants and 8,000 client sites, must consider factors such as power prices and projections of customer demand, as well as the power costs and efficiency of each plant.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4188668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Information Agents: </a:t>
            </a:r>
            <a:r>
              <a:rPr lang="en-US" dirty="0" smtClean="0"/>
              <a:t>search for information and display it to users. The best known information agents are buyer agents. A buyer agent, also called a shopping bot, helps customers find the products and services they need on a Web site.</a:t>
            </a:r>
          </a:p>
          <a:p>
            <a:r>
              <a:rPr lang="en-US" b="1" dirty="0" smtClean="0"/>
              <a:t>Monitoring and Surveillance Agents: </a:t>
            </a:r>
            <a:r>
              <a:rPr lang="en-US" dirty="0" smtClean="0"/>
              <a:t>Monitoring and surveillance agents, also called predictive agents, constantly observe and report on some item of interest.</a:t>
            </a:r>
          </a:p>
          <a:p>
            <a:r>
              <a:rPr lang="en-US" b="1" dirty="0" smtClean="0"/>
              <a:t>User Agents: </a:t>
            </a:r>
            <a:r>
              <a:rPr lang="en-US" dirty="0" smtClean="0"/>
              <a:t>User agents, also called personal agents, take action on your behalf.</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636401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chGuide Title">
    <p:spTree>
      <p:nvGrpSpPr>
        <p:cNvPr id="1" name=""/>
        <p:cNvGrpSpPr/>
        <p:nvPr/>
      </p:nvGrpSpPr>
      <p:grpSpPr>
        <a:xfrm>
          <a:off x="0" y="0"/>
          <a:ext cx="0" cy="0"/>
          <a:chOff x="0" y="0"/>
          <a:chExt cx="0" cy="0"/>
        </a:xfrm>
      </p:grpSpPr>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7391400" y="1219200"/>
            <a:ext cx="1219200" cy="12192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0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7391400" y="1219200"/>
            <a:ext cx="1219200" cy="1219200"/>
          </a:xfrm>
        </p:spPr>
        <p:txBody>
          <a:bodyPr anchor="ctr" anchorCtr="0">
            <a:normAutofit/>
          </a:bodyPr>
          <a:lstStyle>
            <a:lvl1pPr marL="0" indent="0" algn="ctr">
              <a:buFontTx/>
              <a:buNone/>
              <a:defRPr sz="72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1</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6213" y="1600200"/>
            <a:ext cx="6632787" cy="681079"/>
          </a:xfrm>
          <a:prstGeom prst="rect">
            <a:avLst/>
          </a:prstGeom>
        </p:spPr>
      </p:pic>
    </p:spTree>
    <p:extLst>
      <p:ext uri="{BB962C8B-B14F-4D97-AF65-F5344CB8AC3E}">
        <p14:creationId xmlns:p14="http://schemas.microsoft.com/office/powerpoint/2010/main" val="255469155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G_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0" y="457200"/>
            <a:ext cx="1905000" cy="2590800"/>
          </a:xfrm>
        </p:spPr>
        <p:txBody>
          <a:bodyPr>
            <a:noAutofit/>
          </a:bodyPr>
          <a:lstStyle>
            <a:lvl1pPr marL="0" indent="0" algn="ctr">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TG 1.1</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chemeClr val="accent1">
                    <a:lumMod val="75000"/>
                  </a:schemeClr>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17442175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 id="2147483677" r:id="rId23"/>
    <p:sldLayoutId id="2147483678" r:id="rId2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Intelligent Systems</a:t>
            </a:r>
            <a:endParaRPr lang="en-US" dirty="0"/>
          </a:p>
        </p:txBody>
      </p:sp>
      <p:sp>
        <p:nvSpPr>
          <p:cNvPr id="5" name="Text Placeholder 4"/>
          <p:cNvSpPr>
            <a:spLocks noGrp="1"/>
          </p:cNvSpPr>
          <p:nvPr>
            <p:ph type="body" sz="quarter" idx="13"/>
          </p:nvPr>
        </p:nvSpPr>
        <p:spPr/>
        <p:txBody>
          <a:bodyPr/>
          <a:lstStyle/>
          <a:p>
            <a:r>
              <a:rPr lang="en-US" dirty="0" smtClean="0"/>
              <a:t>4</a:t>
            </a:r>
            <a:endParaRPr lang="en-US" dirty="0"/>
          </a:p>
        </p:txBody>
      </p:sp>
    </p:spTree>
    <p:extLst>
      <p:ext uri="{BB962C8B-B14F-4D97-AF65-F5344CB8AC3E}">
        <p14:creationId xmlns:p14="http://schemas.microsoft.com/office/powerpoint/2010/main" val="681612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Explain the potential value and the potential limitations of artificial intelligence.</a:t>
            </a:r>
          </a:p>
          <a:p>
            <a:r>
              <a:rPr lang="en-US" dirty="0"/>
              <a:t>Provide examples of the </a:t>
            </a:r>
            <a:r>
              <a:rPr lang="en-US" dirty="0" err="1"/>
              <a:t>benefi</a:t>
            </a:r>
            <a:r>
              <a:rPr lang="en-US" dirty="0"/>
              <a:t> </a:t>
            </a:r>
            <a:r>
              <a:rPr lang="en-US" dirty="0" err="1"/>
              <a:t>ts</a:t>
            </a:r>
            <a:r>
              <a:rPr lang="en-US" dirty="0"/>
              <a:t>, applications, and limitations of expert systems.</a:t>
            </a:r>
          </a:p>
          <a:p>
            <a:r>
              <a:rPr lang="en-US" dirty="0"/>
              <a:t>Provide examples of the use of neural networks.</a:t>
            </a:r>
          </a:p>
          <a:p>
            <a:r>
              <a:rPr lang="en-US" dirty="0"/>
              <a:t>Provide examples of the use of fuzzy logic.</a:t>
            </a:r>
          </a:p>
          <a:p>
            <a:r>
              <a:rPr lang="en-US" dirty="0"/>
              <a:t>Describe the situations in which genetic algorithms would be most useful.</a:t>
            </a:r>
          </a:p>
          <a:p>
            <a:r>
              <a:rPr lang="en-US" dirty="0"/>
              <a:t>Describe the use case for several major types of intelligent agents.</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15138578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Introduction to Intelligent Systems</a:t>
            </a:r>
          </a:p>
          <a:p>
            <a:r>
              <a:rPr lang="en-US" dirty="0"/>
              <a:t>Expert Systems</a:t>
            </a:r>
          </a:p>
          <a:p>
            <a:r>
              <a:rPr lang="en-US" dirty="0"/>
              <a:t>Neural Networks</a:t>
            </a:r>
          </a:p>
          <a:p>
            <a:r>
              <a:rPr lang="en-US" dirty="0"/>
              <a:t>Fuzzy Logic</a:t>
            </a:r>
          </a:p>
          <a:p>
            <a:r>
              <a:rPr lang="en-US" dirty="0"/>
              <a:t>Genetic Algorithms</a:t>
            </a:r>
          </a:p>
          <a:p>
            <a:r>
              <a:rPr lang="en-US" dirty="0"/>
              <a:t>Intelligent Agents</a:t>
            </a:r>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3297807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26912920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Introduction to Intelligent Agents</a:t>
            </a:r>
            <a:endParaRPr lang="en-US" dirty="0"/>
          </a:p>
        </p:txBody>
      </p:sp>
      <p:sp>
        <p:nvSpPr>
          <p:cNvPr id="6" name="Text Placeholder 5"/>
          <p:cNvSpPr>
            <a:spLocks noGrp="1"/>
          </p:cNvSpPr>
          <p:nvPr>
            <p:ph type="body" sz="quarter" idx="14"/>
          </p:nvPr>
        </p:nvSpPr>
        <p:spPr/>
        <p:txBody>
          <a:bodyPr/>
          <a:lstStyle/>
          <a:p>
            <a:r>
              <a:rPr lang="en-US" dirty="0" smtClean="0"/>
              <a:t>TG 4.1</a:t>
            </a:r>
            <a:endParaRPr lang="en-US" dirty="0"/>
          </a:p>
        </p:txBody>
      </p:sp>
      <p:sp>
        <p:nvSpPr>
          <p:cNvPr id="7" name="Content Placeholder 6"/>
          <p:cNvSpPr>
            <a:spLocks noGrp="1"/>
          </p:cNvSpPr>
          <p:nvPr>
            <p:ph sz="quarter" idx="15"/>
          </p:nvPr>
        </p:nvSpPr>
        <p:spPr/>
        <p:txBody>
          <a:bodyPr/>
          <a:lstStyle/>
          <a:p>
            <a:r>
              <a:rPr lang="en-US" dirty="0" smtClean="0"/>
              <a:t>Artificial Intelligence (AI)</a:t>
            </a:r>
          </a:p>
          <a:p>
            <a:pPr lvl="1"/>
            <a:r>
              <a:rPr lang="en-US" dirty="0" smtClean="0"/>
              <a:t>Behavior by a machine that, if performed by a human being, would be considered intelligent.</a:t>
            </a:r>
          </a:p>
          <a:p>
            <a:r>
              <a:rPr lang="en-US" dirty="0" smtClean="0"/>
              <a:t>Turing Test</a:t>
            </a:r>
          </a:p>
          <a:p>
            <a:r>
              <a:rPr lang="en-US" dirty="0" smtClean="0"/>
              <a:t>Artificial Intelligence versus Natural (Human) Intelligence</a:t>
            </a:r>
            <a:endParaRPr lang="en-US" dirty="0"/>
          </a:p>
        </p:txBody>
      </p:sp>
    </p:spTree>
    <p:extLst>
      <p:ext uri="{BB962C8B-B14F-4D97-AF65-F5344CB8AC3E}">
        <p14:creationId xmlns:p14="http://schemas.microsoft.com/office/powerpoint/2010/main" val="2623651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dirty="0" smtClean="0"/>
              <a:t>Table TG 4.1 Comparison of Capabilities of Natural versus Artificial Intelligence</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918993"/>
            <a:ext cx="8153400" cy="4163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2236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Expert Systems</a:t>
            </a:r>
            <a:endParaRPr lang="en-US" dirty="0"/>
          </a:p>
        </p:txBody>
      </p:sp>
      <p:sp>
        <p:nvSpPr>
          <p:cNvPr id="6" name="Text Placeholder 5"/>
          <p:cNvSpPr>
            <a:spLocks noGrp="1"/>
          </p:cNvSpPr>
          <p:nvPr>
            <p:ph type="body" sz="quarter" idx="14"/>
          </p:nvPr>
        </p:nvSpPr>
        <p:spPr/>
        <p:txBody>
          <a:bodyPr/>
          <a:lstStyle/>
          <a:p>
            <a:r>
              <a:rPr lang="en-US" dirty="0" smtClean="0"/>
              <a:t>TG 4.2</a:t>
            </a:r>
            <a:endParaRPr lang="en-US" dirty="0"/>
          </a:p>
        </p:txBody>
      </p:sp>
      <p:sp>
        <p:nvSpPr>
          <p:cNvPr id="7" name="Content Placeholder 6"/>
          <p:cNvSpPr>
            <a:spLocks noGrp="1"/>
          </p:cNvSpPr>
          <p:nvPr>
            <p:ph sz="quarter" idx="15"/>
          </p:nvPr>
        </p:nvSpPr>
        <p:spPr/>
        <p:txBody>
          <a:bodyPr>
            <a:normAutofit/>
          </a:bodyPr>
          <a:lstStyle/>
          <a:p>
            <a:r>
              <a:rPr lang="en-US" dirty="0" smtClean="0"/>
              <a:t>Four Activities Involved in the Transfer of Expertise </a:t>
            </a:r>
            <a:br>
              <a:rPr lang="en-US" dirty="0" smtClean="0"/>
            </a:br>
            <a:r>
              <a:rPr lang="en-US" dirty="0" smtClean="0"/>
              <a:t>Expert </a:t>
            </a:r>
            <a:r>
              <a:rPr lang="en-US" dirty="0" smtClean="0">
                <a:sym typeface="Wingdings" pitchFamily="2" charset="2"/>
              </a:rPr>
              <a:t> Computer  User</a:t>
            </a:r>
            <a:endParaRPr lang="en-US" dirty="0">
              <a:sym typeface="Wingdings" pitchFamily="2" charset="2"/>
            </a:endParaRPr>
          </a:p>
          <a:p>
            <a:pPr marL="514350" indent="-457200"/>
            <a:r>
              <a:rPr lang="en-US" dirty="0" smtClean="0">
                <a:sym typeface="Wingdings" pitchFamily="2" charset="2"/>
              </a:rPr>
              <a:t>The Components of Expert Systems</a:t>
            </a:r>
          </a:p>
          <a:p>
            <a:r>
              <a:rPr lang="en-US" dirty="0" smtClean="0">
                <a:sym typeface="Wingdings" pitchFamily="2" charset="2"/>
              </a:rPr>
              <a:t>Applications, Benefits, and Limitations of Expert Systems</a:t>
            </a:r>
          </a:p>
        </p:txBody>
      </p:sp>
    </p:spTree>
    <p:extLst>
      <p:ext uri="{BB962C8B-B14F-4D97-AF65-F5344CB8AC3E}">
        <p14:creationId xmlns:p14="http://schemas.microsoft.com/office/powerpoint/2010/main" val="42135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TG 4.1 </a:t>
            </a:r>
            <a:r>
              <a:rPr lang="en-US" dirty="0"/>
              <a:t>Structure and process of an expert system</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331228" y="1447800"/>
            <a:ext cx="6557743"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8688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0000" lnSpcReduction="20000"/>
          </a:bodyPr>
          <a:lstStyle/>
          <a:p>
            <a:r>
              <a:rPr lang="en-US" dirty="0"/>
              <a:t>Four Activities Involved in the Transfer of Expertise </a:t>
            </a:r>
            <a:br>
              <a:rPr lang="en-US" dirty="0"/>
            </a:br>
            <a:r>
              <a:rPr lang="en-US" dirty="0"/>
              <a:t>Expert </a:t>
            </a:r>
            <a:r>
              <a:rPr lang="en-US" dirty="0" smtClean="0">
                <a:sym typeface="Wingdings" pitchFamily="2" charset="2"/>
              </a:rPr>
              <a:t> </a:t>
            </a:r>
            <a:r>
              <a:rPr lang="en-US" dirty="0" smtClean="0"/>
              <a:t>Computer </a:t>
            </a:r>
            <a:r>
              <a:rPr lang="en-US" dirty="0" smtClean="0">
                <a:sym typeface="Wingdings" pitchFamily="2" charset="2"/>
              </a:rPr>
              <a:t> </a:t>
            </a:r>
            <a:r>
              <a:rPr lang="en-US" dirty="0" smtClean="0"/>
              <a:t>User</a:t>
            </a:r>
            <a:endParaRPr lang="en-US" dirty="0"/>
          </a:p>
        </p:txBody>
      </p:sp>
      <p:sp>
        <p:nvSpPr>
          <p:cNvPr id="3" name="Content Placeholder 2"/>
          <p:cNvSpPr>
            <a:spLocks noGrp="1"/>
          </p:cNvSpPr>
          <p:nvPr>
            <p:ph sz="quarter" idx="14"/>
          </p:nvPr>
        </p:nvSpPr>
        <p:spPr/>
        <p:txBody>
          <a:bodyPr>
            <a:normAutofit/>
          </a:bodyPr>
          <a:lstStyle/>
          <a:p>
            <a:pPr marL="571500" indent="-514350">
              <a:buFont typeface="+mj-lt"/>
              <a:buAutoNum type="arabicPeriod"/>
            </a:pPr>
            <a:r>
              <a:rPr lang="en-US" dirty="0" smtClean="0">
                <a:sym typeface="Wingdings" pitchFamily="2" charset="2"/>
              </a:rPr>
              <a:t>Knowledge </a:t>
            </a:r>
            <a:r>
              <a:rPr lang="en-US" dirty="0">
                <a:sym typeface="Wingdings" pitchFamily="2" charset="2"/>
              </a:rPr>
              <a:t>Acquisition</a:t>
            </a:r>
          </a:p>
          <a:p>
            <a:pPr marL="571500" indent="-514350">
              <a:buFont typeface="+mj-lt"/>
              <a:buAutoNum type="arabicPeriod"/>
            </a:pPr>
            <a:r>
              <a:rPr lang="en-US" dirty="0">
                <a:sym typeface="Wingdings" pitchFamily="2" charset="2"/>
              </a:rPr>
              <a:t>Knowledge Representation</a:t>
            </a:r>
          </a:p>
          <a:p>
            <a:pPr marL="571500" indent="-514350">
              <a:buFont typeface="+mj-lt"/>
              <a:buAutoNum type="arabicPeriod"/>
            </a:pPr>
            <a:r>
              <a:rPr lang="en-US" dirty="0">
                <a:sym typeface="Wingdings" pitchFamily="2" charset="2"/>
              </a:rPr>
              <a:t>Knowledge Inferencing</a:t>
            </a:r>
          </a:p>
          <a:p>
            <a:pPr marL="571500" indent="-514350">
              <a:buFont typeface="+mj-lt"/>
              <a:buAutoNum type="arabicPeriod"/>
            </a:pPr>
            <a:r>
              <a:rPr lang="en-US" dirty="0">
                <a:sym typeface="Wingdings" pitchFamily="2" charset="2"/>
              </a:rPr>
              <a:t>Knowledge </a:t>
            </a:r>
            <a:r>
              <a:rPr lang="en-US" dirty="0" smtClean="0">
                <a:sym typeface="Wingdings" pitchFamily="2" charset="2"/>
              </a:rPr>
              <a:t>Transfer</a:t>
            </a:r>
            <a:endParaRPr lang="en-US" dirty="0">
              <a:sym typeface="Wingdings" pitchFamily="2" charset="2"/>
            </a:endParaRPr>
          </a:p>
        </p:txBody>
      </p:sp>
    </p:spTree>
    <p:extLst>
      <p:ext uri="{BB962C8B-B14F-4D97-AF65-F5344CB8AC3E}">
        <p14:creationId xmlns:p14="http://schemas.microsoft.com/office/powerpoint/2010/main" val="2387702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The Components of Expert Systems</a:t>
            </a:r>
            <a:endParaRPr lang="en-US" dirty="0"/>
          </a:p>
        </p:txBody>
      </p:sp>
      <p:sp>
        <p:nvSpPr>
          <p:cNvPr id="3" name="Content Placeholder 2"/>
          <p:cNvSpPr>
            <a:spLocks noGrp="1"/>
          </p:cNvSpPr>
          <p:nvPr>
            <p:ph sz="quarter" idx="14"/>
          </p:nvPr>
        </p:nvSpPr>
        <p:spPr/>
        <p:txBody>
          <a:bodyPr>
            <a:normAutofit/>
          </a:bodyPr>
          <a:lstStyle/>
          <a:p>
            <a:r>
              <a:rPr lang="en-US" dirty="0" smtClean="0">
                <a:sym typeface="Wingdings" pitchFamily="2" charset="2"/>
              </a:rPr>
              <a:t>Knowledge </a:t>
            </a:r>
            <a:r>
              <a:rPr lang="en-US" dirty="0">
                <a:sym typeface="Wingdings" pitchFamily="2" charset="2"/>
              </a:rPr>
              <a:t>Base</a:t>
            </a:r>
          </a:p>
          <a:p>
            <a:pPr marL="800100" lvl="1" indent="-342900"/>
            <a:r>
              <a:rPr lang="en-US" dirty="0">
                <a:sym typeface="Wingdings" pitchFamily="2" charset="2"/>
              </a:rPr>
              <a:t>Facts</a:t>
            </a:r>
          </a:p>
          <a:p>
            <a:pPr marL="800100" lvl="1" indent="-342900"/>
            <a:r>
              <a:rPr lang="en-US" dirty="0">
                <a:sym typeface="Wingdings" pitchFamily="2" charset="2"/>
              </a:rPr>
              <a:t>Rules</a:t>
            </a:r>
          </a:p>
          <a:p>
            <a:r>
              <a:rPr lang="en-US" dirty="0">
                <a:sym typeface="Wingdings" pitchFamily="2" charset="2"/>
              </a:rPr>
              <a:t>Inference </a:t>
            </a:r>
            <a:r>
              <a:rPr lang="en-US" dirty="0" smtClean="0">
                <a:sym typeface="Wingdings" pitchFamily="2" charset="2"/>
              </a:rPr>
              <a:t>Engine</a:t>
            </a:r>
            <a:endParaRPr lang="en-US" dirty="0">
              <a:sym typeface="Wingdings" pitchFamily="2" charset="2"/>
            </a:endParaRPr>
          </a:p>
        </p:txBody>
      </p:sp>
    </p:spTree>
    <p:extLst>
      <p:ext uri="{BB962C8B-B14F-4D97-AF65-F5344CB8AC3E}">
        <p14:creationId xmlns:p14="http://schemas.microsoft.com/office/powerpoint/2010/main" val="245099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Applications, Benefits, and Limitations of Expert Systems</a:t>
            </a:r>
            <a:endParaRPr lang="en-US" dirty="0"/>
          </a:p>
        </p:txBody>
      </p:sp>
      <p:sp>
        <p:nvSpPr>
          <p:cNvPr id="3" name="Content Placeholder 2"/>
          <p:cNvSpPr>
            <a:spLocks noGrp="1"/>
          </p:cNvSpPr>
          <p:nvPr>
            <p:ph sz="quarter" idx="14"/>
          </p:nvPr>
        </p:nvSpPr>
        <p:spPr/>
        <p:txBody>
          <a:bodyPr>
            <a:normAutofit/>
          </a:bodyPr>
          <a:lstStyle/>
          <a:p>
            <a:r>
              <a:rPr lang="en-US" dirty="0" smtClean="0">
                <a:sym typeface="Wingdings" pitchFamily="2" charset="2"/>
              </a:rPr>
              <a:t>Expert </a:t>
            </a:r>
            <a:r>
              <a:rPr lang="en-US" dirty="0">
                <a:sym typeface="Wingdings" pitchFamily="2" charset="2"/>
              </a:rPr>
              <a:t>Systems Are Especially Useful in the Following Categories</a:t>
            </a:r>
          </a:p>
          <a:p>
            <a:r>
              <a:rPr lang="en-US" dirty="0" smtClean="0">
                <a:sym typeface="Wingdings" pitchFamily="2" charset="2"/>
              </a:rPr>
              <a:t>Benefits </a:t>
            </a:r>
            <a:r>
              <a:rPr lang="en-US" dirty="0">
                <a:sym typeface="Wingdings" pitchFamily="2" charset="2"/>
              </a:rPr>
              <a:t>of Expert Systems</a:t>
            </a:r>
          </a:p>
          <a:p>
            <a:r>
              <a:rPr lang="en-US" dirty="0" smtClean="0">
                <a:sym typeface="Wingdings" pitchFamily="2" charset="2"/>
              </a:rPr>
              <a:t>Difficulties </a:t>
            </a:r>
            <a:r>
              <a:rPr lang="en-US" dirty="0">
                <a:sym typeface="Wingdings" pitchFamily="2" charset="2"/>
              </a:rPr>
              <a:t>of Using Expert </a:t>
            </a:r>
            <a:r>
              <a:rPr lang="en-US" dirty="0" smtClean="0">
                <a:sym typeface="Wingdings" pitchFamily="2" charset="2"/>
              </a:rPr>
              <a:t>Systems</a:t>
            </a:r>
            <a:endParaRPr lang="en-US" dirty="0">
              <a:sym typeface="Wingdings" pitchFamily="2" charset="2"/>
            </a:endParaRPr>
          </a:p>
        </p:txBody>
      </p:sp>
    </p:spTree>
    <p:extLst>
      <p:ext uri="{BB962C8B-B14F-4D97-AF65-F5344CB8AC3E}">
        <p14:creationId xmlns:p14="http://schemas.microsoft.com/office/powerpoint/2010/main" val="412530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Applications, Benefits, and Limitations of Expert Systems</a:t>
            </a:r>
            <a:endParaRPr lang="en-US" dirty="0"/>
          </a:p>
        </p:txBody>
      </p:sp>
      <p:sp>
        <p:nvSpPr>
          <p:cNvPr id="3" name="Content Placeholder 2"/>
          <p:cNvSpPr>
            <a:spLocks noGrp="1"/>
          </p:cNvSpPr>
          <p:nvPr>
            <p:ph type="body" sz="quarter" idx="13"/>
          </p:nvPr>
        </p:nvSpPr>
        <p:spPr/>
        <p:txBody>
          <a:bodyPr>
            <a:normAutofit lnSpcReduction="10000"/>
          </a:bodyPr>
          <a:lstStyle/>
          <a:p>
            <a:r>
              <a:rPr lang="en-US" dirty="0" smtClean="0">
                <a:sym typeface="Wingdings" pitchFamily="2" charset="2"/>
              </a:rPr>
              <a:t>Expert </a:t>
            </a:r>
            <a:r>
              <a:rPr lang="en-US" dirty="0">
                <a:sym typeface="Wingdings" pitchFamily="2" charset="2"/>
              </a:rPr>
              <a:t>Systems Are Especially Useful in the Following Categories</a:t>
            </a:r>
          </a:p>
          <a:p>
            <a:pPr lvl="1"/>
            <a:r>
              <a:rPr lang="en-US" dirty="0">
                <a:sym typeface="Wingdings" pitchFamily="2" charset="2"/>
              </a:rPr>
              <a:t>Interpretation</a:t>
            </a:r>
          </a:p>
          <a:p>
            <a:pPr lvl="1"/>
            <a:r>
              <a:rPr lang="en-US" dirty="0">
                <a:sym typeface="Wingdings" pitchFamily="2" charset="2"/>
              </a:rPr>
              <a:t>Prediction</a:t>
            </a:r>
          </a:p>
          <a:p>
            <a:pPr lvl="1"/>
            <a:r>
              <a:rPr lang="en-US" dirty="0">
                <a:sym typeface="Wingdings" pitchFamily="2" charset="2"/>
              </a:rPr>
              <a:t>Diagnosis</a:t>
            </a:r>
          </a:p>
          <a:p>
            <a:pPr lvl="1"/>
            <a:r>
              <a:rPr lang="en-US" dirty="0">
                <a:sym typeface="Wingdings" pitchFamily="2" charset="2"/>
              </a:rPr>
              <a:t>Design</a:t>
            </a:r>
          </a:p>
          <a:p>
            <a:pPr lvl="1"/>
            <a:r>
              <a:rPr lang="en-US" dirty="0">
                <a:sym typeface="Wingdings" pitchFamily="2" charset="2"/>
              </a:rPr>
              <a:t>Planning</a:t>
            </a:r>
          </a:p>
          <a:p>
            <a:pPr lvl="1"/>
            <a:r>
              <a:rPr lang="en-US" dirty="0" smtClean="0">
                <a:sym typeface="Wingdings" pitchFamily="2" charset="2"/>
              </a:rPr>
              <a:t>Monitoring</a:t>
            </a:r>
            <a:endParaRPr lang="en-US" dirty="0">
              <a:sym typeface="Wingdings" pitchFamily="2" charset="2"/>
            </a:endParaRPr>
          </a:p>
        </p:txBody>
      </p:sp>
    </p:spTree>
    <p:extLst>
      <p:ext uri="{BB962C8B-B14F-4D97-AF65-F5344CB8AC3E}">
        <p14:creationId xmlns:p14="http://schemas.microsoft.com/office/powerpoint/2010/main" val="803828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Applications, Benefits, and Limitations of Expert Systems</a:t>
            </a:r>
            <a:endParaRPr lang="en-US" dirty="0"/>
          </a:p>
        </p:txBody>
      </p:sp>
      <p:sp>
        <p:nvSpPr>
          <p:cNvPr id="3" name="Content Placeholder 2"/>
          <p:cNvSpPr>
            <a:spLocks noGrp="1"/>
          </p:cNvSpPr>
          <p:nvPr>
            <p:ph type="body" sz="quarter" idx="13"/>
          </p:nvPr>
        </p:nvSpPr>
        <p:spPr/>
        <p:txBody>
          <a:bodyPr>
            <a:normAutofit/>
          </a:bodyPr>
          <a:lstStyle/>
          <a:p>
            <a:r>
              <a:rPr lang="en-US" dirty="0" smtClean="0">
                <a:sym typeface="Wingdings" pitchFamily="2" charset="2"/>
              </a:rPr>
              <a:t>Expert </a:t>
            </a:r>
            <a:r>
              <a:rPr lang="en-US" dirty="0">
                <a:sym typeface="Wingdings" pitchFamily="2" charset="2"/>
              </a:rPr>
              <a:t>Systems Are Especially Useful in the Following Categories</a:t>
            </a:r>
          </a:p>
          <a:p>
            <a:pPr lvl="1"/>
            <a:r>
              <a:rPr lang="en-US" dirty="0" smtClean="0">
                <a:sym typeface="Wingdings" pitchFamily="2" charset="2"/>
              </a:rPr>
              <a:t>Debugging</a:t>
            </a:r>
            <a:endParaRPr lang="en-US" dirty="0">
              <a:sym typeface="Wingdings" pitchFamily="2" charset="2"/>
            </a:endParaRPr>
          </a:p>
          <a:p>
            <a:pPr lvl="1"/>
            <a:r>
              <a:rPr lang="en-US" dirty="0">
                <a:sym typeface="Wingdings" pitchFamily="2" charset="2"/>
              </a:rPr>
              <a:t>Repair</a:t>
            </a:r>
          </a:p>
          <a:p>
            <a:pPr lvl="1"/>
            <a:r>
              <a:rPr lang="en-US" dirty="0">
                <a:sym typeface="Wingdings" pitchFamily="2" charset="2"/>
              </a:rPr>
              <a:t>Instruction</a:t>
            </a:r>
          </a:p>
          <a:p>
            <a:pPr lvl="1"/>
            <a:r>
              <a:rPr lang="en-US" dirty="0" smtClean="0">
                <a:sym typeface="Wingdings" pitchFamily="2" charset="2"/>
              </a:rPr>
              <a:t>Control</a:t>
            </a:r>
            <a:endParaRPr lang="en-US" dirty="0">
              <a:sym typeface="Wingdings" pitchFamily="2" charset="2"/>
            </a:endParaRPr>
          </a:p>
        </p:txBody>
      </p:sp>
    </p:spTree>
    <p:extLst>
      <p:ext uri="{BB962C8B-B14F-4D97-AF65-F5344CB8AC3E}">
        <p14:creationId xmlns:p14="http://schemas.microsoft.com/office/powerpoint/2010/main" val="1572716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Applications, Benefits, and Limitations of Expert Systems</a:t>
            </a:r>
            <a:endParaRPr lang="en-US" dirty="0"/>
          </a:p>
        </p:txBody>
      </p:sp>
      <p:sp>
        <p:nvSpPr>
          <p:cNvPr id="3" name="Content Placeholder 2"/>
          <p:cNvSpPr>
            <a:spLocks noGrp="1"/>
          </p:cNvSpPr>
          <p:nvPr>
            <p:ph sz="quarter" idx="14"/>
          </p:nvPr>
        </p:nvSpPr>
        <p:spPr/>
        <p:txBody>
          <a:bodyPr>
            <a:normAutofit/>
          </a:bodyPr>
          <a:lstStyle/>
          <a:p>
            <a:r>
              <a:rPr lang="en-US" dirty="0" smtClean="0">
                <a:sym typeface="Wingdings" pitchFamily="2" charset="2"/>
              </a:rPr>
              <a:t>Benefits </a:t>
            </a:r>
            <a:r>
              <a:rPr lang="en-US" dirty="0">
                <a:sym typeface="Wingdings" pitchFamily="2" charset="2"/>
              </a:rPr>
              <a:t>of Expert Systems</a:t>
            </a:r>
          </a:p>
          <a:p>
            <a:pPr lvl="1"/>
            <a:r>
              <a:rPr lang="en-US" dirty="0">
                <a:sym typeface="Wingdings" pitchFamily="2" charset="2"/>
              </a:rPr>
              <a:t>Increased Output and Productivity</a:t>
            </a:r>
          </a:p>
          <a:p>
            <a:pPr lvl="1"/>
            <a:r>
              <a:rPr lang="en-US" dirty="0">
                <a:sym typeface="Wingdings" pitchFamily="2" charset="2"/>
              </a:rPr>
              <a:t>Increased Quality</a:t>
            </a:r>
          </a:p>
          <a:p>
            <a:pPr lvl="1"/>
            <a:r>
              <a:rPr lang="en-US" dirty="0">
                <a:sym typeface="Wingdings" pitchFamily="2" charset="2"/>
              </a:rPr>
              <a:t>Capture and Dissemination of Scarce </a:t>
            </a:r>
            <a:r>
              <a:rPr lang="en-US" dirty="0" smtClean="0">
                <a:sym typeface="Wingdings" pitchFamily="2" charset="2"/>
              </a:rPr>
              <a:t>Resources</a:t>
            </a:r>
          </a:p>
          <a:p>
            <a:pPr lvl="1"/>
            <a:r>
              <a:rPr lang="en-US" dirty="0" smtClean="0">
                <a:sym typeface="Wingdings" pitchFamily="2" charset="2"/>
              </a:rPr>
              <a:t>Operation in Hazardous Environments</a:t>
            </a:r>
          </a:p>
        </p:txBody>
      </p:sp>
    </p:spTree>
    <p:extLst>
      <p:ext uri="{BB962C8B-B14F-4D97-AF65-F5344CB8AC3E}">
        <p14:creationId xmlns:p14="http://schemas.microsoft.com/office/powerpoint/2010/main" val="3351607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Applications, Benefits, and Limitations of Expert Systems</a:t>
            </a:r>
            <a:endParaRPr lang="en-US" dirty="0"/>
          </a:p>
        </p:txBody>
      </p:sp>
      <p:sp>
        <p:nvSpPr>
          <p:cNvPr id="3" name="Content Placeholder 2"/>
          <p:cNvSpPr>
            <a:spLocks noGrp="1"/>
          </p:cNvSpPr>
          <p:nvPr>
            <p:ph sz="quarter" idx="14"/>
          </p:nvPr>
        </p:nvSpPr>
        <p:spPr/>
        <p:txBody>
          <a:bodyPr>
            <a:normAutofit/>
          </a:bodyPr>
          <a:lstStyle/>
          <a:p>
            <a:r>
              <a:rPr lang="en-US" dirty="0" smtClean="0">
                <a:sym typeface="Wingdings" pitchFamily="2" charset="2"/>
              </a:rPr>
              <a:t>Benefits </a:t>
            </a:r>
            <a:r>
              <a:rPr lang="en-US" dirty="0">
                <a:sym typeface="Wingdings" pitchFamily="2" charset="2"/>
              </a:rPr>
              <a:t>of Expert Systems</a:t>
            </a:r>
          </a:p>
          <a:p>
            <a:pPr lvl="1"/>
            <a:r>
              <a:rPr lang="en-US" dirty="0" smtClean="0">
                <a:sym typeface="Wingdings" pitchFamily="2" charset="2"/>
              </a:rPr>
              <a:t>Accessibility </a:t>
            </a:r>
            <a:r>
              <a:rPr lang="en-US" dirty="0">
                <a:sym typeface="Wingdings" pitchFamily="2" charset="2"/>
              </a:rPr>
              <a:t>to Knowledge and Help Desks</a:t>
            </a:r>
          </a:p>
          <a:p>
            <a:pPr lvl="1"/>
            <a:r>
              <a:rPr lang="en-US" dirty="0">
                <a:sym typeface="Wingdings" pitchFamily="2" charset="2"/>
              </a:rPr>
              <a:t>Reliability</a:t>
            </a:r>
          </a:p>
          <a:p>
            <a:pPr lvl="1"/>
            <a:r>
              <a:rPr lang="en-US" dirty="0">
                <a:sym typeface="Wingdings" pitchFamily="2" charset="2"/>
              </a:rPr>
              <a:t>Ability to Work with Incomplete or Uncertain Information</a:t>
            </a:r>
          </a:p>
          <a:p>
            <a:pPr lvl="1"/>
            <a:r>
              <a:rPr lang="en-US" dirty="0">
                <a:sym typeface="Wingdings" pitchFamily="2" charset="2"/>
              </a:rPr>
              <a:t>Provision of </a:t>
            </a:r>
            <a:r>
              <a:rPr lang="en-US" dirty="0" smtClean="0">
                <a:sym typeface="Wingdings" pitchFamily="2" charset="2"/>
              </a:rPr>
              <a:t>Training</a:t>
            </a:r>
            <a:endParaRPr lang="en-US" dirty="0">
              <a:sym typeface="Wingdings" pitchFamily="2" charset="2"/>
            </a:endParaRPr>
          </a:p>
        </p:txBody>
      </p:sp>
    </p:spTree>
    <p:extLst>
      <p:ext uri="{BB962C8B-B14F-4D97-AF65-F5344CB8AC3E}">
        <p14:creationId xmlns:p14="http://schemas.microsoft.com/office/powerpoint/2010/main" val="2174094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Applications, Benefits, and Limitations of Expert Systems</a:t>
            </a:r>
            <a:endParaRPr lang="en-US" dirty="0"/>
          </a:p>
        </p:txBody>
      </p:sp>
      <p:sp>
        <p:nvSpPr>
          <p:cNvPr id="3" name="Content Placeholder 2"/>
          <p:cNvSpPr>
            <a:spLocks noGrp="1"/>
          </p:cNvSpPr>
          <p:nvPr>
            <p:ph sz="quarter" idx="14"/>
          </p:nvPr>
        </p:nvSpPr>
        <p:spPr/>
        <p:txBody>
          <a:bodyPr>
            <a:normAutofit/>
          </a:bodyPr>
          <a:lstStyle/>
          <a:p>
            <a:r>
              <a:rPr lang="en-US" dirty="0" smtClean="0">
                <a:sym typeface="Wingdings" pitchFamily="2" charset="2"/>
              </a:rPr>
              <a:t>Benefits </a:t>
            </a:r>
            <a:r>
              <a:rPr lang="en-US" dirty="0">
                <a:sym typeface="Wingdings" pitchFamily="2" charset="2"/>
              </a:rPr>
              <a:t>of Expert Systems</a:t>
            </a:r>
          </a:p>
          <a:p>
            <a:pPr lvl="1"/>
            <a:r>
              <a:rPr lang="en-US" dirty="0" smtClean="0">
                <a:sym typeface="Wingdings" pitchFamily="2" charset="2"/>
              </a:rPr>
              <a:t>Enhancement </a:t>
            </a:r>
            <a:r>
              <a:rPr lang="en-US" dirty="0">
                <a:sym typeface="Wingdings" pitchFamily="2" charset="2"/>
              </a:rPr>
              <a:t>of Decision-making and Problem-solving Capabilities</a:t>
            </a:r>
          </a:p>
          <a:p>
            <a:pPr lvl="1"/>
            <a:r>
              <a:rPr lang="en-US" dirty="0">
                <a:sym typeface="Wingdings" pitchFamily="2" charset="2"/>
              </a:rPr>
              <a:t>Decreased Decision-Making Time</a:t>
            </a:r>
          </a:p>
          <a:p>
            <a:pPr lvl="1"/>
            <a:r>
              <a:rPr lang="en-US" dirty="0">
                <a:sym typeface="Wingdings" pitchFamily="2" charset="2"/>
              </a:rPr>
              <a:t>Reduced </a:t>
            </a:r>
            <a:r>
              <a:rPr lang="en-US" dirty="0" smtClean="0">
                <a:sym typeface="Wingdings" pitchFamily="2" charset="2"/>
              </a:rPr>
              <a:t>Downtime</a:t>
            </a:r>
            <a:endParaRPr lang="en-US" dirty="0">
              <a:sym typeface="Wingdings" pitchFamily="2" charset="2"/>
            </a:endParaRPr>
          </a:p>
        </p:txBody>
      </p:sp>
    </p:spTree>
    <p:extLst>
      <p:ext uri="{BB962C8B-B14F-4D97-AF65-F5344CB8AC3E}">
        <p14:creationId xmlns:p14="http://schemas.microsoft.com/office/powerpoint/2010/main" val="2174094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Applications, Benefits, and Limitations of Expert Systems</a:t>
            </a:r>
            <a:endParaRPr lang="en-US" dirty="0"/>
          </a:p>
        </p:txBody>
      </p:sp>
      <p:sp>
        <p:nvSpPr>
          <p:cNvPr id="3" name="Content Placeholder 2"/>
          <p:cNvSpPr>
            <a:spLocks noGrp="1"/>
          </p:cNvSpPr>
          <p:nvPr>
            <p:ph sz="quarter" idx="14"/>
          </p:nvPr>
        </p:nvSpPr>
        <p:spPr/>
        <p:txBody>
          <a:bodyPr>
            <a:normAutofit fontScale="92500"/>
          </a:bodyPr>
          <a:lstStyle/>
          <a:p>
            <a:r>
              <a:rPr lang="en-US" dirty="0" smtClean="0">
                <a:sym typeface="Wingdings" pitchFamily="2" charset="2"/>
              </a:rPr>
              <a:t>Difficulties </a:t>
            </a:r>
            <a:r>
              <a:rPr lang="en-US" dirty="0">
                <a:sym typeface="Wingdings" pitchFamily="2" charset="2"/>
              </a:rPr>
              <a:t>of Using Expert Systems</a:t>
            </a:r>
          </a:p>
          <a:p>
            <a:pPr lvl="1"/>
            <a:r>
              <a:rPr lang="en-US" dirty="0">
                <a:sym typeface="Wingdings" pitchFamily="2" charset="2"/>
              </a:rPr>
              <a:t>Transferring domain expertise from human experts to the expert system can be difficult because people cannot always explain what they know</a:t>
            </a:r>
          </a:p>
          <a:p>
            <a:pPr lvl="1"/>
            <a:r>
              <a:rPr lang="en-US" dirty="0">
                <a:sym typeface="Wingdings" pitchFamily="2" charset="2"/>
              </a:rPr>
              <a:t>Even if the </a:t>
            </a:r>
            <a:r>
              <a:rPr lang="en-US" dirty="0" smtClean="0">
                <a:sym typeface="Wingdings" pitchFamily="2" charset="2"/>
              </a:rPr>
              <a:t>domain </a:t>
            </a:r>
            <a:r>
              <a:rPr lang="en-US" dirty="0">
                <a:sym typeface="Wingdings" pitchFamily="2" charset="2"/>
              </a:rPr>
              <a:t>experts can explain their entire reasoning process, automating that process may not be possible</a:t>
            </a:r>
          </a:p>
          <a:p>
            <a:pPr lvl="1"/>
            <a:r>
              <a:rPr lang="en-US" dirty="0">
                <a:sym typeface="Wingdings" pitchFamily="2" charset="2"/>
              </a:rPr>
              <a:t>In some contexts, there is a potential liability from the use of expert systems</a:t>
            </a:r>
            <a:r>
              <a:rPr lang="en-US" dirty="0" smtClean="0">
                <a:sym typeface="Wingdings" pitchFamily="2" charset="2"/>
              </a:rPr>
              <a:t>.</a:t>
            </a:r>
            <a:endParaRPr lang="en-US" dirty="0">
              <a:sym typeface="Wingdings" pitchFamily="2" charset="2"/>
            </a:endParaRPr>
          </a:p>
        </p:txBody>
      </p:sp>
    </p:spTree>
    <p:extLst>
      <p:ext uri="{BB962C8B-B14F-4D97-AF65-F5344CB8AC3E}">
        <p14:creationId xmlns:p14="http://schemas.microsoft.com/office/powerpoint/2010/main" val="3666982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Neural Networks</a:t>
            </a:r>
            <a:endParaRPr lang="en-US" dirty="0"/>
          </a:p>
        </p:txBody>
      </p:sp>
      <p:sp>
        <p:nvSpPr>
          <p:cNvPr id="6" name="Text Placeholder 5"/>
          <p:cNvSpPr>
            <a:spLocks noGrp="1"/>
          </p:cNvSpPr>
          <p:nvPr>
            <p:ph type="body" sz="quarter" idx="14"/>
          </p:nvPr>
        </p:nvSpPr>
        <p:spPr/>
        <p:txBody>
          <a:bodyPr/>
          <a:lstStyle/>
          <a:p>
            <a:r>
              <a:rPr lang="en-US" dirty="0" smtClean="0"/>
              <a:t>TG 4.3</a:t>
            </a:r>
            <a:endParaRPr lang="en-US" dirty="0"/>
          </a:p>
        </p:txBody>
      </p:sp>
      <p:sp>
        <p:nvSpPr>
          <p:cNvPr id="7" name="Content Placeholder 6"/>
          <p:cNvSpPr>
            <a:spLocks noGrp="1"/>
          </p:cNvSpPr>
          <p:nvPr>
            <p:ph sz="quarter" idx="15"/>
          </p:nvPr>
        </p:nvSpPr>
        <p:spPr/>
        <p:txBody>
          <a:bodyPr>
            <a:normAutofit fontScale="92500" lnSpcReduction="10000"/>
          </a:bodyPr>
          <a:lstStyle/>
          <a:p>
            <a:r>
              <a:rPr lang="en-US" dirty="0" smtClean="0"/>
              <a:t>A system of programs and data structures that simulates the underlying functions of the biological brain</a:t>
            </a:r>
          </a:p>
          <a:p>
            <a:pPr lvl="1"/>
            <a:r>
              <a:rPr lang="en-US" dirty="0" smtClean="0"/>
              <a:t>Examples of the Use of Neural Networks</a:t>
            </a:r>
          </a:p>
          <a:p>
            <a:pPr lvl="2"/>
            <a:r>
              <a:rPr lang="en-US" dirty="0" smtClean="0"/>
              <a:t>Bruce Nuclear Facility (Ontario, Canada)</a:t>
            </a:r>
          </a:p>
          <a:p>
            <a:pPr lvl="2"/>
            <a:r>
              <a:rPr lang="en-US" dirty="0" smtClean="0"/>
              <a:t>Research into Diseases (Alzheimer’s, Parkinson’s, Epilepsy, etc.)</a:t>
            </a:r>
          </a:p>
          <a:p>
            <a:pPr lvl="2"/>
            <a:r>
              <a:rPr lang="en-US" dirty="0" smtClean="0"/>
              <a:t>Banking System Fraud Detection</a:t>
            </a:r>
            <a:endParaRPr lang="en-US" dirty="0"/>
          </a:p>
        </p:txBody>
      </p:sp>
    </p:spTree>
    <p:extLst>
      <p:ext uri="{BB962C8B-B14F-4D97-AF65-F5344CB8AC3E}">
        <p14:creationId xmlns:p14="http://schemas.microsoft.com/office/powerpoint/2010/main" val="2826640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85000" lnSpcReduction="10000"/>
          </a:bodyPr>
          <a:lstStyle/>
          <a:p>
            <a:r>
              <a:rPr lang="en-US" b="1" dirty="0"/>
              <a:t>FIGURE TG 4.2 </a:t>
            </a:r>
            <a:r>
              <a:rPr lang="en-US" dirty="0"/>
              <a:t>Neural network</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785436" y="1447800"/>
            <a:ext cx="7649327"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4268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Fuzzy Logic</a:t>
            </a:r>
            <a:endParaRPr lang="en-US" dirty="0"/>
          </a:p>
        </p:txBody>
      </p:sp>
      <p:sp>
        <p:nvSpPr>
          <p:cNvPr id="6" name="Text Placeholder 5"/>
          <p:cNvSpPr>
            <a:spLocks noGrp="1"/>
          </p:cNvSpPr>
          <p:nvPr>
            <p:ph type="body" sz="quarter" idx="14"/>
          </p:nvPr>
        </p:nvSpPr>
        <p:spPr/>
        <p:txBody>
          <a:bodyPr/>
          <a:lstStyle/>
          <a:p>
            <a:r>
              <a:rPr lang="en-US" dirty="0" smtClean="0"/>
              <a:t>TG 4.4</a:t>
            </a:r>
            <a:endParaRPr lang="en-US" dirty="0"/>
          </a:p>
        </p:txBody>
      </p:sp>
      <p:sp>
        <p:nvSpPr>
          <p:cNvPr id="7" name="Content Placeholder 6"/>
          <p:cNvSpPr>
            <a:spLocks noGrp="1"/>
          </p:cNvSpPr>
          <p:nvPr>
            <p:ph sz="quarter" idx="15"/>
          </p:nvPr>
        </p:nvSpPr>
        <p:spPr/>
        <p:txBody>
          <a:bodyPr/>
          <a:lstStyle/>
          <a:p>
            <a:r>
              <a:rPr lang="en-US" dirty="0" smtClean="0"/>
              <a:t>A branch of mathematics that deals with uncertainties by simulating the processes of human reasoning.</a:t>
            </a:r>
            <a:endParaRPr lang="en-US" dirty="0"/>
          </a:p>
        </p:txBody>
      </p:sp>
    </p:spTree>
    <p:extLst>
      <p:ext uri="{BB962C8B-B14F-4D97-AF65-F5344CB8AC3E}">
        <p14:creationId xmlns:p14="http://schemas.microsoft.com/office/powerpoint/2010/main" val="3011487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Genetic Algorithms</a:t>
            </a:r>
            <a:endParaRPr lang="en-US" dirty="0"/>
          </a:p>
        </p:txBody>
      </p:sp>
      <p:sp>
        <p:nvSpPr>
          <p:cNvPr id="6" name="Text Placeholder 5"/>
          <p:cNvSpPr>
            <a:spLocks noGrp="1"/>
          </p:cNvSpPr>
          <p:nvPr>
            <p:ph type="body" sz="quarter" idx="14"/>
          </p:nvPr>
        </p:nvSpPr>
        <p:spPr/>
        <p:txBody>
          <a:bodyPr/>
          <a:lstStyle/>
          <a:p>
            <a:r>
              <a:rPr lang="en-US" dirty="0" smtClean="0"/>
              <a:t>TG 4.5</a:t>
            </a:r>
            <a:endParaRPr lang="en-US" dirty="0"/>
          </a:p>
        </p:txBody>
      </p:sp>
      <p:sp>
        <p:nvSpPr>
          <p:cNvPr id="7" name="Content Placeholder 6"/>
          <p:cNvSpPr>
            <a:spLocks noGrp="1"/>
          </p:cNvSpPr>
          <p:nvPr>
            <p:ph sz="quarter" idx="15"/>
          </p:nvPr>
        </p:nvSpPr>
        <p:spPr/>
        <p:txBody>
          <a:bodyPr>
            <a:normAutofit lnSpcReduction="10000"/>
          </a:bodyPr>
          <a:lstStyle/>
          <a:p>
            <a:r>
              <a:rPr lang="en-US" dirty="0" smtClean="0"/>
              <a:t>Mimics the evolutionary, “survival-of-the-fittest” process to generate increasingly better solutions to a problem.</a:t>
            </a:r>
          </a:p>
          <a:p>
            <a:r>
              <a:rPr lang="en-US" dirty="0" smtClean="0"/>
              <a:t>Three Functional Characteristics of Genetic Algorithms</a:t>
            </a:r>
          </a:p>
          <a:p>
            <a:r>
              <a:rPr lang="en-US" dirty="0" smtClean="0"/>
              <a:t>Examples of Genetic Algorithms in the Field</a:t>
            </a:r>
          </a:p>
        </p:txBody>
      </p:sp>
    </p:spTree>
    <p:extLst>
      <p:ext uri="{BB962C8B-B14F-4D97-AF65-F5344CB8AC3E}">
        <p14:creationId xmlns:p14="http://schemas.microsoft.com/office/powerpoint/2010/main" val="459508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a:t>Three Functional Characteristics of Genetic Algorithms</a:t>
            </a:r>
          </a:p>
        </p:txBody>
      </p:sp>
      <p:sp>
        <p:nvSpPr>
          <p:cNvPr id="3" name="Content Placeholder 2"/>
          <p:cNvSpPr>
            <a:spLocks noGrp="1"/>
          </p:cNvSpPr>
          <p:nvPr>
            <p:ph sz="quarter" idx="14"/>
          </p:nvPr>
        </p:nvSpPr>
        <p:spPr/>
        <p:txBody>
          <a:bodyPr>
            <a:normAutofit/>
          </a:bodyPr>
          <a:lstStyle/>
          <a:p>
            <a:r>
              <a:rPr lang="en-US" dirty="0" smtClean="0"/>
              <a:t>Selection</a:t>
            </a:r>
            <a:endParaRPr lang="en-US" dirty="0"/>
          </a:p>
          <a:p>
            <a:r>
              <a:rPr lang="en-US" dirty="0"/>
              <a:t>Crossover</a:t>
            </a:r>
          </a:p>
          <a:p>
            <a:r>
              <a:rPr lang="en-US" dirty="0" smtClean="0"/>
              <a:t>Mutation</a:t>
            </a:r>
            <a:endParaRPr lang="en-US" dirty="0"/>
          </a:p>
        </p:txBody>
      </p:sp>
    </p:spTree>
    <p:extLst>
      <p:ext uri="{BB962C8B-B14F-4D97-AF65-F5344CB8AC3E}">
        <p14:creationId xmlns:p14="http://schemas.microsoft.com/office/powerpoint/2010/main" val="2811498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a:t>Examples of Genetic </a:t>
            </a:r>
            <a:r>
              <a:rPr lang="en-US" dirty="0" smtClean="0"/>
              <a:t>Algorithms in the Field</a:t>
            </a:r>
            <a:endParaRPr lang="en-US" dirty="0"/>
          </a:p>
        </p:txBody>
      </p:sp>
      <p:sp>
        <p:nvSpPr>
          <p:cNvPr id="3" name="Content Placeholder 2"/>
          <p:cNvSpPr>
            <a:spLocks noGrp="1"/>
          </p:cNvSpPr>
          <p:nvPr>
            <p:ph sz="quarter" idx="14"/>
          </p:nvPr>
        </p:nvSpPr>
        <p:spPr/>
        <p:txBody>
          <a:bodyPr>
            <a:normAutofit/>
          </a:bodyPr>
          <a:lstStyle/>
          <a:p>
            <a:r>
              <a:rPr lang="en-US" dirty="0"/>
              <a:t>Boeing’s Aircraft – Part Design</a:t>
            </a:r>
          </a:p>
          <a:p>
            <a:r>
              <a:rPr lang="en-US" dirty="0"/>
              <a:t>Marks and Spencer – Managing Inventories</a:t>
            </a:r>
          </a:p>
          <a:p>
            <a:r>
              <a:rPr lang="en-US" dirty="0"/>
              <a:t>Air </a:t>
            </a:r>
            <a:r>
              <a:rPr lang="en-US" dirty="0" err="1"/>
              <a:t>Liquide</a:t>
            </a:r>
            <a:r>
              <a:rPr lang="en-US" dirty="0"/>
              <a:t> – Optimal Production Schedules and Distribution Points in Supply Chain</a:t>
            </a:r>
          </a:p>
        </p:txBody>
      </p:sp>
    </p:spTree>
    <p:extLst>
      <p:ext uri="{BB962C8B-B14F-4D97-AF65-F5344CB8AC3E}">
        <p14:creationId xmlns:p14="http://schemas.microsoft.com/office/powerpoint/2010/main" val="1536012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Intelligent Agents</a:t>
            </a:r>
            <a:endParaRPr lang="en-US" dirty="0"/>
          </a:p>
        </p:txBody>
      </p:sp>
      <p:sp>
        <p:nvSpPr>
          <p:cNvPr id="6" name="Text Placeholder 5"/>
          <p:cNvSpPr>
            <a:spLocks noGrp="1"/>
          </p:cNvSpPr>
          <p:nvPr>
            <p:ph type="body" sz="quarter" idx="14"/>
          </p:nvPr>
        </p:nvSpPr>
        <p:spPr/>
        <p:txBody>
          <a:bodyPr/>
          <a:lstStyle/>
          <a:p>
            <a:r>
              <a:rPr lang="en-US" dirty="0" smtClean="0"/>
              <a:t>TG 4.6</a:t>
            </a:r>
            <a:endParaRPr lang="en-US" dirty="0"/>
          </a:p>
        </p:txBody>
      </p:sp>
      <p:sp>
        <p:nvSpPr>
          <p:cNvPr id="7" name="Content Placeholder 6"/>
          <p:cNvSpPr>
            <a:spLocks noGrp="1"/>
          </p:cNvSpPr>
          <p:nvPr>
            <p:ph sz="quarter" idx="15"/>
          </p:nvPr>
        </p:nvSpPr>
        <p:spPr/>
        <p:txBody>
          <a:bodyPr>
            <a:normAutofit fontScale="92500" lnSpcReduction="10000"/>
          </a:bodyPr>
          <a:lstStyle/>
          <a:p>
            <a:r>
              <a:rPr lang="en-US" dirty="0" smtClean="0"/>
              <a:t>A software program that assists, you, or acts on your behalf, in performing repetitive computer-related tasks.</a:t>
            </a:r>
          </a:p>
          <a:p>
            <a:r>
              <a:rPr lang="en-US" dirty="0" smtClean="0"/>
              <a:t>Information Agents</a:t>
            </a:r>
          </a:p>
          <a:p>
            <a:r>
              <a:rPr lang="en-US" dirty="0" smtClean="0"/>
              <a:t>Monitoring-and-Surveillance Agents</a:t>
            </a:r>
          </a:p>
          <a:p>
            <a:r>
              <a:rPr lang="en-US" dirty="0" smtClean="0"/>
              <a:t>User Agents (or Personal Agents)</a:t>
            </a:r>
            <a:endParaRPr lang="en-US" dirty="0"/>
          </a:p>
        </p:txBody>
      </p:sp>
    </p:spTree>
    <p:extLst>
      <p:ext uri="{BB962C8B-B14F-4D97-AF65-F5344CB8AC3E}">
        <p14:creationId xmlns:p14="http://schemas.microsoft.com/office/powerpoint/2010/main" val="2627116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16596</TotalTime>
  <Words>3351</Words>
  <Application>Microsoft Office PowerPoint</Application>
  <PresentationFormat>On-screen Show (4:3)</PresentationFormat>
  <Paragraphs>242</Paragraphs>
  <Slides>24</Slides>
  <Notes>18</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 WEB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Rainer_6e_TechGuide4_Slides</dc:title>
  <dc:creator>John Kenneth Corley</dc:creator>
  <cp:lastModifiedBy>techsupport</cp:lastModifiedBy>
  <cp:revision>527</cp:revision>
  <dcterms:created xsi:type="dcterms:W3CDTF">2013-08-07T23:49:12Z</dcterms:created>
  <dcterms:modified xsi:type="dcterms:W3CDTF">2015-10-01T20:06:57Z</dcterms:modified>
</cp:coreProperties>
</file>