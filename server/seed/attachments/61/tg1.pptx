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1214" r:id="rId2"/>
    <p:sldId id="1221" r:id="rId3"/>
    <p:sldId id="1222" r:id="rId4"/>
    <p:sldId id="1220" r:id="rId5"/>
    <p:sldId id="1229" r:id="rId6"/>
    <p:sldId id="1230" r:id="rId7"/>
    <p:sldId id="1231" r:id="rId8"/>
    <p:sldId id="1232" r:id="rId9"/>
    <p:sldId id="1293" r:id="rId10"/>
    <p:sldId id="1233" r:id="rId11"/>
    <p:sldId id="1234" r:id="rId12"/>
    <p:sldId id="1235" r:id="rId13"/>
    <p:sldId id="1236" r:id="rId14"/>
    <p:sldId id="1237" r:id="rId15"/>
    <p:sldId id="1238" r:id="rId16"/>
    <p:sldId id="1239" r:id="rId17"/>
    <p:sldId id="1240" r:id="rId18"/>
    <p:sldId id="1241" r:id="rId19"/>
    <p:sldId id="1242" r:id="rId20"/>
    <p:sldId id="1243" r:id="rId21"/>
    <p:sldId id="1244" r:id="rId22"/>
    <p:sldId id="1245" r:id="rId23"/>
    <p:sldId id="1246" r:id="rId24"/>
    <p:sldId id="1247" r:id="rId25"/>
    <p:sldId id="1294" r:id="rId26"/>
    <p:sldId id="1295" r:id="rId27"/>
    <p:sldId id="1248" r:id="rId28"/>
    <p:sldId id="1296" r:id="rId29"/>
    <p:sldId id="1249" r:id="rId30"/>
    <p:sldId id="1297" r:id="rId31"/>
    <p:sldId id="1250" r:id="rId32"/>
    <p:sldId id="1251" r:id="rId33"/>
    <p:sldId id="1252" r:id="rId34"/>
    <p:sldId id="125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Hardware: </a:t>
            </a:r>
            <a:r>
              <a:rPr lang="en-US" dirty="0" smtClean="0"/>
              <a:t>the physical equipment used for the input, processing, output, and storage activities of a computer system. Decisions about hardware focus on three interrelated factors: appropriateness for the task, speed, and cost.</a:t>
            </a:r>
          </a:p>
          <a:p>
            <a:r>
              <a:rPr lang="en-US" b="1" dirty="0" smtClean="0"/>
              <a:t>Central Processing Unit (CPU): </a:t>
            </a:r>
            <a:r>
              <a:rPr lang="en-US" dirty="0" smtClean="0"/>
              <a:t>Manipulates the data and controls the tasks performed by the other components.</a:t>
            </a:r>
          </a:p>
          <a:p>
            <a:r>
              <a:rPr lang="en-US" b="1" dirty="0" smtClean="0"/>
              <a:t>Primary Storage: </a:t>
            </a:r>
            <a:r>
              <a:rPr lang="en-US" dirty="0" smtClean="0"/>
              <a:t>Temporarily stores data and program instructions during processing.</a:t>
            </a:r>
          </a:p>
          <a:p>
            <a:r>
              <a:rPr lang="en-US" b="1" dirty="0" smtClean="0"/>
              <a:t>Secondary Storage: </a:t>
            </a:r>
            <a:r>
              <a:rPr lang="en-US" dirty="0" smtClean="0"/>
              <a:t>Stores data and programs for future use.</a:t>
            </a:r>
          </a:p>
          <a:p>
            <a:r>
              <a:rPr lang="en-US" b="1" dirty="0" smtClean="0"/>
              <a:t>Input Technologies: </a:t>
            </a:r>
            <a:r>
              <a:rPr lang="en-US" dirty="0" smtClean="0"/>
              <a:t>Accept data and instructions and convert them to a form that the computer can understand.</a:t>
            </a:r>
          </a:p>
          <a:p>
            <a:r>
              <a:rPr lang="en-US" b="1" dirty="0" smtClean="0"/>
              <a:t>Output Technologies: </a:t>
            </a:r>
            <a:r>
              <a:rPr lang="en-US" dirty="0" smtClean="0"/>
              <a:t>Present data and information in a form people can understand.</a:t>
            </a:r>
          </a:p>
          <a:p>
            <a:r>
              <a:rPr lang="en-US" b="1" dirty="0" smtClean="0"/>
              <a:t>Communication Technologies: </a:t>
            </a:r>
            <a:r>
              <a:rPr lang="en-US" dirty="0" smtClean="0"/>
              <a:t>Provide for the flow of data from external computer networks (e.g., the Internet and intranets) to the CPU, and from the CPU to computer networks.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3316642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Supercomputers: </a:t>
            </a:r>
            <a:r>
              <a:rPr lang="en-US" dirty="0" smtClean="0"/>
              <a:t>the fastest computers available at any given time. Due to the high cost they are generally used by large organizations to execute computationally demanding tasks involving very large datasets (military, scientific research, national weather service, etc.).</a:t>
            </a:r>
          </a:p>
          <a:p>
            <a:r>
              <a:rPr lang="en-US" b="1" dirty="0" smtClean="0"/>
              <a:t>Mainframe Computers: </a:t>
            </a:r>
            <a:r>
              <a:rPr lang="en-US" dirty="0" smtClean="0"/>
              <a:t>computers at the high end of the performance and reliability scales. Today’s mainframes perform at teraflop (trillions of floating point operations per second) speeds and can handle millions of transactions per day.</a:t>
            </a:r>
          </a:p>
          <a:p>
            <a:r>
              <a:rPr lang="en-US" b="1" dirty="0" smtClean="0"/>
              <a:t>Midrange Computers: </a:t>
            </a:r>
            <a:r>
              <a:rPr lang="en-US" dirty="0" smtClean="0"/>
              <a:t>(or minicomputers) are larger midrange computers that are relatively small, inexpensive, and compact computers that perform the same functions as mainframe computers, but to a more limited extent.</a:t>
            </a:r>
          </a:p>
          <a:p>
            <a:r>
              <a:rPr lang="en-US" b="1" u="sng" dirty="0" smtClean="0"/>
              <a:t>Servers</a:t>
            </a:r>
          </a:p>
          <a:p>
            <a:r>
              <a:rPr lang="en-US" b="1" dirty="0" smtClean="0"/>
              <a:t>Microcomputers: </a:t>
            </a:r>
            <a:r>
              <a:rPr lang="en-US" dirty="0" smtClean="0"/>
              <a:t>also known as personal computers (or PCs) are the smallest and least expensive category of general-purpose computers.</a:t>
            </a:r>
          </a:p>
          <a:p>
            <a:endParaRPr lang="en-US" b="1" dirty="0" smtClean="0"/>
          </a:p>
          <a:p>
            <a:r>
              <a:rPr lang="en-US" b="1" u="sng" dirty="0" smtClean="0"/>
              <a:t>Clients</a:t>
            </a:r>
          </a:p>
          <a:p>
            <a:r>
              <a:rPr lang="en-US" b="1" dirty="0" smtClean="0"/>
              <a:t>Desktop PC: </a:t>
            </a:r>
            <a:r>
              <a:rPr lang="en-US" dirty="0" smtClean="0"/>
              <a:t>the familiar microcomputer system that has become a standard tool for business and the home. A desktop generally includes a central processing unit—which you will learn about later—and a separate but connected monitor and keyboard.</a:t>
            </a:r>
          </a:p>
          <a:p>
            <a:r>
              <a:rPr lang="en-US" b="1" dirty="0" smtClean="0"/>
              <a:t>Thin-client systems: </a:t>
            </a:r>
            <a:r>
              <a:rPr lang="en-US" dirty="0" smtClean="0"/>
              <a:t>are desktop computer systems that do not offer the full functionality of a PC. Compared to PCs, or fat clients, thin clients are less complex, particularly because they do not have locally installed software. When thin clients need to run an application, they access it from a server over a network instead of from a local disk drive.</a:t>
            </a:r>
          </a:p>
          <a:p>
            <a:r>
              <a:rPr lang="en-US" dirty="0" smtClean="0"/>
              <a:t>Laptop and Notebook Computers: small, easily transportable, lightweight microcomputers that fit comfortably into a briefcase.</a:t>
            </a:r>
          </a:p>
          <a:p>
            <a:r>
              <a:rPr lang="en-US" b="1" dirty="0" smtClean="0"/>
              <a:t>Netbooks: </a:t>
            </a:r>
            <a:r>
              <a:rPr lang="en-US" dirty="0" smtClean="0"/>
              <a:t>a very small, lightweight, low-cost, energy-efficient, portable computer. Netbooks are generally optimized for Internet-based services such as Web browsing and e-mail.</a:t>
            </a:r>
          </a:p>
          <a:p>
            <a:r>
              <a:rPr lang="en-US" b="1" dirty="0" smtClean="0"/>
              <a:t>Tablet Computers:</a:t>
            </a:r>
            <a:r>
              <a:rPr lang="en-US" dirty="0" smtClean="0"/>
              <a:t> a complete computer contained entirely in a flat touchscreen that users operate via a stylus, digital pen, or fingertip instead of a keyboard or mouse.</a:t>
            </a:r>
          </a:p>
          <a:p>
            <a:r>
              <a:rPr lang="en-US" b="1" dirty="0" smtClean="0"/>
              <a:t>Wearable Computers: </a:t>
            </a:r>
            <a:r>
              <a:rPr lang="en-US" dirty="0" smtClean="0"/>
              <a:t>miniature computers that people wear under, with, or on top of their clothing.</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1936673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1.1 </a:t>
            </a:r>
            <a:r>
              <a:rPr lang="en-US" dirty="0" smtClean="0"/>
              <a:t>Laptop, notebook, and tablet computers.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162948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Central Processing Unit: </a:t>
            </a:r>
            <a:r>
              <a:rPr lang="en-US" dirty="0" smtClean="0"/>
              <a:t>performs the actual computation or “number crunching” inside any computer. It is a microprocessor (e.g., Intel’s Core i3, i5, and i7 chips with more to come) made up of millions of microscopic transistors embedded in a circuit on a silicon wafer or chip.</a:t>
            </a:r>
          </a:p>
          <a:p>
            <a:r>
              <a:rPr lang="en-US" dirty="0" smtClean="0"/>
              <a:t>-----------------------</a:t>
            </a:r>
          </a:p>
          <a:p>
            <a:r>
              <a:rPr lang="en-US" b="1" dirty="0" smtClean="0"/>
              <a:t>How the CPU Works:</a:t>
            </a:r>
          </a:p>
          <a:p>
            <a:r>
              <a:rPr lang="en-US" dirty="0" smtClean="0"/>
              <a:t>-- Inputs from software consisting of data and brief instructions about what to do with the data come into the CPU from random access memory (RAM). </a:t>
            </a:r>
          </a:p>
          <a:p>
            <a:r>
              <a:rPr lang="en-US" dirty="0" smtClean="0"/>
              <a:t>-- Inputs are stored in registers until they are sent to the next step in the processing.</a:t>
            </a:r>
          </a:p>
          <a:p>
            <a:r>
              <a:rPr lang="en-US" dirty="0" smtClean="0"/>
              <a:t>-- The Control Unit directs the flow of data and instructions within the chip.</a:t>
            </a:r>
          </a:p>
          <a:p>
            <a:r>
              <a:rPr lang="en-US" dirty="0" smtClean="0"/>
              <a:t>-- The Arithmetic Processing Unit (ALU) receives the data and instructions from the registers and makes the desired computation.</a:t>
            </a:r>
          </a:p>
          <a:p>
            <a:r>
              <a:rPr lang="en-US" dirty="0" smtClean="0"/>
              <a:t>-- The data in their original form and the instructions are sent to storage registers and then are sent back to a storage place outside the chip, such as the computer’s hard drive. Meanwhile, the transformed data go to another register and then on to other parts of the computer (e.g., to the monitor for display or to storage).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Moore’s Law:</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1965, Gordon Moore, a cofounder of Intel Corporation, predicted that microprocessor complexity would double approximately every 18 months. The advances predicted from Moore’s law arise mainly from the following changes: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Producing increasingly miniaturized transistors.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Placing multiple processors on a single chip. Chips with more than one processor are called multicore chips.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Intel’s three-dimensional (3D) chips require less power than Intel’s current chips while improving performance.</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3963000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1.2 </a:t>
            </a:r>
            <a:r>
              <a:rPr lang="en-US" dirty="0" smtClean="0"/>
              <a:t>Parts of a microprocessor.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803605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1.3 </a:t>
            </a:r>
            <a:r>
              <a:rPr lang="en-US" dirty="0" smtClean="0"/>
              <a:t>How the CPU works.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170532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1.4 </a:t>
            </a:r>
            <a:r>
              <a:rPr lang="en-US" dirty="0" smtClean="0"/>
              <a:t>Primary memory compared with secondary storage.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3575391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t>
            </a:r>
          </a:p>
          <a:p>
            <a:r>
              <a:rPr lang="en-US" b="1" u="sng" dirty="0" smtClean="0"/>
              <a:t>Memory Capacity</a:t>
            </a:r>
          </a:p>
          <a:p>
            <a:r>
              <a:rPr lang="en-US" b="1" dirty="0" smtClean="0"/>
              <a:t>Hierarchy of terms used to describe computer</a:t>
            </a:r>
            <a:r>
              <a:rPr lang="en-US" b="1" baseline="0" dirty="0" smtClean="0"/>
              <a:t> memory capacity:</a:t>
            </a:r>
          </a:p>
          <a:p>
            <a:r>
              <a:rPr lang="en-US" b="1" i="1" dirty="0" smtClean="0"/>
              <a:t>Bit: </a:t>
            </a:r>
            <a:r>
              <a:rPr lang="en-US" dirty="0" smtClean="0"/>
              <a:t>A binary unit. A "1" or "0".</a:t>
            </a:r>
          </a:p>
          <a:p>
            <a:r>
              <a:rPr lang="en-US" b="1" i="1" dirty="0" smtClean="0"/>
              <a:t>Byte: </a:t>
            </a:r>
            <a:r>
              <a:rPr lang="en-US" dirty="0" smtClean="0"/>
              <a:t>a serious of eight bits representing an alphanumeric character.</a:t>
            </a:r>
          </a:p>
          <a:p>
            <a:r>
              <a:rPr lang="en-US" b="1" i="1" dirty="0" smtClean="0"/>
              <a:t>Kilobyte:</a:t>
            </a:r>
            <a:r>
              <a:rPr lang="en-US" b="1" dirty="0" smtClean="0"/>
              <a:t> </a:t>
            </a:r>
            <a:r>
              <a:rPr lang="en-US" dirty="0" smtClean="0"/>
              <a:t>a kilobyte (KB) is approximately 1,000 bytes (1,024 bytes).</a:t>
            </a:r>
          </a:p>
          <a:p>
            <a:r>
              <a:rPr lang="en-US" b="1" i="1" dirty="0" smtClean="0"/>
              <a:t>Megabyte:</a:t>
            </a:r>
            <a:r>
              <a:rPr lang="en-US" b="1" dirty="0" smtClean="0"/>
              <a:t> </a:t>
            </a:r>
            <a:r>
              <a:rPr lang="en-US" dirty="0" smtClean="0"/>
              <a:t>a megabyte (MB) is approximately 1 million bytes.</a:t>
            </a:r>
          </a:p>
          <a:p>
            <a:r>
              <a:rPr lang="en-US" b="1" i="1" dirty="0" smtClean="0"/>
              <a:t>Gigabyte: </a:t>
            </a:r>
            <a:r>
              <a:rPr lang="en-US" dirty="0" smtClean="0"/>
              <a:t>a gigabyte (GB) is approximately 1 billion bytes.</a:t>
            </a:r>
          </a:p>
          <a:p>
            <a:r>
              <a:rPr lang="en-US" b="1" i="1" dirty="0" smtClean="0"/>
              <a:t>Terabyte: </a:t>
            </a:r>
            <a:r>
              <a:rPr lang="en-US" dirty="0" smtClean="0"/>
              <a:t>A terabyte is approximately 1 trillion bytes.</a:t>
            </a:r>
          </a:p>
          <a:p>
            <a:r>
              <a:rPr lang="en-US" b="1" i="1" dirty="0" smtClean="0"/>
              <a:t>Petabyte: </a:t>
            </a:r>
            <a:r>
              <a:rPr lang="en-US" dirty="0" smtClean="0"/>
              <a:t>A petabyte is approximately 1,000 terabytes.</a:t>
            </a:r>
          </a:p>
          <a:p>
            <a:r>
              <a:rPr lang="en-US" b="1" i="1" dirty="0" smtClean="0"/>
              <a:t>Exabyte: </a:t>
            </a:r>
            <a:r>
              <a:rPr lang="en-US" dirty="0" smtClean="0"/>
              <a:t>An </a:t>
            </a:r>
            <a:r>
              <a:rPr lang="en-US" dirty="0" err="1" smtClean="0"/>
              <a:t>exabyte</a:t>
            </a:r>
            <a:r>
              <a:rPr lang="en-US" dirty="0" smtClean="0"/>
              <a:t> is approximately 1,000 petabytes.</a:t>
            </a:r>
          </a:p>
          <a:p>
            <a:r>
              <a:rPr lang="en-US" b="1" i="1" dirty="0" err="1" smtClean="0"/>
              <a:t>Zettabyte</a:t>
            </a:r>
            <a:r>
              <a:rPr lang="en-US" b="1" i="1" dirty="0" smtClean="0"/>
              <a:t>: </a:t>
            </a:r>
            <a:r>
              <a:rPr lang="en-US" dirty="0" smtClean="0"/>
              <a:t>A </a:t>
            </a:r>
            <a:r>
              <a:rPr lang="en-US" dirty="0" err="1" smtClean="0"/>
              <a:t>zettabyte</a:t>
            </a:r>
            <a:r>
              <a:rPr lang="en-US" dirty="0" smtClean="0"/>
              <a:t> is approximately 1,000 </a:t>
            </a:r>
            <a:r>
              <a:rPr lang="en-US" dirty="0" err="1" smtClean="0"/>
              <a:t>exabytes</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t>
            </a:r>
          </a:p>
          <a:p>
            <a:r>
              <a:rPr lang="en-US" b="1" u="sng" dirty="0" smtClean="0"/>
              <a:t>Primary Storage (Main Memory): </a:t>
            </a:r>
            <a:r>
              <a:rPr lang="en-US" dirty="0" smtClean="0"/>
              <a:t>Primary storage takes place in chips mounted on the computer’s main circuit board, called the motherboard. These chips are located as close as physically possible to the CPU chip. </a:t>
            </a:r>
          </a:p>
          <a:p>
            <a:endParaRPr lang="en-US" dirty="0" smtClean="0"/>
          </a:p>
          <a:p>
            <a:r>
              <a:rPr lang="en-US" b="1" dirty="0" smtClean="0"/>
              <a:t>Primary storage stores three types of information for very brief periods of time:</a:t>
            </a:r>
            <a:r>
              <a:rPr lang="en-US" dirty="0" smtClean="0"/>
              <a:t> </a:t>
            </a:r>
          </a:p>
          <a:p>
            <a:pPr marL="228600" indent="-228600">
              <a:buFont typeface="+mj-lt"/>
              <a:buAutoNum type="arabicPeriod"/>
            </a:pPr>
            <a:r>
              <a:rPr lang="en-US" dirty="0" smtClean="0"/>
              <a:t>data to be processed by the CPU</a:t>
            </a:r>
          </a:p>
          <a:p>
            <a:pPr marL="228600" indent="-228600">
              <a:buFont typeface="+mj-lt"/>
              <a:buAutoNum type="arabicPeriod"/>
            </a:pPr>
            <a:r>
              <a:rPr lang="en-US" dirty="0" smtClean="0"/>
              <a:t>instructions for the CPU as to how to process the data</a:t>
            </a:r>
          </a:p>
          <a:p>
            <a:pPr marL="228600" indent="-228600">
              <a:buFont typeface="+mj-lt"/>
              <a:buAutoNum type="arabicPeriod"/>
            </a:pPr>
            <a:r>
              <a:rPr lang="en-US" dirty="0" smtClean="0"/>
              <a:t>operating system programs that manage various aspects of the computer’s operation</a:t>
            </a:r>
          </a:p>
          <a:p>
            <a:endParaRPr lang="en-US" dirty="0" smtClean="0"/>
          </a:p>
          <a:p>
            <a:r>
              <a:rPr lang="en-US" b="1" dirty="0" smtClean="0"/>
              <a:t>Four main types of primary storage:</a:t>
            </a:r>
          </a:p>
          <a:p>
            <a:pPr marL="228600" indent="-228600">
              <a:buFont typeface="+mj-lt"/>
              <a:buAutoNum type="arabicPeriod"/>
            </a:pPr>
            <a:r>
              <a:rPr lang="en-US" b="1" dirty="0" smtClean="0"/>
              <a:t>Registers: </a:t>
            </a:r>
            <a:r>
              <a:rPr lang="en-US" dirty="0" smtClean="0"/>
              <a:t>part of the CPU. They have the least capacity, storing extremely limited amounts of instructions and data only immediately before and aft </a:t>
            </a:r>
            <a:r>
              <a:rPr lang="en-US" dirty="0" err="1" smtClean="0"/>
              <a:t>er</a:t>
            </a:r>
            <a:r>
              <a:rPr lang="en-US" dirty="0" smtClean="0"/>
              <a:t> processing.</a:t>
            </a:r>
          </a:p>
          <a:p>
            <a:pPr marL="228600" indent="-228600">
              <a:buFont typeface="+mj-lt"/>
              <a:buAutoNum type="arabicPeriod"/>
            </a:pPr>
            <a:r>
              <a:rPr lang="en-US" b="1" dirty="0" smtClean="0"/>
              <a:t>Cache memory: </a:t>
            </a:r>
            <a:r>
              <a:rPr lang="en-US" dirty="0" smtClean="0"/>
              <a:t>is a type of high-speed memory that enables the computer to temporarily store blocks of data that are used more often and that a processor can access more rapidly than main memory (RAM). Cache memory is physically located closer to the CPU than RAM. </a:t>
            </a:r>
          </a:p>
          <a:p>
            <a:pPr marL="228600" indent="-228600">
              <a:buFont typeface="+mj-lt"/>
              <a:buAutoNum type="arabicPeriod"/>
            </a:pPr>
            <a:r>
              <a:rPr lang="en-US" b="1" dirty="0" smtClean="0"/>
              <a:t>Random Access Memory (RAM): </a:t>
            </a:r>
            <a:r>
              <a:rPr lang="en-US" dirty="0" smtClean="0"/>
              <a:t>is the part of primary storage that holds a software program and small amounts of data for processing.</a:t>
            </a:r>
          </a:p>
          <a:p>
            <a:pPr marL="228600" indent="-228600">
              <a:buFont typeface="+mj-lt"/>
              <a:buAutoNum type="arabicPeriod"/>
            </a:pPr>
            <a:r>
              <a:rPr lang="en-US" b="1" dirty="0" smtClean="0"/>
              <a:t>Read-Only Memory (ROM): </a:t>
            </a:r>
            <a:r>
              <a:rPr lang="en-US" dirty="0" smtClean="0"/>
              <a:t>is the place—actually, a type of chip—where certain critical instructions are safeguarded. ROM is nonvolatile, so it retains these instructions when the power to the computer is turned off.</a:t>
            </a:r>
          </a:p>
          <a:p>
            <a:pPr marL="0" marR="0" indent="0" algn="l" defTabSz="914400" rtl="0" eaLnBrk="1" fontAlgn="auto" latinLnBrk="0" hangingPunct="1">
              <a:lnSpc>
                <a:spcPct val="100000"/>
              </a:lnSpc>
              <a:spcBef>
                <a:spcPts val="0"/>
              </a:spcBef>
              <a:spcAft>
                <a:spcPts val="0"/>
              </a:spcAft>
              <a:buClrTx/>
              <a:buSzTx/>
              <a:buFont typeface="+mj-lt"/>
              <a:buNone/>
              <a:tabLst/>
              <a:defRPr/>
            </a:pPr>
            <a:r>
              <a:rPr lang="en-US" b="1" dirty="0" smtClean="0"/>
              <a:t>------------------------------</a:t>
            </a:r>
          </a:p>
          <a:p>
            <a:pPr marL="0" indent="0">
              <a:buFont typeface="+mj-lt"/>
              <a:buNone/>
            </a:pPr>
            <a:r>
              <a:rPr lang="en-US" b="1" u="sng" dirty="0" smtClean="0"/>
              <a:t>Secondary Storage: </a:t>
            </a:r>
            <a:r>
              <a:rPr lang="en-US" dirty="0" smtClean="0"/>
              <a:t>Stores very large amounts of data for extended periods.</a:t>
            </a:r>
          </a:p>
          <a:p>
            <a:pPr marL="0" indent="0">
              <a:buFont typeface="+mj-lt"/>
              <a:buNone/>
            </a:pPr>
            <a:endParaRPr lang="en-US" dirty="0" smtClean="0"/>
          </a:p>
          <a:p>
            <a:pPr marL="0" indent="0">
              <a:buFont typeface="+mj-lt"/>
              <a:buNone/>
            </a:pPr>
            <a:r>
              <a:rPr lang="en-US" b="1" dirty="0" smtClean="0"/>
              <a:t>Secondary Storage Characteristics:</a:t>
            </a:r>
          </a:p>
          <a:p>
            <a:pPr marL="171450" indent="-171450">
              <a:buFont typeface="Arial" panose="020B0604020202020204" pitchFamily="34" charset="0"/>
              <a:buChar char="•"/>
            </a:pPr>
            <a:r>
              <a:rPr lang="en-US" dirty="0" smtClean="0"/>
              <a:t>It is nonvolatile.</a:t>
            </a:r>
          </a:p>
          <a:p>
            <a:pPr marL="171450" indent="-171450">
              <a:buFont typeface="Arial" panose="020B0604020202020204" pitchFamily="34" charset="0"/>
              <a:buChar char="•"/>
            </a:pPr>
            <a:r>
              <a:rPr lang="en-US" dirty="0" smtClean="0"/>
              <a:t>It takes more time to retrieve data from it than from RAM.</a:t>
            </a:r>
          </a:p>
          <a:p>
            <a:pPr marL="171450" indent="-171450">
              <a:buFont typeface="Arial" panose="020B0604020202020204" pitchFamily="34" charset="0"/>
              <a:buChar char="•"/>
            </a:pPr>
            <a:r>
              <a:rPr lang="en-US" dirty="0" smtClean="0"/>
              <a:t>It is cheaper than primary storage</a:t>
            </a:r>
          </a:p>
          <a:p>
            <a:pPr marL="171450" indent="-171450">
              <a:buFont typeface="Arial" panose="020B0604020202020204" pitchFamily="34" charset="0"/>
              <a:buChar char="•"/>
            </a:pPr>
            <a:r>
              <a:rPr lang="en-US" dirty="0" smtClean="0"/>
              <a:t>It can utilize a variety of media</a:t>
            </a:r>
          </a:p>
          <a:p>
            <a:pPr marL="0" indent="0">
              <a:buFont typeface="+mj-lt"/>
              <a:buNone/>
            </a:pPr>
            <a:endParaRPr lang="en-US" dirty="0" smtClean="0"/>
          </a:p>
          <a:p>
            <a:pPr marL="0" indent="0">
              <a:buFont typeface="+mj-lt"/>
              <a:buNone/>
            </a:pPr>
            <a:r>
              <a:rPr lang="en-US" b="1" dirty="0" smtClean="0"/>
              <a:t>Types of Secondary Storage:</a:t>
            </a:r>
          </a:p>
          <a:p>
            <a:pPr marL="0" indent="0">
              <a:buFont typeface="+mj-lt"/>
              <a:buNone/>
            </a:pPr>
            <a:r>
              <a:rPr lang="en-US" b="1" i="1" dirty="0" smtClean="0"/>
              <a:t>Magnetic Tape: </a:t>
            </a:r>
            <a:r>
              <a:rPr lang="en-US" dirty="0" smtClean="0"/>
              <a:t>is kept on a large open reel or in a smaller cartridge or cassette. It is the cheapest storage medium, and it can handle enormous amounts of data. It is also the slowest method for retrieving data because all the data are placed on the tape sequentially.</a:t>
            </a:r>
          </a:p>
          <a:p>
            <a:pPr marL="0" indent="0">
              <a:buFont typeface="+mj-lt"/>
              <a:buNone/>
            </a:pPr>
            <a:r>
              <a:rPr lang="en-US" b="1" i="1" dirty="0" smtClean="0"/>
              <a:t>Solid-State Drives (SSDs): </a:t>
            </a:r>
            <a:r>
              <a:rPr lang="en-US" dirty="0" smtClean="0"/>
              <a:t>are data storage devices that serve the same purpose as a hard drive and store data in memory chips. Whereas hard drives have moving parts, SSDs do not. </a:t>
            </a:r>
          </a:p>
          <a:p>
            <a:pPr marL="0" indent="0">
              <a:buFont typeface="+mj-lt"/>
              <a:buNone/>
            </a:pPr>
            <a:endParaRPr lang="en-US" dirty="0" smtClean="0"/>
          </a:p>
          <a:p>
            <a:pPr marL="0" indent="0">
              <a:buFont typeface="+mj-lt"/>
              <a:buNone/>
            </a:pPr>
            <a:r>
              <a:rPr lang="en-US" b="1" i="1" dirty="0" smtClean="0"/>
              <a:t>Optical Disks: </a:t>
            </a:r>
            <a:r>
              <a:rPr lang="en-US" dirty="0" smtClean="0"/>
              <a:t>can store a great deal of information, both on a routine basis and when combined into storage systems. Types of optical disks include compact disk (CD) read-only memory, digital video disk (DVD)(17GB), and dual-layer Blu-ray disks (50 GB).</a:t>
            </a:r>
          </a:p>
          <a:p>
            <a:pPr marL="0" indent="0">
              <a:buFont typeface="+mj-lt"/>
              <a:buNone/>
            </a:pPr>
            <a:endParaRPr lang="en-US" dirty="0" smtClean="0"/>
          </a:p>
          <a:p>
            <a:pPr marL="0" indent="0">
              <a:buFont typeface="+mj-lt"/>
              <a:buNone/>
            </a:pPr>
            <a:r>
              <a:rPr lang="en-US" b="1" i="1" dirty="0" smtClean="0"/>
              <a:t>Flash Memory Devices (or memory cards): </a:t>
            </a:r>
            <a:r>
              <a:rPr lang="en-US" dirty="0" smtClean="0"/>
              <a:t>nonvolatile electronic storage devices that contain no moving parts and use 30 times less battery power than hard drives. Flash devices are also smaller and more durable than hard drives. One popular flash memory device is the thumb drive (also called memory stick, jump drive, or flash drive).</a:t>
            </a:r>
          </a:p>
          <a:p>
            <a:pPr marL="0" indent="0">
              <a:buFont typeface="+mj-lt"/>
              <a:buNone/>
            </a:pPr>
            <a:r>
              <a:rPr lang="en-US" b="1" dirty="0" smtClean="0"/>
              <a:t>------------------------------</a:t>
            </a:r>
            <a:endParaRPr lang="en-US" dirty="0" smtClean="0"/>
          </a:p>
          <a:p>
            <a:pPr marL="0" indent="0">
              <a:buFont typeface="+mj-lt"/>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1848700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3352238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t>
            </a:r>
          </a:p>
          <a:p>
            <a:r>
              <a:rPr lang="en-US" b="1" u="sng" dirty="0" smtClean="0"/>
              <a:t>Memory Capacity</a:t>
            </a:r>
          </a:p>
          <a:p>
            <a:r>
              <a:rPr lang="en-US" b="1" dirty="0" smtClean="0"/>
              <a:t>Hierarchy of terms used to describe computer</a:t>
            </a:r>
            <a:r>
              <a:rPr lang="en-US" b="1" baseline="0" dirty="0" smtClean="0"/>
              <a:t> memory capacity:</a:t>
            </a:r>
          </a:p>
          <a:p>
            <a:r>
              <a:rPr lang="en-US" b="1" i="1" dirty="0" smtClean="0"/>
              <a:t>Bit: </a:t>
            </a:r>
            <a:r>
              <a:rPr lang="en-US" dirty="0" smtClean="0"/>
              <a:t>A binary unit. A "1" or "0".</a:t>
            </a:r>
          </a:p>
          <a:p>
            <a:r>
              <a:rPr lang="en-US" b="1" i="1" dirty="0" smtClean="0"/>
              <a:t>Byte: </a:t>
            </a:r>
            <a:r>
              <a:rPr lang="en-US" dirty="0" smtClean="0"/>
              <a:t>a serious of eight bits representing an alphanumeric character.</a:t>
            </a:r>
          </a:p>
          <a:p>
            <a:r>
              <a:rPr lang="en-US" b="1" i="1" dirty="0" smtClean="0"/>
              <a:t>Kilobyte:</a:t>
            </a:r>
            <a:r>
              <a:rPr lang="en-US" b="1" dirty="0" smtClean="0"/>
              <a:t> </a:t>
            </a:r>
            <a:r>
              <a:rPr lang="en-US" dirty="0" smtClean="0"/>
              <a:t>a kilobyte (KB) is approximately 1,000 bytes (1,024 bytes).</a:t>
            </a:r>
          </a:p>
          <a:p>
            <a:r>
              <a:rPr lang="en-US" b="1" i="1" dirty="0" smtClean="0"/>
              <a:t>Megabyte:</a:t>
            </a:r>
            <a:r>
              <a:rPr lang="en-US" b="1" dirty="0" smtClean="0"/>
              <a:t> </a:t>
            </a:r>
            <a:r>
              <a:rPr lang="en-US" dirty="0" smtClean="0"/>
              <a:t>a megabyte (MB) is approximately 1 million bytes.</a:t>
            </a:r>
          </a:p>
          <a:p>
            <a:r>
              <a:rPr lang="en-US" b="1" i="1" dirty="0" smtClean="0"/>
              <a:t>Gigabyte: </a:t>
            </a:r>
            <a:r>
              <a:rPr lang="en-US" dirty="0" smtClean="0"/>
              <a:t>a gigabyte (GB) is approximately 1 billion bytes.</a:t>
            </a:r>
          </a:p>
          <a:p>
            <a:r>
              <a:rPr lang="en-US" b="1" i="1" dirty="0" smtClean="0"/>
              <a:t>Terabyte: </a:t>
            </a:r>
            <a:r>
              <a:rPr lang="en-US" dirty="0" smtClean="0"/>
              <a:t>A terabyte is approximately 1 trillion bytes.</a:t>
            </a:r>
          </a:p>
          <a:p>
            <a:r>
              <a:rPr lang="en-US" b="1" i="1" dirty="0" smtClean="0"/>
              <a:t>Petabyte: </a:t>
            </a:r>
            <a:r>
              <a:rPr lang="en-US" dirty="0" smtClean="0"/>
              <a:t>A petabyte is approximately 1,000 terabytes.</a:t>
            </a:r>
          </a:p>
          <a:p>
            <a:r>
              <a:rPr lang="en-US" b="1" i="1" dirty="0" smtClean="0"/>
              <a:t>Exabyte: </a:t>
            </a:r>
            <a:r>
              <a:rPr lang="en-US" dirty="0" smtClean="0"/>
              <a:t>An </a:t>
            </a:r>
            <a:r>
              <a:rPr lang="en-US" dirty="0" err="1" smtClean="0"/>
              <a:t>exabyte</a:t>
            </a:r>
            <a:r>
              <a:rPr lang="en-US" dirty="0" smtClean="0"/>
              <a:t> is approximately 1,000 petabytes.</a:t>
            </a:r>
          </a:p>
          <a:p>
            <a:r>
              <a:rPr lang="en-US" b="1" i="1" dirty="0" err="1" smtClean="0"/>
              <a:t>Zettabyte</a:t>
            </a:r>
            <a:r>
              <a:rPr lang="en-US" b="1" i="1" dirty="0" smtClean="0"/>
              <a:t>: </a:t>
            </a:r>
            <a:r>
              <a:rPr lang="en-US" dirty="0" smtClean="0"/>
              <a:t>A </a:t>
            </a:r>
            <a:r>
              <a:rPr lang="en-US" dirty="0" err="1" smtClean="0"/>
              <a:t>zettabyte</a:t>
            </a:r>
            <a:r>
              <a:rPr lang="en-US" dirty="0" smtClean="0"/>
              <a:t> is approximately 1,000 </a:t>
            </a:r>
            <a:r>
              <a:rPr lang="en-US" dirty="0" err="1" smtClean="0"/>
              <a:t>exabytes</a:t>
            </a:r>
            <a:r>
              <a:rPr lang="en-US" dirty="0" smtClean="0"/>
              <a:t>.</a:t>
            </a:r>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2576636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t>
            </a:r>
          </a:p>
          <a:p>
            <a:r>
              <a:rPr lang="en-US" b="1" u="sng" dirty="0" smtClean="0"/>
              <a:t>Memory Capacity</a:t>
            </a:r>
          </a:p>
          <a:p>
            <a:r>
              <a:rPr lang="en-US" b="1" dirty="0" smtClean="0"/>
              <a:t>Hierarchy of terms used to describe computer</a:t>
            </a:r>
            <a:r>
              <a:rPr lang="en-US" b="1" baseline="0" dirty="0" smtClean="0"/>
              <a:t> memory capacity:</a:t>
            </a:r>
          </a:p>
          <a:p>
            <a:r>
              <a:rPr lang="en-US" b="1" i="1" dirty="0" smtClean="0"/>
              <a:t>Bit: </a:t>
            </a:r>
            <a:r>
              <a:rPr lang="en-US" dirty="0" smtClean="0"/>
              <a:t>A binary unit. A "1" or "0".</a:t>
            </a:r>
          </a:p>
          <a:p>
            <a:r>
              <a:rPr lang="en-US" b="1" i="1" dirty="0" smtClean="0"/>
              <a:t>Byte: </a:t>
            </a:r>
            <a:r>
              <a:rPr lang="en-US" dirty="0" smtClean="0"/>
              <a:t>a serious of eight bits representing an alphanumeric character.</a:t>
            </a:r>
          </a:p>
          <a:p>
            <a:r>
              <a:rPr lang="en-US" b="1" i="1" dirty="0" smtClean="0"/>
              <a:t>Kilobyte:</a:t>
            </a:r>
            <a:r>
              <a:rPr lang="en-US" b="1" dirty="0" smtClean="0"/>
              <a:t> </a:t>
            </a:r>
            <a:r>
              <a:rPr lang="en-US" dirty="0" smtClean="0"/>
              <a:t>a kilobyte (KB) is approximately 1,000 bytes (1,024 bytes).</a:t>
            </a:r>
          </a:p>
          <a:p>
            <a:r>
              <a:rPr lang="en-US" b="1" i="1" dirty="0" smtClean="0"/>
              <a:t>Megabyte:</a:t>
            </a:r>
            <a:r>
              <a:rPr lang="en-US" b="1" dirty="0" smtClean="0"/>
              <a:t> </a:t>
            </a:r>
            <a:r>
              <a:rPr lang="en-US" dirty="0" smtClean="0"/>
              <a:t>a megabyte (MB) is approximately 1 million bytes.</a:t>
            </a:r>
          </a:p>
          <a:p>
            <a:r>
              <a:rPr lang="en-US" b="1" i="1" dirty="0" smtClean="0"/>
              <a:t>Gigabyte: </a:t>
            </a:r>
            <a:r>
              <a:rPr lang="en-US" dirty="0" smtClean="0"/>
              <a:t>a gigabyte (GB) is approximately 1 billion bytes.</a:t>
            </a:r>
          </a:p>
          <a:p>
            <a:r>
              <a:rPr lang="en-US" b="1" i="1" dirty="0" smtClean="0"/>
              <a:t>Terabyte: </a:t>
            </a:r>
            <a:r>
              <a:rPr lang="en-US" dirty="0" smtClean="0"/>
              <a:t>A terabyte is approximately 1 trillion bytes.</a:t>
            </a:r>
          </a:p>
          <a:p>
            <a:r>
              <a:rPr lang="en-US" b="1" i="1" dirty="0" smtClean="0"/>
              <a:t>Petabyte: </a:t>
            </a:r>
            <a:r>
              <a:rPr lang="en-US" dirty="0" smtClean="0"/>
              <a:t>A petabyte is approximately 1,000 terabytes.</a:t>
            </a:r>
          </a:p>
          <a:p>
            <a:r>
              <a:rPr lang="en-US" b="1" i="1" dirty="0" smtClean="0"/>
              <a:t>Exabyte: </a:t>
            </a:r>
            <a:r>
              <a:rPr lang="en-US" dirty="0" smtClean="0"/>
              <a:t>An </a:t>
            </a:r>
            <a:r>
              <a:rPr lang="en-US" dirty="0" err="1" smtClean="0"/>
              <a:t>exabyte</a:t>
            </a:r>
            <a:r>
              <a:rPr lang="en-US" dirty="0" smtClean="0"/>
              <a:t> is approximately 1,000 petabytes.</a:t>
            </a:r>
          </a:p>
          <a:p>
            <a:r>
              <a:rPr lang="en-US" b="1" i="1" dirty="0" err="1" smtClean="0"/>
              <a:t>Zettabyte</a:t>
            </a:r>
            <a:r>
              <a:rPr lang="en-US" b="1" i="1" dirty="0" smtClean="0"/>
              <a:t>: </a:t>
            </a:r>
            <a:r>
              <a:rPr lang="en-US" dirty="0" smtClean="0"/>
              <a:t>A </a:t>
            </a:r>
            <a:r>
              <a:rPr lang="en-US" dirty="0" err="1" smtClean="0"/>
              <a:t>zettabyte</a:t>
            </a:r>
            <a:r>
              <a:rPr lang="en-US" dirty="0" smtClean="0"/>
              <a:t> is approximately 1,000 </a:t>
            </a:r>
            <a:r>
              <a:rPr lang="en-US" dirty="0" err="1" smtClean="0"/>
              <a:t>exabytes</a:t>
            </a:r>
            <a:r>
              <a:rPr lang="en-US" dirty="0" smtClean="0"/>
              <a:t>.</a:t>
            </a:r>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3441042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t>
            </a:r>
          </a:p>
          <a:p>
            <a:r>
              <a:rPr lang="en-US" b="1" u="sng" dirty="0" smtClean="0"/>
              <a:t>Primary Storage (Main Memory): </a:t>
            </a:r>
            <a:r>
              <a:rPr lang="en-US" dirty="0" smtClean="0"/>
              <a:t>Primary storage takes place in chips mounted on the computer’s main circuit board, called the motherboard. These chips are located as close as physically possible to the CPU chip. </a:t>
            </a:r>
          </a:p>
          <a:p>
            <a:endParaRPr lang="en-US" dirty="0" smtClean="0"/>
          </a:p>
          <a:p>
            <a:r>
              <a:rPr lang="en-US" b="1" dirty="0" smtClean="0"/>
              <a:t>Primary storage stores three types of information for very brief periods of time:</a:t>
            </a:r>
            <a:r>
              <a:rPr lang="en-US" dirty="0" smtClean="0"/>
              <a:t> </a:t>
            </a:r>
          </a:p>
          <a:p>
            <a:pPr marL="228600" indent="-228600">
              <a:buFont typeface="+mj-lt"/>
              <a:buAutoNum type="arabicPeriod"/>
            </a:pPr>
            <a:r>
              <a:rPr lang="en-US" dirty="0" smtClean="0"/>
              <a:t>data to be processed by the CPU</a:t>
            </a:r>
          </a:p>
          <a:p>
            <a:pPr marL="228600" indent="-228600">
              <a:buFont typeface="+mj-lt"/>
              <a:buAutoNum type="arabicPeriod"/>
            </a:pPr>
            <a:r>
              <a:rPr lang="en-US" dirty="0" smtClean="0"/>
              <a:t>instructions for the CPU as to how to process the data</a:t>
            </a:r>
          </a:p>
          <a:p>
            <a:pPr marL="228600" indent="-228600">
              <a:buFont typeface="+mj-lt"/>
              <a:buAutoNum type="arabicPeriod"/>
            </a:pPr>
            <a:r>
              <a:rPr lang="en-US" dirty="0" smtClean="0"/>
              <a:t>operating system programs that manage various aspects of the computer’s operation</a:t>
            </a:r>
          </a:p>
          <a:p>
            <a:endParaRPr lang="en-US" dirty="0" smtClean="0"/>
          </a:p>
          <a:p>
            <a:r>
              <a:rPr lang="en-US" b="1" dirty="0" smtClean="0"/>
              <a:t>Four main types of primary storage:</a:t>
            </a:r>
          </a:p>
          <a:p>
            <a:pPr marL="228600" indent="-228600">
              <a:buFont typeface="+mj-lt"/>
              <a:buAutoNum type="arabicPeriod"/>
            </a:pPr>
            <a:r>
              <a:rPr lang="en-US" b="1" dirty="0" smtClean="0"/>
              <a:t>Registers: </a:t>
            </a:r>
            <a:r>
              <a:rPr lang="en-US" dirty="0" smtClean="0"/>
              <a:t>part of the CPU. They have the least capacity, storing extremely limited amounts of instructions and data only immediately before and aft </a:t>
            </a:r>
            <a:r>
              <a:rPr lang="en-US" dirty="0" err="1" smtClean="0"/>
              <a:t>er</a:t>
            </a:r>
            <a:r>
              <a:rPr lang="en-US" dirty="0" smtClean="0"/>
              <a:t> processing.</a:t>
            </a:r>
          </a:p>
          <a:p>
            <a:pPr marL="228600" indent="-228600">
              <a:buFont typeface="+mj-lt"/>
              <a:buAutoNum type="arabicPeriod"/>
            </a:pPr>
            <a:r>
              <a:rPr lang="en-US" b="1" dirty="0" smtClean="0"/>
              <a:t>Cache memory: </a:t>
            </a:r>
            <a:r>
              <a:rPr lang="en-US" dirty="0" smtClean="0"/>
              <a:t>is a type of high-speed memory that enables the computer to temporarily store blocks of data that are used more often and that a processor can access more rapidly than main memory (RAM). Cache memory is physically located closer to the CPU than RAM. </a:t>
            </a:r>
          </a:p>
          <a:p>
            <a:pPr marL="228600" indent="-228600">
              <a:buFont typeface="+mj-lt"/>
              <a:buAutoNum type="arabicPeriod"/>
            </a:pPr>
            <a:r>
              <a:rPr lang="en-US" b="1" dirty="0" smtClean="0"/>
              <a:t>Random Access Memory (RAM): </a:t>
            </a:r>
            <a:r>
              <a:rPr lang="en-US" dirty="0" smtClean="0"/>
              <a:t>is the part of primary storage that holds a software program and small amounts of data for processing.</a:t>
            </a:r>
          </a:p>
          <a:p>
            <a:pPr marL="228600" indent="-228600">
              <a:buFont typeface="+mj-lt"/>
              <a:buAutoNum type="arabicPeriod"/>
            </a:pPr>
            <a:r>
              <a:rPr lang="en-US" b="1" dirty="0" smtClean="0"/>
              <a:t>Read-Only Memory (ROM): </a:t>
            </a:r>
            <a:r>
              <a:rPr lang="en-US" dirty="0" smtClean="0"/>
              <a:t>is the place—actually, a type of chip—where certain critical instructions are safeguarded. ROM is nonvolatile, so it retains these instructions when the power to the computer is turned off.</a:t>
            </a:r>
          </a:p>
          <a:p>
            <a:pPr marL="0" marR="0" indent="0" algn="l" defTabSz="914400" rtl="0" eaLnBrk="1" fontAlgn="auto" latinLnBrk="0" hangingPunct="1">
              <a:lnSpc>
                <a:spcPct val="100000"/>
              </a:lnSpc>
              <a:spcBef>
                <a:spcPts val="0"/>
              </a:spcBef>
              <a:spcAft>
                <a:spcPts val="0"/>
              </a:spcAft>
              <a:buClrTx/>
              <a:buSzTx/>
              <a:buFont typeface="+mj-lt"/>
              <a:buNone/>
              <a:tabLst/>
              <a:defRPr/>
            </a:pPr>
            <a:r>
              <a:rPr lang="en-US" b="1" dirty="0" smtClean="0"/>
              <a:t>------------------------------</a:t>
            </a:r>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124843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US" dirty="0" smtClean="0"/>
          </a:p>
          <a:p>
            <a:pPr marL="0" indent="0">
              <a:buFont typeface="+mj-lt"/>
              <a:buNone/>
            </a:pPr>
            <a:r>
              <a:rPr lang="en-US" b="1" dirty="0" smtClean="0"/>
              <a:t>Types of Secondary Storage:</a:t>
            </a:r>
          </a:p>
          <a:p>
            <a:pPr marL="0" indent="0">
              <a:buFont typeface="+mj-lt"/>
              <a:buNone/>
            </a:pPr>
            <a:r>
              <a:rPr lang="en-US" b="1" i="1" dirty="0" smtClean="0"/>
              <a:t>Magnetic Tape: </a:t>
            </a:r>
            <a:r>
              <a:rPr lang="en-US" dirty="0" smtClean="0"/>
              <a:t>is kept on a large open reel or in a smaller cartridge or cassette. It is the cheapest storage medium, and it can handle enormous amounts of data. It is also the slowest method for retrieving data because all the data are placed on the tape sequentially.</a:t>
            </a:r>
          </a:p>
          <a:p>
            <a:pPr marL="0" indent="0">
              <a:buFont typeface="+mj-lt"/>
              <a:buNone/>
            </a:pPr>
            <a:r>
              <a:rPr lang="en-US" b="1" i="1" dirty="0" smtClean="0"/>
              <a:t>Solid-State Drives (SSDs): </a:t>
            </a:r>
            <a:r>
              <a:rPr lang="en-US" dirty="0" smtClean="0"/>
              <a:t>are data storage devices that serve the same purpose as a hard drive and store data in memory chips. Whereas hard drives have moving parts, SSDs do not. </a:t>
            </a:r>
          </a:p>
          <a:p>
            <a:pPr marL="0" indent="0">
              <a:buFont typeface="+mj-lt"/>
              <a:buNone/>
            </a:pPr>
            <a:endParaRPr lang="en-US" dirty="0" smtClean="0"/>
          </a:p>
          <a:p>
            <a:pPr marL="0" indent="0">
              <a:buFont typeface="+mj-lt"/>
              <a:buNone/>
            </a:pPr>
            <a:r>
              <a:rPr lang="en-US" b="1" i="1" dirty="0" smtClean="0"/>
              <a:t>Optical Disks: </a:t>
            </a:r>
            <a:r>
              <a:rPr lang="en-US" dirty="0" smtClean="0"/>
              <a:t>can store a great deal of information, both on a routine basis and when combined into storage systems. Types of optical disks include compact disk (CD) read-only memory, digital video disk (DVD)(17GB), and dual-layer Blu-ray disks (50 GB).</a:t>
            </a:r>
          </a:p>
          <a:p>
            <a:pPr marL="0" indent="0">
              <a:buFont typeface="+mj-lt"/>
              <a:buNone/>
            </a:pPr>
            <a:endParaRPr lang="en-US" dirty="0" smtClean="0"/>
          </a:p>
          <a:p>
            <a:pPr marL="0" indent="0">
              <a:buFont typeface="+mj-lt"/>
              <a:buNone/>
            </a:pPr>
            <a:r>
              <a:rPr lang="en-US" b="1" i="1" dirty="0" smtClean="0"/>
              <a:t>Flash Memory Devices (or memory cards): </a:t>
            </a:r>
            <a:r>
              <a:rPr lang="en-US" dirty="0" smtClean="0"/>
              <a:t>nonvolatile electronic storage devices that contain no moving parts and use 30 times less battery power than hard drives. Flash devices are also smaller and more durable than hard drives. One popular flash memory device is the thumb drive (also called memory stick, jump drive, or flash drive).</a:t>
            </a:r>
          </a:p>
          <a:p>
            <a:pPr marL="0" indent="0">
              <a:buFont typeface="+mj-lt"/>
              <a:buNone/>
            </a:pPr>
            <a:r>
              <a:rPr lang="en-US" b="1" dirty="0" smtClean="0"/>
              <a:t>------------------------------</a:t>
            </a:r>
            <a:endParaRPr lang="en-US" dirty="0" smtClean="0"/>
          </a:p>
          <a:p>
            <a:pPr marL="0" indent="0">
              <a:buFont typeface="+mj-lt"/>
              <a:buNone/>
            </a:pP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2136915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chGuide Title">
    <p:spTree>
      <p:nvGrpSpPr>
        <p:cNvPr id="1" name=""/>
        <p:cNvGrpSpPr/>
        <p:nvPr/>
      </p:nvGrpSpPr>
      <p:grpSpPr>
        <a:xfrm>
          <a:off x="0" y="0"/>
          <a:ext cx="0" cy="0"/>
          <a:chOff x="0" y="0"/>
          <a:chExt cx="0" cy="0"/>
        </a:xfrm>
      </p:grpSpPr>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7391400" y="1219200"/>
            <a:ext cx="1219200" cy="12192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0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7391400" y="1219200"/>
            <a:ext cx="1219200" cy="1219200"/>
          </a:xfrm>
        </p:spPr>
        <p:txBody>
          <a:bodyPr anchor="ctr" anchorCtr="0">
            <a:normAutofit/>
          </a:bodyPr>
          <a:lstStyle>
            <a:lvl1pPr marL="0" indent="0" algn="ctr">
              <a:buFontTx/>
              <a:buNone/>
              <a:defRPr sz="72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1</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6213" y="1600200"/>
            <a:ext cx="6632787" cy="681079"/>
          </a:xfrm>
          <a:prstGeom prst="rect">
            <a:avLst/>
          </a:prstGeom>
        </p:spPr>
      </p:pic>
    </p:spTree>
    <p:extLst>
      <p:ext uri="{BB962C8B-B14F-4D97-AF65-F5344CB8AC3E}">
        <p14:creationId xmlns:p14="http://schemas.microsoft.com/office/powerpoint/2010/main" val="25546915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G_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0" y="457200"/>
            <a:ext cx="1905000" cy="2590800"/>
          </a:xfrm>
        </p:spPr>
        <p:txBody>
          <a:bodyPr>
            <a:noAutofit/>
          </a:bodyPr>
          <a:lstStyle>
            <a:lvl1pPr marL="0" indent="0" algn="ctr">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TG 1.1</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chemeClr val="accent1">
                    <a:lumMod val="75000"/>
                  </a:schemeClr>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74421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 id="2147483677" r:id="rId23"/>
    <p:sldLayoutId id="2147483678" r:id="rId2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Hardware</a:t>
            </a:r>
            <a:endParaRPr lang="en-US" dirty="0"/>
          </a:p>
        </p:txBody>
      </p:sp>
      <p:sp>
        <p:nvSpPr>
          <p:cNvPr id="5" name="Text Placeholder 4"/>
          <p:cNvSpPr>
            <a:spLocks noGrp="1"/>
          </p:cNvSpPr>
          <p:nvPr>
            <p:ph type="body" sz="quarter" idx="13"/>
          </p:nvPr>
        </p:nvSpPr>
        <p:spPr/>
        <p:txBody>
          <a:bodyPr/>
          <a:lstStyle/>
          <a:p>
            <a:r>
              <a:rPr lang="en-US" dirty="0" smtClean="0"/>
              <a:t>1</a:t>
            </a:r>
            <a:endParaRPr lang="en-US" dirty="0"/>
          </a:p>
        </p:txBody>
      </p:sp>
    </p:spTree>
    <p:extLst>
      <p:ext uri="{BB962C8B-B14F-4D97-AF65-F5344CB8AC3E}">
        <p14:creationId xmlns:p14="http://schemas.microsoft.com/office/powerpoint/2010/main" val="681612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Identify the major hardware components of a computer system.</a:t>
            </a:r>
          </a:p>
          <a:p>
            <a:r>
              <a:rPr lang="en-US" dirty="0"/>
              <a:t>Discuss strategic issues that link hardware design to business strategy.</a:t>
            </a:r>
          </a:p>
          <a:p>
            <a:r>
              <a:rPr lang="en-US" dirty="0"/>
              <a:t>Describe the various types of computers.</a:t>
            </a:r>
          </a:p>
          <a:p>
            <a:r>
              <a:rPr lang="en-US" dirty="0"/>
              <a:t>Differentiate the various types of input and output technologies and their uses.</a:t>
            </a:r>
          </a:p>
          <a:p>
            <a:r>
              <a:rPr lang="en-US" dirty="0"/>
              <a:t>Describe the design and functioning of the central processing unit.</a:t>
            </a:r>
          </a:p>
          <a:p>
            <a:r>
              <a:rPr lang="en-US" dirty="0"/>
              <a:t>Describe the main types of primary and secondary storage.</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832474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Introduction</a:t>
            </a:r>
          </a:p>
          <a:p>
            <a:r>
              <a:rPr lang="en-US" dirty="0"/>
              <a:t>Strategic Hardware Issues</a:t>
            </a:r>
          </a:p>
          <a:p>
            <a:r>
              <a:rPr lang="en-US" dirty="0"/>
              <a:t>Types of Computers</a:t>
            </a:r>
          </a:p>
          <a:p>
            <a:r>
              <a:rPr lang="en-US" dirty="0"/>
              <a:t>Input and Output Technologies</a:t>
            </a:r>
          </a:p>
          <a:p>
            <a:r>
              <a:rPr lang="en-US" dirty="0"/>
              <a:t>The Central Processing Unit</a:t>
            </a:r>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32453308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2691292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Introduction</a:t>
            </a:r>
            <a:endParaRPr lang="en-US" dirty="0"/>
          </a:p>
        </p:txBody>
      </p:sp>
      <p:sp>
        <p:nvSpPr>
          <p:cNvPr id="3" name="Text Placeholder 2"/>
          <p:cNvSpPr>
            <a:spLocks noGrp="1"/>
          </p:cNvSpPr>
          <p:nvPr>
            <p:ph type="body" sz="quarter" idx="14"/>
          </p:nvPr>
        </p:nvSpPr>
        <p:spPr/>
        <p:txBody>
          <a:bodyPr/>
          <a:lstStyle/>
          <a:p>
            <a:r>
              <a:rPr lang="en-US" dirty="0" smtClean="0"/>
              <a:t>TG 1.1</a:t>
            </a:r>
            <a:endParaRPr lang="en-US" dirty="0"/>
          </a:p>
        </p:txBody>
      </p:sp>
      <p:sp>
        <p:nvSpPr>
          <p:cNvPr id="6" name="Content Placeholder 5"/>
          <p:cNvSpPr>
            <a:spLocks noGrp="1"/>
          </p:cNvSpPr>
          <p:nvPr>
            <p:ph sz="quarter" idx="15"/>
          </p:nvPr>
        </p:nvSpPr>
        <p:spPr/>
        <p:txBody>
          <a:bodyPr>
            <a:normAutofit lnSpcReduction="10000"/>
          </a:bodyPr>
          <a:lstStyle/>
          <a:p>
            <a:r>
              <a:rPr lang="en-US" dirty="0" smtClean="0"/>
              <a:t>Hardware Consists of the Following:</a:t>
            </a:r>
          </a:p>
          <a:p>
            <a:pPr lvl="1"/>
            <a:r>
              <a:rPr lang="en-US" dirty="0" smtClean="0"/>
              <a:t>Central Processing Unit</a:t>
            </a:r>
          </a:p>
          <a:p>
            <a:pPr lvl="1"/>
            <a:r>
              <a:rPr lang="en-US" dirty="0" smtClean="0"/>
              <a:t>Primary Storage</a:t>
            </a:r>
          </a:p>
          <a:p>
            <a:pPr lvl="1"/>
            <a:r>
              <a:rPr lang="en-US" dirty="0" smtClean="0"/>
              <a:t>Secondary Storage</a:t>
            </a:r>
          </a:p>
          <a:p>
            <a:pPr lvl="1"/>
            <a:r>
              <a:rPr lang="en-US" dirty="0" smtClean="0"/>
              <a:t>Input Technologies</a:t>
            </a:r>
          </a:p>
          <a:p>
            <a:pPr lvl="1"/>
            <a:r>
              <a:rPr lang="en-US" dirty="0" smtClean="0"/>
              <a:t>Output Technologies</a:t>
            </a:r>
          </a:p>
          <a:p>
            <a:pPr lvl="1"/>
            <a:r>
              <a:rPr lang="en-US" dirty="0" smtClean="0"/>
              <a:t>Communication Technologies</a:t>
            </a:r>
            <a:endParaRPr lang="en-US" dirty="0"/>
          </a:p>
        </p:txBody>
      </p:sp>
    </p:spTree>
    <p:extLst>
      <p:ext uri="{BB962C8B-B14F-4D97-AF65-F5344CB8AC3E}">
        <p14:creationId xmlns:p14="http://schemas.microsoft.com/office/powerpoint/2010/main" val="135219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Strategic Hardware Issues</a:t>
            </a:r>
            <a:endParaRPr lang="en-US" dirty="0"/>
          </a:p>
        </p:txBody>
      </p:sp>
      <p:sp>
        <p:nvSpPr>
          <p:cNvPr id="3" name="Text Placeholder 2"/>
          <p:cNvSpPr>
            <a:spLocks noGrp="1"/>
          </p:cNvSpPr>
          <p:nvPr>
            <p:ph type="body" sz="quarter" idx="14"/>
          </p:nvPr>
        </p:nvSpPr>
        <p:spPr/>
        <p:txBody>
          <a:bodyPr/>
          <a:lstStyle/>
          <a:p>
            <a:r>
              <a:rPr lang="en-US" dirty="0" smtClean="0"/>
              <a:t>TG 1.2</a:t>
            </a:r>
            <a:endParaRPr lang="en-US" dirty="0"/>
          </a:p>
        </p:txBody>
      </p:sp>
      <p:sp>
        <p:nvSpPr>
          <p:cNvPr id="6" name="Content Placeholder 5"/>
          <p:cNvSpPr>
            <a:spLocks noGrp="1"/>
          </p:cNvSpPr>
          <p:nvPr>
            <p:ph sz="quarter" idx="15"/>
          </p:nvPr>
        </p:nvSpPr>
        <p:spPr/>
        <p:txBody>
          <a:bodyPr>
            <a:normAutofit fontScale="92500" lnSpcReduction="10000"/>
          </a:bodyPr>
          <a:lstStyle/>
          <a:p>
            <a:r>
              <a:rPr lang="en-US" dirty="0" smtClean="0"/>
              <a:t>Successful hardware exploitation comes from addressing:</a:t>
            </a:r>
          </a:p>
          <a:p>
            <a:pPr lvl="1"/>
            <a:r>
              <a:rPr lang="en-US" dirty="0" smtClean="0"/>
              <a:t>Rapid price reductions and performance advancements in Hardware</a:t>
            </a:r>
          </a:p>
          <a:p>
            <a:pPr lvl="1"/>
            <a:r>
              <a:rPr lang="en-US" dirty="0" smtClean="0"/>
              <a:t>Need for new hardware infrastructures</a:t>
            </a:r>
          </a:p>
          <a:p>
            <a:pPr lvl="1"/>
            <a:r>
              <a:rPr lang="en-US" dirty="0" smtClean="0"/>
              <a:t>How to manage new work styles enabled by mobile devices?</a:t>
            </a:r>
          </a:p>
          <a:p>
            <a:pPr lvl="1"/>
            <a:r>
              <a:rPr lang="en-US" dirty="0" smtClean="0"/>
              <a:t>How to handle the employee bring-your-own-device (BYOD) phenomenon.</a:t>
            </a:r>
            <a:endParaRPr lang="en-US" dirty="0"/>
          </a:p>
        </p:txBody>
      </p:sp>
    </p:spTree>
    <p:extLst>
      <p:ext uri="{BB962C8B-B14F-4D97-AF65-F5344CB8AC3E}">
        <p14:creationId xmlns:p14="http://schemas.microsoft.com/office/powerpoint/2010/main" val="2415170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Types of Computers</a:t>
            </a:r>
            <a:endParaRPr lang="en-US" dirty="0"/>
          </a:p>
        </p:txBody>
      </p:sp>
      <p:sp>
        <p:nvSpPr>
          <p:cNvPr id="3" name="Text Placeholder 2"/>
          <p:cNvSpPr>
            <a:spLocks noGrp="1"/>
          </p:cNvSpPr>
          <p:nvPr>
            <p:ph type="body" sz="quarter" idx="14"/>
          </p:nvPr>
        </p:nvSpPr>
        <p:spPr/>
        <p:txBody>
          <a:bodyPr/>
          <a:lstStyle/>
          <a:p>
            <a:r>
              <a:rPr lang="en-US" dirty="0" smtClean="0"/>
              <a:t>TG 1.3</a:t>
            </a:r>
            <a:endParaRPr lang="en-US" dirty="0"/>
          </a:p>
        </p:txBody>
      </p:sp>
      <p:sp>
        <p:nvSpPr>
          <p:cNvPr id="6" name="Content Placeholder 5"/>
          <p:cNvSpPr>
            <a:spLocks noGrp="1"/>
          </p:cNvSpPr>
          <p:nvPr>
            <p:ph sz="quarter" idx="15"/>
          </p:nvPr>
        </p:nvSpPr>
        <p:spPr/>
        <p:txBody>
          <a:bodyPr>
            <a:normAutofit fontScale="92500" lnSpcReduction="10000"/>
          </a:bodyPr>
          <a:lstStyle/>
          <a:p>
            <a:r>
              <a:rPr lang="en-US" dirty="0" smtClean="0"/>
              <a:t>Servers</a:t>
            </a:r>
          </a:p>
          <a:p>
            <a:pPr lvl="1"/>
            <a:r>
              <a:rPr lang="en-US" dirty="0" smtClean="0"/>
              <a:t>Supercomputers</a:t>
            </a:r>
          </a:p>
          <a:p>
            <a:pPr lvl="1"/>
            <a:r>
              <a:rPr lang="en-US" dirty="0" smtClean="0"/>
              <a:t>Mainframe computers</a:t>
            </a:r>
          </a:p>
          <a:p>
            <a:r>
              <a:rPr lang="en-US" dirty="0" smtClean="0"/>
              <a:t>Clients</a:t>
            </a:r>
          </a:p>
          <a:p>
            <a:pPr lvl="1"/>
            <a:r>
              <a:rPr lang="en-US" dirty="0" smtClean="0"/>
              <a:t>Microcomputers (desktop PCs)</a:t>
            </a:r>
          </a:p>
          <a:p>
            <a:pPr lvl="1"/>
            <a:r>
              <a:rPr lang="en-US" dirty="0" smtClean="0"/>
              <a:t>Laptops</a:t>
            </a:r>
          </a:p>
          <a:p>
            <a:pPr lvl="1"/>
            <a:r>
              <a:rPr lang="en-US" dirty="0" smtClean="0"/>
              <a:t>Tablets</a:t>
            </a:r>
          </a:p>
          <a:p>
            <a:pPr lvl="1"/>
            <a:r>
              <a:rPr lang="en-US" dirty="0" smtClean="0"/>
              <a:t>Wearable Clients (e.g., Apple Watch)</a:t>
            </a:r>
            <a:endParaRPr lang="en-US" dirty="0"/>
          </a:p>
        </p:txBody>
      </p:sp>
    </p:spTree>
    <p:extLst>
      <p:ext uri="{BB962C8B-B14F-4D97-AF65-F5344CB8AC3E}">
        <p14:creationId xmlns:p14="http://schemas.microsoft.com/office/powerpoint/2010/main" val="385402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Microcomputers</a:t>
            </a:r>
            <a:endParaRPr lang="en-US" dirty="0"/>
          </a:p>
        </p:txBody>
      </p:sp>
      <p:sp>
        <p:nvSpPr>
          <p:cNvPr id="3" name="Content Placeholder 2"/>
          <p:cNvSpPr>
            <a:spLocks noGrp="1"/>
          </p:cNvSpPr>
          <p:nvPr>
            <p:ph sz="quarter" idx="14"/>
          </p:nvPr>
        </p:nvSpPr>
        <p:spPr/>
        <p:txBody>
          <a:bodyPr/>
          <a:lstStyle/>
          <a:p>
            <a:r>
              <a:rPr lang="en-US" dirty="0" smtClean="0"/>
              <a:t>Desktop PC’s</a:t>
            </a:r>
          </a:p>
          <a:p>
            <a:r>
              <a:rPr lang="en-US" dirty="0" smtClean="0"/>
              <a:t>Thin-Client / Fat Client Systems</a:t>
            </a:r>
          </a:p>
          <a:p>
            <a:r>
              <a:rPr lang="en-US" dirty="0" smtClean="0"/>
              <a:t>Laptop and Notebook Computers</a:t>
            </a:r>
          </a:p>
          <a:p>
            <a:r>
              <a:rPr lang="en-US" dirty="0" smtClean="0"/>
              <a:t>Netbooks</a:t>
            </a:r>
          </a:p>
          <a:p>
            <a:r>
              <a:rPr lang="en-US" dirty="0" smtClean="0"/>
              <a:t>Tablet Computers</a:t>
            </a:r>
            <a:endParaRPr lang="en-US" dirty="0"/>
          </a:p>
        </p:txBody>
      </p:sp>
    </p:spTree>
    <p:extLst>
      <p:ext uri="{BB962C8B-B14F-4D97-AF65-F5344CB8AC3E}">
        <p14:creationId xmlns:p14="http://schemas.microsoft.com/office/powerpoint/2010/main" val="2511557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TG 1.1 </a:t>
            </a:r>
            <a:r>
              <a:rPr lang="en-US" dirty="0"/>
              <a:t>Laptop, notebook, and tablet computers</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873193" y="1447800"/>
            <a:ext cx="747381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1329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It’s Personal: Purchasing a Computer	</a:t>
            </a:r>
            <a:endParaRPr lang="en-US" dirty="0"/>
          </a:p>
        </p:txBody>
      </p:sp>
      <p:sp>
        <p:nvSpPr>
          <p:cNvPr id="3" name="Content Placeholder 2"/>
          <p:cNvSpPr>
            <a:spLocks noGrp="1"/>
          </p:cNvSpPr>
          <p:nvPr>
            <p:ph sz="quarter" idx="14"/>
          </p:nvPr>
        </p:nvSpPr>
        <p:spPr/>
        <p:txBody>
          <a:bodyPr/>
          <a:lstStyle/>
          <a:p>
            <a:r>
              <a:rPr lang="en-US" dirty="0" smtClean="0"/>
              <a:t>Major Considerations for Purchasing a Personal Computer</a:t>
            </a:r>
          </a:p>
          <a:p>
            <a:pPr lvl="1"/>
            <a:r>
              <a:rPr lang="en-US" dirty="0" smtClean="0"/>
              <a:t>What do you plan to do with your computer?</a:t>
            </a:r>
          </a:p>
          <a:p>
            <a:pPr lvl="1"/>
            <a:r>
              <a:rPr lang="en-US" dirty="0" smtClean="0"/>
              <a:t>Where do you plan to use your computer?</a:t>
            </a:r>
          </a:p>
          <a:p>
            <a:pPr lvl="1"/>
            <a:r>
              <a:rPr lang="en-US" dirty="0" smtClean="0"/>
              <a:t>How long do you need service from this computer?</a:t>
            </a:r>
            <a:endParaRPr lang="en-US" dirty="0"/>
          </a:p>
        </p:txBody>
      </p:sp>
    </p:spTree>
    <p:extLst>
      <p:ext uri="{BB962C8B-B14F-4D97-AF65-F5344CB8AC3E}">
        <p14:creationId xmlns:p14="http://schemas.microsoft.com/office/powerpoint/2010/main" val="224304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Input and Output Technologies</a:t>
            </a:r>
            <a:endParaRPr lang="en-US" dirty="0"/>
          </a:p>
        </p:txBody>
      </p:sp>
      <p:sp>
        <p:nvSpPr>
          <p:cNvPr id="3" name="Text Placeholder 2"/>
          <p:cNvSpPr>
            <a:spLocks noGrp="1"/>
          </p:cNvSpPr>
          <p:nvPr>
            <p:ph type="body" sz="quarter" idx="14"/>
          </p:nvPr>
        </p:nvSpPr>
        <p:spPr/>
        <p:txBody>
          <a:bodyPr/>
          <a:lstStyle/>
          <a:p>
            <a:r>
              <a:rPr lang="en-US" dirty="0" smtClean="0"/>
              <a:t>TG 1.4</a:t>
            </a:r>
            <a:endParaRPr lang="en-US" dirty="0"/>
          </a:p>
        </p:txBody>
      </p:sp>
      <p:sp>
        <p:nvSpPr>
          <p:cNvPr id="6" name="Content Placeholder 5"/>
          <p:cNvSpPr>
            <a:spLocks noGrp="1"/>
          </p:cNvSpPr>
          <p:nvPr>
            <p:ph sz="quarter" idx="15"/>
          </p:nvPr>
        </p:nvSpPr>
        <p:spPr/>
        <p:txBody>
          <a:bodyPr/>
          <a:lstStyle/>
          <a:p>
            <a:r>
              <a:rPr lang="en-US" dirty="0" smtClean="0"/>
              <a:t>Multimedia Technology</a:t>
            </a:r>
          </a:p>
          <a:p>
            <a:r>
              <a:rPr lang="en-US" dirty="0" smtClean="0"/>
              <a:t>Input Devices</a:t>
            </a:r>
          </a:p>
          <a:p>
            <a:r>
              <a:rPr lang="en-US" dirty="0" smtClean="0"/>
              <a:t>Output Devices</a:t>
            </a:r>
            <a:endParaRPr lang="en-US" dirty="0"/>
          </a:p>
        </p:txBody>
      </p:sp>
    </p:spTree>
    <p:extLst>
      <p:ext uri="{BB962C8B-B14F-4D97-AF65-F5344CB8AC3E}">
        <p14:creationId xmlns:p14="http://schemas.microsoft.com/office/powerpoint/2010/main" val="99115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Input Devices</a:t>
            </a:r>
            <a:endParaRPr lang="en-US" dirty="0"/>
          </a:p>
        </p:txBody>
      </p:sp>
      <p:sp>
        <p:nvSpPr>
          <p:cNvPr id="3" name="Content Placeholder 2"/>
          <p:cNvSpPr>
            <a:spLocks noGrp="1"/>
          </p:cNvSpPr>
          <p:nvPr>
            <p:ph sz="quarter" idx="14"/>
          </p:nvPr>
        </p:nvSpPr>
        <p:spPr/>
        <p:txBody>
          <a:bodyPr/>
          <a:lstStyle/>
          <a:p>
            <a:r>
              <a:rPr lang="en-US" dirty="0" smtClean="0"/>
              <a:t>Human Data-Entry Devices</a:t>
            </a:r>
          </a:p>
          <a:p>
            <a:r>
              <a:rPr lang="en-US" dirty="0" smtClean="0"/>
              <a:t>Gesture-Based Input</a:t>
            </a:r>
          </a:p>
          <a:p>
            <a:r>
              <a:rPr lang="en-US" dirty="0" smtClean="0"/>
              <a:t>Source-Data Automation Input Devices</a:t>
            </a:r>
            <a:endParaRPr lang="en-US" dirty="0"/>
          </a:p>
        </p:txBody>
      </p:sp>
    </p:spTree>
    <p:extLst>
      <p:ext uri="{BB962C8B-B14F-4D97-AF65-F5344CB8AC3E}">
        <p14:creationId xmlns:p14="http://schemas.microsoft.com/office/powerpoint/2010/main" val="3350935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Input Devices –</a:t>
            </a:r>
            <a:br>
              <a:rPr lang="en-US" dirty="0" smtClean="0"/>
            </a:br>
            <a:r>
              <a:rPr lang="en-US" dirty="0" smtClean="0"/>
              <a:t>Human Data-Entry Devices</a:t>
            </a:r>
            <a:endParaRPr lang="en-US" dirty="0"/>
          </a:p>
        </p:txBody>
      </p:sp>
      <p:sp>
        <p:nvSpPr>
          <p:cNvPr id="3" name="Text Placeholder 2"/>
          <p:cNvSpPr>
            <a:spLocks noGrp="1"/>
          </p:cNvSpPr>
          <p:nvPr>
            <p:ph type="body" sz="quarter" idx="13"/>
          </p:nvPr>
        </p:nvSpPr>
        <p:spPr/>
        <p:txBody>
          <a:bodyPr>
            <a:normAutofit lnSpcReduction="10000"/>
          </a:bodyPr>
          <a:lstStyle/>
          <a:p>
            <a:r>
              <a:rPr lang="en-US" dirty="0" smtClean="0"/>
              <a:t>Keyboards</a:t>
            </a:r>
          </a:p>
          <a:p>
            <a:r>
              <a:rPr lang="en-US" dirty="0" smtClean="0"/>
              <a:t>Mouse</a:t>
            </a:r>
          </a:p>
          <a:p>
            <a:r>
              <a:rPr lang="en-US" dirty="0" smtClean="0"/>
              <a:t>Optical Mouse</a:t>
            </a:r>
          </a:p>
          <a:p>
            <a:r>
              <a:rPr lang="en-US" dirty="0" smtClean="0"/>
              <a:t>Trackball</a:t>
            </a:r>
          </a:p>
          <a:p>
            <a:r>
              <a:rPr lang="en-US" dirty="0" smtClean="0"/>
              <a:t>Pointing Stick</a:t>
            </a:r>
          </a:p>
          <a:p>
            <a:r>
              <a:rPr lang="en-US" dirty="0" smtClean="0"/>
              <a:t>Touchpad</a:t>
            </a:r>
          </a:p>
          <a:p>
            <a:r>
              <a:rPr lang="en-US" dirty="0" smtClean="0"/>
              <a:t>Graphics Tablet</a:t>
            </a:r>
          </a:p>
        </p:txBody>
      </p:sp>
    </p:spTree>
    <p:extLst>
      <p:ext uri="{BB962C8B-B14F-4D97-AF65-F5344CB8AC3E}">
        <p14:creationId xmlns:p14="http://schemas.microsoft.com/office/powerpoint/2010/main" val="3864757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Input Devices –</a:t>
            </a:r>
            <a:br>
              <a:rPr lang="en-US" dirty="0" smtClean="0"/>
            </a:br>
            <a:r>
              <a:rPr lang="en-US" dirty="0" smtClean="0"/>
              <a:t>Human Data-Entry Devices</a:t>
            </a:r>
            <a:endParaRPr lang="en-US" dirty="0"/>
          </a:p>
        </p:txBody>
      </p:sp>
      <p:sp>
        <p:nvSpPr>
          <p:cNvPr id="3" name="Text Placeholder 2"/>
          <p:cNvSpPr>
            <a:spLocks noGrp="1"/>
          </p:cNvSpPr>
          <p:nvPr>
            <p:ph type="body" sz="quarter" idx="13"/>
          </p:nvPr>
        </p:nvSpPr>
        <p:spPr/>
        <p:txBody>
          <a:bodyPr>
            <a:normAutofit/>
          </a:bodyPr>
          <a:lstStyle/>
          <a:p>
            <a:r>
              <a:rPr lang="en-US" dirty="0" smtClean="0"/>
              <a:t>Joystick</a:t>
            </a:r>
          </a:p>
          <a:p>
            <a:r>
              <a:rPr lang="en-US" dirty="0" smtClean="0"/>
              <a:t>Touch Screen</a:t>
            </a:r>
          </a:p>
          <a:p>
            <a:r>
              <a:rPr lang="en-US" dirty="0" smtClean="0"/>
              <a:t>Stylus</a:t>
            </a:r>
          </a:p>
          <a:p>
            <a:r>
              <a:rPr lang="en-US" dirty="0" smtClean="0"/>
              <a:t>Digital Pen</a:t>
            </a:r>
          </a:p>
          <a:p>
            <a:r>
              <a:rPr lang="en-US" dirty="0" smtClean="0"/>
              <a:t>Web Camera (Webcam)</a:t>
            </a:r>
          </a:p>
          <a:p>
            <a:r>
              <a:rPr lang="en-US" dirty="0" smtClean="0"/>
              <a:t>Voice-Recognition</a:t>
            </a:r>
          </a:p>
        </p:txBody>
      </p:sp>
    </p:spTree>
    <p:extLst>
      <p:ext uri="{BB962C8B-B14F-4D97-AF65-F5344CB8AC3E}">
        <p14:creationId xmlns:p14="http://schemas.microsoft.com/office/powerpoint/2010/main" val="3450488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Input Devices –</a:t>
            </a:r>
            <a:br>
              <a:rPr lang="en-US" dirty="0" smtClean="0"/>
            </a:br>
            <a:r>
              <a:rPr lang="en-US" dirty="0" smtClean="0"/>
              <a:t>Gesture-Based Input</a:t>
            </a:r>
            <a:endParaRPr lang="en-US" dirty="0"/>
          </a:p>
        </p:txBody>
      </p:sp>
      <p:sp>
        <p:nvSpPr>
          <p:cNvPr id="3" name="Text Placeholder 2"/>
          <p:cNvSpPr>
            <a:spLocks noGrp="1"/>
          </p:cNvSpPr>
          <p:nvPr>
            <p:ph type="body" sz="quarter" idx="13"/>
          </p:nvPr>
        </p:nvSpPr>
        <p:spPr/>
        <p:txBody>
          <a:bodyPr/>
          <a:lstStyle/>
          <a:p>
            <a:r>
              <a:rPr lang="en-US" dirty="0" smtClean="0"/>
              <a:t>Gesture Recognition</a:t>
            </a:r>
          </a:p>
          <a:p>
            <a:r>
              <a:rPr lang="en-US" dirty="0" smtClean="0"/>
              <a:t>Wii</a:t>
            </a:r>
          </a:p>
          <a:p>
            <a:r>
              <a:rPr lang="en-US" dirty="0" smtClean="0"/>
              <a:t>Microsoft Kinect</a:t>
            </a:r>
          </a:p>
          <a:p>
            <a:r>
              <a:rPr lang="en-US" dirty="0" smtClean="0"/>
              <a:t>Leap Motion Controller</a:t>
            </a:r>
            <a:endParaRPr lang="en-US" dirty="0"/>
          </a:p>
        </p:txBody>
      </p:sp>
    </p:spTree>
    <p:extLst>
      <p:ext uri="{BB962C8B-B14F-4D97-AF65-F5344CB8AC3E}">
        <p14:creationId xmlns:p14="http://schemas.microsoft.com/office/powerpoint/2010/main" val="455193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Input Devices –</a:t>
            </a:r>
            <a:br>
              <a:rPr lang="en-US" dirty="0" smtClean="0"/>
            </a:br>
            <a:r>
              <a:rPr lang="en-US" dirty="0" smtClean="0"/>
              <a:t>Source Data Automation Devices</a:t>
            </a:r>
            <a:endParaRPr lang="en-US" dirty="0"/>
          </a:p>
        </p:txBody>
      </p:sp>
      <p:sp>
        <p:nvSpPr>
          <p:cNvPr id="3" name="Text Placeholder 2"/>
          <p:cNvSpPr>
            <a:spLocks noGrp="1"/>
          </p:cNvSpPr>
          <p:nvPr>
            <p:ph type="body" sz="quarter" idx="13"/>
          </p:nvPr>
        </p:nvSpPr>
        <p:spPr/>
        <p:txBody>
          <a:bodyPr>
            <a:normAutofit/>
          </a:bodyPr>
          <a:lstStyle/>
          <a:p>
            <a:r>
              <a:rPr lang="en-US" dirty="0" smtClean="0"/>
              <a:t>Automatic Teller Machine (ATM)</a:t>
            </a:r>
          </a:p>
          <a:p>
            <a:r>
              <a:rPr lang="en-US" dirty="0" smtClean="0"/>
              <a:t>Magnetic Strip Reader</a:t>
            </a:r>
          </a:p>
          <a:p>
            <a:r>
              <a:rPr lang="en-US" dirty="0" smtClean="0"/>
              <a:t>Point-of-sale Terminals</a:t>
            </a:r>
          </a:p>
          <a:p>
            <a:r>
              <a:rPr lang="en-US" dirty="0" smtClean="0"/>
              <a:t>Barcode Scanners</a:t>
            </a:r>
          </a:p>
          <a:p>
            <a:r>
              <a:rPr lang="en-US" dirty="0" smtClean="0"/>
              <a:t>Optical Mark Reader</a:t>
            </a:r>
          </a:p>
        </p:txBody>
      </p:sp>
    </p:spTree>
    <p:extLst>
      <p:ext uri="{BB962C8B-B14F-4D97-AF65-F5344CB8AC3E}">
        <p14:creationId xmlns:p14="http://schemas.microsoft.com/office/powerpoint/2010/main" val="233791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Input Devices –</a:t>
            </a:r>
            <a:br>
              <a:rPr lang="en-US" dirty="0" smtClean="0"/>
            </a:br>
            <a:r>
              <a:rPr lang="en-US" dirty="0" smtClean="0"/>
              <a:t>Source Data Automation Devices</a:t>
            </a:r>
            <a:endParaRPr lang="en-US" dirty="0"/>
          </a:p>
        </p:txBody>
      </p:sp>
      <p:sp>
        <p:nvSpPr>
          <p:cNvPr id="3" name="Text Placeholder 2"/>
          <p:cNvSpPr>
            <a:spLocks noGrp="1"/>
          </p:cNvSpPr>
          <p:nvPr>
            <p:ph type="body" sz="quarter" idx="13"/>
          </p:nvPr>
        </p:nvSpPr>
        <p:spPr/>
        <p:txBody>
          <a:bodyPr>
            <a:normAutofit/>
          </a:bodyPr>
          <a:lstStyle/>
          <a:p>
            <a:r>
              <a:rPr lang="en-US" dirty="0" smtClean="0"/>
              <a:t>Magnetic Ink Character Reader</a:t>
            </a:r>
          </a:p>
          <a:p>
            <a:r>
              <a:rPr lang="en-US" dirty="0" smtClean="0"/>
              <a:t>Optical Character Recognition</a:t>
            </a:r>
          </a:p>
          <a:p>
            <a:r>
              <a:rPr lang="en-US" dirty="0" smtClean="0"/>
              <a:t>Sensors</a:t>
            </a:r>
          </a:p>
          <a:p>
            <a:r>
              <a:rPr lang="en-US" dirty="0" smtClean="0"/>
              <a:t>Cameras</a:t>
            </a:r>
          </a:p>
          <a:p>
            <a:r>
              <a:rPr lang="en-US" dirty="0" smtClean="0"/>
              <a:t>Radio Frequency Identification (RFID)</a:t>
            </a:r>
            <a:endParaRPr lang="en-US" dirty="0"/>
          </a:p>
        </p:txBody>
      </p:sp>
    </p:spTree>
    <p:extLst>
      <p:ext uri="{BB962C8B-B14F-4D97-AF65-F5344CB8AC3E}">
        <p14:creationId xmlns:p14="http://schemas.microsoft.com/office/powerpoint/2010/main" val="3169172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Output Devices</a:t>
            </a:r>
            <a:endParaRPr lang="en-US" dirty="0"/>
          </a:p>
        </p:txBody>
      </p:sp>
      <p:sp>
        <p:nvSpPr>
          <p:cNvPr id="3" name="Content Placeholder 2"/>
          <p:cNvSpPr>
            <a:spLocks noGrp="1"/>
          </p:cNvSpPr>
          <p:nvPr>
            <p:ph sz="quarter" idx="14"/>
          </p:nvPr>
        </p:nvSpPr>
        <p:spPr/>
        <p:txBody>
          <a:bodyPr/>
          <a:lstStyle/>
          <a:p>
            <a:r>
              <a:rPr lang="en-US" dirty="0" smtClean="0"/>
              <a:t>Monitors</a:t>
            </a:r>
          </a:p>
          <a:p>
            <a:r>
              <a:rPr lang="en-US" dirty="0" smtClean="0"/>
              <a:t>Printers</a:t>
            </a:r>
          </a:p>
          <a:p>
            <a:r>
              <a:rPr lang="en-US" dirty="0" smtClean="0"/>
              <a:t>Voice Output</a:t>
            </a:r>
            <a:endParaRPr lang="en-US" dirty="0"/>
          </a:p>
        </p:txBody>
      </p:sp>
    </p:spTree>
    <p:extLst>
      <p:ext uri="{BB962C8B-B14F-4D97-AF65-F5344CB8AC3E}">
        <p14:creationId xmlns:p14="http://schemas.microsoft.com/office/powerpoint/2010/main" val="2216962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Output Devices - Monitors</a:t>
            </a:r>
            <a:endParaRPr lang="en-US" dirty="0"/>
          </a:p>
        </p:txBody>
      </p:sp>
      <p:sp>
        <p:nvSpPr>
          <p:cNvPr id="3" name="Content Placeholder 2"/>
          <p:cNvSpPr>
            <a:spLocks noGrp="1"/>
          </p:cNvSpPr>
          <p:nvPr>
            <p:ph type="body" sz="quarter" idx="13"/>
          </p:nvPr>
        </p:nvSpPr>
        <p:spPr/>
        <p:txBody>
          <a:bodyPr>
            <a:normAutofit/>
          </a:bodyPr>
          <a:lstStyle/>
          <a:p>
            <a:r>
              <a:rPr lang="en-US" dirty="0" smtClean="0"/>
              <a:t>Monitors</a:t>
            </a:r>
          </a:p>
          <a:p>
            <a:pPr lvl="1"/>
            <a:r>
              <a:rPr lang="en-US" dirty="0" smtClean="0"/>
              <a:t>Cathode Ray Tubes (CRT)</a:t>
            </a:r>
          </a:p>
          <a:p>
            <a:pPr lvl="1"/>
            <a:r>
              <a:rPr lang="en-US" dirty="0" smtClean="0"/>
              <a:t>Liquid Crystal Displays (LCD)</a:t>
            </a:r>
          </a:p>
          <a:p>
            <a:pPr lvl="1"/>
            <a:r>
              <a:rPr lang="en-US" dirty="0" smtClean="0"/>
              <a:t>Flexible Displays</a:t>
            </a:r>
          </a:p>
          <a:p>
            <a:pPr lvl="1"/>
            <a:r>
              <a:rPr lang="en-US" dirty="0" smtClean="0"/>
              <a:t>Organic Light-Emitting Diodes (OLED)</a:t>
            </a:r>
          </a:p>
          <a:p>
            <a:pPr lvl="1"/>
            <a:r>
              <a:rPr lang="en-US" dirty="0" smtClean="0"/>
              <a:t>Retinal Scanning Displays</a:t>
            </a:r>
          </a:p>
          <a:p>
            <a:pPr lvl="1"/>
            <a:r>
              <a:rPr lang="en-US" dirty="0" smtClean="0"/>
              <a:t>Heads-up displays</a:t>
            </a:r>
          </a:p>
        </p:txBody>
      </p:sp>
    </p:spTree>
    <p:extLst>
      <p:ext uri="{BB962C8B-B14F-4D97-AF65-F5344CB8AC3E}">
        <p14:creationId xmlns:p14="http://schemas.microsoft.com/office/powerpoint/2010/main" val="2517261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Output Devices - Printers</a:t>
            </a:r>
            <a:endParaRPr lang="en-US" dirty="0"/>
          </a:p>
        </p:txBody>
      </p:sp>
      <p:sp>
        <p:nvSpPr>
          <p:cNvPr id="3" name="Content Placeholder 2"/>
          <p:cNvSpPr>
            <a:spLocks noGrp="1"/>
          </p:cNvSpPr>
          <p:nvPr>
            <p:ph type="body" sz="quarter" idx="13"/>
          </p:nvPr>
        </p:nvSpPr>
        <p:spPr/>
        <p:txBody>
          <a:bodyPr>
            <a:normAutofit/>
          </a:bodyPr>
          <a:lstStyle/>
          <a:p>
            <a:r>
              <a:rPr lang="en-US" dirty="0" smtClean="0"/>
              <a:t>Printers</a:t>
            </a:r>
          </a:p>
          <a:p>
            <a:pPr lvl="1"/>
            <a:r>
              <a:rPr lang="en-US" dirty="0" smtClean="0"/>
              <a:t>Laser</a:t>
            </a:r>
          </a:p>
          <a:p>
            <a:pPr lvl="1"/>
            <a:r>
              <a:rPr lang="en-US" dirty="0" smtClean="0"/>
              <a:t>Inkjet</a:t>
            </a:r>
          </a:p>
          <a:p>
            <a:pPr lvl="1"/>
            <a:r>
              <a:rPr lang="en-US" dirty="0" smtClean="0"/>
              <a:t>Thermal</a:t>
            </a:r>
          </a:p>
          <a:p>
            <a:pPr lvl="1"/>
            <a:r>
              <a:rPr lang="en-US" dirty="0" smtClean="0"/>
              <a:t>Plotters</a:t>
            </a:r>
          </a:p>
        </p:txBody>
      </p:sp>
    </p:spTree>
    <p:extLst>
      <p:ext uri="{BB962C8B-B14F-4D97-AF65-F5344CB8AC3E}">
        <p14:creationId xmlns:p14="http://schemas.microsoft.com/office/powerpoint/2010/main" val="3294271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Output Devices – Voice Output</a:t>
            </a:r>
            <a:endParaRPr lang="en-US" dirty="0"/>
          </a:p>
        </p:txBody>
      </p:sp>
      <p:sp>
        <p:nvSpPr>
          <p:cNvPr id="3" name="Content Placeholder 2"/>
          <p:cNvSpPr>
            <a:spLocks noGrp="1"/>
          </p:cNvSpPr>
          <p:nvPr>
            <p:ph type="body" sz="quarter" idx="13"/>
          </p:nvPr>
        </p:nvSpPr>
        <p:spPr/>
        <p:txBody>
          <a:bodyPr>
            <a:normAutofit/>
          </a:bodyPr>
          <a:lstStyle/>
          <a:p>
            <a:r>
              <a:rPr lang="en-US" dirty="0" smtClean="0"/>
              <a:t>Voice Output</a:t>
            </a:r>
          </a:p>
          <a:p>
            <a:pPr lvl="1"/>
            <a:r>
              <a:rPr lang="en-US" dirty="0" smtClean="0"/>
              <a:t>Electronic Book Reader</a:t>
            </a:r>
          </a:p>
          <a:p>
            <a:pPr lvl="1"/>
            <a:r>
              <a:rPr lang="en-US" dirty="0" smtClean="0"/>
              <a:t>Pocket Projector</a:t>
            </a:r>
            <a:endParaRPr lang="en-US" dirty="0"/>
          </a:p>
        </p:txBody>
      </p:sp>
    </p:spTree>
    <p:extLst>
      <p:ext uri="{BB962C8B-B14F-4D97-AF65-F5344CB8AC3E}">
        <p14:creationId xmlns:p14="http://schemas.microsoft.com/office/powerpoint/2010/main" val="3790308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The Central Processing Unit (CPU)</a:t>
            </a:r>
            <a:endParaRPr lang="en-US" dirty="0"/>
          </a:p>
        </p:txBody>
      </p:sp>
      <p:sp>
        <p:nvSpPr>
          <p:cNvPr id="3" name="Text Placeholder 2"/>
          <p:cNvSpPr>
            <a:spLocks noGrp="1"/>
          </p:cNvSpPr>
          <p:nvPr>
            <p:ph type="body" sz="quarter" idx="14"/>
          </p:nvPr>
        </p:nvSpPr>
        <p:spPr/>
        <p:txBody>
          <a:bodyPr/>
          <a:lstStyle/>
          <a:p>
            <a:r>
              <a:rPr lang="en-US" dirty="0" smtClean="0"/>
              <a:t>TG 1.5</a:t>
            </a:r>
            <a:endParaRPr lang="en-US" dirty="0"/>
          </a:p>
        </p:txBody>
      </p:sp>
      <p:sp>
        <p:nvSpPr>
          <p:cNvPr id="6" name="Content Placeholder 5"/>
          <p:cNvSpPr>
            <a:spLocks noGrp="1"/>
          </p:cNvSpPr>
          <p:nvPr>
            <p:ph sz="quarter" idx="15"/>
          </p:nvPr>
        </p:nvSpPr>
        <p:spPr/>
        <p:txBody>
          <a:bodyPr>
            <a:normAutofit fontScale="92500"/>
          </a:bodyPr>
          <a:lstStyle/>
          <a:p>
            <a:pPr lvl="1"/>
            <a:r>
              <a:rPr lang="en-US" dirty="0" smtClean="0"/>
              <a:t>Microprocessor</a:t>
            </a:r>
          </a:p>
          <a:p>
            <a:pPr lvl="1"/>
            <a:r>
              <a:rPr lang="en-US" dirty="0" smtClean="0"/>
              <a:t>Control Unit</a:t>
            </a:r>
          </a:p>
          <a:p>
            <a:pPr lvl="1"/>
            <a:r>
              <a:rPr lang="en-US" dirty="0" smtClean="0"/>
              <a:t>Arithmetic-Logic Unit (ALU)</a:t>
            </a:r>
          </a:p>
          <a:p>
            <a:r>
              <a:rPr lang="en-US" dirty="0" smtClean="0"/>
              <a:t>How the CPU Works</a:t>
            </a:r>
          </a:p>
          <a:p>
            <a:r>
              <a:rPr lang="en-US" dirty="0" smtClean="0"/>
              <a:t>Advances in Microprocessor Design</a:t>
            </a:r>
          </a:p>
          <a:p>
            <a:r>
              <a:rPr lang="en-US" dirty="0" smtClean="0"/>
              <a:t>Computer Memory</a:t>
            </a:r>
          </a:p>
          <a:p>
            <a:r>
              <a:rPr lang="en-US" dirty="0" smtClean="0"/>
              <a:t>PC Components/Cost Compared</a:t>
            </a:r>
          </a:p>
          <a:p>
            <a:endParaRPr lang="en-US" dirty="0"/>
          </a:p>
        </p:txBody>
      </p:sp>
    </p:spTree>
    <p:extLst>
      <p:ext uri="{BB962C8B-B14F-4D97-AF65-F5344CB8AC3E}">
        <p14:creationId xmlns:p14="http://schemas.microsoft.com/office/powerpoint/2010/main" val="1698657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How the CPU Works</a:t>
            </a:r>
            <a:endParaRPr lang="en-US" dirty="0"/>
          </a:p>
        </p:txBody>
      </p:sp>
      <p:sp>
        <p:nvSpPr>
          <p:cNvPr id="3" name="Content Placeholder 2"/>
          <p:cNvSpPr>
            <a:spLocks noGrp="1"/>
          </p:cNvSpPr>
          <p:nvPr>
            <p:ph sz="quarter" idx="14"/>
          </p:nvPr>
        </p:nvSpPr>
        <p:spPr/>
        <p:txBody>
          <a:bodyPr>
            <a:normAutofit/>
          </a:bodyPr>
          <a:lstStyle/>
          <a:p>
            <a:r>
              <a:rPr lang="en-US" dirty="0" smtClean="0"/>
              <a:t>Inputs come into the CPU from random access memory (RAM)</a:t>
            </a:r>
          </a:p>
          <a:p>
            <a:r>
              <a:rPr lang="en-US" dirty="0" smtClean="0"/>
              <a:t>Data and instructions travel in the chip via electrical pathways called </a:t>
            </a:r>
            <a:r>
              <a:rPr lang="en-US" b="1" i="1" dirty="0" smtClean="0"/>
              <a:t>buses</a:t>
            </a:r>
            <a:r>
              <a:rPr lang="en-US" dirty="0" smtClean="0"/>
              <a:t>.</a:t>
            </a:r>
          </a:p>
          <a:p>
            <a:r>
              <a:rPr lang="en-US" dirty="0" smtClean="0"/>
              <a:t>The Control Unit directs the flow of data and instructions within the chip</a:t>
            </a:r>
          </a:p>
        </p:txBody>
      </p:sp>
    </p:spTree>
    <p:extLst>
      <p:ext uri="{BB962C8B-B14F-4D97-AF65-F5344CB8AC3E}">
        <p14:creationId xmlns:p14="http://schemas.microsoft.com/office/powerpoint/2010/main" val="1525755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How the CPU Works (</a:t>
            </a:r>
            <a:r>
              <a:rPr lang="en-US" dirty="0" err="1" smtClean="0"/>
              <a:t>Con’t</a:t>
            </a:r>
            <a:r>
              <a:rPr lang="en-US" dirty="0" smtClean="0"/>
              <a:t>)</a:t>
            </a:r>
            <a:endParaRPr lang="en-US" dirty="0"/>
          </a:p>
        </p:txBody>
      </p:sp>
      <p:sp>
        <p:nvSpPr>
          <p:cNvPr id="3" name="Content Placeholder 2"/>
          <p:cNvSpPr>
            <a:spLocks noGrp="1"/>
          </p:cNvSpPr>
          <p:nvPr>
            <p:ph sz="quarter" idx="14"/>
          </p:nvPr>
        </p:nvSpPr>
        <p:spPr/>
        <p:txBody>
          <a:bodyPr>
            <a:normAutofit/>
          </a:bodyPr>
          <a:lstStyle/>
          <a:p>
            <a:r>
              <a:rPr lang="en-US" dirty="0" smtClean="0"/>
              <a:t>The ALU receives the data and instructions from the registers and makes the desired computation</a:t>
            </a:r>
          </a:p>
          <a:p>
            <a:r>
              <a:rPr lang="en-US" dirty="0" smtClean="0"/>
              <a:t>The data in their original for an the instructions are sent to storage registers and then are sent back to a storage place outside the chip.</a:t>
            </a:r>
            <a:endParaRPr lang="en-US" dirty="0"/>
          </a:p>
        </p:txBody>
      </p:sp>
    </p:spTree>
    <p:extLst>
      <p:ext uri="{BB962C8B-B14F-4D97-AF65-F5344CB8AC3E}">
        <p14:creationId xmlns:p14="http://schemas.microsoft.com/office/powerpoint/2010/main" val="3166928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62500" lnSpcReduction="20000"/>
          </a:bodyPr>
          <a:lstStyle/>
          <a:p>
            <a:r>
              <a:rPr lang="en-US" b="1" dirty="0"/>
              <a:t>FIGURE TG 1.2 </a:t>
            </a:r>
            <a:r>
              <a:rPr lang="en-US" dirty="0"/>
              <a:t>Parts of a microprocessor</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582773"/>
            <a:ext cx="8153400" cy="4835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0214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0000" lnSpcReduction="20000"/>
          </a:bodyPr>
          <a:lstStyle/>
          <a:p>
            <a:r>
              <a:rPr lang="en-US" b="1" dirty="0"/>
              <a:t>FIGURE TG 1.3 </a:t>
            </a:r>
            <a:r>
              <a:rPr lang="en-US" dirty="0"/>
              <a:t>How the CPU works</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721055"/>
            <a:ext cx="8153400" cy="4558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7709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Advances in Microprocessor Design</a:t>
            </a:r>
            <a:endParaRPr lang="en-US" dirty="0"/>
          </a:p>
        </p:txBody>
      </p:sp>
      <p:sp>
        <p:nvSpPr>
          <p:cNvPr id="3" name="Content Placeholder 2"/>
          <p:cNvSpPr>
            <a:spLocks noGrp="1"/>
          </p:cNvSpPr>
          <p:nvPr>
            <p:ph sz="quarter" idx="14"/>
          </p:nvPr>
        </p:nvSpPr>
        <p:spPr/>
        <p:txBody>
          <a:bodyPr/>
          <a:lstStyle/>
          <a:p>
            <a:r>
              <a:rPr lang="en-US" dirty="0" smtClean="0"/>
              <a:t>Moore’s Law</a:t>
            </a:r>
          </a:p>
          <a:p>
            <a:r>
              <a:rPr lang="en-US" dirty="0" smtClean="0"/>
              <a:t>Producing increasingly miniaturized transistors</a:t>
            </a:r>
          </a:p>
          <a:p>
            <a:r>
              <a:rPr lang="en-US" dirty="0" smtClean="0"/>
              <a:t>Placing multiple processors on one chip</a:t>
            </a:r>
          </a:p>
          <a:p>
            <a:r>
              <a:rPr lang="en-US" dirty="0" smtClean="0"/>
              <a:t>April 2012, Intel launched next generation chips using a three-dimensional (3D) design</a:t>
            </a:r>
            <a:endParaRPr lang="en-US" dirty="0"/>
          </a:p>
        </p:txBody>
      </p:sp>
    </p:spTree>
    <p:extLst>
      <p:ext uri="{BB962C8B-B14F-4D97-AF65-F5344CB8AC3E}">
        <p14:creationId xmlns:p14="http://schemas.microsoft.com/office/powerpoint/2010/main" val="3735964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TG 1.4 </a:t>
            </a:r>
            <a:r>
              <a:rPr lang="en-US" dirty="0"/>
              <a:t>Primary memory compared with secondary storage.</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065597"/>
            <a:ext cx="8153400" cy="3869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8138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Computer Memory</a:t>
            </a:r>
            <a:endParaRPr lang="en-US" dirty="0"/>
          </a:p>
        </p:txBody>
      </p:sp>
      <p:sp>
        <p:nvSpPr>
          <p:cNvPr id="3" name="Content Placeholder 2"/>
          <p:cNvSpPr>
            <a:spLocks noGrp="1"/>
          </p:cNvSpPr>
          <p:nvPr>
            <p:ph sz="quarter" idx="14"/>
          </p:nvPr>
        </p:nvSpPr>
        <p:spPr/>
        <p:txBody>
          <a:bodyPr/>
          <a:lstStyle/>
          <a:p>
            <a:r>
              <a:rPr lang="en-US" dirty="0" smtClean="0"/>
              <a:t>Memory Capacity</a:t>
            </a:r>
          </a:p>
          <a:p>
            <a:r>
              <a:rPr lang="en-US" dirty="0" smtClean="0"/>
              <a:t>Primary Storage</a:t>
            </a:r>
          </a:p>
          <a:p>
            <a:r>
              <a:rPr lang="en-US" dirty="0" smtClean="0"/>
              <a:t>Secondary Storage</a:t>
            </a:r>
          </a:p>
          <a:p>
            <a:endParaRPr lang="en-US" dirty="0"/>
          </a:p>
        </p:txBody>
      </p:sp>
    </p:spTree>
    <p:extLst>
      <p:ext uri="{BB962C8B-B14F-4D97-AF65-F5344CB8AC3E}">
        <p14:creationId xmlns:p14="http://schemas.microsoft.com/office/powerpoint/2010/main" val="2974900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0000" lnSpcReduction="20000"/>
          </a:bodyPr>
          <a:lstStyle/>
          <a:p>
            <a:r>
              <a:rPr lang="en-US" b="1" dirty="0"/>
              <a:t>FIGURE TG 1.5 </a:t>
            </a:r>
            <a:r>
              <a:rPr lang="en-US" dirty="0"/>
              <a:t>Traditional hard drives are less expensive, but solid-state drives are faster and are more reliable</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348002"/>
            <a:ext cx="8153400" cy="330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659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Computer Memory – Memory Capacity Hierarchy</a:t>
            </a:r>
          </a:p>
        </p:txBody>
      </p:sp>
      <p:sp>
        <p:nvSpPr>
          <p:cNvPr id="3" name="Content Placeholder 2"/>
          <p:cNvSpPr>
            <a:spLocks noGrp="1"/>
          </p:cNvSpPr>
          <p:nvPr>
            <p:ph type="body" sz="quarter" idx="13"/>
          </p:nvPr>
        </p:nvSpPr>
        <p:spPr/>
        <p:txBody>
          <a:bodyPr>
            <a:normAutofit/>
          </a:bodyPr>
          <a:lstStyle/>
          <a:p>
            <a:r>
              <a:rPr lang="en-US" dirty="0" smtClean="0"/>
              <a:t>Bit</a:t>
            </a:r>
          </a:p>
          <a:p>
            <a:r>
              <a:rPr lang="en-US" dirty="0" smtClean="0"/>
              <a:t>Byte</a:t>
            </a:r>
          </a:p>
          <a:p>
            <a:r>
              <a:rPr lang="en-US" dirty="0" smtClean="0"/>
              <a:t>Kilobyte</a:t>
            </a:r>
          </a:p>
          <a:p>
            <a:r>
              <a:rPr lang="en-US" dirty="0" smtClean="0"/>
              <a:t>Megabyte</a:t>
            </a:r>
          </a:p>
          <a:p>
            <a:r>
              <a:rPr lang="en-US" dirty="0" smtClean="0"/>
              <a:t>Gigabyte</a:t>
            </a:r>
            <a:endParaRPr lang="en-US" dirty="0"/>
          </a:p>
        </p:txBody>
      </p:sp>
    </p:spTree>
    <p:extLst>
      <p:ext uri="{BB962C8B-B14F-4D97-AF65-F5344CB8AC3E}">
        <p14:creationId xmlns:p14="http://schemas.microsoft.com/office/powerpoint/2010/main" val="2464452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Computer Memory – Memory Capacity Hierarchy</a:t>
            </a:r>
          </a:p>
        </p:txBody>
      </p:sp>
      <p:sp>
        <p:nvSpPr>
          <p:cNvPr id="3" name="Content Placeholder 2"/>
          <p:cNvSpPr>
            <a:spLocks noGrp="1"/>
          </p:cNvSpPr>
          <p:nvPr>
            <p:ph type="body" sz="quarter" idx="13"/>
          </p:nvPr>
        </p:nvSpPr>
        <p:spPr/>
        <p:txBody>
          <a:bodyPr>
            <a:normAutofit/>
          </a:bodyPr>
          <a:lstStyle/>
          <a:p>
            <a:r>
              <a:rPr lang="en-US" dirty="0" smtClean="0"/>
              <a:t>Terabyte</a:t>
            </a:r>
          </a:p>
          <a:p>
            <a:r>
              <a:rPr lang="en-US" dirty="0" smtClean="0"/>
              <a:t>Petabyte</a:t>
            </a:r>
          </a:p>
          <a:p>
            <a:r>
              <a:rPr lang="en-US" dirty="0" smtClean="0"/>
              <a:t>Exabyte</a:t>
            </a:r>
          </a:p>
          <a:p>
            <a:r>
              <a:rPr lang="en-US" dirty="0" err="1" smtClean="0"/>
              <a:t>Zettabyte</a:t>
            </a:r>
            <a:endParaRPr lang="en-US" dirty="0"/>
          </a:p>
        </p:txBody>
      </p:sp>
    </p:spTree>
    <p:extLst>
      <p:ext uri="{BB962C8B-B14F-4D97-AF65-F5344CB8AC3E}">
        <p14:creationId xmlns:p14="http://schemas.microsoft.com/office/powerpoint/2010/main" val="468012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Computer Memory – Primary Storage</a:t>
            </a:r>
          </a:p>
        </p:txBody>
      </p:sp>
      <p:sp>
        <p:nvSpPr>
          <p:cNvPr id="3" name="Content Placeholder 2"/>
          <p:cNvSpPr>
            <a:spLocks noGrp="1"/>
          </p:cNvSpPr>
          <p:nvPr>
            <p:ph type="body" sz="quarter" idx="13"/>
          </p:nvPr>
        </p:nvSpPr>
        <p:spPr/>
        <p:txBody>
          <a:bodyPr>
            <a:normAutofit/>
          </a:bodyPr>
          <a:lstStyle/>
          <a:p>
            <a:r>
              <a:rPr lang="en-US" dirty="0" smtClean="0"/>
              <a:t>Primary Memory (aka Main Memory)</a:t>
            </a:r>
          </a:p>
          <a:p>
            <a:r>
              <a:rPr lang="en-US" dirty="0" smtClean="0"/>
              <a:t>Four Main Types of Primary Storage</a:t>
            </a:r>
          </a:p>
          <a:p>
            <a:pPr lvl="1"/>
            <a:r>
              <a:rPr lang="en-US" dirty="0" smtClean="0"/>
              <a:t>Register</a:t>
            </a:r>
            <a:r>
              <a:rPr lang="en-US" dirty="0"/>
              <a:t> Memory</a:t>
            </a:r>
            <a:endParaRPr lang="en-US" dirty="0" smtClean="0"/>
          </a:p>
          <a:p>
            <a:pPr lvl="1"/>
            <a:r>
              <a:rPr lang="en-US" dirty="0" smtClean="0"/>
              <a:t>Cache</a:t>
            </a:r>
            <a:r>
              <a:rPr lang="en-US" dirty="0"/>
              <a:t> Memory</a:t>
            </a:r>
            <a:endParaRPr lang="en-US" dirty="0" smtClean="0"/>
          </a:p>
          <a:p>
            <a:pPr lvl="1"/>
            <a:r>
              <a:rPr lang="en-US" dirty="0" smtClean="0"/>
              <a:t>Random Access Memory (RAM)</a:t>
            </a:r>
          </a:p>
          <a:p>
            <a:pPr lvl="1"/>
            <a:r>
              <a:rPr lang="en-US" dirty="0" smtClean="0"/>
              <a:t>Read-Only Memory (ROM)</a:t>
            </a:r>
            <a:endParaRPr lang="en-US" dirty="0"/>
          </a:p>
        </p:txBody>
      </p:sp>
    </p:spTree>
    <p:extLst>
      <p:ext uri="{BB962C8B-B14F-4D97-AF65-F5344CB8AC3E}">
        <p14:creationId xmlns:p14="http://schemas.microsoft.com/office/powerpoint/2010/main" val="3313954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Computer Memory – Secondary Storage</a:t>
            </a:r>
          </a:p>
        </p:txBody>
      </p:sp>
      <p:sp>
        <p:nvSpPr>
          <p:cNvPr id="3" name="Content Placeholder 2"/>
          <p:cNvSpPr>
            <a:spLocks noGrp="1"/>
          </p:cNvSpPr>
          <p:nvPr>
            <p:ph type="body" sz="quarter" idx="13"/>
          </p:nvPr>
        </p:nvSpPr>
        <p:spPr/>
        <p:txBody>
          <a:bodyPr>
            <a:normAutofit/>
          </a:bodyPr>
          <a:lstStyle/>
          <a:p>
            <a:r>
              <a:rPr lang="en-US" dirty="0" smtClean="0"/>
              <a:t>Magnetic Tape</a:t>
            </a:r>
          </a:p>
          <a:p>
            <a:r>
              <a:rPr lang="en-US" dirty="0" smtClean="0"/>
              <a:t>Magnetic Discs</a:t>
            </a:r>
          </a:p>
          <a:p>
            <a:r>
              <a:rPr lang="en-US" dirty="0" smtClean="0"/>
              <a:t>Solid State Drives (SSD)</a:t>
            </a:r>
          </a:p>
          <a:p>
            <a:r>
              <a:rPr lang="en-US" dirty="0" smtClean="0"/>
              <a:t>Optical Storage Devices</a:t>
            </a:r>
          </a:p>
          <a:p>
            <a:r>
              <a:rPr lang="en-US" dirty="0" smtClean="0"/>
              <a:t>Flash Memory</a:t>
            </a:r>
          </a:p>
          <a:p>
            <a:endParaRPr lang="en-US" dirty="0"/>
          </a:p>
        </p:txBody>
      </p:sp>
    </p:spTree>
    <p:extLst>
      <p:ext uri="{BB962C8B-B14F-4D97-AF65-F5344CB8AC3E}">
        <p14:creationId xmlns:p14="http://schemas.microsoft.com/office/powerpoint/2010/main" val="3038143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16425</TotalTime>
  <Words>2858</Words>
  <Application>Microsoft Office PowerPoint</Application>
  <PresentationFormat>On-screen Show (4:3)</PresentationFormat>
  <Paragraphs>320</Paragraphs>
  <Slides>34</Slides>
  <Notes>13</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 WEB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Rainer_6e_TechGuide1_Slides</dc:title>
  <dc:creator>John Kenneth Corley</dc:creator>
  <cp:lastModifiedBy>techsupport</cp:lastModifiedBy>
  <cp:revision>520</cp:revision>
  <dcterms:created xsi:type="dcterms:W3CDTF">2013-08-07T23:49:12Z</dcterms:created>
  <dcterms:modified xsi:type="dcterms:W3CDTF">2015-10-01T20:06:37Z</dcterms:modified>
</cp:coreProperties>
</file>