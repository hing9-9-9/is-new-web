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60" r:id="rId5"/>
    <p:sldId id="266" r:id="rId6"/>
    <p:sldId id="270" r:id="rId7"/>
    <p:sldId id="261" r:id="rId8"/>
    <p:sldId id="268" r:id="rId9"/>
    <p:sldId id="267" r:id="rId10"/>
    <p:sldId id="262" r:id="rId11"/>
    <p:sldId id="269" r:id="rId12"/>
    <p:sldId id="263" r:id="rId13"/>
    <p:sldId id="264" r:id="rId14"/>
    <p:sldId id="265" r:id="rId15"/>
  </p:sldIdLst>
  <p:sldSz cx="9144000" cy="6858000" type="screen4x3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6643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0DC6C4-9F75-B84D-A211-3B20FB90D254}" type="doc">
      <dgm:prSet loTypeId="urn:microsoft.com/office/officeart/2005/8/layout/process5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C82E9814-2034-124C-87A1-CC3EB4B7D537}">
      <dgm:prSet phldrT="[Text]"/>
      <dgm:spPr/>
      <dgm:t>
        <a:bodyPr/>
        <a:lstStyle/>
        <a:p>
          <a:r>
            <a:rPr lang="en-US" dirty="0" smtClean="0"/>
            <a:t>A/R and collections policies</a:t>
          </a:r>
          <a:endParaRPr lang="en-US" dirty="0"/>
        </a:p>
      </dgm:t>
    </dgm:pt>
    <dgm:pt modelId="{BBA0FBA6-EB02-E347-8632-205114802FBE}" type="parTrans" cxnId="{A0EDECF5-7877-964E-934D-0051BE1557B9}">
      <dgm:prSet/>
      <dgm:spPr/>
      <dgm:t>
        <a:bodyPr/>
        <a:lstStyle/>
        <a:p>
          <a:endParaRPr lang="en-US"/>
        </a:p>
      </dgm:t>
    </dgm:pt>
    <dgm:pt modelId="{FDF6639D-4690-0740-A7EA-8EB82B918ED8}" type="sibTrans" cxnId="{A0EDECF5-7877-964E-934D-0051BE1557B9}">
      <dgm:prSet/>
      <dgm:spPr/>
      <dgm:t>
        <a:bodyPr/>
        <a:lstStyle/>
        <a:p>
          <a:endParaRPr lang="en-US"/>
        </a:p>
      </dgm:t>
    </dgm:pt>
    <dgm:pt modelId="{9E1C24E0-2D9E-7644-A0C6-933C8BA6AB4E}">
      <dgm:prSet phldrT="[Text]"/>
      <dgm:spPr/>
      <dgm:t>
        <a:bodyPr/>
        <a:lstStyle/>
        <a:p>
          <a:r>
            <a:rPr lang="en-US" dirty="0" smtClean="0"/>
            <a:t>Inventory management</a:t>
          </a:r>
          <a:endParaRPr lang="en-US" dirty="0"/>
        </a:p>
      </dgm:t>
    </dgm:pt>
    <dgm:pt modelId="{7BDF2C3F-8393-9846-8B2E-6EC06C8A9663}" type="parTrans" cxnId="{1D2BD894-6D32-DE4F-A597-4BDBF8F4307C}">
      <dgm:prSet/>
      <dgm:spPr/>
      <dgm:t>
        <a:bodyPr/>
        <a:lstStyle/>
        <a:p>
          <a:endParaRPr lang="en-US"/>
        </a:p>
      </dgm:t>
    </dgm:pt>
    <dgm:pt modelId="{12B58FB0-F945-1D4E-AB9E-259C161D1D28}" type="sibTrans" cxnId="{1D2BD894-6D32-DE4F-A597-4BDBF8F4307C}">
      <dgm:prSet/>
      <dgm:spPr/>
      <dgm:t>
        <a:bodyPr/>
        <a:lstStyle/>
        <a:p>
          <a:endParaRPr lang="en-US"/>
        </a:p>
      </dgm:t>
    </dgm:pt>
    <dgm:pt modelId="{B6B3491B-4862-6747-8EE6-3D954BCF7797}">
      <dgm:prSet phldrT="[Text]"/>
      <dgm:spPr/>
      <dgm:t>
        <a:bodyPr/>
        <a:lstStyle/>
        <a:p>
          <a:r>
            <a:rPr lang="en-US" dirty="0" smtClean="0"/>
            <a:t>A/P policy</a:t>
          </a:r>
          <a:endParaRPr lang="en-US" dirty="0"/>
        </a:p>
      </dgm:t>
    </dgm:pt>
    <dgm:pt modelId="{5C32DFA9-C2EE-F949-91C6-18421B6BB8F1}" type="parTrans" cxnId="{42614B7E-9415-6F4E-8082-DF75C5B59BE9}">
      <dgm:prSet/>
      <dgm:spPr/>
      <dgm:t>
        <a:bodyPr/>
        <a:lstStyle/>
        <a:p>
          <a:endParaRPr lang="en-US"/>
        </a:p>
      </dgm:t>
    </dgm:pt>
    <dgm:pt modelId="{13EF65EA-C1E8-B74F-8EA9-4F83B3534E60}" type="sibTrans" cxnId="{42614B7E-9415-6F4E-8082-DF75C5B59BE9}">
      <dgm:prSet/>
      <dgm:spPr/>
      <dgm:t>
        <a:bodyPr/>
        <a:lstStyle/>
        <a:p>
          <a:endParaRPr lang="en-US"/>
        </a:p>
      </dgm:t>
    </dgm:pt>
    <dgm:pt modelId="{76377C48-9587-7E4D-851D-0AAFFD0B431B}">
      <dgm:prSet phldrT="[Text]"/>
      <dgm:spPr/>
      <dgm:t>
        <a:bodyPr/>
        <a:lstStyle/>
        <a:p>
          <a:r>
            <a:rPr lang="en-US" dirty="0" smtClean="0"/>
            <a:t>Assessment of performance and expenditures</a:t>
          </a:r>
          <a:endParaRPr lang="en-US" dirty="0"/>
        </a:p>
      </dgm:t>
    </dgm:pt>
    <dgm:pt modelId="{FC2599F1-D03A-3540-AE62-AE9FC206323F}" type="parTrans" cxnId="{D79B7B56-B34A-BF45-94C5-F28D955C48F3}">
      <dgm:prSet/>
      <dgm:spPr/>
      <dgm:t>
        <a:bodyPr/>
        <a:lstStyle/>
        <a:p>
          <a:endParaRPr lang="en-US"/>
        </a:p>
      </dgm:t>
    </dgm:pt>
    <dgm:pt modelId="{8AECCB17-AC08-C24A-A34F-10EEFBB8AF8A}" type="sibTrans" cxnId="{D79B7B56-B34A-BF45-94C5-F28D955C48F3}">
      <dgm:prSet/>
      <dgm:spPr/>
      <dgm:t>
        <a:bodyPr/>
        <a:lstStyle/>
        <a:p>
          <a:endParaRPr lang="en-US"/>
        </a:p>
      </dgm:t>
    </dgm:pt>
    <dgm:pt modelId="{565BA663-49AF-104A-A80B-961CE5042B1F}">
      <dgm:prSet phldrT="[Text]"/>
      <dgm:spPr/>
      <dgm:t>
        <a:bodyPr/>
        <a:lstStyle/>
        <a:p>
          <a:r>
            <a:rPr lang="en-US" dirty="0" smtClean="0"/>
            <a:t>Metrics to track trends</a:t>
          </a:r>
          <a:endParaRPr lang="en-US" dirty="0"/>
        </a:p>
      </dgm:t>
    </dgm:pt>
    <dgm:pt modelId="{3F17B98E-FD69-8A4A-ACC3-C16C9FDD06DF}" type="parTrans" cxnId="{4131263A-C0DF-704F-9DCA-67448C463B4A}">
      <dgm:prSet/>
      <dgm:spPr/>
      <dgm:t>
        <a:bodyPr/>
        <a:lstStyle/>
        <a:p>
          <a:endParaRPr lang="en-US"/>
        </a:p>
      </dgm:t>
    </dgm:pt>
    <dgm:pt modelId="{FC38FFE9-B20F-D44E-80B9-134095465DCE}" type="sibTrans" cxnId="{4131263A-C0DF-704F-9DCA-67448C463B4A}">
      <dgm:prSet/>
      <dgm:spPr/>
      <dgm:t>
        <a:bodyPr/>
        <a:lstStyle/>
        <a:p>
          <a:endParaRPr lang="en-US"/>
        </a:p>
      </dgm:t>
    </dgm:pt>
    <dgm:pt modelId="{9476A4E1-1740-0349-BCEC-B380DCE1DFDF}" type="pres">
      <dgm:prSet presAssocID="{600DC6C4-9F75-B84D-A211-3B20FB90D25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60D4DF-EB7D-FD43-AF37-E081BD19DFB3}" type="pres">
      <dgm:prSet presAssocID="{C82E9814-2034-124C-87A1-CC3EB4B7D537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960116-921B-9644-9AE7-996F6F0BABC9}" type="pres">
      <dgm:prSet presAssocID="{FDF6639D-4690-0740-A7EA-8EB82B918ED8}" presName="sibTrans" presStyleLbl="sibTrans2D1" presStyleIdx="0" presStyleCnt="4"/>
      <dgm:spPr/>
      <dgm:t>
        <a:bodyPr/>
        <a:lstStyle/>
        <a:p>
          <a:endParaRPr lang="en-US"/>
        </a:p>
      </dgm:t>
    </dgm:pt>
    <dgm:pt modelId="{391F4680-DAC3-D340-A597-3CF717EA3DA2}" type="pres">
      <dgm:prSet presAssocID="{FDF6639D-4690-0740-A7EA-8EB82B918ED8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9B3F6142-D426-CF4B-80B2-296D28D1F37C}" type="pres">
      <dgm:prSet presAssocID="{9E1C24E0-2D9E-7644-A0C6-933C8BA6AB4E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E9E707-0F03-A84A-9D63-226E2A389427}" type="pres">
      <dgm:prSet presAssocID="{12B58FB0-F945-1D4E-AB9E-259C161D1D28}" presName="sibTrans" presStyleLbl="sibTrans2D1" presStyleIdx="1" presStyleCnt="4"/>
      <dgm:spPr/>
      <dgm:t>
        <a:bodyPr/>
        <a:lstStyle/>
        <a:p>
          <a:endParaRPr lang="en-US"/>
        </a:p>
      </dgm:t>
    </dgm:pt>
    <dgm:pt modelId="{BACE32EE-35FA-3B4B-AAC8-0E513554B3C5}" type="pres">
      <dgm:prSet presAssocID="{12B58FB0-F945-1D4E-AB9E-259C161D1D28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005081B7-37B4-6E49-81E0-32903AFBA20C}" type="pres">
      <dgm:prSet presAssocID="{B6B3491B-4862-6747-8EE6-3D954BCF7797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7EF74-729E-3947-9799-F743C6553939}" type="pres">
      <dgm:prSet presAssocID="{13EF65EA-C1E8-B74F-8EA9-4F83B3534E60}" presName="sibTrans" presStyleLbl="sibTrans2D1" presStyleIdx="2" presStyleCnt="4"/>
      <dgm:spPr/>
      <dgm:t>
        <a:bodyPr/>
        <a:lstStyle/>
        <a:p>
          <a:endParaRPr lang="en-US"/>
        </a:p>
      </dgm:t>
    </dgm:pt>
    <dgm:pt modelId="{C5938E99-DCBE-324E-B33D-84E68EE628FA}" type="pres">
      <dgm:prSet presAssocID="{13EF65EA-C1E8-B74F-8EA9-4F83B3534E60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0AB9A464-AA19-4F40-802C-1B246ADB0B33}" type="pres">
      <dgm:prSet presAssocID="{76377C48-9587-7E4D-851D-0AAFFD0B431B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BB07C9-6FF2-5946-A249-BCE6F95DF97E}" type="pres">
      <dgm:prSet presAssocID="{8AECCB17-AC08-C24A-A34F-10EEFBB8AF8A}" presName="sibTrans" presStyleLbl="sibTrans2D1" presStyleIdx="3" presStyleCnt="4"/>
      <dgm:spPr/>
      <dgm:t>
        <a:bodyPr/>
        <a:lstStyle/>
        <a:p>
          <a:endParaRPr lang="en-US"/>
        </a:p>
      </dgm:t>
    </dgm:pt>
    <dgm:pt modelId="{47E4A892-D268-1C48-B16B-1E042713D8FB}" type="pres">
      <dgm:prSet presAssocID="{8AECCB17-AC08-C24A-A34F-10EEFBB8AF8A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21068711-5107-3F40-BAA4-6FA79241D316}" type="pres">
      <dgm:prSet presAssocID="{565BA663-49AF-104A-A80B-961CE5042B1F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0EDECF5-7877-964E-934D-0051BE1557B9}" srcId="{600DC6C4-9F75-B84D-A211-3B20FB90D254}" destId="{C82E9814-2034-124C-87A1-CC3EB4B7D537}" srcOrd="0" destOrd="0" parTransId="{BBA0FBA6-EB02-E347-8632-205114802FBE}" sibTransId="{FDF6639D-4690-0740-A7EA-8EB82B918ED8}"/>
    <dgm:cxn modelId="{1D2BD894-6D32-DE4F-A597-4BDBF8F4307C}" srcId="{600DC6C4-9F75-B84D-A211-3B20FB90D254}" destId="{9E1C24E0-2D9E-7644-A0C6-933C8BA6AB4E}" srcOrd="1" destOrd="0" parTransId="{7BDF2C3F-8393-9846-8B2E-6EC06C8A9663}" sibTransId="{12B58FB0-F945-1D4E-AB9E-259C161D1D28}"/>
    <dgm:cxn modelId="{D4C6C763-0C31-4F86-AE34-A4BB8409A9CC}" type="presOf" srcId="{B6B3491B-4862-6747-8EE6-3D954BCF7797}" destId="{005081B7-37B4-6E49-81E0-32903AFBA20C}" srcOrd="0" destOrd="0" presId="urn:microsoft.com/office/officeart/2005/8/layout/process5"/>
    <dgm:cxn modelId="{4131263A-C0DF-704F-9DCA-67448C463B4A}" srcId="{600DC6C4-9F75-B84D-A211-3B20FB90D254}" destId="{565BA663-49AF-104A-A80B-961CE5042B1F}" srcOrd="4" destOrd="0" parTransId="{3F17B98E-FD69-8A4A-ACC3-C16C9FDD06DF}" sibTransId="{FC38FFE9-B20F-D44E-80B9-134095465DCE}"/>
    <dgm:cxn modelId="{8F1F47B1-F9A2-4D23-994A-D53D546A8F4C}" type="presOf" srcId="{12B58FB0-F945-1D4E-AB9E-259C161D1D28}" destId="{BACE32EE-35FA-3B4B-AAC8-0E513554B3C5}" srcOrd="1" destOrd="0" presId="urn:microsoft.com/office/officeart/2005/8/layout/process5"/>
    <dgm:cxn modelId="{42614B7E-9415-6F4E-8082-DF75C5B59BE9}" srcId="{600DC6C4-9F75-B84D-A211-3B20FB90D254}" destId="{B6B3491B-4862-6747-8EE6-3D954BCF7797}" srcOrd="2" destOrd="0" parTransId="{5C32DFA9-C2EE-F949-91C6-18421B6BB8F1}" sibTransId="{13EF65EA-C1E8-B74F-8EA9-4F83B3534E60}"/>
    <dgm:cxn modelId="{DA3607B0-EACB-428C-890D-D1E4EFB2FF9B}" type="presOf" srcId="{C82E9814-2034-124C-87A1-CC3EB4B7D537}" destId="{9960D4DF-EB7D-FD43-AF37-E081BD19DFB3}" srcOrd="0" destOrd="0" presId="urn:microsoft.com/office/officeart/2005/8/layout/process5"/>
    <dgm:cxn modelId="{0F25EE73-D539-4B49-AD79-7D9E3FD5E749}" type="presOf" srcId="{13EF65EA-C1E8-B74F-8EA9-4F83B3534E60}" destId="{C5938E99-DCBE-324E-B33D-84E68EE628FA}" srcOrd="1" destOrd="0" presId="urn:microsoft.com/office/officeart/2005/8/layout/process5"/>
    <dgm:cxn modelId="{35ACE629-B9A1-4DE5-AD17-3424AD289B52}" type="presOf" srcId="{9E1C24E0-2D9E-7644-A0C6-933C8BA6AB4E}" destId="{9B3F6142-D426-CF4B-80B2-296D28D1F37C}" srcOrd="0" destOrd="0" presId="urn:microsoft.com/office/officeart/2005/8/layout/process5"/>
    <dgm:cxn modelId="{638727B1-F1AC-45E8-B3EF-E5FE6E18516D}" type="presOf" srcId="{8AECCB17-AC08-C24A-A34F-10EEFBB8AF8A}" destId="{61BB07C9-6FF2-5946-A249-BCE6F95DF97E}" srcOrd="0" destOrd="0" presId="urn:microsoft.com/office/officeart/2005/8/layout/process5"/>
    <dgm:cxn modelId="{54F76A5B-D9D6-4FE9-AAAF-ECDABF3966B8}" type="presOf" srcId="{76377C48-9587-7E4D-851D-0AAFFD0B431B}" destId="{0AB9A464-AA19-4F40-802C-1B246ADB0B33}" srcOrd="0" destOrd="0" presId="urn:microsoft.com/office/officeart/2005/8/layout/process5"/>
    <dgm:cxn modelId="{B9120A21-733B-41EF-99D8-08F77D459F67}" type="presOf" srcId="{12B58FB0-F945-1D4E-AB9E-259C161D1D28}" destId="{60E9E707-0F03-A84A-9D63-226E2A389427}" srcOrd="0" destOrd="0" presId="urn:microsoft.com/office/officeart/2005/8/layout/process5"/>
    <dgm:cxn modelId="{448A3B5D-3944-413D-ACE5-BB566B10AF8D}" type="presOf" srcId="{FDF6639D-4690-0740-A7EA-8EB82B918ED8}" destId="{7F960116-921B-9644-9AE7-996F6F0BABC9}" srcOrd="0" destOrd="0" presId="urn:microsoft.com/office/officeart/2005/8/layout/process5"/>
    <dgm:cxn modelId="{08359532-8493-44DE-AD55-10D3A3B1FDE4}" type="presOf" srcId="{565BA663-49AF-104A-A80B-961CE5042B1F}" destId="{21068711-5107-3F40-BAA4-6FA79241D316}" srcOrd="0" destOrd="0" presId="urn:microsoft.com/office/officeart/2005/8/layout/process5"/>
    <dgm:cxn modelId="{D416AF5F-1C87-4980-A4B3-3AEDC2BDB62F}" type="presOf" srcId="{13EF65EA-C1E8-B74F-8EA9-4F83B3534E60}" destId="{6B37EF74-729E-3947-9799-F743C6553939}" srcOrd="0" destOrd="0" presId="urn:microsoft.com/office/officeart/2005/8/layout/process5"/>
    <dgm:cxn modelId="{D79B7B56-B34A-BF45-94C5-F28D955C48F3}" srcId="{600DC6C4-9F75-B84D-A211-3B20FB90D254}" destId="{76377C48-9587-7E4D-851D-0AAFFD0B431B}" srcOrd="3" destOrd="0" parTransId="{FC2599F1-D03A-3540-AE62-AE9FC206323F}" sibTransId="{8AECCB17-AC08-C24A-A34F-10EEFBB8AF8A}"/>
    <dgm:cxn modelId="{141FF01F-9C48-499A-8A06-62AB5879EE96}" type="presOf" srcId="{600DC6C4-9F75-B84D-A211-3B20FB90D254}" destId="{9476A4E1-1740-0349-BCEC-B380DCE1DFDF}" srcOrd="0" destOrd="0" presId="urn:microsoft.com/office/officeart/2005/8/layout/process5"/>
    <dgm:cxn modelId="{482BA92E-B92D-4F0A-B59E-6B5CDD12720B}" type="presOf" srcId="{8AECCB17-AC08-C24A-A34F-10EEFBB8AF8A}" destId="{47E4A892-D268-1C48-B16B-1E042713D8FB}" srcOrd="1" destOrd="0" presId="urn:microsoft.com/office/officeart/2005/8/layout/process5"/>
    <dgm:cxn modelId="{98A1BAFB-97A3-4E48-AF58-87759E4B8768}" type="presOf" srcId="{FDF6639D-4690-0740-A7EA-8EB82B918ED8}" destId="{391F4680-DAC3-D340-A597-3CF717EA3DA2}" srcOrd="1" destOrd="0" presId="urn:microsoft.com/office/officeart/2005/8/layout/process5"/>
    <dgm:cxn modelId="{918BED4A-1E0C-4077-B29F-E235D5D62A9F}" type="presParOf" srcId="{9476A4E1-1740-0349-BCEC-B380DCE1DFDF}" destId="{9960D4DF-EB7D-FD43-AF37-E081BD19DFB3}" srcOrd="0" destOrd="0" presId="urn:microsoft.com/office/officeart/2005/8/layout/process5"/>
    <dgm:cxn modelId="{BCF2C27A-A58F-47AB-9529-67413058859E}" type="presParOf" srcId="{9476A4E1-1740-0349-BCEC-B380DCE1DFDF}" destId="{7F960116-921B-9644-9AE7-996F6F0BABC9}" srcOrd="1" destOrd="0" presId="urn:microsoft.com/office/officeart/2005/8/layout/process5"/>
    <dgm:cxn modelId="{18CC8507-5BCD-4C06-97E0-62F86DA0101F}" type="presParOf" srcId="{7F960116-921B-9644-9AE7-996F6F0BABC9}" destId="{391F4680-DAC3-D340-A597-3CF717EA3DA2}" srcOrd="0" destOrd="0" presId="urn:microsoft.com/office/officeart/2005/8/layout/process5"/>
    <dgm:cxn modelId="{8853524C-2AA5-4AD5-8152-B2E6306D02CA}" type="presParOf" srcId="{9476A4E1-1740-0349-BCEC-B380DCE1DFDF}" destId="{9B3F6142-D426-CF4B-80B2-296D28D1F37C}" srcOrd="2" destOrd="0" presId="urn:microsoft.com/office/officeart/2005/8/layout/process5"/>
    <dgm:cxn modelId="{2DC65A20-9C31-4783-A28C-38D4499578F3}" type="presParOf" srcId="{9476A4E1-1740-0349-BCEC-B380DCE1DFDF}" destId="{60E9E707-0F03-A84A-9D63-226E2A389427}" srcOrd="3" destOrd="0" presId="urn:microsoft.com/office/officeart/2005/8/layout/process5"/>
    <dgm:cxn modelId="{833726D4-BB3B-4E3B-A944-A800CAB8747B}" type="presParOf" srcId="{60E9E707-0F03-A84A-9D63-226E2A389427}" destId="{BACE32EE-35FA-3B4B-AAC8-0E513554B3C5}" srcOrd="0" destOrd="0" presId="urn:microsoft.com/office/officeart/2005/8/layout/process5"/>
    <dgm:cxn modelId="{5E988A81-23AB-4551-981C-9E98F520B02D}" type="presParOf" srcId="{9476A4E1-1740-0349-BCEC-B380DCE1DFDF}" destId="{005081B7-37B4-6E49-81E0-32903AFBA20C}" srcOrd="4" destOrd="0" presId="urn:microsoft.com/office/officeart/2005/8/layout/process5"/>
    <dgm:cxn modelId="{FEA0895A-64F5-423E-B2D5-798AB28D816C}" type="presParOf" srcId="{9476A4E1-1740-0349-BCEC-B380DCE1DFDF}" destId="{6B37EF74-729E-3947-9799-F743C6553939}" srcOrd="5" destOrd="0" presId="urn:microsoft.com/office/officeart/2005/8/layout/process5"/>
    <dgm:cxn modelId="{9C86AF36-B118-4A55-9F9E-49205D8B1147}" type="presParOf" srcId="{6B37EF74-729E-3947-9799-F743C6553939}" destId="{C5938E99-DCBE-324E-B33D-84E68EE628FA}" srcOrd="0" destOrd="0" presId="urn:microsoft.com/office/officeart/2005/8/layout/process5"/>
    <dgm:cxn modelId="{2162CFB3-58CA-4136-8A8D-4725563218F5}" type="presParOf" srcId="{9476A4E1-1740-0349-BCEC-B380DCE1DFDF}" destId="{0AB9A464-AA19-4F40-802C-1B246ADB0B33}" srcOrd="6" destOrd="0" presId="urn:microsoft.com/office/officeart/2005/8/layout/process5"/>
    <dgm:cxn modelId="{BE52445D-4C98-43BD-B8F8-743C622839DB}" type="presParOf" srcId="{9476A4E1-1740-0349-BCEC-B380DCE1DFDF}" destId="{61BB07C9-6FF2-5946-A249-BCE6F95DF97E}" srcOrd="7" destOrd="0" presId="urn:microsoft.com/office/officeart/2005/8/layout/process5"/>
    <dgm:cxn modelId="{F84397B6-FBD4-49B1-808F-6E21B6720A28}" type="presParOf" srcId="{61BB07C9-6FF2-5946-A249-BCE6F95DF97E}" destId="{47E4A892-D268-1C48-B16B-1E042713D8FB}" srcOrd="0" destOrd="0" presId="urn:microsoft.com/office/officeart/2005/8/layout/process5"/>
    <dgm:cxn modelId="{762B85D6-0E2A-4D3D-9160-555326DEE892}" type="presParOf" srcId="{9476A4E1-1740-0349-BCEC-B380DCE1DFDF}" destId="{21068711-5107-3F40-BAA4-6FA79241D316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DEE81A-3AF1-F84A-96F3-F110460CED7F}" type="doc">
      <dgm:prSet loTypeId="urn:microsoft.com/office/officeart/2005/8/layout/vList6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16399E5-FCDB-9346-8904-814C19F9250E}">
      <dgm:prSet phldrT="[Text]"/>
      <dgm:spPr/>
      <dgm:t>
        <a:bodyPr/>
        <a:lstStyle/>
        <a:p>
          <a:r>
            <a:rPr lang="en-US" dirty="0" smtClean="0"/>
            <a:t>Promote current employees</a:t>
          </a:r>
          <a:endParaRPr lang="en-US" dirty="0"/>
        </a:p>
      </dgm:t>
    </dgm:pt>
    <dgm:pt modelId="{CB9311D6-F373-184C-B1BF-FC6A2A7EA4F2}" type="parTrans" cxnId="{AA43FE51-00DF-B54A-BEF4-A1920C97390D}">
      <dgm:prSet/>
      <dgm:spPr/>
      <dgm:t>
        <a:bodyPr/>
        <a:lstStyle/>
        <a:p>
          <a:endParaRPr lang="en-US"/>
        </a:p>
      </dgm:t>
    </dgm:pt>
    <dgm:pt modelId="{01D06895-5C27-A84E-A490-880EAA9291FF}" type="sibTrans" cxnId="{AA43FE51-00DF-B54A-BEF4-A1920C97390D}">
      <dgm:prSet/>
      <dgm:spPr/>
      <dgm:t>
        <a:bodyPr/>
        <a:lstStyle/>
        <a:p>
          <a:endParaRPr lang="en-US"/>
        </a:p>
      </dgm:t>
    </dgm:pt>
    <dgm:pt modelId="{12DF171F-E5EC-EE4B-BE5F-04944F322994}">
      <dgm:prSet phldrT="[Text]"/>
      <dgm:spPr/>
      <dgm:t>
        <a:bodyPr/>
        <a:lstStyle/>
        <a:p>
          <a:r>
            <a:rPr lang="en-US" dirty="0" smtClean="0"/>
            <a:t>May not be the most competent for the position </a:t>
          </a:r>
          <a:endParaRPr lang="en-US" dirty="0"/>
        </a:p>
      </dgm:t>
    </dgm:pt>
    <dgm:pt modelId="{F95E323C-559B-984A-AE70-7F02F75023D4}" type="parTrans" cxnId="{05A3C70C-3216-A14A-907E-96089170FE2A}">
      <dgm:prSet/>
      <dgm:spPr/>
      <dgm:t>
        <a:bodyPr/>
        <a:lstStyle/>
        <a:p>
          <a:endParaRPr lang="en-US"/>
        </a:p>
      </dgm:t>
    </dgm:pt>
    <dgm:pt modelId="{964A8F1B-D144-3C4D-9390-F0A093EC5F9B}" type="sibTrans" cxnId="{05A3C70C-3216-A14A-907E-96089170FE2A}">
      <dgm:prSet/>
      <dgm:spPr/>
      <dgm:t>
        <a:bodyPr/>
        <a:lstStyle/>
        <a:p>
          <a:endParaRPr lang="en-US"/>
        </a:p>
      </dgm:t>
    </dgm:pt>
    <dgm:pt modelId="{66DE5C94-4E93-8A41-A08E-23908B3B4831}">
      <dgm:prSet phldrT="[Text]"/>
      <dgm:spPr/>
      <dgm:t>
        <a:bodyPr/>
        <a:lstStyle/>
        <a:p>
          <a:r>
            <a:rPr lang="en-US" dirty="0" smtClean="0"/>
            <a:t>Hire outside management</a:t>
          </a:r>
          <a:endParaRPr lang="en-US" dirty="0"/>
        </a:p>
      </dgm:t>
    </dgm:pt>
    <dgm:pt modelId="{2E4FA66E-385B-E547-A394-995301F26DA6}" type="parTrans" cxnId="{596026F6-E4CA-2640-928B-71741F197CAC}">
      <dgm:prSet/>
      <dgm:spPr/>
      <dgm:t>
        <a:bodyPr/>
        <a:lstStyle/>
        <a:p>
          <a:endParaRPr lang="en-US"/>
        </a:p>
      </dgm:t>
    </dgm:pt>
    <dgm:pt modelId="{3EC5C09F-7A2C-A042-A20E-FA77BBD3F94C}" type="sibTrans" cxnId="{596026F6-E4CA-2640-928B-71741F197CAC}">
      <dgm:prSet/>
      <dgm:spPr/>
      <dgm:t>
        <a:bodyPr/>
        <a:lstStyle/>
        <a:p>
          <a:endParaRPr lang="en-US"/>
        </a:p>
      </dgm:t>
    </dgm:pt>
    <dgm:pt modelId="{AB42C5CB-607B-7F49-8BDD-418E1962D346}">
      <dgm:prSet phldrT="[Text]"/>
      <dgm:spPr/>
      <dgm:t>
        <a:bodyPr/>
        <a:lstStyle/>
        <a:p>
          <a:r>
            <a:rPr lang="en-US" dirty="0" smtClean="0"/>
            <a:t>Current employees may not accept newcomers</a:t>
          </a:r>
          <a:endParaRPr lang="en-US" dirty="0"/>
        </a:p>
      </dgm:t>
    </dgm:pt>
    <dgm:pt modelId="{02D59880-F34E-F840-BF11-DCBB107A5DE2}" type="parTrans" cxnId="{135ECF3E-9FF9-744A-A9DC-F2FA18C25E56}">
      <dgm:prSet/>
      <dgm:spPr/>
      <dgm:t>
        <a:bodyPr/>
        <a:lstStyle/>
        <a:p>
          <a:endParaRPr lang="en-US"/>
        </a:p>
      </dgm:t>
    </dgm:pt>
    <dgm:pt modelId="{7E06CE6A-31F3-1D44-950F-774FA46BF248}" type="sibTrans" cxnId="{135ECF3E-9FF9-744A-A9DC-F2FA18C25E56}">
      <dgm:prSet/>
      <dgm:spPr/>
      <dgm:t>
        <a:bodyPr/>
        <a:lstStyle/>
        <a:p>
          <a:endParaRPr lang="en-US"/>
        </a:p>
      </dgm:t>
    </dgm:pt>
    <dgm:pt modelId="{F5E14330-46E0-F04D-AE97-40100827002D}" type="pres">
      <dgm:prSet presAssocID="{74DEE81A-3AF1-F84A-96F3-F110460CED7F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462E641-F1D3-4A4C-A626-9E5D50E17737}" type="pres">
      <dgm:prSet presAssocID="{416399E5-FCDB-9346-8904-814C19F9250E}" presName="linNode" presStyleCnt="0"/>
      <dgm:spPr/>
    </dgm:pt>
    <dgm:pt modelId="{7462EA43-BFE7-1044-A352-2C26B0E33A9F}" type="pres">
      <dgm:prSet presAssocID="{416399E5-FCDB-9346-8904-814C19F9250E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02C57E-2356-2746-93A8-B57763B37283}" type="pres">
      <dgm:prSet presAssocID="{416399E5-FCDB-9346-8904-814C19F9250E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A52942-02C7-9E4A-97E0-5E18ABB1A2A3}" type="pres">
      <dgm:prSet presAssocID="{01D06895-5C27-A84E-A490-880EAA9291FF}" presName="spacing" presStyleCnt="0"/>
      <dgm:spPr/>
    </dgm:pt>
    <dgm:pt modelId="{B6F881CB-3347-FD43-9A79-5C9023C9949A}" type="pres">
      <dgm:prSet presAssocID="{66DE5C94-4E93-8A41-A08E-23908B3B4831}" presName="linNode" presStyleCnt="0"/>
      <dgm:spPr/>
    </dgm:pt>
    <dgm:pt modelId="{4F5849BC-8D6B-6042-BFFE-B27E683FA625}" type="pres">
      <dgm:prSet presAssocID="{66DE5C94-4E93-8A41-A08E-23908B3B4831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7272165-6938-DA4C-876E-9C16FFD8BFB8}" type="pres">
      <dgm:prSet presAssocID="{66DE5C94-4E93-8A41-A08E-23908B3B4831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5409426-7F53-4F84-AA5B-6A67B7535BF6}" type="presOf" srcId="{12DF171F-E5EC-EE4B-BE5F-04944F322994}" destId="{1002C57E-2356-2746-93A8-B57763B37283}" srcOrd="0" destOrd="0" presId="urn:microsoft.com/office/officeart/2005/8/layout/vList6"/>
    <dgm:cxn modelId="{135ECF3E-9FF9-744A-A9DC-F2FA18C25E56}" srcId="{66DE5C94-4E93-8A41-A08E-23908B3B4831}" destId="{AB42C5CB-607B-7F49-8BDD-418E1962D346}" srcOrd="0" destOrd="0" parTransId="{02D59880-F34E-F840-BF11-DCBB107A5DE2}" sibTransId="{7E06CE6A-31F3-1D44-950F-774FA46BF248}"/>
    <dgm:cxn modelId="{05A3C70C-3216-A14A-907E-96089170FE2A}" srcId="{416399E5-FCDB-9346-8904-814C19F9250E}" destId="{12DF171F-E5EC-EE4B-BE5F-04944F322994}" srcOrd="0" destOrd="0" parTransId="{F95E323C-559B-984A-AE70-7F02F75023D4}" sibTransId="{964A8F1B-D144-3C4D-9390-F0A093EC5F9B}"/>
    <dgm:cxn modelId="{596026F6-E4CA-2640-928B-71741F197CAC}" srcId="{74DEE81A-3AF1-F84A-96F3-F110460CED7F}" destId="{66DE5C94-4E93-8A41-A08E-23908B3B4831}" srcOrd="1" destOrd="0" parTransId="{2E4FA66E-385B-E547-A394-995301F26DA6}" sibTransId="{3EC5C09F-7A2C-A042-A20E-FA77BBD3F94C}"/>
    <dgm:cxn modelId="{13392186-137F-451B-ADCA-AE74459DE7F8}" type="presOf" srcId="{416399E5-FCDB-9346-8904-814C19F9250E}" destId="{7462EA43-BFE7-1044-A352-2C26B0E33A9F}" srcOrd="0" destOrd="0" presId="urn:microsoft.com/office/officeart/2005/8/layout/vList6"/>
    <dgm:cxn modelId="{265F76E7-24AA-47FA-8EB7-5BFF93AE45B5}" type="presOf" srcId="{AB42C5CB-607B-7F49-8BDD-418E1962D346}" destId="{07272165-6938-DA4C-876E-9C16FFD8BFB8}" srcOrd="0" destOrd="0" presId="urn:microsoft.com/office/officeart/2005/8/layout/vList6"/>
    <dgm:cxn modelId="{AA43FE51-00DF-B54A-BEF4-A1920C97390D}" srcId="{74DEE81A-3AF1-F84A-96F3-F110460CED7F}" destId="{416399E5-FCDB-9346-8904-814C19F9250E}" srcOrd="0" destOrd="0" parTransId="{CB9311D6-F373-184C-B1BF-FC6A2A7EA4F2}" sibTransId="{01D06895-5C27-A84E-A490-880EAA9291FF}"/>
    <dgm:cxn modelId="{7A78965F-E86F-44D6-84E0-C17F25444E96}" type="presOf" srcId="{74DEE81A-3AF1-F84A-96F3-F110460CED7F}" destId="{F5E14330-46E0-F04D-AE97-40100827002D}" srcOrd="0" destOrd="0" presId="urn:microsoft.com/office/officeart/2005/8/layout/vList6"/>
    <dgm:cxn modelId="{A7209956-3090-4C48-A715-547F0FB026AD}" type="presOf" srcId="{66DE5C94-4E93-8A41-A08E-23908B3B4831}" destId="{4F5849BC-8D6B-6042-BFFE-B27E683FA625}" srcOrd="0" destOrd="0" presId="urn:microsoft.com/office/officeart/2005/8/layout/vList6"/>
    <dgm:cxn modelId="{B9B41F11-BF01-4DAC-B59D-1924FE2C0FDE}" type="presParOf" srcId="{F5E14330-46E0-F04D-AE97-40100827002D}" destId="{F462E641-F1D3-4A4C-A626-9E5D50E17737}" srcOrd="0" destOrd="0" presId="urn:microsoft.com/office/officeart/2005/8/layout/vList6"/>
    <dgm:cxn modelId="{29CE54B6-273C-4DBE-A99B-B1C855679728}" type="presParOf" srcId="{F462E641-F1D3-4A4C-A626-9E5D50E17737}" destId="{7462EA43-BFE7-1044-A352-2C26B0E33A9F}" srcOrd="0" destOrd="0" presId="urn:microsoft.com/office/officeart/2005/8/layout/vList6"/>
    <dgm:cxn modelId="{90779CD0-818A-4A5D-BDE0-0578ADDC31E3}" type="presParOf" srcId="{F462E641-F1D3-4A4C-A626-9E5D50E17737}" destId="{1002C57E-2356-2746-93A8-B57763B37283}" srcOrd="1" destOrd="0" presId="urn:microsoft.com/office/officeart/2005/8/layout/vList6"/>
    <dgm:cxn modelId="{A1043B68-56B6-4FFD-BC09-ABABE4493C82}" type="presParOf" srcId="{F5E14330-46E0-F04D-AE97-40100827002D}" destId="{F5A52942-02C7-9E4A-97E0-5E18ABB1A2A3}" srcOrd="1" destOrd="0" presId="urn:microsoft.com/office/officeart/2005/8/layout/vList6"/>
    <dgm:cxn modelId="{DE32202E-C969-4A42-AB0C-872C139EEDA4}" type="presParOf" srcId="{F5E14330-46E0-F04D-AE97-40100827002D}" destId="{B6F881CB-3347-FD43-9A79-5C9023C9949A}" srcOrd="2" destOrd="0" presId="urn:microsoft.com/office/officeart/2005/8/layout/vList6"/>
    <dgm:cxn modelId="{8C5967FA-2562-412D-9900-7E98630E21FE}" type="presParOf" srcId="{B6F881CB-3347-FD43-9A79-5C9023C9949A}" destId="{4F5849BC-8D6B-6042-BFFE-B27E683FA625}" srcOrd="0" destOrd="0" presId="urn:microsoft.com/office/officeart/2005/8/layout/vList6"/>
    <dgm:cxn modelId="{EEA8D354-FC7C-4272-96E6-82DE010D4ACD}" type="presParOf" srcId="{B6F881CB-3347-FD43-9A79-5C9023C9949A}" destId="{07272165-6938-DA4C-876E-9C16FFD8BFB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0D4DF-EB7D-FD43-AF37-E081BD19DFB3}">
      <dsp:nvSpPr>
        <dsp:cNvPr id="0" name=""/>
        <dsp:cNvSpPr/>
      </dsp:nvSpPr>
      <dsp:spPr>
        <a:xfrm>
          <a:off x="6965" y="582453"/>
          <a:ext cx="2081807" cy="1249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A/R and collections policies</a:t>
          </a:r>
          <a:endParaRPr lang="en-US" sz="2000" kern="1200" dirty="0"/>
        </a:p>
      </dsp:txBody>
      <dsp:txXfrm>
        <a:off x="43549" y="619037"/>
        <a:ext cx="2008639" cy="1175916"/>
      </dsp:txXfrm>
    </dsp:sp>
    <dsp:sp modelId="{7F960116-921B-9644-9AE7-996F6F0BABC9}">
      <dsp:nvSpPr>
        <dsp:cNvPr id="0" name=""/>
        <dsp:cNvSpPr/>
      </dsp:nvSpPr>
      <dsp:spPr>
        <a:xfrm>
          <a:off x="2271972" y="948851"/>
          <a:ext cx="441343" cy="51628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2271972" y="1052109"/>
        <a:ext cx="308940" cy="309772"/>
      </dsp:txXfrm>
    </dsp:sp>
    <dsp:sp modelId="{9B3F6142-D426-CF4B-80B2-296D28D1F37C}">
      <dsp:nvSpPr>
        <dsp:cNvPr id="0" name=""/>
        <dsp:cNvSpPr/>
      </dsp:nvSpPr>
      <dsp:spPr>
        <a:xfrm>
          <a:off x="2921496" y="582453"/>
          <a:ext cx="2081807" cy="1249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Inventory management</a:t>
          </a:r>
          <a:endParaRPr lang="en-US" sz="2000" kern="1200" dirty="0"/>
        </a:p>
      </dsp:txBody>
      <dsp:txXfrm>
        <a:off x="2958080" y="619037"/>
        <a:ext cx="2008639" cy="1175916"/>
      </dsp:txXfrm>
    </dsp:sp>
    <dsp:sp modelId="{60E9E707-0F03-A84A-9D63-226E2A389427}">
      <dsp:nvSpPr>
        <dsp:cNvPr id="0" name=""/>
        <dsp:cNvSpPr/>
      </dsp:nvSpPr>
      <dsp:spPr>
        <a:xfrm>
          <a:off x="5186502" y="948851"/>
          <a:ext cx="441343" cy="51628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5186502" y="1052109"/>
        <a:ext cx="308940" cy="309772"/>
      </dsp:txXfrm>
    </dsp:sp>
    <dsp:sp modelId="{005081B7-37B4-6E49-81E0-32903AFBA20C}">
      <dsp:nvSpPr>
        <dsp:cNvPr id="0" name=""/>
        <dsp:cNvSpPr/>
      </dsp:nvSpPr>
      <dsp:spPr>
        <a:xfrm>
          <a:off x="5836027" y="582453"/>
          <a:ext cx="2081807" cy="1249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A/P policy</a:t>
          </a:r>
          <a:endParaRPr lang="en-US" sz="2000" kern="1200" dirty="0"/>
        </a:p>
      </dsp:txBody>
      <dsp:txXfrm>
        <a:off x="5872611" y="619037"/>
        <a:ext cx="2008639" cy="1175916"/>
      </dsp:txXfrm>
    </dsp:sp>
    <dsp:sp modelId="{6B37EF74-729E-3947-9799-F743C6553939}">
      <dsp:nvSpPr>
        <dsp:cNvPr id="0" name=""/>
        <dsp:cNvSpPr/>
      </dsp:nvSpPr>
      <dsp:spPr>
        <a:xfrm rot="5400000">
          <a:off x="6656259" y="1977264"/>
          <a:ext cx="441343" cy="51628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-5400000">
        <a:off x="6722045" y="2014737"/>
        <a:ext cx="309772" cy="308940"/>
      </dsp:txXfrm>
    </dsp:sp>
    <dsp:sp modelId="{0AB9A464-AA19-4F40-802C-1B246ADB0B33}">
      <dsp:nvSpPr>
        <dsp:cNvPr id="0" name=""/>
        <dsp:cNvSpPr/>
      </dsp:nvSpPr>
      <dsp:spPr>
        <a:xfrm>
          <a:off x="5836027" y="2664261"/>
          <a:ext cx="2081807" cy="1249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Assessment of performance and expenditures</a:t>
          </a:r>
          <a:endParaRPr lang="en-US" sz="2000" kern="1200" dirty="0"/>
        </a:p>
      </dsp:txBody>
      <dsp:txXfrm>
        <a:off x="5872611" y="2700845"/>
        <a:ext cx="2008639" cy="1175916"/>
      </dsp:txXfrm>
    </dsp:sp>
    <dsp:sp modelId="{61BB07C9-6FF2-5946-A249-BCE6F95DF97E}">
      <dsp:nvSpPr>
        <dsp:cNvPr id="0" name=""/>
        <dsp:cNvSpPr/>
      </dsp:nvSpPr>
      <dsp:spPr>
        <a:xfrm rot="10800000">
          <a:off x="5211484" y="3030659"/>
          <a:ext cx="441343" cy="51628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 rot="10800000">
        <a:off x="5343887" y="3133917"/>
        <a:ext cx="308940" cy="309772"/>
      </dsp:txXfrm>
    </dsp:sp>
    <dsp:sp modelId="{21068711-5107-3F40-BAA4-6FA79241D316}">
      <dsp:nvSpPr>
        <dsp:cNvPr id="0" name=""/>
        <dsp:cNvSpPr/>
      </dsp:nvSpPr>
      <dsp:spPr>
        <a:xfrm>
          <a:off x="2921496" y="2664261"/>
          <a:ext cx="2081807" cy="12490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Metrics to track trends</a:t>
          </a:r>
          <a:endParaRPr lang="en-US" sz="2000" kern="1200" dirty="0"/>
        </a:p>
      </dsp:txBody>
      <dsp:txXfrm>
        <a:off x="2958080" y="2700845"/>
        <a:ext cx="2008639" cy="11759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02C57E-2356-2746-93A8-B57763B37283}">
      <dsp:nvSpPr>
        <dsp:cNvPr id="0" name=""/>
        <dsp:cNvSpPr/>
      </dsp:nvSpPr>
      <dsp:spPr>
        <a:xfrm>
          <a:off x="2438399" y="496"/>
          <a:ext cx="3657600" cy="19347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/>
            <a:t>May not be the most competent for the position </a:t>
          </a:r>
          <a:endParaRPr lang="en-US" sz="2700" kern="1200" dirty="0"/>
        </a:p>
      </dsp:txBody>
      <dsp:txXfrm>
        <a:off x="2438399" y="242342"/>
        <a:ext cx="2932063" cy="1451073"/>
      </dsp:txXfrm>
    </dsp:sp>
    <dsp:sp modelId="{7462EA43-BFE7-1044-A352-2C26B0E33A9F}">
      <dsp:nvSpPr>
        <dsp:cNvPr id="0" name=""/>
        <dsp:cNvSpPr/>
      </dsp:nvSpPr>
      <dsp:spPr>
        <a:xfrm>
          <a:off x="0" y="496"/>
          <a:ext cx="2438400" cy="1934765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Promote current employees</a:t>
          </a:r>
          <a:endParaRPr lang="en-US" sz="2800" kern="1200" dirty="0"/>
        </a:p>
      </dsp:txBody>
      <dsp:txXfrm>
        <a:off x="94447" y="94943"/>
        <a:ext cx="2249506" cy="1745871"/>
      </dsp:txXfrm>
    </dsp:sp>
    <dsp:sp modelId="{07272165-6938-DA4C-876E-9C16FFD8BFB8}">
      <dsp:nvSpPr>
        <dsp:cNvPr id="0" name=""/>
        <dsp:cNvSpPr/>
      </dsp:nvSpPr>
      <dsp:spPr>
        <a:xfrm>
          <a:off x="2438400" y="2128738"/>
          <a:ext cx="3657600" cy="19347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-3945706"/>
            <a:satOff val="22157"/>
            <a:lumOff val="1408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-3945706"/>
              <a:satOff val="22157"/>
              <a:lumOff val="140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 smtClean="0"/>
            <a:t>Current employees may not accept newcomers</a:t>
          </a:r>
          <a:endParaRPr lang="en-US" sz="2700" kern="1200" dirty="0"/>
        </a:p>
      </dsp:txBody>
      <dsp:txXfrm>
        <a:off x="2438400" y="2370584"/>
        <a:ext cx="2932063" cy="1451073"/>
      </dsp:txXfrm>
    </dsp:sp>
    <dsp:sp modelId="{4F5849BC-8D6B-6042-BFFE-B27E683FA625}">
      <dsp:nvSpPr>
        <dsp:cNvPr id="0" name=""/>
        <dsp:cNvSpPr/>
      </dsp:nvSpPr>
      <dsp:spPr>
        <a:xfrm>
          <a:off x="0" y="2128738"/>
          <a:ext cx="2438400" cy="1934765"/>
        </a:xfrm>
        <a:prstGeom prst="round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Hire outside management</a:t>
          </a:r>
          <a:endParaRPr lang="en-US" sz="2800" kern="1200" dirty="0"/>
        </a:p>
      </dsp:txBody>
      <dsp:txXfrm>
        <a:off x="94447" y="2223185"/>
        <a:ext cx="2249506" cy="17458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F20DE-913C-4686-A81E-765B509B87C1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8E3A9-E035-42AD-B8EE-4A9A595C2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4187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3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1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34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2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57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7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1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4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88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fld id="{E0156464-0A9D-1E48-AD60-467FF3189B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71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4600" y="6245225"/>
            <a:ext cx="4038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fld id="{E2CABF41-0C1C-3C46-A67D-81DEC7BCC96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8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419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smtClean="0">
                <a:solidFill>
                  <a:schemeClr val="tx1"/>
                </a:solidFill>
              </a:rPr>
              <a:t>Bygrave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 3</a:t>
            </a:r>
            <a:r>
              <a:rPr lang="en-US" sz="1000" i="1" baseline="30000" dirty="0" smtClean="0">
                <a:solidFill>
                  <a:schemeClr val="tx1"/>
                </a:solidFill>
              </a:rPr>
              <a:t>rd</a:t>
            </a:r>
            <a:r>
              <a:rPr lang="en-US" sz="1000" i="1" dirty="0" smtClean="0">
                <a:solidFill>
                  <a:schemeClr val="tx1"/>
                </a:solidFill>
              </a:rPr>
              <a:t> edition.</a:t>
            </a:r>
            <a:r>
              <a:rPr lang="en-US" sz="1000" dirty="0" smtClean="0">
                <a:solidFill>
                  <a:schemeClr val="tx1"/>
                </a:solidFill>
              </a:rPr>
              <a:t> 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6248400"/>
            <a:ext cx="1143000" cy="580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060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Novecento wide Book"/>
              </a:rPr>
              <a:t>ENTREPRENEURIAL GROWTH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Novecento wide Book" pitchFamily="50" charset="0"/>
              </a:rPr>
              <a:t>Chapter 13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489450" y="1676400"/>
            <a:ext cx="3892550" cy="42933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62000" y="1676400"/>
            <a:ext cx="3292475" cy="429339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>
                <a:ea typeface="Gulim" pitchFamily="34" charset="-127"/>
                <a:cs typeface="Gulim" pitchFamily="34" charset="-127"/>
              </a:rPr>
              <a:t>You’ll have multiple post-startup options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1066800" y="3619500"/>
            <a:ext cx="8953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b="1" dirty="0">
                <a:latin typeface="+mn-lt"/>
                <a:ea typeface="SimSun" pitchFamily="2" charset="-122"/>
                <a:cs typeface="SimSun" pitchFamily="2" charset="-122"/>
              </a:rPr>
              <a:t>Startup</a:t>
            </a:r>
            <a:endParaRPr lang="en-US" b="1" dirty="0">
              <a:latin typeface="+mn-lt"/>
            </a:endParaRPr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2559050" y="2425700"/>
            <a:ext cx="5969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Sell</a:t>
            </a:r>
            <a:endParaRPr lang="en-US" dirty="0">
              <a:latin typeface="+mn-lt"/>
            </a:endParaRP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2559050" y="3587750"/>
            <a:ext cx="10445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Maintain</a:t>
            </a:r>
            <a:endParaRPr lang="en-US" dirty="0">
              <a:latin typeface="+mn-lt"/>
            </a:endParaRPr>
          </a:p>
        </p:txBody>
      </p:sp>
      <p:sp>
        <p:nvSpPr>
          <p:cNvPr id="79879" name="Text Box 7"/>
          <p:cNvSpPr txBox="1">
            <a:spLocks noChangeArrowheads="1"/>
          </p:cNvSpPr>
          <p:nvPr/>
        </p:nvSpPr>
        <p:spPr bwMode="auto">
          <a:xfrm>
            <a:off x="2559050" y="4814888"/>
            <a:ext cx="8953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2000" b="1" dirty="0">
                <a:latin typeface="+mn-lt"/>
                <a:ea typeface="SimSun" pitchFamily="2" charset="-122"/>
                <a:cs typeface="SimSun" pitchFamily="2" charset="-122"/>
              </a:rPr>
              <a:t>Grow</a:t>
            </a:r>
            <a:endParaRPr lang="en-US" sz="2000" b="1" dirty="0">
              <a:latin typeface="+mn-lt"/>
            </a:endParaRPr>
          </a:p>
        </p:txBody>
      </p:sp>
      <p:sp>
        <p:nvSpPr>
          <p:cNvPr id="79880" name="Text Box 8"/>
          <p:cNvSpPr txBox="1">
            <a:spLocks noChangeArrowheads="1"/>
          </p:cNvSpPr>
          <p:nvPr/>
        </p:nvSpPr>
        <p:spPr bwMode="auto">
          <a:xfrm>
            <a:off x="1143000" y="5522912"/>
            <a:ext cx="312737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2400" b="1" i="1" dirty="0">
                <a:latin typeface="+mn-lt"/>
                <a:ea typeface="SimSun" pitchFamily="2" charset="-122"/>
                <a:cs typeface="SimSun" pitchFamily="2" charset="-122"/>
              </a:rPr>
              <a:t>Options for Venture</a:t>
            </a:r>
            <a:endParaRPr lang="en-US" sz="2400" i="1" dirty="0">
              <a:latin typeface="+mn-lt"/>
            </a:endParaRPr>
          </a:p>
        </p:txBody>
      </p:sp>
      <p:sp>
        <p:nvSpPr>
          <p:cNvPr id="79881" name="Text Box 9"/>
          <p:cNvSpPr txBox="1">
            <a:spLocks noChangeArrowheads="1"/>
          </p:cNvSpPr>
          <p:nvPr/>
        </p:nvSpPr>
        <p:spPr bwMode="auto">
          <a:xfrm>
            <a:off x="4946650" y="5562600"/>
            <a:ext cx="3435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2400" b="1" i="1" dirty="0">
                <a:latin typeface="+mn-lt"/>
                <a:ea typeface="SimSun" pitchFamily="2" charset="-122"/>
                <a:cs typeface="SimSun" pitchFamily="2" charset="-122"/>
              </a:rPr>
              <a:t>Options for Founder</a:t>
            </a:r>
            <a:endParaRPr lang="en-US" sz="2400" i="1" dirty="0">
              <a:latin typeface="+mn-lt"/>
            </a:endParaRPr>
          </a:p>
        </p:txBody>
      </p:sp>
      <p:sp>
        <p:nvSpPr>
          <p:cNvPr id="79882" name="Text Box 10"/>
          <p:cNvSpPr txBox="1">
            <a:spLocks noChangeArrowheads="1"/>
          </p:cNvSpPr>
          <p:nvPr/>
        </p:nvSpPr>
        <p:spPr bwMode="auto">
          <a:xfrm>
            <a:off x="4797425" y="2276475"/>
            <a:ext cx="2238375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Start Another Venture</a:t>
            </a:r>
            <a:endParaRPr lang="en-US" dirty="0">
              <a:latin typeface="+mn-lt"/>
            </a:endParaRPr>
          </a:p>
        </p:txBody>
      </p:sp>
      <p:sp>
        <p:nvSpPr>
          <p:cNvPr id="79883" name="Text Box 11"/>
          <p:cNvSpPr txBox="1">
            <a:spLocks noChangeArrowheads="1"/>
          </p:cNvSpPr>
          <p:nvPr/>
        </p:nvSpPr>
        <p:spPr bwMode="auto">
          <a:xfrm>
            <a:off x="4797425" y="2724150"/>
            <a:ext cx="23876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Seek Other Employment</a:t>
            </a:r>
            <a:endParaRPr lang="en-US" dirty="0">
              <a:latin typeface="+mn-lt"/>
            </a:endParaRPr>
          </a:p>
        </p:txBody>
      </p:sp>
      <p:sp>
        <p:nvSpPr>
          <p:cNvPr id="79884" name="Text Box 12"/>
          <p:cNvSpPr txBox="1">
            <a:spLocks noChangeArrowheads="1"/>
          </p:cNvSpPr>
          <p:nvPr/>
        </p:nvSpPr>
        <p:spPr bwMode="auto">
          <a:xfrm>
            <a:off x="4797425" y="3322638"/>
            <a:ext cx="2593975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Become a Manager</a:t>
            </a:r>
            <a:endParaRPr lang="en-US" dirty="0">
              <a:latin typeface="+mn-lt"/>
            </a:endParaRPr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4873625" y="4365625"/>
            <a:ext cx="36639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b="1" dirty="0">
                <a:latin typeface="+mn-lt"/>
                <a:ea typeface="SimSun" pitchFamily="2" charset="-122"/>
                <a:cs typeface="SimSun" pitchFamily="2" charset="-122"/>
              </a:rPr>
              <a:t>Become an Entrepreneurial Leader </a:t>
            </a:r>
            <a:endParaRPr lang="en-US" b="1" dirty="0">
              <a:latin typeface="+mn-lt"/>
            </a:endParaRPr>
          </a:p>
        </p:txBody>
      </p:sp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4873625" y="4813300"/>
            <a:ext cx="3660775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Take Alternate Position in the Firm</a:t>
            </a:r>
            <a:endParaRPr lang="en-US" dirty="0">
              <a:latin typeface="+mn-lt"/>
            </a:endParaRPr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4873625" y="5260975"/>
            <a:ext cx="298450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Exit Day-to-Day Management</a:t>
            </a:r>
            <a:endParaRPr lang="en-US" dirty="0">
              <a:latin typeface="+mn-lt"/>
            </a:endParaRPr>
          </a:p>
        </p:txBody>
      </p:sp>
      <p:sp>
        <p:nvSpPr>
          <p:cNvPr id="79888" name="Line 16"/>
          <p:cNvSpPr>
            <a:spLocks noChangeShapeType="1"/>
          </p:cNvSpPr>
          <p:nvPr/>
        </p:nvSpPr>
        <p:spPr bwMode="auto">
          <a:xfrm flipV="1">
            <a:off x="3155950" y="2425700"/>
            <a:ext cx="1641475" cy="150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89" name="Line 17"/>
          <p:cNvSpPr>
            <a:spLocks noChangeShapeType="1"/>
          </p:cNvSpPr>
          <p:nvPr/>
        </p:nvSpPr>
        <p:spPr bwMode="auto">
          <a:xfrm>
            <a:off x="3155950" y="2574925"/>
            <a:ext cx="1641475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0" name="Line 18"/>
          <p:cNvSpPr>
            <a:spLocks noChangeShapeType="1"/>
          </p:cNvSpPr>
          <p:nvPr/>
        </p:nvSpPr>
        <p:spPr bwMode="auto">
          <a:xfrm flipV="1">
            <a:off x="3603625" y="3470275"/>
            <a:ext cx="1193800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4797425" y="3768725"/>
            <a:ext cx="29845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Exit Day-to-Day Management</a:t>
            </a:r>
            <a:endParaRPr lang="en-US" dirty="0">
              <a:latin typeface="+mn-lt"/>
            </a:endParaRPr>
          </a:p>
        </p:txBody>
      </p:sp>
      <p:sp>
        <p:nvSpPr>
          <p:cNvPr id="79892" name="Line 20"/>
          <p:cNvSpPr>
            <a:spLocks noChangeShapeType="1"/>
          </p:cNvSpPr>
          <p:nvPr/>
        </p:nvSpPr>
        <p:spPr bwMode="auto">
          <a:xfrm>
            <a:off x="3603625" y="3768725"/>
            <a:ext cx="1193800" cy="149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3" name="Line 21"/>
          <p:cNvSpPr>
            <a:spLocks noChangeShapeType="1"/>
          </p:cNvSpPr>
          <p:nvPr/>
        </p:nvSpPr>
        <p:spPr bwMode="auto">
          <a:xfrm flipV="1">
            <a:off x="3305175" y="4578350"/>
            <a:ext cx="1498600" cy="384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4" name="Line 22"/>
          <p:cNvSpPr>
            <a:spLocks noChangeShapeType="1"/>
          </p:cNvSpPr>
          <p:nvPr/>
        </p:nvSpPr>
        <p:spPr bwMode="auto">
          <a:xfrm flipV="1">
            <a:off x="3305175" y="4959350"/>
            <a:ext cx="1498600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5" name="Line 23"/>
          <p:cNvSpPr>
            <a:spLocks noChangeShapeType="1"/>
          </p:cNvSpPr>
          <p:nvPr/>
        </p:nvSpPr>
        <p:spPr bwMode="auto">
          <a:xfrm>
            <a:off x="3305175" y="4962525"/>
            <a:ext cx="1498600" cy="454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6" name="Line 24"/>
          <p:cNvSpPr>
            <a:spLocks noChangeShapeType="1"/>
          </p:cNvSpPr>
          <p:nvPr/>
        </p:nvSpPr>
        <p:spPr bwMode="auto">
          <a:xfrm flipV="1">
            <a:off x="1962150" y="2724150"/>
            <a:ext cx="596900" cy="1044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7" name="Line 25"/>
          <p:cNvSpPr>
            <a:spLocks noChangeShapeType="1"/>
          </p:cNvSpPr>
          <p:nvPr/>
        </p:nvSpPr>
        <p:spPr bwMode="auto">
          <a:xfrm flipV="1">
            <a:off x="1962150" y="3768725"/>
            <a:ext cx="5969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8" name="Line 26"/>
          <p:cNvSpPr>
            <a:spLocks noChangeShapeType="1"/>
          </p:cNvSpPr>
          <p:nvPr/>
        </p:nvSpPr>
        <p:spPr bwMode="auto">
          <a:xfrm>
            <a:off x="1962150" y="3768725"/>
            <a:ext cx="596900" cy="1193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899" name="Line 27"/>
          <p:cNvSpPr>
            <a:spLocks noChangeShapeType="1"/>
          </p:cNvSpPr>
          <p:nvPr/>
        </p:nvSpPr>
        <p:spPr bwMode="auto">
          <a:xfrm flipV="1">
            <a:off x="3155950" y="1978025"/>
            <a:ext cx="1641475" cy="596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900" name="Text Box 28"/>
          <p:cNvSpPr txBox="1">
            <a:spLocks noChangeArrowheads="1"/>
          </p:cNvSpPr>
          <p:nvPr/>
        </p:nvSpPr>
        <p:spPr bwMode="auto">
          <a:xfrm>
            <a:off x="4797425" y="1828800"/>
            <a:ext cx="22383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dirty="0">
                <a:latin typeface="+mn-lt"/>
                <a:ea typeface="SimSun" pitchFamily="2" charset="-122"/>
                <a:cs typeface="SimSun" pitchFamily="2" charset="-122"/>
              </a:rPr>
              <a:t>Stay With Company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246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1143000"/>
          </a:xfrm>
        </p:spPr>
        <p:txBody>
          <a:bodyPr>
            <a:noAutofit/>
          </a:bodyPr>
          <a:lstStyle/>
          <a:p>
            <a:r>
              <a:rPr lang="en-US" sz="4300" dirty="0" smtClean="0">
                <a:latin typeface="Novecento wide Book"/>
              </a:rPr>
              <a:t>Execution becomes core driving force</a:t>
            </a:r>
            <a:endParaRPr lang="en-US" sz="4300" dirty="0">
              <a:latin typeface="Novecento wide Book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6464-0A9D-1E48-AD60-467FF3189BA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3429000" y="5410200"/>
            <a:ext cx="21336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altLang="ja-JP" b="1" dirty="0" smtClean="0">
                <a:latin typeface="+mn-lt"/>
                <a:ea typeface="SimSun" pitchFamily="2" charset="-122"/>
                <a:cs typeface="SimSun" pitchFamily="2" charset="-122"/>
              </a:rPr>
              <a:t>Leadership</a:t>
            </a:r>
            <a:endParaRPr lang="en-US" b="1" dirty="0">
              <a:latin typeface="+mn-lt"/>
            </a:endParaRPr>
          </a:p>
        </p:txBody>
      </p:sp>
      <p:sp>
        <p:nvSpPr>
          <p:cNvPr id="80900" name="Line 4"/>
          <p:cNvSpPr>
            <a:spLocks noChangeShapeType="1"/>
          </p:cNvSpPr>
          <p:nvPr/>
        </p:nvSpPr>
        <p:spPr bwMode="auto">
          <a:xfrm>
            <a:off x="4495800" y="4191000"/>
            <a:ext cx="0" cy="1219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stealth" w="lg" len="lg"/>
            <a:tailEnd type="stealth" w="lg" len="lg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5943600" y="1676400"/>
            <a:ext cx="21336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lvl="0" algn="ctr"/>
            <a:r>
              <a:rPr lang="en-US" altLang="ja-JP" b="1" dirty="0" smtClean="0">
                <a:solidFill>
                  <a:srgbClr val="000000"/>
                </a:solidFill>
                <a:latin typeface="+mn-lt"/>
                <a:ea typeface="SimSun" pitchFamily="2" charset="-122"/>
                <a:cs typeface="SimSun" pitchFamily="2" charset="-122"/>
              </a:rPr>
              <a:t>Organizational Resources and Capabilities</a:t>
            </a:r>
            <a:endParaRPr lang="en-US" b="1" dirty="0" smtClean="0">
              <a:solidFill>
                <a:srgbClr val="000000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838200" y="1752600"/>
            <a:ext cx="21336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lvl="0" algn="ctr"/>
            <a:r>
              <a:rPr lang="en-US" altLang="ja-JP" b="1" dirty="0" smtClean="0">
                <a:solidFill>
                  <a:srgbClr val="000000"/>
                </a:solidFill>
                <a:latin typeface="+mn-lt"/>
                <a:ea typeface="SimSun" pitchFamily="2" charset="-122"/>
                <a:cs typeface="SimSun" pitchFamily="2" charset="-122"/>
              </a:rPr>
              <a:t>Opportunity</a:t>
            </a:r>
          </a:p>
          <a:p>
            <a:pPr lvl="0" algn="ctr"/>
            <a:r>
              <a:rPr lang="en-US" altLang="ja-JP" b="1" dirty="0" smtClean="0">
                <a:solidFill>
                  <a:srgbClr val="000000"/>
                </a:solidFill>
                <a:latin typeface="+mn-lt"/>
                <a:ea typeface="SimSun" pitchFamily="2" charset="-122"/>
                <a:cs typeface="SimSun" pitchFamily="2" charset="-122"/>
              </a:rPr>
              <a:t>Domain</a:t>
            </a:r>
            <a:endParaRPr lang="en-US" b="1" dirty="0">
              <a:solidFill>
                <a:srgbClr val="000000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80903" name="Oval 7"/>
          <p:cNvSpPr>
            <a:spLocks noChangeArrowheads="1"/>
          </p:cNvSpPr>
          <p:nvPr/>
        </p:nvSpPr>
        <p:spPr bwMode="auto">
          <a:xfrm>
            <a:off x="3810000" y="2971800"/>
            <a:ext cx="1295400" cy="12192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prstTxWarp prst="textNoShape">
              <a:avLst/>
            </a:prstTxWarp>
          </a:bodyPr>
          <a:lstStyle/>
          <a:p>
            <a:endParaRPr lang="en-US" sz="1000"/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3886200" y="3352800"/>
            <a:ext cx="1211715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+mn-lt"/>
              </a:rPr>
              <a:t>Execution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0905" name="Line 9"/>
          <p:cNvSpPr>
            <a:spLocks noChangeShapeType="1"/>
          </p:cNvSpPr>
          <p:nvPr/>
        </p:nvSpPr>
        <p:spPr bwMode="auto">
          <a:xfrm flipH="1">
            <a:off x="5105400" y="2590800"/>
            <a:ext cx="838200" cy="838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stealth" w="lg" len="lg"/>
            <a:tailEnd type="stealth" w="lg" len="lg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06" name="Line 10"/>
          <p:cNvSpPr>
            <a:spLocks noChangeShapeType="1"/>
          </p:cNvSpPr>
          <p:nvPr/>
        </p:nvSpPr>
        <p:spPr bwMode="auto">
          <a:xfrm>
            <a:off x="2971800" y="2590800"/>
            <a:ext cx="838200" cy="8382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stealth" w="lg" len="lg"/>
            <a:tailEnd type="stealth" w="lg" len="lg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07" name="AutoShape 11"/>
          <p:cNvSpPr>
            <a:spLocks noChangeArrowheads="1"/>
          </p:cNvSpPr>
          <p:nvPr/>
        </p:nvSpPr>
        <p:spPr bwMode="auto">
          <a:xfrm rot="-35685696">
            <a:off x="4305300" y="3619500"/>
            <a:ext cx="3429000" cy="762000"/>
          </a:xfrm>
          <a:prstGeom prst="leftRightArrow">
            <a:avLst>
              <a:gd name="adj1" fmla="val 50000"/>
              <a:gd name="adj2" fmla="val 90000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10800000" wrap="none" anchor="ctr">
            <a:prstTxWarp prst="textNoShape">
              <a:avLst/>
            </a:prstTxWarp>
          </a:bodyPr>
          <a:lstStyle/>
          <a:p>
            <a:pPr algn="ctr"/>
            <a:r>
              <a:rPr lang="en-US" b="1" i="1">
                <a:solidFill>
                  <a:schemeClr val="tx2"/>
                </a:solidFill>
              </a:rPr>
              <a:t>Uncertainty</a:t>
            </a:r>
          </a:p>
        </p:txBody>
      </p:sp>
      <p:sp>
        <p:nvSpPr>
          <p:cNvPr id="80908" name="AutoShape 12"/>
          <p:cNvSpPr>
            <a:spLocks noChangeArrowheads="1"/>
          </p:cNvSpPr>
          <p:nvPr/>
        </p:nvSpPr>
        <p:spPr bwMode="auto">
          <a:xfrm rot="14085696" flipH="1">
            <a:off x="1257300" y="3619500"/>
            <a:ext cx="3429000" cy="762000"/>
          </a:xfrm>
          <a:prstGeom prst="leftRightArrow">
            <a:avLst>
              <a:gd name="adj1" fmla="val 50000"/>
              <a:gd name="adj2" fmla="val 90000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10800000" wrap="none" anchor="ctr">
            <a:prstTxWarp prst="textNoShape">
              <a:avLst/>
            </a:prstTxWarp>
          </a:bodyPr>
          <a:lstStyle/>
          <a:p>
            <a:pPr algn="ctr"/>
            <a:r>
              <a:rPr lang="en-US" altLang="ja-JP" b="1" i="1" dirty="0">
                <a:solidFill>
                  <a:schemeClr val="bg1"/>
                </a:solidFill>
                <a:ea typeface="MS PGothic" pitchFamily="34" charset="-128"/>
                <a:cs typeface="MS PGothic" pitchFamily="34" charset="-128"/>
              </a:rPr>
              <a:t>Environmental Conditions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80909" name="AutoShape 13"/>
          <p:cNvSpPr>
            <a:spLocks noChangeArrowheads="1"/>
          </p:cNvSpPr>
          <p:nvPr/>
        </p:nvSpPr>
        <p:spPr bwMode="auto">
          <a:xfrm rot="10814685" flipH="1">
            <a:off x="2971800" y="1822450"/>
            <a:ext cx="2971800" cy="762000"/>
          </a:xfrm>
          <a:prstGeom prst="leftRightArrow">
            <a:avLst>
              <a:gd name="adj1" fmla="val 50000"/>
              <a:gd name="adj2" fmla="val 78000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ot="10800000" wrap="none" anchor="ctr">
            <a:prstTxWarp prst="textNoShape">
              <a:avLst/>
            </a:prstTxWarp>
          </a:bodyPr>
          <a:lstStyle/>
          <a:p>
            <a:pPr algn="ctr"/>
            <a:r>
              <a:rPr lang="en-US" altLang="ja-JP" b="1" i="1">
                <a:solidFill>
                  <a:schemeClr val="tx2"/>
                </a:solidFill>
                <a:ea typeface="MS PGothic" pitchFamily="34" charset="-128"/>
                <a:cs typeface="MS PGothic" pitchFamily="34" charset="-128"/>
              </a:rPr>
              <a:t>Stakeholders</a:t>
            </a:r>
            <a:endParaRPr lang="en-US" b="1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39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304800"/>
            <a:ext cx="8153400" cy="990600"/>
          </a:xfrm>
        </p:spPr>
        <p:txBody>
          <a:bodyPr>
            <a:normAutofit/>
          </a:bodyPr>
          <a:lstStyle/>
          <a:p>
            <a:r>
              <a:rPr lang="en-US" sz="4300" dirty="0"/>
              <a:t>Control</a:t>
            </a:r>
            <a:r>
              <a:rPr lang="en-US" sz="4300" dirty="0" smtClean="0"/>
              <a:t> System </a:t>
            </a:r>
            <a:r>
              <a:rPr lang="en-US" sz="4300" dirty="0"/>
              <a:t>C</a:t>
            </a:r>
            <a:r>
              <a:rPr lang="en-US" sz="4300" dirty="0" smtClean="0"/>
              <a:t>omponents</a:t>
            </a:r>
            <a:endParaRPr lang="en-US" sz="43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20" name="Diagram 19"/>
          <p:cNvGraphicFramePr/>
          <p:nvPr/>
        </p:nvGraphicFramePr>
        <p:xfrm>
          <a:off x="457200" y="1676400"/>
          <a:ext cx="79248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501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0" y="5430982"/>
            <a:ext cx="9182100" cy="741218"/>
          </a:xfrm>
          <a:prstGeom prst="ellipse">
            <a:avLst/>
          </a:prstGeom>
          <a:solidFill>
            <a:srgbClr val="FFFF66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3048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Tracking performance to support decision-making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581400" y="1787361"/>
            <a:ext cx="1981200" cy="1143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Entrepreneurs Critical Information Needs???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57200" y="4073361"/>
            <a:ext cx="2514600" cy="1219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the Entrepreneur needs to know about the customer/market?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14700" y="4073361"/>
            <a:ext cx="2514600" cy="1219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the Entrepreneur needs to know about the competition/industry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48400" y="4094143"/>
            <a:ext cx="2514600" cy="12192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the Entrepreneur needs to know about his/her own company</a:t>
            </a:r>
            <a:endParaRPr lang="en-US" dirty="0"/>
          </a:p>
        </p:txBody>
      </p:sp>
      <p:cxnSp>
        <p:nvCxnSpPr>
          <p:cNvPr id="8" name="Straight Connector 7"/>
          <p:cNvCxnSpPr>
            <a:stCxn id="2" idx="2"/>
            <a:endCxn id="6" idx="0"/>
          </p:cNvCxnSpPr>
          <p:nvPr/>
        </p:nvCxnSpPr>
        <p:spPr>
          <a:xfrm>
            <a:off x="4572000" y="2930361"/>
            <a:ext cx="0" cy="1143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14500" y="3501861"/>
            <a:ext cx="5791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3" idx="0"/>
          </p:cNvCxnSpPr>
          <p:nvPr/>
        </p:nvCxnSpPr>
        <p:spPr>
          <a:xfrm flipV="1">
            <a:off x="1714500" y="3501861"/>
            <a:ext cx="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0"/>
          </p:cNvCxnSpPr>
          <p:nvPr/>
        </p:nvCxnSpPr>
        <p:spPr>
          <a:xfrm flipV="1">
            <a:off x="7505700" y="3501861"/>
            <a:ext cx="0" cy="5922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14500" y="5562600"/>
            <a:ext cx="56007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CRITICAL FACTS &amp; ASSUMPTIONS ABOUT PERFORMANCE MUST BE TRACKED TO CONFIRM/DENY THEM IN TIME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 rot="21067282">
            <a:off x="5715000" y="1742580"/>
            <a:ext cx="1447800" cy="68580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SUPPORTS</a:t>
            </a:r>
            <a:endParaRPr lang="en-US" dirty="0"/>
          </a:p>
        </p:txBody>
      </p:sp>
      <p:sp>
        <p:nvSpPr>
          <p:cNvPr id="18" name="5-Point Star 17"/>
          <p:cNvSpPr/>
          <p:nvPr/>
        </p:nvSpPr>
        <p:spPr>
          <a:xfrm>
            <a:off x="7086600" y="1066800"/>
            <a:ext cx="1485900" cy="1136319"/>
          </a:xfrm>
          <a:prstGeom prst="star5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38900" y="2244561"/>
            <a:ext cx="2743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TIMELY 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DECISIONS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8200" y="3614491"/>
            <a:ext cx="1752600" cy="3462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EXTERNAL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6629400" y="3624882"/>
            <a:ext cx="1752600" cy="3462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INTERNAL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3695700" y="3645664"/>
            <a:ext cx="1752600" cy="3462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EXTERNAL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54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765048" y="228600"/>
            <a:ext cx="81534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kern="1200">
                <a:solidFill>
                  <a:schemeClr val="tx1"/>
                </a:solidFill>
                <a:latin typeface="Novecento wide Book"/>
                <a:ea typeface="+mj-ea"/>
                <a:cs typeface="+mj-cs"/>
              </a:defRPr>
            </a:lvl1pPr>
          </a:lstStyle>
          <a:p>
            <a:r>
              <a:rPr lang="en-US" sz="4300" dirty="0" smtClean="0"/>
              <a:t>Know the difference between performance &amp; effectiveness</a:t>
            </a:r>
            <a:endParaRPr lang="en-US" sz="43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33400" y="1600200"/>
            <a:ext cx="8385048" cy="45259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Measure of Performance: </a:t>
            </a:r>
          </a:p>
          <a:p>
            <a:pPr lvl="1"/>
            <a:r>
              <a:rPr lang="en-US" i="1" dirty="0" smtClean="0"/>
              <a:t>Are we </a:t>
            </a:r>
            <a:r>
              <a:rPr lang="en-US" i="1" u="sng" dirty="0" smtClean="0"/>
              <a:t>doing things right</a:t>
            </a:r>
            <a:r>
              <a:rPr lang="en-US" i="1" dirty="0" smtClean="0"/>
              <a:t>?</a:t>
            </a:r>
          </a:p>
          <a:p>
            <a:r>
              <a:rPr lang="en-US" sz="2800" dirty="0" smtClean="0"/>
              <a:t>Measure of Effectiveness: </a:t>
            </a:r>
          </a:p>
          <a:p>
            <a:pPr lvl="1"/>
            <a:r>
              <a:rPr lang="en-US" i="1" dirty="0" smtClean="0"/>
              <a:t>Are we </a:t>
            </a:r>
            <a:r>
              <a:rPr lang="en-US" i="1" u="sng" dirty="0" smtClean="0"/>
              <a:t>doing the right things</a:t>
            </a:r>
            <a:r>
              <a:rPr lang="en-US" i="1" dirty="0" smtClean="0"/>
              <a:t>?</a:t>
            </a:r>
          </a:p>
          <a:p>
            <a:r>
              <a:rPr lang="en-US" sz="2800" i="1" dirty="0" smtClean="0"/>
              <a:t>Focus on tracking effectiveness</a:t>
            </a:r>
          </a:p>
          <a:p>
            <a:r>
              <a:rPr lang="en-US" sz="2800" i="1" dirty="0" smtClean="0"/>
              <a:t>If effectiveness is lacking, check performance</a:t>
            </a:r>
          </a:p>
          <a:p>
            <a:pPr lvl="1"/>
            <a:r>
              <a:rPr lang="en-US" sz="2400" i="1" dirty="0" smtClean="0"/>
              <a:t>If performance is lacking, you’re having trouble executing</a:t>
            </a:r>
          </a:p>
          <a:p>
            <a:pPr lvl="1"/>
            <a:r>
              <a:rPr lang="en-US" sz="2400" i="1" dirty="0" smtClean="0"/>
              <a:t>If performance is fine, you’re strategy needs improvement</a:t>
            </a:r>
            <a:endParaRPr lang="en-US" sz="2400" i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12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4300" dirty="0" smtClean="0">
                <a:latin typeface="Novecento wide Book"/>
                <a:ea typeface="SimSun" pitchFamily="2" charset="-122"/>
                <a:cs typeface="SimSun" pitchFamily="2" charset="-122"/>
              </a:rPr>
              <a:t>The faster you convert cash, the less you’ll need</a:t>
            </a:r>
            <a:endParaRPr lang="en-US" sz="4300" dirty="0">
              <a:latin typeface="Novecento wide Book"/>
            </a:endParaRPr>
          </a:p>
        </p:txBody>
      </p:sp>
      <p:graphicFrame>
        <p:nvGraphicFramePr>
          <p:cNvPr id="82947" name="Group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08916249"/>
              </p:ext>
            </p:extLst>
          </p:nvPr>
        </p:nvGraphicFramePr>
        <p:xfrm>
          <a:off x="914400" y="1588009"/>
          <a:ext cx="7315200" cy="1773936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4632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SimSun" pitchFamily="2" charset="-122"/>
                        </a:rPr>
                        <a:t>Average Inventory Collection 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SimSun" pitchFamily="2" charset="-122"/>
                        </a:rPr>
                        <a:t>+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35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SimSun" pitchFamily="2" charset="-122"/>
                          <a:cs typeface="SimSun" pitchFamily="2" charset="-122"/>
                        </a:rPr>
                        <a:t>    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SimSun" pitchFamily="2" charset="-122"/>
                        </a:rPr>
                        <a:t>Cash Conversion Cycle        =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SimSun" pitchFamily="2" charset="-122"/>
                        </a:rPr>
                        <a:t>Average Receivables Processing 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SimSun" pitchFamily="2" charset="-122"/>
                        </a:rPr>
                        <a:t>–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  <a:cs typeface="SimSun" pitchFamily="2" charset="-122"/>
                        </a:rPr>
                        <a:t>Average Payables Period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ABF41-0C1C-3C46-A67D-81DEC7BCC96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3429000" y="5029200"/>
            <a:ext cx="3714750" cy="685800"/>
          </a:xfrm>
          <a:prstGeom prst="rect">
            <a:avLst/>
          </a:prstGeom>
          <a:gradFill rotWithShape="1">
            <a:gsLst>
              <a:gs pos="0">
                <a:srgbClr val="EAEAEA">
                  <a:alpha val="47000"/>
                </a:srgbClr>
              </a:gs>
              <a:gs pos="100000">
                <a:srgbClr val="C0C0C0">
                  <a:alpha val="47000"/>
                </a:srgb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63" name="Line 19"/>
          <p:cNvSpPr>
            <a:spLocks noChangeShapeType="1"/>
          </p:cNvSpPr>
          <p:nvPr/>
        </p:nvSpPr>
        <p:spPr bwMode="auto">
          <a:xfrm>
            <a:off x="5143500" y="4114800"/>
            <a:ext cx="1588" cy="8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64" name="Line 20"/>
          <p:cNvSpPr>
            <a:spLocks noChangeShapeType="1"/>
          </p:cNvSpPr>
          <p:nvPr/>
        </p:nvSpPr>
        <p:spPr bwMode="auto">
          <a:xfrm>
            <a:off x="1714500" y="4038600"/>
            <a:ext cx="1588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65" name="Line 21"/>
          <p:cNvSpPr>
            <a:spLocks noChangeShapeType="1"/>
          </p:cNvSpPr>
          <p:nvPr/>
        </p:nvSpPr>
        <p:spPr bwMode="auto">
          <a:xfrm>
            <a:off x="1714500" y="4343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66" name="Line 22"/>
          <p:cNvSpPr>
            <a:spLocks noChangeShapeType="1"/>
          </p:cNvSpPr>
          <p:nvPr/>
        </p:nvSpPr>
        <p:spPr bwMode="auto">
          <a:xfrm>
            <a:off x="5143500" y="4343400"/>
            <a:ext cx="2000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67" name="Line 23"/>
          <p:cNvSpPr>
            <a:spLocks noChangeShapeType="1"/>
          </p:cNvSpPr>
          <p:nvPr/>
        </p:nvSpPr>
        <p:spPr bwMode="auto">
          <a:xfrm>
            <a:off x="1714500" y="5372100"/>
            <a:ext cx="1714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68" name="Line 24"/>
          <p:cNvSpPr>
            <a:spLocks noChangeShapeType="1"/>
          </p:cNvSpPr>
          <p:nvPr/>
        </p:nvSpPr>
        <p:spPr bwMode="auto">
          <a:xfrm>
            <a:off x="3429000" y="5029200"/>
            <a:ext cx="1588" cy="6858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69" name="Text Box 25"/>
          <p:cNvSpPr txBox="1">
            <a:spLocks noChangeArrowheads="1"/>
          </p:cNvSpPr>
          <p:nvPr/>
        </p:nvSpPr>
        <p:spPr bwMode="auto">
          <a:xfrm>
            <a:off x="1143000" y="35814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sz="1600" b="1" dirty="0">
                <a:latin typeface="+mn-lt"/>
                <a:ea typeface="SimSun" pitchFamily="2" charset="-122"/>
                <a:cs typeface="SimSun" pitchFamily="2" charset="-122"/>
              </a:rPr>
              <a:t>Inventory Received</a:t>
            </a:r>
            <a:endParaRPr lang="en-US" sz="1600" b="1" dirty="0">
              <a:latin typeface="+mn-lt"/>
            </a:endParaRPr>
          </a:p>
        </p:txBody>
      </p:sp>
      <p:sp>
        <p:nvSpPr>
          <p:cNvPr id="82970" name="Text Box 26"/>
          <p:cNvSpPr txBox="1">
            <a:spLocks noChangeArrowheads="1"/>
          </p:cNvSpPr>
          <p:nvPr/>
        </p:nvSpPr>
        <p:spPr bwMode="auto">
          <a:xfrm>
            <a:off x="2714624" y="5829300"/>
            <a:ext cx="216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sz="1600" b="1" dirty="0">
                <a:latin typeface="+mn-lt"/>
                <a:ea typeface="SimSun" pitchFamily="2" charset="-122"/>
                <a:cs typeface="SimSun" pitchFamily="2" charset="-122"/>
              </a:rPr>
              <a:t>Payment made to Suppliers</a:t>
            </a:r>
            <a:endParaRPr lang="en-US" sz="1600" b="1" dirty="0">
              <a:latin typeface="+mn-lt"/>
            </a:endParaRPr>
          </a:p>
        </p:txBody>
      </p:sp>
      <p:sp>
        <p:nvSpPr>
          <p:cNvPr id="82971" name="Text Box 27"/>
          <p:cNvSpPr txBox="1">
            <a:spLocks noChangeArrowheads="1"/>
          </p:cNvSpPr>
          <p:nvPr/>
        </p:nvSpPr>
        <p:spPr bwMode="auto">
          <a:xfrm>
            <a:off x="4857750" y="3771900"/>
            <a:ext cx="5715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600" b="1" dirty="0">
                <a:latin typeface="+mn-lt"/>
                <a:ea typeface="SimSun" pitchFamily="2" charset="-122"/>
                <a:cs typeface="SimSun" pitchFamily="2" charset="-122"/>
              </a:rPr>
              <a:t>Sale</a:t>
            </a:r>
            <a:endParaRPr lang="en-US" sz="1600" b="1" dirty="0">
              <a:latin typeface="+mn-lt"/>
            </a:endParaRPr>
          </a:p>
        </p:txBody>
      </p:sp>
      <p:sp>
        <p:nvSpPr>
          <p:cNvPr id="82972" name="Text Box 28"/>
          <p:cNvSpPr txBox="1">
            <a:spLocks noChangeArrowheads="1"/>
          </p:cNvSpPr>
          <p:nvPr/>
        </p:nvSpPr>
        <p:spPr bwMode="auto">
          <a:xfrm>
            <a:off x="6286500" y="3429000"/>
            <a:ext cx="1790700" cy="68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sz="1600" b="1" dirty="0">
                <a:latin typeface="+mn-lt"/>
                <a:ea typeface="SimSun" pitchFamily="2" charset="-122"/>
                <a:cs typeface="SimSun" pitchFamily="2" charset="-122"/>
              </a:rPr>
              <a:t>Payment Received</a:t>
            </a:r>
          </a:p>
          <a:p>
            <a:pPr algn="ctr"/>
            <a:r>
              <a:rPr lang="en-US" altLang="ja-JP" sz="1600" b="1" dirty="0">
                <a:latin typeface="+mn-lt"/>
                <a:ea typeface="SimSun" pitchFamily="2" charset="-122"/>
                <a:cs typeface="SimSun" pitchFamily="2" charset="-122"/>
              </a:rPr>
              <a:t>from Customers</a:t>
            </a:r>
            <a:endParaRPr lang="en-US" sz="1600" b="1" dirty="0">
              <a:latin typeface="+mn-lt"/>
            </a:endParaRPr>
          </a:p>
        </p:txBody>
      </p:sp>
      <p:sp>
        <p:nvSpPr>
          <p:cNvPr id="82973" name="Line 29"/>
          <p:cNvSpPr>
            <a:spLocks noChangeShapeType="1"/>
          </p:cNvSpPr>
          <p:nvPr/>
        </p:nvSpPr>
        <p:spPr bwMode="auto">
          <a:xfrm>
            <a:off x="3429000" y="5372100"/>
            <a:ext cx="3714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74" name="Text Box 30"/>
          <p:cNvSpPr txBox="1">
            <a:spLocks noChangeArrowheads="1"/>
          </p:cNvSpPr>
          <p:nvPr/>
        </p:nvSpPr>
        <p:spPr bwMode="auto">
          <a:xfrm>
            <a:off x="4143375" y="5372100"/>
            <a:ext cx="2286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600" b="1" i="1" dirty="0">
                <a:latin typeface="+mn-lt"/>
                <a:ea typeface="SimSun" pitchFamily="2" charset="-122"/>
                <a:cs typeface="SimSun" pitchFamily="2" charset="-122"/>
              </a:rPr>
              <a:t>Cash Conversion Period</a:t>
            </a:r>
            <a:endParaRPr lang="en-US" sz="1600" dirty="0">
              <a:latin typeface="+mn-lt"/>
            </a:endParaRPr>
          </a:p>
        </p:txBody>
      </p:sp>
      <p:sp>
        <p:nvSpPr>
          <p:cNvPr id="82975" name="Text Box 31"/>
          <p:cNvSpPr txBox="1">
            <a:spLocks noChangeArrowheads="1"/>
          </p:cNvSpPr>
          <p:nvPr/>
        </p:nvSpPr>
        <p:spPr bwMode="auto">
          <a:xfrm>
            <a:off x="5143500" y="4343400"/>
            <a:ext cx="2143125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 i="1" dirty="0">
                <a:latin typeface="+mn-lt"/>
                <a:ea typeface="SimSun" pitchFamily="2" charset="-122"/>
                <a:cs typeface="SimSun" pitchFamily="2" charset="-122"/>
              </a:rPr>
              <a:t>Days Sales Outstanding </a:t>
            </a:r>
            <a:endParaRPr lang="en-US" sz="1400" dirty="0">
              <a:latin typeface="+mn-lt"/>
            </a:endParaRPr>
          </a:p>
        </p:txBody>
      </p:sp>
      <p:sp>
        <p:nvSpPr>
          <p:cNvPr id="82976" name="Line 32"/>
          <p:cNvSpPr>
            <a:spLocks noChangeShapeType="1"/>
          </p:cNvSpPr>
          <p:nvPr/>
        </p:nvSpPr>
        <p:spPr bwMode="auto">
          <a:xfrm>
            <a:off x="7143750" y="4000500"/>
            <a:ext cx="1588" cy="171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77" name="Text Box 33"/>
          <p:cNvSpPr txBox="1">
            <a:spLocks noChangeArrowheads="1"/>
          </p:cNvSpPr>
          <p:nvPr/>
        </p:nvSpPr>
        <p:spPr bwMode="auto">
          <a:xfrm>
            <a:off x="2428875" y="4343400"/>
            <a:ext cx="17145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400" i="1" dirty="0">
                <a:latin typeface="+mn-lt"/>
                <a:ea typeface="SimSun" pitchFamily="2" charset="-122"/>
                <a:cs typeface="SimSun" pitchFamily="2" charset="-122"/>
              </a:rPr>
              <a:t>Days in Inventory </a:t>
            </a:r>
            <a:endParaRPr lang="en-US" sz="1400" dirty="0">
              <a:latin typeface="+mn-lt"/>
            </a:endParaRPr>
          </a:p>
        </p:txBody>
      </p:sp>
      <p:sp>
        <p:nvSpPr>
          <p:cNvPr id="82978" name="Text Box 34"/>
          <p:cNvSpPr txBox="1">
            <a:spLocks noChangeArrowheads="1"/>
          </p:cNvSpPr>
          <p:nvPr/>
        </p:nvSpPr>
        <p:spPr bwMode="auto">
          <a:xfrm>
            <a:off x="1714500" y="5372100"/>
            <a:ext cx="1714500" cy="344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600" i="1" dirty="0">
                <a:latin typeface="+mn-lt"/>
                <a:ea typeface="SimSun" pitchFamily="2" charset="-122"/>
                <a:cs typeface="SimSun" pitchFamily="2" charset="-122"/>
              </a:rPr>
              <a:t>Days in Payables</a:t>
            </a:r>
            <a:endParaRPr lang="en-US" sz="1600" dirty="0">
              <a:latin typeface="+mn-lt"/>
            </a:endParaRPr>
          </a:p>
        </p:txBody>
      </p:sp>
      <p:sp>
        <p:nvSpPr>
          <p:cNvPr id="82979" name="Text Box 35"/>
          <p:cNvSpPr txBox="1">
            <a:spLocks noChangeArrowheads="1"/>
          </p:cNvSpPr>
          <p:nvPr/>
        </p:nvSpPr>
        <p:spPr bwMode="auto">
          <a:xfrm>
            <a:off x="2743200" y="4038600"/>
            <a:ext cx="11430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600" i="1" dirty="0">
                <a:latin typeface="+mn-lt"/>
                <a:ea typeface="SimSun" pitchFamily="2" charset="-122"/>
                <a:cs typeface="SimSun" pitchFamily="2" charset="-122"/>
              </a:rPr>
              <a:t>98 Days</a:t>
            </a:r>
            <a:endParaRPr lang="en-US" sz="1600" dirty="0">
              <a:latin typeface="+mn-lt"/>
            </a:endParaRPr>
          </a:p>
        </p:txBody>
      </p:sp>
      <p:sp>
        <p:nvSpPr>
          <p:cNvPr id="82980" name="Text Box 36"/>
          <p:cNvSpPr txBox="1">
            <a:spLocks noChangeArrowheads="1"/>
          </p:cNvSpPr>
          <p:nvPr/>
        </p:nvSpPr>
        <p:spPr bwMode="auto">
          <a:xfrm>
            <a:off x="5562600" y="4038600"/>
            <a:ext cx="1143000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600" i="1">
                <a:latin typeface="Times New Roman" charset="0"/>
                <a:ea typeface="SimSun" pitchFamily="2" charset="-122"/>
                <a:cs typeface="SimSun" pitchFamily="2" charset="-122"/>
              </a:rPr>
              <a:t>53 Days</a:t>
            </a:r>
            <a:endParaRPr lang="en-US" sz="1600"/>
          </a:p>
        </p:txBody>
      </p:sp>
      <p:sp>
        <p:nvSpPr>
          <p:cNvPr id="82981" name="Text Box 37"/>
          <p:cNvSpPr txBox="1">
            <a:spLocks noChangeArrowheads="1"/>
          </p:cNvSpPr>
          <p:nvPr/>
        </p:nvSpPr>
        <p:spPr bwMode="auto">
          <a:xfrm>
            <a:off x="1981200" y="5029200"/>
            <a:ext cx="1143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600" i="1" dirty="0">
                <a:latin typeface="Times New Roman" charset="0"/>
                <a:ea typeface="SimSun" pitchFamily="2" charset="-122"/>
                <a:cs typeface="SimSun" pitchFamily="2" charset="-122"/>
              </a:rPr>
              <a:t>53 Days</a:t>
            </a:r>
            <a:endParaRPr lang="en-US" sz="1600" dirty="0"/>
          </a:p>
        </p:txBody>
      </p:sp>
      <p:sp>
        <p:nvSpPr>
          <p:cNvPr id="82982" name="Text Box 38"/>
          <p:cNvSpPr txBox="1">
            <a:spLocks noChangeArrowheads="1"/>
          </p:cNvSpPr>
          <p:nvPr/>
        </p:nvSpPr>
        <p:spPr bwMode="auto">
          <a:xfrm>
            <a:off x="4572000" y="5029200"/>
            <a:ext cx="1143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ja-JP" sz="1600" b="1" i="1" dirty="0">
                <a:latin typeface="+mn-lt"/>
                <a:ea typeface="SimSun" pitchFamily="2" charset="-122"/>
                <a:cs typeface="SimSun" pitchFamily="2" charset="-122"/>
              </a:rPr>
              <a:t>98 Days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6561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Consider outsourcing non-core activities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Activities that don’t underpin your competitive advantage might be done better and/or for less by others.</a:t>
            </a:r>
          </a:p>
          <a:p>
            <a:r>
              <a:rPr lang="en-US" sz="3600" dirty="0" smtClean="0"/>
              <a:t>Focus on your critical competencies.</a:t>
            </a:r>
          </a:p>
          <a:p>
            <a:r>
              <a:rPr lang="en-US" sz="3600" dirty="0" smtClean="0"/>
              <a:t>Balance your need for control with your ability to control.</a:t>
            </a:r>
            <a:endParaRPr lang="en-US" sz="3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82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991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</a:t>
            </a:r>
            <a:r>
              <a:rPr lang="en-US" dirty="0" smtClean="0"/>
              <a:t>mplement controls and  remain entrepreneurial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Minimize controls to those needed to align and coordinate your venture</a:t>
            </a:r>
          </a:p>
          <a:p>
            <a:r>
              <a:rPr lang="en-US" dirty="0" smtClean="0"/>
              <a:t>Within those controls, give employees wide latitude to achieve objectives</a:t>
            </a:r>
          </a:p>
          <a:p>
            <a:r>
              <a:rPr lang="en-US" dirty="0" smtClean="0"/>
              <a:t>Underwrite mistakes of employees who take rational risks</a:t>
            </a:r>
          </a:p>
          <a:p>
            <a:r>
              <a:rPr lang="en-US" dirty="0" smtClean="0"/>
              <a:t>When large enough, organize to simultaneously:</a:t>
            </a:r>
          </a:p>
          <a:p>
            <a:pPr lvl="1"/>
            <a:r>
              <a:rPr lang="en-US" dirty="0" smtClean="0"/>
              <a:t>Execute the present (tactical)</a:t>
            </a:r>
          </a:p>
          <a:p>
            <a:pPr lvl="1"/>
            <a:r>
              <a:rPr lang="en-US" dirty="0" smtClean="0"/>
              <a:t>Refine near-future plans (operational)</a:t>
            </a:r>
          </a:p>
          <a:p>
            <a:pPr lvl="1"/>
            <a:r>
              <a:rPr lang="en-US" dirty="0" smtClean="0"/>
              <a:t>Innovate new ways to realize your vision in the future (strategic)   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82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534400" cy="1143000"/>
          </a:xfrm>
        </p:spPr>
        <p:txBody>
          <a:bodyPr>
            <a:noAutofit/>
          </a:bodyPr>
          <a:lstStyle/>
          <a:p>
            <a:r>
              <a:rPr lang="en-US" altLang="ko-KR" sz="4300" dirty="0" smtClean="0">
                <a:latin typeface="Novecento wide Book"/>
                <a:ea typeface="Gulim" pitchFamily="34" charset="-127"/>
                <a:cs typeface="Gulim" pitchFamily="34" charset="-127"/>
              </a:rPr>
              <a:t>Expand from your competitive advantage</a:t>
            </a:r>
            <a:endParaRPr lang="en-US" sz="4300" dirty="0">
              <a:latin typeface="Novecento wide Book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56464-0A9D-1E48-AD60-467FF3189BA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3971" name="_s1139"/>
          <p:cNvSpPr>
            <a:spLocks noChangeArrowheads="1"/>
          </p:cNvSpPr>
          <p:nvPr/>
        </p:nvSpPr>
        <p:spPr bwMode="auto">
          <a:xfrm>
            <a:off x="3073400" y="1828800"/>
            <a:ext cx="2924175" cy="2798763"/>
          </a:xfrm>
          <a:prstGeom prst="ellipse">
            <a:avLst/>
          </a:prstGeom>
          <a:solidFill>
            <a:srgbClr val="009999">
              <a:alpha val="50000"/>
            </a:srgbClr>
          </a:solidFill>
          <a:ln w="4670">
            <a:solidFill>
              <a:srgbClr val="009999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2" name="_s1141"/>
          <p:cNvSpPr>
            <a:spLocks noChangeArrowheads="1"/>
          </p:cNvSpPr>
          <p:nvPr/>
        </p:nvSpPr>
        <p:spPr bwMode="auto">
          <a:xfrm>
            <a:off x="4724400" y="2819400"/>
            <a:ext cx="2919413" cy="2798763"/>
          </a:xfrm>
          <a:prstGeom prst="ellipse">
            <a:avLst/>
          </a:prstGeom>
          <a:solidFill>
            <a:srgbClr val="99CC00">
              <a:alpha val="50000"/>
            </a:srgbClr>
          </a:solidFill>
          <a:ln w="4670">
            <a:solidFill>
              <a:srgbClr val="99CC00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3" name="_s1143"/>
          <p:cNvSpPr>
            <a:spLocks noChangeArrowheads="1"/>
          </p:cNvSpPr>
          <p:nvPr/>
        </p:nvSpPr>
        <p:spPr bwMode="auto">
          <a:xfrm>
            <a:off x="3073400" y="3906838"/>
            <a:ext cx="2924175" cy="2798762"/>
          </a:xfrm>
          <a:prstGeom prst="ellipse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 w="4699">
            <a:solidFill>
              <a:srgbClr val="808080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4" name="_s1145"/>
          <p:cNvSpPr>
            <a:spLocks noChangeArrowheads="1"/>
          </p:cNvSpPr>
          <p:nvPr/>
        </p:nvSpPr>
        <p:spPr bwMode="auto">
          <a:xfrm>
            <a:off x="1447800" y="2895600"/>
            <a:ext cx="2919413" cy="2798762"/>
          </a:xfrm>
          <a:prstGeom prst="ellipse">
            <a:avLst/>
          </a:prstGeom>
          <a:solidFill>
            <a:srgbClr val="808080">
              <a:alpha val="50000"/>
            </a:srgbClr>
          </a:solidFill>
          <a:ln w="4670">
            <a:solidFill>
              <a:srgbClr val="808080"/>
            </a:solidFill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3975" name="Text Box 7"/>
          <p:cNvSpPr txBox="1">
            <a:spLocks noChangeArrowheads="1"/>
          </p:cNvSpPr>
          <p:nvPr/>
        </p:nvSpPr>
        <p:spPr bwMode="auto">
          <a:xfrm>
            <a:off x="4953000" y="3581400"/>
            <a:ext cx="2819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Distribution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To Gift Shops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Direct through retail, online, catalogs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Wholesale</a:t>
            </a:r>
            <a:endParaRPr lang="en-US" dirty="0">
              <a:latin typeface="+mn-lt"/>
            </a:endParaRPr>
          </a:p>
        </p:txBody>
      </p:sp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1524000" y="3505200"/>
            <a:ext cx="2590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New Products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New Candles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Home Fragrance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Gifts</a:t>
            </a:r>
            <a:endParaRPr lang="en-US" b="1" dirty="0">
              <a:latin typeface="+mn-lt"/>
            </a:endParaRPr>
          </a:p>
        </p:txBody>
      </p:sp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3124200" y="2209800"/>
            <a:ext cx="2819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Geographic Expansion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Regional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National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International</a:t>
            </a:r>
            <a:endParaRPr lang="en-US" dirty="0">
              <a:latin typeface="+mn-lt"/>
            </a:endParaRPr>
          </a:p>
        </p:txBody>
      </p:sp>
      <p:sp>
        <p:nvSpPr>
          <p:cNvPr id="83978" name="Text Box 10"/>
          <p:cNvSpPr txBox="1">
            <a:spLocks noChangeArrowheads="1"/>
          </p:cNvSpPr>
          <p:nvPr/>
        </p:nvSpPr>
        <p:spPr bwMode="auto">
          <a:xfrm>
            <a:off x="3200400" y="5105400"/>
            <a:ext cx="26670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b="1" u="sng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Acquisition</a:t>
            </a:r>
          </a:p>
          <a:p>
            <a:pPr lvl="1">
              <a:buFont typeface="Symbol" charset="2"/>
              <a:buChar char="·"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Gifts for fundraising market</a:t>
            </a:r>
            <a:endParaRPr lang="en-US" b="1" dirty="0">
              <a:latin typeface="+mn-lt"/>
            </a:endParaRPr>
          </a:p>
        </p:txBody>
      </p:sp>
      <p:sp>
        <p:nvSpPr>
          <p:cNvPr id="83979" name="Text Box 11"/>
          <p:cNvSpPr txBox="1">
            <a:spLocks noChangeArrowheads="1"/>
          </p:cNvSpPr>
          <p:nvPr/>
        </p:nvSpPr>
        <p:spPr bwMode="auto">
          <a:xfrm>
            <a:off x="3810000" y="4038600"/>
            <a:ext cx="1447800" cy="5334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 altLang="ja-JP" sz="24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SimSun" pitchFamily="2" charset="-122"/>
                <a:cs typeface="SimSun" pitchFamily="2" charset="-122"/>
              </a:rPr>
              <a:t>Candles</a:t>
            </a:r>
            <a:endParaRPr lang="en-US" sz="2400" b="1" dirty="0">
              <a:latin typeface="+mn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62200" y="1676400"/>
            <a:ext cx="4495800" cy="3810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YANKEE CANDLES’ OPPORTUNITY DOMAIN </a:t>
            </a:r>
            <a:endParaRPr lang="en-US" dirty="0"/>
          </a:p>
        </p:txBody>
      </p:sp>
      <p:sp>
        <p:nvSpPr>
          <p:cNvPr id="3" name="Curved Right Arrow 2"/>
          <p:cNvSpPr/>
          <p:nvPr/>
        </p:nvSpPr>
        <p:spPr>
          <a:xfrm rot="19110373">
            <a:off x="648659" y="1494404"/>
            <a:ext cx="2183449" cy="4953000"/>
          </a:xfrm>
          <a:prstGeom prst="curved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00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Obtain &amp; program resources to develop critical capabilities 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During growth, you’ll focus on funding</a:t>
            </a:r>
          </a:p>
          <a:p>
            <a:r>
              <a:rPr lang="en-US" dirty="0" smtClean="0"/>
              <a:t>Capable and well run ventures get higher quality funding</a:t>
            </a:r>
          </a:p>
          <a:p>
            <a:r>
              <a:rPr lang="en-US" dirty="0" smtClean="0"/>
              <a:t>Use of funds must support developing your organizations’ intangible capabilities (i.e., your team)</a:t>
            </a:r>
          </a:p>
          <a:p>
            <a:r>
              <a:rPr lang="en-US" dirty="0" smtClean="0"/>
              <a:t>Forecast to align capabilities with market needs and your strategy</a:t>
            </a:r>
          </a:p>
          <a:p>
            <a:r>
              <a:rPr lang="en-US" dirty="0" smtClean="0"/>
              <a:t>Balance between developing capabilities for your customers &amp; finding more customers for your capabilities</a:t>
            </a:r>
          </a:p>
          <a:p>
            <a:r>
              <a:rPr lang="en-US" dirty="0" smtClean="0"/>
              <a:t>Similar to cash conversion; the capability development cycle can take time…plan ahead.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011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229600" cy="1143000"/>
          </a:xfrm>
        </p:spPr>
        <p:txBody>
          <a:bodyPr>
            <a:normAutofit/>
          </a:bodyPr>
          <a:lstStyle/>
          <a:p>
            <a:pPr>
              <a:lnSpc>
                <a:spcPct val="75000"/>
              </a:lnSpc>
            </a:pPr>
            <a:r>
              <a:rPr lang="en-US" dirty="0" smtClean="0"/>
              <a:t>Understand what type of leader your team needs you to be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984250" y="1058863"/>
            <a:ext cx="3722688" cy="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96244"/>
            <a:ext cx="7696200" cy="461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564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ko-KR" sz="4300" dirty="0" smtClean="0">
                <a:ea typeface="Gulim" pitchFamily="34" charset="-127"/>
                <a:cs typeface="Gulim" pitchFamily="34" charset="-127"/>
              </a:rPr>
              <a:t>Become an entrepreneurial leader</a:t>
            </a:r>
            <a:endParaRPr lang="en-US" sz="43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6394" y="6400800"/>
            <a:ext cx="2350681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1590414"/>
            <a:ext cx="7315200" cy="4403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9550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300" dirty="0" smtClean="0"/>
              <a:t>Growth requires more managers</a:t>
            </a:r>
            <a:endParaRPr lang="en-US" sz="43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52400" y="6324600"/>
            <a:ext cx="2350681" cy="365125"/>
          </a:xfrm>
        </p:spPr>
        <p:txBody>
          <a:bodyPr/>
          <a:lstStyle/>
          <a:p>
            <a:r>
              <a:rPr lang="en-US" dirty="0" smtClean="0"/>
              <a:t>Copyright © 2014 John Wiley &amp; Sons, Inc.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6" name="Diagram 15"/>
          <p:cNvGraphicFramePr/>
          <p:nvPr/>
        </p:nvGraphicFramePr>
        <p:xfrm>
          <a:off x="1524000" y="1879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72514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1303&quot;&gt;&lt;property id=&quot;20148&quot; value=&quot;5&quot;/&gt;&lt;property id=&quot;20300&quot; value=&quot;Slide 2 - &amp;quot;You’ll have multiple post-startup options&amp;quot;&quot;/&gt;&lt;property id=&quot;20307&quot; value=&quot;258&quot;/&gt;&lt;/object&gt;&lt;object type=&quot;3&quot; unique_id=&quot;11304&quot;&gt;&lt;property id=&quot;20148&quot; value=&quot;5&quot;/&gt;&lt;property id=&quot;20300&quot; value=&quot;Slide 3 - &amp;quot;Execution becomes core driving force&amp;quot;&quot;/&gt;&lt;property id=&quot;20307&quot; value=&quot;259&quot;/&gt;&lt;/object&gt;&lt;object type=&quot;3&quot; unique_id=&quot;11305&quot;&gt;&lt;property id=&quot;20148&quot; value=&quot;5&quot;/&gt;&lt;property id=&quot;20300&quot; value=&quot;Slide 4 - &amp;quot;Control System Components&amp;quot;&quot;/&gt;&lt;property id=&quot;20307&quot; value=&quot;260&quot;/&gt;&lt;/object&gt;&lt;object type=&quot;3&quot; unique_id=&quot;11306&quot;&gt;&lt;property id=&quot;20148&quot; value=&quot;5&quot;/&gt;&lt;property id=&quot;20300&quot; value=&quot;Slide 7 - &amp;quot;The faster you convert cash, the less you’ll need&amp;quot;&quot;/&gt;&lt;property id=&quot;20307&quot; value=&quot;261&quot;/&gt;&lt;/object&gt;&lt;object type=&quot;3&quot; unique_id=&quot;11307&quot;&gt;&lt;property id=&quot;20148&quot; value=&quot;5&quot;/&gt;&lt;property id=&quot;20300&quot; value=&quot;Slide 10 - &amp;quot;Expand from your competitive advantage&amp;quot;&quot;/&gt;&lt;property id=&quot;20307&quot; value=&quot;262&quot;/&gt;&lt;/object&gt;&lt;object type=&quot;3&quot; unique_id=&quot;11308&quot;&gt;&lt;property id=&quot;20148&quot; value=&quot;5&quot;/&gt;&lt;property id=&quot;20300&quot; value=&quot;Slide 12 - &amp;quot;Understand what type of leader your team needs you to be&amp;quot;&quot;/&gt;&lt;property id=&quot;20307&quot; value=&quot;263&quot;/&gt;&lt;/object&gt;&lt;object type=&quot;3&quot; unique_id=&quot;11309&quot;&gt;&lt;property id=&quot;20148&quot; value=&quot;5&quot;/&gt;&lt;property id=&quot;20300&quot; value=&quot;Slide 13 - &amp;quot;Become an entrepreneurial leader&amp;quot;&quot;/&gt;&lt;property id=&quot;20307&quot; value=&quot;264&quot;/&gt;&lt;/object&gt;&lt;object type=&quot;3&quot; unique_id=&quot;11310&quot;&gt;&lt;property id=&quot;20148&quot; value=&quot;5&quot;/&gt;&lt;property id=&quot;20300&quot; value=&quot;Slide 14 - &amp;quot;Growth requires more managers&amp;quot;&quot;/&gt;&lt;property id=&quot;20307&quot; value=&quot;265&quot;/&gt;&lt;/object&gt;&lt;object type=&quot;3&quot; unique_id=&quot;11355&quot;&gt;&lt;property id=&quot;20148&quot; value=&quot;5&quot;/&gt;&lt;property id=&quot;20300&quot; value=&quot;Slide 5 - &amp;quot;Tracking performance to support decision-making&amp;quot;&quot;/&gt;&lt;property id=&quot;20307&quot; value=&quot;266&quot;/&gt;&lt;/object&gt;&lt;object type=&quot;3&quot; unique_id=&quot;11356&quot;&gt;&lt;property id=&quot;20148&quot; value=&quot;5&quot;/&gt;&lt;property id=&quot;20300&quot; value=&quot;Slide 6&quot;/&gt;&lt;property id=&quot;20307&quot; value=&quot;270&quot;/&gt;&lt;/object&gt;&lt;object type=&quot;3&quot; unique_id=&quot;11357&quot;&gt;&lt;property id=&quot;20148&quot; value=&quot;5&quot;/&gt;&lt;property id=&quot;20300&quot; value=&quot;Slide 8 - &amp;quot;Consider outsourcing non-core activities&amp;quot;&quot;/&gt;&lt;property id=&quot;20307&quot; value=&quot;268&quot;/&gt;&lt;/object&gt;&lt;object type=&quot;3&quot; unique_id=&quot;11358&quot;&gt;&lt;property id=&quot;20148&quot; value=&quot;5&quot;/&gt;&lt;property id=&quot;20300&quot; value=&quot;Slide 9 - &amp;quot;Implement controls and  remain entrepreneurial&amp;quot;&quot;/&gt;&lt;property id=&quot;20307&quot; value=&quot;267&quot;/&gt;&lt;/object&gt;&lt;object type=&quot;3&quot; unique_id=&quot;11359&quot;&gt;&lt;property id=&quot;20148&quot; value=&quot;5&quot;/&gt;&lt;property id=&quot;20300&quot; value=&quot;Slide 11 - &amp;quot;Obtain &amp;amp; program resources to develop critical capabilities &amp;quot;&quot;/&gt;&lt;property id=&quot;20307&quot; value=&quot;26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1714</TotalTime>
  <Words>681</Words>
  <Application>Microsoft Office PowerPoint</Application>
  <PresentationFormat>On-screen Show (4:3)</PresentationFormat>
  <Paragraphs>147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You’ll have multiple post-startup options</vt:lpstr>
      <vt:lpstr>Execution becomes core driving force</vt:lpstr>
      <vt:lpstr>Control System Components</vt:lpstr>
      <vt:lpstr>Tracking performance to support decision-making</vt:lpstr>
      <vt:lpstr>PowerPoint Presentation</vt:lpstr>
      <vt:lpstr>The faster you convert cash, the less you’ll need</vt:lpstr>
      <vt:lpstr>Consider outsourcing non-core activities</vt:lpstr>
      <vt:lpstr>Implement controls and  remain entrepreneurial</vt:lpstr>
      <vt:lpstr>Expand from your competitive advantage</vt:lpstr>
      <vt:lpstr>Obtain &amp; program resources to develop critical capabilities </vt:lpstr>
      <vt:lpstr>Understand what type of leader your team needs you to be</vt:lpstr>
      <vt:lpstr>Become an entrepreneurial leader</vt:lpstr>
      <vt:lpstr>Growth requires more managers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88</cp:revision>
  <dcterms:created xsi:type="dcterms:W3CDTF">2013-10-12T04:14:45Z</dcterms:created>
  <dcterms:modified xsi:type="dcterms:W3CDTF">2015-03-02T20:34:21Z</dcterms:modified>
</cp:coreProperties>
</file>