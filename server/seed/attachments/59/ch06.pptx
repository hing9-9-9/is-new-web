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686" r:id="rId2"/>
    <p:sldId id="687" r:id="rId3"/>
    <p:sldId id="688" r:id="rId4"/>
    <p:sldId id="750" r:id="rId5"/>
    <p:sldId id="691" r:id="rId6"/>
    <p:sldId id="904" r:id="rId7"/>
    <p:sldId id="905" r:id="rId8"/>
    <p:sldId id="906" r:id="rId9"/>
    <p:sldId id="907" r:id="rId10"/>
    <p:sldId id="1140" r:id="rId11"/>
    <p:sldId id="1141" r:id="rId12"/>
    <p:sldId id="1142" r:id="rId13"/>
    <p:sldId id="1143" r:id="rId14"/>
    <p:sldId id="908" r:id="rId15"/>
    <p:sldId id="1144" r:id="rId16"/>
    <p:sldId id="1145" r:id="rId17"/>
    <p:sldId id="1146" r:id="rId18"/>
    <p:sldId id="1147" r:id="rId19"/>
    <p:sldId id="909" r:id="rId20"/>
    <p:sldId id="910" r:id="rId21"/>
    <p:sldId id="1158" r:id="rId22"/>
    <p:sldId id="911" r:id="rId23"/>
    <p:sldId id="1159" r:id="rId24"/>
    <p:sldId id="692" r:id="rId25"/>
    <p:sldId id="1057" r:id="rId26"/>
    <p:sldId id="1160" r:id="rId27"/>
    <p:sldId id="912" r:id="rId28"/>
    <p:sldId id="913" r:id="rId29"/>
    <p:sldId id="914" r:id="rId30"/>
    <p:sldId id="915" r:id="rId31"/>
    <p:sldId id="1161" r:id="rId32"/>
    <p:sldId id="916" r:id="rId33"/>
    <p:sldId id="917" r:id="rId34"/>
    <p:sldId id="1058" r:id="rId35"/>
    <p:sldId id="922" r:id="rId36"/>
    <p:sldId id="919" r:id="rId37"/>
    <p:sldId id="918" r:id="rId38"/>
    <p:sldId id="1162" r:id="rId39"/>
    <p:sldId id="920" r:id="rId40"/>
    <p:sldId id="1059" r:id="rId41"/>
    <p:sldId id="921" r:id="rId42"/>
    <p:sldId id="1087"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dirty="0" smtClean="0"/>
              <a:t>Should the large carriers be able to eliminate their POTS networks?</a:t>
            </a:r>
          </a:p>
          <a:p>
            <a:pPr marL="685800" lvl="1" indent="-228600">
              <a:buFont typeface="+mj-lt"/>
              <a:buAutoNum type="alphaLcPeriod"/>
            </a:pPr>
            <a:r>
              <a:rPr lang="en-US" dirty="0" smtClean="0"/>
              <a:t>Debate this argument from the viewpoint of the large telecommunications carriers.</a:t>
            </a:r>
          </a:p>
          <a:p>
            <a:pPr marL="685800" lvl="1" indent="-228600">
              <a:buFont typeface="+mj-lt"/>
              <a:buAutoNum type="alphaLcPeriod"/>
            </a:pPr>
            <a:r>
              <a:rPr lang="en-US" dirty="0" smtClean="0"/>
              <a:t>Debate this argument from the viewpoint of rural customers.</a:t>
            </a:r>
          </a:p>
          <a:p>
            <a:pPr marL="228600" indent="-228600">
              <a:buFont typeface="+mj-lt"/>
              <a:buAutoNum type="arabicPeriod"/>
            </a:pPr>
            <a:r>
              <a:rPr lang="en-US" dirty="0" smtClean="0"/>
              <a:t>Why are wireless networks not able to take over all of the functions of POTS networks at this time (early 2015)?</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1541713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Computer Network: </a:t>
            </a:r>
            <a:r>
              <a:rPr lang="en-US" dirty="0" smtClean="0"/>
              <a:t>a system that connects computers and other devices (e.g., printers) via communications media so that data and information can be transmitted among them.</a:t>
            </a:r>
          </a:p>
          <a:p>
            <a:r>
              <a:rPr lang="en-US" b="1" dirty="0" smtClean="0"/>
              <a:t>Bandwidth: </a:t>
            </a:r>
            <a:r>
              <a:rPr lang="en-US" dirty="0" smtClean="0"/>
              <a:t>refers to the transmission capacity of a network; it is stated in bits per second. </a:t>
            </a:r>
          </a:p>
          <a:p>
            <a:r>
              <a:rPr lang="en-US" b="1" dirty="0" smtClean="0"/>
              <a:t>Broadband: </a:t>
            </a:r>
            <a:r>
              <a:rPr lang="en-US" dirty="0" smtClean="0"/>
              <a:t>based on the Federal Communications Commission (FCC) 2010 definition, broadband is the transmission capacity of a communications medium (discussed late</a:t>
            </a:r>
          </a:p>
          <a:p>
            <a:r>
              <a:rPr lang="en-US" b="1" dirty="0" smtClean="0"/>
              <a:t>Local Area Network (LAN): </a:t>
            </a:r>
            <a:r>
              <a:rPr lang="en-US" dirty="0" smtClean="0"/>
              <a:t>connects two or more devices in a limited geographical region, usually within the same building, so that every device on the network can communicate with every other device.</a:t>
            </a:r>
          </a:p>
          <a:p>
            <a:r>
              <a:rPr lang="en-US" b="1" dirty="0" smtClean="0"/>
              <a:t>Wide Area Network (WAN): </a:t>
            </a:r>
            <a:r>
              <a:rPr lang="en-US" dirty="0" smtClean="0"/>
              <a:t>a network that covers a large geographical area. WANs typically connect multiple LANs. They are generally provided by common carriers such as telephone companies and the international networks of global communications services providers. WANs have large capacity, and they typically combine multiple channels (e.g., fiber-optic cables, microwave, and satellite). The Internet is an example of a WAN.</a:t>
            </a:r>
          </a:p>
          <a:p>
            <a:r>
              <a:rPr lang="en-US" b="1" dirty="0" smtClean="0"/>
              <a:t>Router: </a:t>
            </a:r>
            <a:r>
              <a:rPr lang="en-US" dirty="0" smtClean="0"/>
              <a:t>a communications processor that routes messages from a LAN to the Internet, across several connected LANs, or across a wide area network such as the Internet.</a:t>
            </a:r>
          </a:p>
          <a:p>
            <a:r>
              <a:rPr lang="en-US" b="1" dirty="0" smtClean="0"/>
              <a:t>Enterprise Network: </a:t>
            </a:r>
            <a:r>
              <a:rPr lang="en-US" dirty="0" smtClean="0"/>
              <a:t>organizational interconnected networks consisting of multiple LANs and may also include multiple WAN's.</a:t>
            </a:r>
            <a:endParaRPr lang="en-US" sz="1200" b="0"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Corporate backbone networks: </a:t>
            </a:r>
            <a:r>
              <a:rPr lang="en-US" sz="1200" b="0" i="0" u="none" strike="noStrike" kern="1200" baseline="0" dirty="0" smtClean="0">
                <a:solidFill>
                  <a:schemeClr val="tx1"/>
                </a:solidFill>
                <a:latin typeface="+mn-lt"/>
                <a:ea typeface="+mn-ea"/>
                <a:cs typeface="+mn-cs"/>
              </a:rPr>
              <a:t>high-speed central networks to which multiple smaller networks (such as LANs and smaller WANs) connect.</a:t>
            </a:r>
          </a:p>
          <a:p>
            <a:r>
              <a:rPr lang="en-US" b="1" dirty="0" smtClean="0"/>
              <a:t>Software-Defined Networks (SDN): </a:t>
            </a:r>
            <a:r>
              <a:rPr lang="en-US" dirty="0" smtClean="0"/>
              <a:t>an emerging technology that is becoming increasingly important to help organizations manage their data flows across their enterprise networks. With SDN, decisions controlling how network traffic flows across network devices are managed centrally by software. The software dynamically adjusts data flows to meet business and application needs.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2669860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Bits</a:t>
            </a:r>
          </a:p>
          <a:p>
            <a:r>
              <a:rPr lang="en-US" dirty="0" smtClean="0"/>
              <a:t>Dial-up Modem</a:t>
            </a:r>
          </a:p>
          <a:p>
            <a:r>
              <a:rPr lang="en-US" dirty="0" smtClean="0"/>
              <a:t>Cable Modem</a:t>
            </a:r>
          </a:p>
          <a:p>
            <a:r>
              <a:rPr lang="en-US" dirty="0" smtClean="0"/>
              <a:t>DSL Modem</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3385710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Digital Signals: </a:t>
            </a:r>
            <a:r>
              <a:rPr lang="en-US" dirty="0" smtClean="0"/>
              <a:t>discrete pulses that are either on or off, representing a series of bits (0s and 1s). </a:t>
            </a:r>
            <a:r>
              <a:rPr lang="en-US" dirty="0" err="1" smtClean="0"/>
              <a:t>Th</a:t>
            </a:r>
            <a:r>
              <a:rPr lang="en-US" dirty="0" smtClean="0"/>
              <a:t> is quality allows digital signals to convey information in a binary form that can be interpreted by computers.</a:t>
            </a:r>
          </a:p>
          <a:p>
            <a:r>
              <a:rPr lang="en-US" b="1" dirty="0" smtClean="0"/>
              <a:t>Modem (modulator-demodulator): </a:t>
            </a:r>
            <a:r>
              <a:rPr lang="en-US" dirty="0" smtClean="0"/>
              <a:t>converts digital signals to analog signals—a process called modulation—and analog signals to digital signals—a process called demodulation. (The name modem is a contraction of modulator–demodulator.)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3553911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Communications Channel: </a:t>
            </a:r>
            <a:r>
              <a:rPr lang="en-US" dirty="0" smtClean="0"/>
              <a:t>a pathway or medium communicating data from one location to another.</a:t>
            </a:r>
          </a:p>
          <a:p>
            <a:r>
              <a:rPr lang="en-US" b="1" dirty="0" smtClean="0"/>
              <a:t>Communications Media: </a:t>
            </a:r>
            <a:r>
              <a:rPr lang="en-US" dirty="0" smtClean="0"/>
              <a:t>is the physical media used to send data (e.g., twisted-pair wire, coaxial cable, fiber optic cable, satellite, etc.).</a:t>
            </a:r>
          </a:p>
          <a:p>
            <a:r>
              <a:rPr lang="en-US" b="1" dirty="0" smtClean="0"/>
              <a:t>Twisted-Pair Wire: </a:t>
            </a:r>
            <a:r>
              <a:rPr lang="en-US" dirty="0" smtClean="0"/>
              <a:t>the most prevalent form of communications wiring used for almost all business telephone wiring and As the name suggests, it consists of strands of copper wire twisted in pairs. It is relatively inexpensive to purchase, widely available, and easy to work with.</a:t>
            </a:r>
          </a:p>
          <a:p>
            <a:r>
              <a:rPr lang="en-US" b="1" dirty="0" smtClean="0"/>
              <a:t>Coaxial Cable: </a:t>
            </a:r>
            <a:r>
              <a:rPr lang="en-US" dirty="0" smtClean="0"/>
              <a:t>a single strand of insulated copper wire. It is much less susceptible to electrical interference, and it can carry much more data than twisted-pair. It is commonly used to carry high-speed data traffic as well as television signals.</a:t>
            </a:r>
          </a:p>
          <a:p>
            <a:r>
              <a:rPr lang="en-US" b="1" dirty="0" smtClean="0"/>
              <a:t>Fiber-Optic Cable: </a:t>
            </a:r>
            <a:r>
              <a:rPr lang="en-US" dirty="0" smtClean="0"/>
              <a:t>consists of thousands of very thin filaments of glass fibers that transmit information via light pulses generated by lasers. The fiber-optic cable is surrounded by cladding, a coating that prevents the light from leaking out of the fiber.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3015421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Twisted-Pair Wire: </a:t>
            </a:r>
            <a:r>
              <a:rPr lang="en-US" dirty="0" smtClean="0"/>
              <a:t>the most prevalent form of communications wiring used for almost all business telephone wiring and As the name suggests, it consists of strands of copper wire twisted in pairs. It is relatively inexpensive to purchase, widely available, and easy to work with.</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4006119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Coaxial Cable: </a:t>
            </a:r>
            <a:r>
              <a:rPr lang="en-US" dirty="0" smtClean="0"/>
              <a:t>a single strand of insulated copper wire. It is much less susceptible to electrical interference, and it can carry much more data than twisted-pair. It is commonly used to carry high-speed data traffic as well as television signals.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1713384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Fiber-Optic Cable: </a:t>
            </a:r>
            <a:r>
              <a:rPr lang="en-US" dirty="0" smtClean="0"/>
              <a:t>consists of thousands of very thin filaments of glass fibers that transmit information via light pulses generated by lasers. The fiber-optic cable is surrounded by cladding, a coating that prevents the light from leaking out of the fiber.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2489462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Ethernet: </a:t>
            </a:r>
            <a:r>
              <a:rPr lang="en-US" dirty="0" smtClean="0"/>
              <a:t>A common LAN protocol. Many organizations use 100-gigabit Ethernet, where the network provides data transmission speeds of 100 gigabits (100 billion bits) per second.</a:t>
            </a:r>
          </a:p>
          <a:p>
            <a:endParaRPr lang="en-US" dirty="0" smtClean="0"/>
          </a:p>
          <a:p>
            <a:r>
              <a:rPr lang="en-US" b="1" dirty="0" smtClean="0"/>
              <a:t>Transmission Control Protocol/Internet Protocol (TCP/IP):</a:t>
            </a:r>
            <a:r>
              <a:rPr lang="en-US" dirty="0" smtClean="0"/>
              <a:t> the protocol of the Internet. TCP/IP uses a suite of protocols, the main ones being the Transmission Control Protocol (TCP) and the Internet Protocol (IP).</a:t>
            </a:r>
          </a:p>
          <a:p>
            <a:r>
              <a:rPr lang="en-US" dirty="0" smtClean="0"/>
              <a:t>--------------------</a:t>
            </a:r>
          </a:p>
          <a:p>
            <a:r>
              <a:rPr lang="en-US" b="1" dirty="0" smtClean="0"/>
              <a:t>TCP performs three basic functions:</a:t>
            </a:r>
          </a:p>
          <a:p>
            <a:pPr marL="228600" indent="-228600">
              <a:buFont typeface="+mj-lt"/>
              <a:buAutoNum type="arabicPeriod"/>
            </a:pPr>
            <a:r>
              <a:rPr lang="en-US" dirty="0" smtClean="0"/>
              <a:t>It manages the movement of data packets between computers by establishing a connection between the computers</a:t>
            </a:r>
          </a:p>
          <a:p>
            <a:pPr marL="228600" indent="-228600">
              <a:buFont typeface="+mj-lt"/>
              <a:buAutoNum type="arabicPeriod"/>
            </a:pPr>
            <a:r>
              <a:rPr lang="en-US" dirty="0" smtClean="0"/>
              <a:t>it sequences the transfer of packets</a:t>
            </a:r>
          </a:p>
          <a:p>
            <a:pPr marL="228600" indent="-228600">
              <a:buFont typeface="+mj-lt"/>
              <a:buAutoNum type="arabicPeriod"/>
            </a:pPr>
            <a:r>
              <a:rPr lang="en-US" dirty="0" smtClean="0"/>
              <a:t>it acknowledges the packets that have been transmitted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r>
              <a:rPr lang="en-US" b="1" dirty="0" smtClean="0"/>
              <a:t>Internet Protocol (IP): </a:t>
            </a:r>
            <a:r>
              <a:rPr lang="en-US" dirty="0" smtClean="0"/>
              <a:t>is responsible for disassembling, delivering, and reassembling the data during transmission.</a:t>
            </a:r>
          </a:p>
          <a:p>
            <a:endParaRPr lang="en-US" dirty="0" smtClean="0"/>
          </a:p>
          <a:p>
            <a:r>
              <a:rPr lang="en-US" b="1" dirty="0" smtClean="0"/>
              <a:t>Packets: </a:t>
            </a:r>
            <a:r>
              <a:rPr lang="en-US" dirty="0" smtClean="0"/>
              <a:t>Before data are transmitted over the Internet, they are divided into small, fixed bundles called packets. </a:t>
            </a:r>
          </a:p>
          <a:p>
            <a:r>
              <a:rPr lang="en-US" b="1" dirty="0" smtClean="0"/>
              <a:t>Packet Switching: </a:t>
            </a:r>
            <a:r>
              <a:rPr lang="en-US" dirty="0" smtClean="0"/>
              <a:t>the transmission technology that breaks up blocks of data into packets is called packet switching. Each packet carries the information that will help it reach its destination—the sender’s IP address, the intended receiver’s IP address, the number of packets in the message, and the number of the particular packet within the message. Each packet travels independently across the network and can be routed through different paths in the network. When the packets reach their destination, they are reassembled into the original message.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337829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Packets: </a:t>
            </a:r>
            <a:r>
              <a:rPr lang="en-US" dirty="0" smtClean="0"/>
              <a:t>Before data are transmitted over the Internet, they are divided into small, fixed bundles called packets. </a:t>
            </a:r>
          </a:p>
          <a:p>
            <a:r>
              <a:rPr lang="en-US" b="1" dirty="0" smtClean="0"/>
              <a:t>Packet Switching: </a:t>
            </a:r>
            <a:r>
              <a:rPr lang="en-US" dirty="0" smtClean="0"/>
              <a:t>the transmission technology that breaks up blocks of data into packets is called packet switching. Each packet carries the information that will help it reach its destination—the sender’s IP address, the intended receiver’s IP address, the number of packets in the message, and the number of the particular packet within the message. Each packet travels independently across the network and can be routed through different paths in the network. When the packets reach their destination, they are reassembled into the original message.</a:t>
            </a:r>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3065662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sng" dirty="0" smtClean="0"/>
              <a:t>TCP/IP functions in four layers:</a:t>
            </a:r>
          </a:p>
          <a:p>
            <a:pPr marL="228600" indent="-228600">
              <a:buFont typeface="+mj-lt"/>
              <a:buAutoNum type="arabicPeriod"/>
            </a:pPr>
            <a:r>
              <a:rPr lang="en-US" b="1" dirty="0" smtClean="0"/>
              <a:t>Application Layer: </a:t>
            </a:r>
            <a:r>
              <a:rPr lang="en-US" dirty="0" smtClean="0"/>
              <a:t>enables client application programs to access the other layers, and it defines the protocols that applications use to exchange data.</a:t>
            </a:r>
          </a:p>
          <a:p>
            <a:pPr marL="228600" indent="-228600">
              <a:buFont typeface="+mj-lt"/>
              <a:buAutoNum type="arabicPeriod"/>
            </a:pPr>
            <a:r>
              <a:rPr lang="en-US" b="1" dirty="0" smtClean="0"/>
              <a:t>Transport Layer: </a:t>
            </a:r>
            <a:r>
              <a:rPr lang="en-US" dirty="0" smtClean="0"/>
              <a:t>provides the application layer with communication and packet services.</a:t>
            </a:r>
          </a:p>
          <a:p>
            <a:pPr marL="228600" indent="-228600">
              <a:buFont typeface="+mj-lt"/>
              <a:buAutoNum type="arabicPeriod"/>
            </a:pPr>
            <a:r>
              <a:rPr lang="en-US" b="1" dirty="0" smtClean="0"/>
              <a:t>Internet Layer: </a:t>
            </a:r>
            <a:r>
              <a:rPr lang="en-US" dirty="0" smtClean="0"/>
              <a:t>responsible for addressing, routing, and packaging data packets. </a:t>
            </a:r>
          </a:p>
          <a:p>
            <a:pPr marL="228600" indent="-228600">
              <a:buFont typeface="+mj-lt"/>
              <a:buAutoNum type="arabicPeriod"/>
            </a:pPr>
            <a:r>
              <a:rPr lang="en-US" b="1" dirty="0" smtClean="0"/>
              <a:t>Network Interface Layer: </a:t>
            </a:r>
            <a:r>
              <a:rPr lang="en-US" dirty="0" smtClean="0"/>
              <a:t>places packets on, and receives them from, the network medium, which can be any networking technology.</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349347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sng" dirty="0" smtClean="0"/>
              <a:t>TCP/IP functions in four layers:</a:t>
            </a:r>
          </a:p>
          <a:p>
            <a:pPr marL="228600" indent="-228600">
              <a:buFont typeface="+mj-lt"/>
              <a:buAutoNum type="arabicPeriod"/>
            </a:pPr>
            <a:r>
              <a:rPr lang="en-US" b="1" dirty="0" smtClean="0"/>
              <a:t>Application Layer: </a:t>
            </a:r>
            <a:r>
              <a:rPr lang="en-US" dirty="0" smtClean="0"/>
              <a:t>enables client application programs to access the other layers, and it defines the protocols that applications use to exchange data.</a:t>
            </a:r>
          </a:p>
          <a:p>
            <a:pPr marL="228600" indent="-228600">
              <a:buFont typeface="+mj-lt"/>
              <a:buAutoNum type="arabicPeriod"/>
            </a:pPr>
            <a:r>
              <a:rPr lang="en-US" b="1" dirty="0" smtClean="0"/>
              <a:t>Transport Layer: </a:t>
            </a:r>
            <a:r>
              <a:rPr lang="en-US" dirty="0" smtClean="0"/>
              <a:t>provides the application layer with communication and packet services.</a:t>
            </a:r>
          </a:p>
          <a:p>
            <a:pPr marL="228600" indent="-228600">
              <a:buFont typeface="+mj-lt"/>
              <a:buAutoNum type="arabicPeriod"/>
            </a:pPr>
            <a:r>
              <a:rPr lang="en-US" b="1" dirty="0" smtClean="0"/>
              <a:t>Internet Layer: </a:t>
            </a:r>
            <a:r>
              <a:rPr lang="en-US" dirty="0" smtClean="0"/>
              <a:t>responsible for addressing, routing, and packaging data packets. </a:t>
            </a:r>
          </a:p>
          <a:p>
            <a:pPr marL="228600" indent="-228600">
              <a:buFont typeface="+mj-lt"/>
              <a:buAutoNum type="arabicPeriod"/>
            </a:pPr>
            <a:r>
              <a:rPr lang="en-US" b="1" dirty="0" smtClean="0"/>
              <a:t>Network Interface Layer: </a:t>
            </a:r>
            <a:r>
              <a:rPr lang="en-US" dirty="0" smtClean="0"/>
              <a:t>places packets on, and receives them from, the network medium, which can be any networking technology.</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1725681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Distributed Processing: </a:t>
            </a:r>
            <a:r>
              <a:rPr lang="en-US" dirty="0" smtClean="0"/>
              <a:t>divides processing work among two or more computers which enables computers in different locations to communicate with one another via telecommunications.</a:t>
            </a:r>
          </a:p>
          <a:p>
            <a:r>
              <a:rPr lang="en-US" b="1" dirty="0" smtClean="0"/>
              <a:t>Client/Server</a:t>
            </a:r>
            <a:r>
              <a:rPr lang="en-US" dirty="0" smtClean="0"/>
              <a:t> </a:t>
            </a:r>
            <a:r>
              <a:rPr lang="en-US" b="1" dirty="0" smtClean="0"/>
              <a:t>Computing: </a:t>
            </a:r>
            <a:r>
              <a:rPr lang="en-US" dirty="0" smtClean="0"/>
              <a:t>Client/server computing links two or more computers in an arrangement in which some machines, called servers, provide computing services for user PCs, called clients.</a:t>
            </a:r>
          </a:p>
          <a:p>
            <a:r>
              <a:rPr lang="en-US" b="1" dirty="0" smtClean="0"/>
              <a:t>Peer-to-Peer (P2P) Processing: </a:t>
            </a:r>
            <a:r>
              <a:rPr lang="en-US" dirty="0" smtClean="0"/>
              <a:t>a type of client/server distributed processing where each computer acts as both a client and a server. Each computer can access (as assigned for security or integrity purposes) all files on all other computers.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2139421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World Wide Web: </a:t>
            </a:r>
            <a:r>
              <a:rPr lang="en-US" dirty="0" smtClean="0"/>
              <a:t>a system of universally accepted standards for storing, retrieving, formatting, and displaying information via a client/server architecture.</a:t>
            </a:r>
          </a:p>
          <a:p>
            <a:r>
              <a:rPr lang="en-US" b="1" dirty="0" smtClean="0"/>
              <a:t>Internet (“the Net”): </a:t>
            </a:r>
            <a:r>
              <a:rPr lang="en-US" dirty="0" smtClean="0"/>
              <a:t>a global WAN that connects approximately 1 million organizational computer networks in more than 200 countries on all continents, including Antarctica. It has become so widespread that it features in the daily routine of some 3 billion people.</a:t>
            </a:r>
          </a:p>
          <a:p>
            <a:r>
              <a:rPr lang="en-US" b="1" dirty="0" smtClean="0"/>
              <a:t>Internet Backbone: </a:t>
            </a:r>
            <a:r>
              <a:rPr lang="en-US" dirty="0" smtClean="0"/>
              <a:t>The primary network connections and telecommunications lines that link the nodes made up of a fiber-optic network that is operated primarily by large telecommunications companies.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Intranet: </a:t>
            </a:r>
            <a:r>
              <a:rPr lang="en-US" dirty="0" smtClean="0"/>
              <a:t>a network that uses Internet protocols so that users can take advantage of familiar applications and work habits. Intranets support discovery (easy and inexpensive browsing and search), communication, and collaboration inside an organization.</a:t>
            </a:r>
          </a:p>
          <a:p>
            <a:r>
              <a:rPr lang="en-US" b="1" dirty="0" smtClean="0"/>
              <a:t>Extranet: </a:t>
            </a:r>
            <a:r>
              <a:rPr lang="en-US" dirty="0" smtClean="0"/>
              <a:t>connects parts of the intranets of different organizations.</a:t>
            </a:r>
          </a:p>
          <a:p>
            <a:endParaRPr lang="en-US" dirty="0" smtClean="0"/>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2192880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Connecting Via an Online Service:</a:t>
            </a:r>
          </a:p>
          <a:p>
            <a:pPr marL="171450" indent="-171450">
              <a:buFont typeface="Arial" pitchFamily="34" charset="0"/>
              <a:buChar char="•"/>
            </a:pPr>
            <a:r>
              <a:rPr lang="en-US" b="1" i="1" dirty="0" smtClean="0"/>
              <a:t>Internet Service Provider: </a:t>
            </a:r>
            <a:r>
              <a:rPr lang="en-US" b="0" i="0" dirty="0" smtClean="0"/>
              <a:t>is a company that provides Internet connections for a fee. Large ISPs include Comcast (www.comcast.com), AT&amp;T (www.att.com), Time Warner Cable (www.timewarnercable.com), and Verizon (www.verizon.com).</a:t>
            </a:r>
          </a:p>
          <a:p>
            <a:pPr marL="171450" indent="-171450">
              <a:buFont typeface="Arial" pitchFamily="34" charset="0"/>
              <a:buChar char="•"/>
            </a:pPr>
            <a:r>
              <a:rPr lang="en-US" b="1" i="1" dirty="0" smtClean="0"/>
              <a:t>Network Access Point: </a:t>
            </a:r>
            <a:r>
              <a:rPr lang="en-US" b="0" i="0" dirty="0" smtClean="0"/>
              <a:t>often used by ISPs to connect one another, NAPs are exchange points for Internet traffic. They determine how traffic is routed. NAPs are key components of the Internet backbone. Figure 6.8 displays a schematic of the Internet.</a:t>
            </a:r>
          </a:p>
          <a:p>
            <a:pPr marL="171450" indent="-171450">
              <a:buFont typeface="Arial" pitchFamily="34" charset="0"/>
              <a:buChar char="•"/>
            </a:pPr>
            <a:endParaRPr lang="en-US" b="0" i="0" dirty="0" smtClean="0"/>
          </a:p>
          <a:p>
            <a:pPr marL="0" indent="0">
              <a:buFont typeface="Arial" pitchFamily="34" charset="0"/>
              <a:buNone/>
            </a:pPr>
            <a:r>
              <a:rPr lang="en-US" b="1" i="0" dirty="0" smtClean="0"/>
              <a:t>Connecting Via Other Means:</a:t>
            </a:r>
          </a:p>
          <a:p>
            <a:pPr marL="171450" indent="-171450">
              <a:buFont typeface="Arial" pitchFamily="34" charset="0"/>
              <a:buChar char="•"/>
            </a:pPr>
            <a:r>
              <a:rPr lang="en-US" b="0" i="1" dirty="0" smtClean="0"/>
              <a:t>Internet Kiosks in</a:t>
            </a:r>
            <a:r>
              <a:rPr lang="en-US" b="0" i="1" baseline="0" dirty="0" smtClean="0"/>
              <a:t> public places such as libraries and airports.</a:t>
            </a:r>
          </a:p>
          <a:p>
            <a:pPr marL="171450" indent="-171450">
              <a:buFont typeface="Arial" pitchFamily="34" charset="0"/>
              <a:buChar char="•"/>
            </a:pPr>
            <a:r>
              <a:rPr lang="en-US" b="0" i="1" baseline="0" dirty="0" smtClean="0"/>
              <a:t>Fiber to the Home (FTTH)</a:t>
            </a:r>
          </a:p>
          <a:p>
            <a:pPr marL="171450" indent="-171450">
              <a:buFont typeface="Arial" pitchFamily="34" charset="0"/>
              <a:buChar char="•"/>
            </a:pPr>
            <a:r>
              <a:rPr lang="en-US" b="0" i="1" baseline="0" dirty="0" smtClean="0"/>
              <a:t>Smart Phones</a:t>
            </a:r>
          </a:p>
          <a:p>
            <a:pPr marL="171450" indent="-171450">
              <a:buFont typeface="Arial" pitchFamily="34" charset="0"/>
              <a:buChar char="•"/>
            </a:pPr>
            <a:r>
              <a:rPr lang="en-US" b="0" i="1" baseline="0" dirty="0" smtClean="0"/>
              <a:t>Tablets</a:t>
            </a:r>
          </a:p>
          <a:p>
            <a:pPr marL="171450" indent="-171450">
              <a:buFont typeface="Arial" pitchFamily="34" charset="0"/>
              <a:buChar char="•"/>
            </a:pPr>
            <a:r>
              <a:rPr lang="en-US" b="0" i="1" baseline="0" dirty="0" smtClean="0"/>
              <a:t>Internet Via Satellite</a:t>
            </a:r>
          </a:p>
          <a:p>
            <a:pPr marL="171450" indent="-171450">
              <a:buFont typeface="Arial" pitchFamily="34" charset="0"/>
              <a:buChar char="•"/>
            </a:pPr>
            <a:r>
              <a:rPr lang="en-US" b="0" i="1" baseline="0" dirty="0" smtClean="0"/>
              <a:t>Internet Via High Altitude Balloons (Google Project Loon).</a:t>
            </a:r>
            <a:endParaRPr lang="en-US" b="0" i="1"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556178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Why would a “search company” such as Google decided to enter the fi </a:t>
            </a:r>
            <a:r>
              <a:rPr lang="en-US" dirty="0" err="1" smtClean="0"/>
              <a:t>ber</a:t>
            </a:r>
            <a:r>
              <a:rPr lang="en-US" dirty="0" smtClean="0"/>
              <a:t> services business? Describe the </a:t>
            </a:r>
            <a:r>
              <a:rPr lang="en-US" dirty="0" err="1" smtClean="0"/>
              <a:t>benefi</a:t>
            </a:r>
            <a:r>
              <a:rPr lang="en-US" dirty="0" smtClean="0"/>
              <a:t> </a:t>
            </a:r>
            <a:r>
              <a:rPr lang="en-US" dirty="0" err="1" smtClean="0"/>
              <a:t>ts</a:t>
            </a:r>
            <a:r>
              <a:rPr lang="en-US" dirty="0" smtClean="0"/>
              <a:t> that Google expects to obtain from this venture.</a:t>
            </a:r>
          </a:p>
          <a:p>
            <a:pPr marL="228600" indent="-228600">
              <a:buFont typeface="+mj-lt"/>
              <a:buAutoNum type="arabicPeriod"/>
            </a:pPr>
            <a:r>
              <a:rPr lang="en-US" dirty="0" smtClean="0"/>
              <a:t>Describe the various outcomes that might occur in an area that receives ultrafast fi </a:t>
            </a:r>
            <a:r>
              <a:rPr lang="en-US" dirty="0" err="1" smtClean="0"/>
              <a:t>ber</a:t>
            </a:r>
            <a:r>
              <a:rPr lang="en-US" dirty="0" smtClean="0"/>
              <a:t>, regardless of the provider.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the advantages and disadvantages of the global Internet to Cuban citizens.</a:t>
            </a:r>
          </a:p>
          <a:p>
            <a:pPr marL="228600" indent="-228600">
              <a:buFont typeface="+mj-lt"/>
              <a:buAutoNum type="arabicPeriod"/>
            </a:pPr>
            <a:r>
              <a:rPr lang="en-US" dirty="0" smtClean="0"/>
              <a:t>Describe the advantages and disadvantages of the global Internet to the Cuban government.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Internet Corporation for Assigned Names (ICANN) (</a:t>
            </a:r>
            <a:r>
              <a:rPr lang="en-US" sz="1200" b="1" i="1" u="none" strike="noStrike" kern="1200" baseline="0" dirty="0" smtClean="0">
                <a:solidFill>
                  <a:schemeClr val="tx1"/>
                </a:solidFill>
                <a:latin typeface="+mn-lt"/>
                <a:ea typeface="+mn-ea"/>
                <a:cs typeface="+mn-cs"/>
              </a:rPr>
              <a:t>www.icann.org</a:t>
            </a:r>
            <a:r>
              <a:rPr lang="en-US" sz="1200" b="1" i="0" u="none" strike="noStrike" kern="1200" baseline="0" dirty="0" smtClean="0">
                <a:solidFill>
                  <a:schemeClr val="tx1"/>
                </a:solidFill>
                <a:latin typeface="+mn-lt"/>
                <a:ea typeface="+mn-ea"/>
                <a:cs typeface="+mn-cs"/>
              </a:rPr>
              <a:t>): </a:t>
            </a:r>
            <a:r>
              <a:rPr lang="en-US" sz="1200" b="0" i="0" u="none" strike="noStrike" kern="1200" baseline="0" dirty="0" smtClean="0">
                <a:solidFill>
                  <a:schemeClr val="tx1"/>
                </a:solidFill>
                <a:latin typeface="+mn-lt"/>
                <a:ea typeface="+mn-ea"/>
                <a:cs typeface="+mn-cs"/>
              </a:rPr>
              <a:t>coordinates these unique addresses throughout the world. Without that coordination, we would not have one global Internet.</a:t>
            </a:r>
          </a:p>
          <a:p>
            <a:r>
              <a:rPr lang="en-US" sz="1200" b="1" i="0" u="none" strike="noStrike" kern="1200" baseline="0" dirty="0" smtClean="0">
                <a:solidFill>
                  <a:schemeClr val="tx1"/>
                </a:solidFill>
                <a:latin typeface="+mn-lt"/>
                <a:ea typeface="+mn-ea"/>
                <a:cs typeface="+mn-cs"/>
              </a:rPr>
              <a:t>Top-Level Domain (TLD): </a:t>
            </a:r>
            <a:r>
              <a:rPr lang="en-US" sz="1200" b="0" i="0" u="none" strike="noStrike" kern="1200" baseline="0" dirty="0" smtClean="0">
                <a:solidFill>
                  <a:schemeClr val="tx1"/>
                </a:solidFill>
                <a:latin typeface="+mn-lt"/>
                <a:ea typeface="+mn-ea"/>
                <a:cs typeface="+mn-cs"/>
              </a:rPr>
              <a:t>the domain at the highest level in the hierarchical Domain Name System of the Internet. The top-level domain names are located in the root zone (rightmost zone) of the name. Management of most TLDs is delegated to responsible organizations by ICANN.</a:t>
            </a:r>
          </a:p>
          <a:p>
            <a:r>
              <a:rPr lang="en-US" b="1" dirty="0" smtClean="0"/>
              <a:t>Internet Assigned Numbers Authority (IANA):  </a:t>
            </a:r>
            <a:r>
              <a:rPr lang="en-US" dirty="0" smtClean="0"/>
              <a:t>which is in charge of maintaining the DNS root zone. Today, IANA distinguishes the following groups of</a:t>
            </a:r>
          </a:p>
          <a:p>
            <a:r>
              <a:rPr lang="en-US" dirty="0" smtClean="0"/>
              <a:t>TLDs:</a:t>
            </a:r>
          </a:p>
          <a:p>
            <a:pPr marL="171450" indent="-171450">
              <a:buFont typeface="Arial" pitchFamily="34" charset="0"/>
              <a:buChar char="•"/>
            </a:pPr>
            <a:r>
              <a:rPr lang="en-US" b="1" dirty="0" smtClean="0"/>
              <a:t>Country-code top-level domains (</a:t>
            </a:r>
            <a:r>
              <a:rPr lang="en-US" b="1" dirty="0" err="1" smtClean="0"/>
              <a:t>ccTLD</a:t>
            </a:r>
            <a:r>
              <a:rPr lang="en-US" b="1" dirty="0" smtClean="0"/>
              <a:t>): </a:t>
            </a:r>
            <a:r>
              <a:rPr lang="en-US" dirty="0" smtClean="0"/>
              <a:t>Two letter domains established for countries or territories. For example, de stands for Germany, it for Italy, and </a:t>
            </a:r>
            <a:r>
              <a:rPr lang="en-US" dirty="0" err="1" smtClean="0"/>
              <a:t>ru</a:t>
            </a:r>
            <a:r>
              <a:rPr lang="en-US" dirty="0" smtClean="0"/>
              <a:t> for Russia.</a:t>
            </a:r>
          </a:p>
          <a:p>
            <a:pPr marL="171450" indent="-171450">
              <a:buFont typeface="Arial" pitchFamily="34" charset="0"/>
              <a:buChar char="•"/>
            </a:pPr>
            <a:r>
              <a:rPr lang="en-US" b="1" dirty="0" smtClean="0"/>
              <a:t>Internationalized country code top-level domains (IDN </a:t>
            </a:r>
            <a:r>
              <a:rPr lang="en-US" b="1" dirty="0" err="1" smtClean="0"/>
              <a:t>ccTLD</a:t>
            </a:r>
            <a:r>
              <a:rPr lang="en-US" b="1" dirty="0" smtClean="0"/>
              <a:t>): </a:t>
            </a:r>
            <a:r>
              <a:rPr lang="en-US" dirty="0" smtClean="0"/>
              <a:t>These are </a:t>
            </a:r>
            <a:r>
              <a:rPr lang="en-US" dirty="0" err="1" smtClean="0"/>
              <a:t>ccTLDs</a:t>
            </a:r>
            <a:r>
              <a:rPr lang="en-US" dirty="0" smtClean="0"/>
              <a:t> in non-Latin character sets (e.g., Arabic or Chinese).</a:t>
            </a:r>
          </a:p>
          <a:p>
            <a:pPr marL="171450" indent="-171450">
              <a:buFont typeface="Arial" pitchFamily="34" charset="0"/>
              <a:buChar char="•"/>
            </a:pPr>
            <a:r>
              <a:rPr lang="en-US" b="1" dirty="0" smtClean="0"/>
              <a:t>Generic top-level domains (</a:t>
            </a:r>
            <a:r>
              <a:rPr lang="en-US" b="1" dirty="0" err="1" smtClean="0"/>
              <a:t>gTLD</a:t>
            </a:r>
            <a:r>
              <a:rPr lang="en-US" b="1" dirty="0" smtClean="0"/>
              <a:t>): </a:t>
            </a:r>
            <a:r>
              <a:rPr lang="en-US" dirty="0" smtClean="0"/>
              <a:t>Top-level domains with three or more characters. </a:t>
            </a:r>
            <a:r>
              <a:rPr lang="en-US" dirty="0" err="1" smtClean="0"/>
              <a:t>gTLDs</a:t>
            </a:r>
            <a:r>
              <a:rPr lang="en-US" dirty="0" smtClean="0"/>
              <a:t> initially consisted of .</a:t>
            </a:r>
            <a:r>
              <a:rPr lang="en-US" dirty="0" err="1" smtClean="0"/>
              <a:t>gov</a:t>
            </a:r>
            <a:r>
              <a:rPr lang="en-US" dirty="0" smtClean="0"/>
              <a:t>, .</a:t>
            </a:r>
            <a:r>
              <a:rPr lang="en-US" dirty="0" err="1" smtClean="0"/>
              <a:t>edu</a:t>
            </a:r>
            <a:r>
              <a:rPr lang="en-US" dirty="0" smtClean="0"/>
              <a:t>, .com, .mil, .org, and </a:t>
            </a:r>
            <a:r>
              <a:rPr lang="en-US" dirty="0" err="1" smtClean="0"/>
              <a:t>.net</a:t>
            </a:r>
            <a:r>
              <a:rPr lang="en-US" dirty="0" smtClean="0"/>
              <a:t>. In late 2000, ICANN introduced .aero, .biz, .coop, .info, .museum, .name, and .pro. In June 2012, ICANN revealed nearly 2,000 applications for new top-level domains.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1909219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Internet2: </a:t>
            </a:r>
            <a:r>
              <a:rPr lang="en-US" sz="1200" b="0" i="0" u="none" strike="noStrike" kern="1200" baseline="0" dirty="0" smtClean="0">
                <a:solidFill>
                  <a:schemeClr val="tx1"/>
                </a:solidFill>
                <a:latin typeface="+mn-lt"/>
                <a:ea typeface="+mn-ea"/>
                <a:cs typeface="+mn-cs"/>
              </a:rPr>
              <a:t>develops and deploys advanced network applications such as remote medical diagnosis, digital libraries, distance education, online simulation, and virtual laboratories. It is designed to be fast, always on, everywhere, natural, intelligent, easy, and trusted. Note that Internet2 is not a separate physical network from the Internet.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1970695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Hypertext </a:t>
            </a:r>
            <a:r>
              <a:rPr lang="en-US" sz="1200" b="0" i="0" u="none" strike="noStrike" kern="1200" baseline="0" dirty="0" smtClean="0">
                <a:solidFill>
                  <a:schemeClr val="tx1"/>
                </a:solidFill>
                <a:latin typeface="+mn-lt"/>
                <a:ea typeface="+mn-ea"/>
                <a:cs typeface="+mn-cs"/>
              </a:rPr>
              <a:t>is the underlying concept defining the structure of the World Wide Web. </a:t>
            </a:r>
            <a:r>
              <a:rPr lang="en-US" sz="1200" b="1" i="1" u="none" strike="noStrike" kern="1200" baseline="0" dirty="0" smtClean="0">
                <a:solidFill>
                  <a:schemeClr val="tx1"/>
                </a:solidFill>
                <a:latin typeface="+mn-lt"/>
                <a:ea typeface="+mn-ea"/>
                <a:cs typeface="+mn-cs"/>
              </a:rPr>
              <a:t>Hypertext</a:t>
            </a:r>
            <a:r>
              <a:rPr lang="en-US" sz="1200" b="0" i="0" u="none" strike="noStrike" kern="1200" baseline="0" dirty="0" smtClean="0">
                <a:solidFill>
                  <a:schemeClr val="tx1"/>
                </a:solidFill>
                <a:latin typeface="+mn-lt"/>
                <a:ea typeface="+mn-ea"/>
                <a:cs typeface="+mn-cs"/>
              </a:rPr>
              <a:t> is the text displayed on a computer display or other electronic device with references, called hyperlinks, to other text that the reader can immediately access, or where text can be revealed progressively at additional levels of details.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1305198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Users can apply the Internet’s </a:t>
            </a:r>
            <a:r>
              <a:rPr lang="en-US" b="1" dirty="0" smtClean="0"/>
              <a:t>discovery</a:t>
            </a:r>
            <a:r>
              <a:rPr lang="en-US" dirty="0" smtClean="0"/>
              <a:t> capability to areas ranging from education to government services to entertainment to commerce.</a:t>
            </a:r>
          </a:p>
          <a:p>
            <a:r>
              <a:rPr lang="en-US" b="1" dirty="0" smtClean="0"/>
              <a:t>Search Engine: </a:t>
            </a:r>
            <a:r>
              <a:rPr lang="en-US" dirty="0" smtClean="0"/>
              <a:t>a computer program that searches for specific information by keywords and then reports the results.</a:t>
            </a:r>
          </a:p>
          <a:p>
            <a:r>
              <a:rPr lang="en-US" b="1" dirty="0" err="1" smtClean="0"/>
              <a:t>Metasearch</a:t>
            </a:r>
            <a:r>
              <a:rPr lang="en-US" b="1" dirty="0" smtClean="0"/>
              <a:t> Engines: </a:t>
            </a:r>
            <a:r>
              <a:rPr lang="en-US" dirty="0" smtClean="0"/>
              <a:t>search several engines at once and then integrate the findings to answer users’ queries.</a:t>
            </a:r>
          </a:p>
          <a:p>
            <a:r>
              <a:rPr lang="en-US" b="1" dirty="0" smtClean="0"/>
              <a:t>Publication of Material in Foreign Languages: </a:t>
            </a:r>
            <a:r>
              <a:rPr lang="en-US" dirty="0" smtClean="0"/>
              <a:t>information on the Internet is written in many different languages, and automatic translation of Web pages is essential.</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Portals: </a:t>
            </a:r>
            <a:r>
              <a:rPr lang="en-US" dirty="0" smtClean="0"/>
              <a:t>a Web-based, personalized gateway to information and knowledge that provides relevant information from different IT systems and the Internet using advanced search and indexing techniques.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582136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6.9 </a:t>
            </a:r>
            <a:r>
              <a:rPr lang="en-US" sz="1200" b="0" i="0" u="none" strike="noStrike" kern="1200" baseline="0" dirty="0" smtClean="0">
                <a:solidFill>
                  <a:schemeClr val="tx1"/>
                </a:solidFill>
                <a:latin typeface="+mn-lt"/>
                <a:ea typeface="+mn-ea"/>
                <a:cs typeface="+mn-cs"/>
              </a:rPr>
              <a:t>Google Translate. (Google and the Google logo are registered trademarks of Google Inc., used with permission).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34928780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Portals: </a:t>
            </a:r>
            <a:r>
              <a:rPr lang="en-US" dirty="0" smtClean="0"/>
              <a:t>a Web-based, personalized gateway to information and knowledge that provides relevant information from different IT systems and the Internet using advanced search and indexing techniques.</a:t>
            </a:r>
          </a:p>
          <a:p>
            <a:r>
              <a:rPr lang="en-US" b="1" dirty="0" smtClean="0"/>
              <a:t>Commercial (public) Portal: </a:t>
            </a:r>
            <a:r>
              <a:rPr lang="en-US" dirty="0" smtClean="0"/>
              <a:t>the most popular type of portal on the Internet and is intended for broad and diverse audiences (e.g., a stock ticker).</a:t>
            </a:r>
          </a:p>
          <a:p>
            <a:r>
              <a:rPr lang="en-US" b="1" dirty="0" smtClean="0"/>
              <a:t>Affinity Portal: </a:t>
            </a:r>
            <a:r>
              <a:rPr lang="en-US" dirty="0" smtClean="0"/>
              <a:t>offers a single point of entry to an entire community of affiliated interests, such as a hobby group or a political party.</a:t>
            </a:r>
          </a:p>
          <a:p>
            <a:r>
              <a:rPr lang="en-US" b="1" dirty="0" smtClean="0"/>
              <a:t>Corporate Portal: </a:t>
            </a:r>
            <a:r>
              <a:rPr lang="en-US" dirty="0" smtClean="0"/>
              <a:t>offers a personalized, single point of access through a Web browser to critical business information located inside and outside an organization. These portals are also known as enterprise portals, information portals, and enterprise information portals.</a:t>
            </a:r>
          </a:p>
          <a:p>
            <a:r>
              <a:rPr lang="en-US" b="1" dirty="0" err="1" smtClean="0"/>
              <a:t>Industrywide</a:t>
            </a:r>
            <a:r>
              <a:rPr lang="en-US" b="1" dirty="0" smtClean="0"/>
              <a:t> Portal: </a:t>
            </a:r>
            <a:r>
              <a:rPr lang="en-US" dirty="0" smtClean="0"/>
              <a:t>a portal that serves an entire industry (e.g., </a:t>
            </a:r>
            <a:r>
              <a:rPr lang="en-US" dirty="0" err="1" smtClean="0"/>
              <a:t>TruckNet</a:t>
            </a:r>
            <a:r>
              <a:rPr lang="en-US" dirty="0" smtClean="0"/>
              <a:t> &lt;www.truck.net&gt;).</a:t>
            </a:r>
          </a:p>
          <a:p>
            <a:endParaRPr lang="en-US" dirty="0" smtClean="0"/>
          </a:p>
          <a:p>
            <a:endParaRPr lang="en-US" dirty="0" smtClean="0"/>
          </a:p>
          <a:p>
            <a:r>
              <a:rPr lang="en-US" b="1" dirty="0" smtClean="0"/>
              <a:t>Unified Communications: </a:t>
            </a:r>
            <a:r>
              <a:rPr lang="en-US" dirty="0" smtClean="0"/>
              <a:t>simplifies and integrates all forms of communications (voice, voice mail, fax, chat, e-mail, instant messaging, short message service, presence (location) services, and videoconferencing) on a common hardware and soft ware platform.</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9259562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Communication: </a:t>
            </a:r>
            <a:r>
              <a:rPr lang="en-US" dirty="0" smtClean="0"/>
              <a:t>a major category of network applications related to communication technologies delivered online (e.g., including e-mail, call centers, chat rooms, and voice).</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Unified Communications: </a:t>
            </a:r>
            <a:r>
              <a:rPr lang="en-US" dirty="0" smtClean="0"/>
              <a:t>simplifies and integrates all forms of communications (voice, voice mail, fax, chat, e-mail, instant messaging, short message service, presence (location) services, and videoconferencing) on a common hardware and soft ware platform.</a:t>
            </a:r>
          </a:p>
          <a:p>
            <a:r>
              <a:rPr lang="en-US" sz="1200" b="1" i="0" u="none" strike="noStrike" kern="1200" baseline="0" dirty="0" smtClean="0">
                <a:solidFill>
                  <a:schemeClr val="tx1"/>
                </a:solidFill>
                <a:latin typeface="+mn-lt"/>
                <a:ea typeface="+mn-ea"/>
                <a:cs typeface="+mn-cs"/>
              </a:rPr>
              <a:t>Electronic Teleconferencing: </a:t>
            </a:r>
            <a:r>
              <a:rPr lang="en-US" sz="1200" b="0" i="0" u="none" strike="noStrike" kern="1200" baseline="0" dirty="0" smtClean="0">
                <a:solidFill>
                  <a:schemeClr val="tx1"/>
                </a:solidFill>
                <a:latin typeface="+mn-lt"/>
                <a:ea typeface="+mn-ea"/>
                <a:cs typeface="+mn-cs"/>
              </a:rPr>
              <a:t>the use of electronic communication technology that enables two or more people at different locations to hold a conference.</a:t>
            </a:r>
          </a:p>
          <a:p>
            <a:r>
              <a:rPr lang="en-US" b="1" dirty="0" smtClean="0"/>
              <a:t>Telecommuting: </a:t>
            </a:r>
            <a:r>
              <a:rPr lang="en-US" dirty="0" smtClean="0"/>
              <a:t>A process in which knowledge workers are being called the distributed workforce, or “digital nomads.” This group of highly prized workers is now able to work anywhere and anytime.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314054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Is it feasible for your university to eliminate e-mail? Why or why not? Would you support such a policy at your school? Why or why not?</a:t>
            </a:r>
          </a:p>
          <a:p>
            <a:pPr marL="228600" indent="-228600">
              <a:buFont typeface="+mj-lt"/>
              <a:buAutoNum type="arabicPeriod"/>
            </a:pPr>
            <a:r>
              <a:rPr lang="en-US" dirty="0" smtClean="0"/>
              <a:t>Describe the advantages and disadvantages of eliminating e-mail from an organization. Provide specific examples to support your answers.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Telecommuting: </a:t>
            </a:r>
            <a:r>
              <a:rPr lang="en-US" sz="1200" b="0" i="0" u="none" strike="noStrike" kern="1200" baseline="0" dirty="0" smtClean="0">
                <a:solidFill>
                  <a:schemeClr val="tx1"/>
                </a:solidFill>
                <a:latin typeface="+mn-lt"/>
                <a:ea typeface="+mn-ea"/>
                <a:cs typeface="+mn-cs"/>
              </a:rPr>
              <a:t>the process in which highly prized “knowledge” workers are now able to work anywhere and anytime.</a:t>
            </a:r>
            <a:endParaRPr lang="en-US" dirty="0" smtClean="0"/>
          </a:p>
          <a:p>
            <a:r>
              <a:rPr lang="en-US" sz="1200" b="1" i="0" u="none" strike="noStrike" kern="1200" baseline="0" dirty="0" smtClean="0">
                <a:solidFill>
                  <a:schemeClr val="tx1"/>
                </a:solidFill>
                <a:latin typeface="+mn-lt"/>
                <a:ea typeface="+mn-ea"/>
                <a:cs typeface="+mn-cs"/>
              </a:rPr>
              <a:t>Knowledge workers </a:t>
            </a:r>
            <a:r>
              <a:rPr lang="en-US" sz="1200" b="0" i="0" u="none" strike="noStrike" kern="1200" baseline="0" dirty="0" smtClean="0">
                <a:solidFill>
                  <a:schemeClr val="tx1"/>
                </a:solidFill>
                <a:latin typeface="+mn-lt"/>
                <a:ea typeface="+mn-ea"/>
                <a:cs typeface="+mn-cs"/>
              </a:rPr>
              <a:t>are being called the distributed workforce, or </a:t>
            </a:r>
            <a:r>
              <a:rPr lang="en-US" sz="1200" b="1" i="0" u="none" strike="noStrike" kern="1200" baseline="0" dirty="0" smtClean="0">
                <a:solidFill>
                  <a:schemeClr val="tx1"/>
                </a:solidFill>
                <a:latin typeface="+mn-lt"/>
                <a:ea typeface="+mn-ea"/>
                <a:cs typeface="+mn-cs"/>
              </a:rPr>
              <a:t>“digital nomads.”</a:t>
            </a:r>
            <a:endParaRPr lang="en-US" b="1"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2458890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Workgroup: </a:t>
            </a:r>
            <a:r>
              <a:rPr lang="en-US" dirty="0" smtClean="0"/>
              <a:t>two or more individuals who act together to perform some task.</a:t>
            </a:r>
          </a:p>
          <a:p>
            <a:r>
              <a:rPr lang="en-US" b="1" dirty="0" smtClean="0"/>
              <a:t>Workflow: </a:t>
            </a:r>
            <a:r>
              <a:rPr lang="en-US" dirty="0" smtClean="0"/>
              <a:t>the movement of information as it progresses through the sequence of steps that make up an organization’s work procedures. Workflow management makes it possible to pass documents, information, and tasks from one participant to another in a way that is governed by the organization’s rules or procedures.</a:t>
            </a:r>
          </a:p>
          <a:p>
            <a:r>
              <a:rPr lang="en-US" b="1" dirty="0" smtClean="0"/>
              <a:t>Virtual Group (Team): </a:t>
            </a:r>
            <a:r>
              <a:rPr lang="en-US" dirty="0" smtClean="0"/>
              <a:t>Virtual groups conduct virtual meetings—that is, they “meet” electronically.</a:t>
            </a:r>
          </a:p>
          <a:p>
            <a:r>
              <a:rPr lang="en-US" b="1" dirty="0" smtClean="0"/>
              <a:t>Virtual collaboration (or e-collaboration): </a:t>
            </a:r>
            <a:r>
              <a:rPr lang="en-US" dirty="0" smtClean="0"/>
              <a:t>the use of digital technologies that enable organizations or individuals who are geographically dispersed to collaboratively plan, design, develop, manage, and research products, services, and innovative applications.</a:t>
            </a:r>
          </a:p>
          <a:p>
            <a:r>
              <a:rPr lang="en-US" b="1" dirty="0" smtClean="0"/>
              <a:t>Crowdsourcing: </a:t>
            </a:r>
            <a:r>
              <a:rPr lang="en-US" dirty="0" smtClean="0"/>
              <a:t>a process in which an organization outsources a task to an undefined, generally large group of people in the form of an open call.</a:t>
            </a:r>
          </a:p>
          <a:p>
            <a:r>
              <a:rPr lang="en-US" b="1" dirty="0" smtClean="0"/>
              <a:t>Synchronous Collaboration: </a:t>
            </a:r>
            <a:r>
              <a:rPr lang="en-US" dirty="0" smtClean="0"/>
              <a:t>all team members meet at the same time. </a:t>
            </a:r>
          </a:p>
          <a:p>
            <a:r>
              <a:rPr lang="en-US" b="1" dirty="0" smtClean="0"/>
              <a:t>Teleconferencing:</a:t>
            </a:r>
            <a:r>
              <a:rPr lang="en-US" dirty="0" smtClean="0"/>
              <a:t> the use of electronic communication technology that enables two or more people at different locations to hold a conference.</a:t>
            </a:r>
          </a:p>
          <a:p>
            <a:r>
              <a:rPr lang="en-US" b="1" dirty="0" smtClean="0"/>
              <a:t>Videoconference: </a:t>
            </a:r>
            <a:r>
              <a:rPr lang="en-US" dirty="0" smtClean="0"/>
              <a:t>participants in one location can view participants, documents, and presentations at other locations.</a:t>
            </a:r>
          </a:p>
          <a:p>
            <a:r>
              <a:rPr lang="en-US" b="1" dirty="0" err="1" smtClean="0"/>
              <a:t>Telepresence</a:t>
            </a:r>
            <a:r>
              <a:rPr lang="en-US" b="1" dirty="0" smtClean="0"/>
              <a:t>: </a:t>
            </a:r>
            <a:r>
              <a:rPr lang="en-US" dirty="0" smtClean="0"/>
              <a:t>The latest form of videoconferencing which enables participants to seamlessly share data, voice, pictures, graphics, and animation by electronic means.</a:t>
            </a:r>
          </a:p>
          <a:p>
            <a:r>
              <a:rPr lang="en-US" b="1" dirty="0" smtClean="0"/>
              <a:t>Asynchronous Collaboration: </a:t>
            </a:r>
            <a:r>
              <a:rPr lang="en-US" dirty="0" smtClean="0"/>
              <a:t>occurs when team members cannot meet at the same time.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37</a:t>
            </a:fld>
            <a:endParaRPr lang="en-US"/>
          </a:p>
        </p:txBody>
      </p:sp>
    </p:spTree>
    <p:extLst>
      <p:ext uri="{BB962C8B-B14F-4D97-AF65-F5344CB8AC3E}">
        <p14:creationId xmlns:p14="http://schemas.microsoft.com/office/powerpoint/2010/main" val="37174180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38</a:t>
            </a:fld>
            <a:endParaRPr lang="en-US"/>
          </a:p>
        </p:txBody>
      </p:sp>
    </p:spTree>
    <p:extLst>
      <p:ext uri="{BB962C8B-B14F-4D97-AF65-F5344CB8AC3E}">
        <p14:creationId xmlns:p14="http://schemas.microsoft.com/office/powerpoint/2010/main" val="4275032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E-learning: </a:t>
            </a:r>
            <a:r>
              <a:rPr lang="en-US" dirty="0" smtClean="0"/>
              <a:t>learning supported by the Web. It can take place inside classrooms as a support to conventional teaching, such as when students work on the Web during class. It also can take place in virtual classrooms, in which all coursework is completed.</a:t>
            </a:r>
          </a:p>
          <a:p>
            <a:r>
              <a:rPr lang="en-US" b="1" dirty="0" smtClean="0"/>
              <a:t>Distance Learning (DL): </a:t>
            </a:r>
            <a:r>
              <a:rPr lang="en-US" dirty="0" smtClean="0"/>
              <a:t>refers to any learning situation in which teachers and students do not meet face-to-face.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39</a:t>
            </a:fld>
            <a:endParaRPr lang="en-US"/>
          </a:p>
        </p:txBody>
      </p:sp>
    </p:spTree>
    <p:extLst>
      <p:ext uri="{BB962C8B-B14F-4D97-AF65-F5344CB8AC3E}">
        <p14:creationId xmlns:p14="http://schemas.microsoft.com/office/powerpoint/2010/main" val="31134297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Discuss possible quality control issues with MOOCs. For each issue that you list, describe how you would solve the problem.</a:t>
            </a:r>
          </a:p>
          <a:p>
            <a:pPr marL="228600" indent="-228600">
              <a:buFont typeface="+mj-lt"/>
              <a:buAutoNum type="arabicPeriod"/>
            </a:pPr>
            <a:r>
              <a:rPr lang="en-US" dirty="0" smtClean="0"/>
              <a:t>What are some </a:t>
            </a:r>
            <a:r>
              <a:rPr lang="en-US" dirty="0" err="1" smtClean="0"/>
              <a:t>specifi</a:t>
            </a:r>
            <a:r>
              <a:rPr lang="en-US" dirty="0" smtClean="0"/>
              <a:t> c examples of the impact that MOOCs could have on traditional higher education? Explain your answer.</a:t>
            </a:r>
          </a:p>
          <a:p>
            <a:pPr marL="228600" indent="-228600">
              <a:buFont typeface="+mj-lt"/>
              <a:buAutoNum type="arabicPeriod"/>
            </a:pPr>
            <a:r>
              <a:rPr lang="en-US" dirty="0" smtClean="0"/>
              <a:t>Would you be willing to enroll in a MOOC as a full-time student at your university? Why or why not?</a:t>
            </a:r>
          </a:p>
          <a:p>
            <a:pPr marL="228600" indent="-228600">
              <a:buFont typeface="+mj-lt"/>
              <a:buAutoNum type="arabicPeriod"/>
            </a:pPr>
            <a:r>
              <a:rPr lang="en-US" dirty="0" smtClean="0"/>
              <a:t>Would you be willing to enroll in a MOOC after you graduate? Why or why not?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40</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Are the ISPs correct in claiming that network neutrality will limit their development of new technologies? Support your answer.</a:t>
            </a:r>
          </a:p>
          <a:p>
            <a:pPr marL="228600" indent="-228600">
              <a:buFont typeface="+mj-lt"/>
              <a:buAutoNum type="arabicPeriod"/>
            </a:pPr>
            <a:r>
              <a:rPr lang="en-US" b="0" dirty="0" smtClean="0"/>
              <a:t>Are the content providers (e.g., Netflix) correct in claiming that eliminating network neutrality will encourage censorship by the ISPs? Support your answer.</a:t>
            </a:r>
          </a:p>
          <a:p>
            <a:pPr marL="228600" indent="-228600">
              <a:buFont typeface="+mj-lt"/>
              <a:buAutoNum type="arabicPeriod"/>
            </a:pPr>
            <a:r>
              <a:rPr lang="en-US" b="0" dirty="0" smtClean="0"/>
              <a:t>Are the content providers correct in claiming that eliminating network neutrality will result in consumers paying higher prices for the content they watch over the Internet? Support your answer.</a:t>
            </a:r>
          </a:p>
          <a:p>
            <a:pPr marL="228600" indent="-228600">
              <a:buFont typeface="+mj-lt"/>
              <a:buAutoNum type="arabicPeriod"/>
            </a:pPr>
            <a:r>
              <a:rPr lang="en-US" b="0" dirty="0" smtClean="0"/>
              <a:t>Why is the debate over network neutrality so important to you? Support your answer.</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42</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Telecommunications and Networking</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6</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a:t>Compare and contrast the major types of networks.</a:t>
            </a:r>
          </a:p>
          <a:p>
            <a:r>
              <a:rPr lang="en-US" dirty="0"/>
              <a:t>Describe the wireline communications media and transmission technologies.</a:t>
            </a:r>
          </a:p>
          <a:p>
            <a:r>
              <a:rPr lang="en-US" dirty="0"/>
              <a:t>Describe the most common methods for accessing the Internet.</a:t>
            </a:r>
          </a:p>
          <a:p>
            <a:r>
              <a:rPr lang="en-US" dirty="0"/>
              <a:t>Explain the impact that discovery network applications have had on business and everyday life.</a:t>
            </a:r>
          </a:p>
          <a:p>
            <a:r>
              <a:rPr lang="en-US" dirty="0"/>
              <a:t>Explain the impact that communication network applications have had on business and everyday life.</a:t>
            </a:r>
          </a:p>
          <a:p>
            <a:r>
              <a:rPr lang="en-US" dirty="0"/>
              <a:t>Explain the impact that collaboration network applications have had on business and everyday life.</a:t>
            </a:r>
          </a:p>
          <a:p>
            <a:r>
              <a:rPr lang="en-US" dirty="0"/>
              <a:t>Explain the impact that educational network applications have had on business and everyday life.</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What Is a Computer Network?</a:t>
            </a:r>
          </a:p>
          <a:p>
            <a:r>
              <a:rPr lang="en-US" dirty="0"/>
              <a:t>Network Fundamentals</a:t>
            </a:r>
          </a:p>
          <a:p>
            <a:r>
              <a:rPr lang="en-US" dirty="0"/>
              <a:t>The Internet and the World Wide Web</a:t>
            </a:r>
          </a:p>
          <a:p>
            <a:r>
              <a:rPr lang="en-US" dirty="0"/>
              <a:t>Network </a:t>
            </a:r>
            <a:r>
              <a:rPr lang="en-US" dirty="0" smtClean="0"/>
              <a:t>Applications: Discovery</a:t>
            </a:r>
          </a:p>
          <a:p>
            <a:r>
              <a:rPr lang="en-US" dirty="0"/>
              <a:t>Network Applications</a:t>
            </a:r>
            <a:r>
              <a:rPr lang="en-US" dirty="0" smtClean="0"/>
              <a:t>: Communication</a:t>
            </a:r>
          </a:p>
          <a:p>
            <a:r>
              <a:rPr lang="en-US" dirty="0"/>
              <a:t>Network Applications</a:t>
            </a:r>
            <a:r>
              <a:rPr lang="en-US" dirty="0" smtClean="0"/>
              <a:t>: Collaboration</a:t>
            </a:r>
          </a:p>
          <a:p>
            <a:r>
              <a:rPr lang="en-US" dirty="0"/>
              <a:t>Network Applications</a:t>
            </a:r>
            <a:r>
              <a:rPr lang="en-US" dirty="0" smtClean="0"/>
              <a:t>: Educational</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What to Do About Landline Telephones</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a:t>The </a:t>
            </a:r>
            <a:r>
              <a:rPr lang="en-US" dirty="0" smtClean="0">
                <a:solidFill>
                  <a:schemeClr val="tx1">
                    <a:lumMod val="65000"/>
                    <a:lumOff val="35000"/>
                  </a:schemeClr>
                </a:solidFill>
              </a:rPr>
              <a:t>Problem</a:t>
            </a:r>
            <a:endParaRPr lang="en-US" dirty="0">
              <a:solidFill>
                <a:schemeClr val="tx1">
                  <a:lumMod val="65000"/>
                  <a:lumOff val="35000"/>
                </a:schemeClr>
              </a:solidFill>
            </a:endParaRPr>
          </a:p>
          <a:p>
            <a:r>
              <a:rPr lang="en-US" dirty="0" smtClean="0"/>
              <a:t>Proposed </a:t>
            </a:r>
            <a:r>
              <a:rPr lang="en-US" dirty="0" smtClean="0">
                <a:solidFill>
                  <a:schemeClr val="tx1">
                    <a:lumMod val="65000"/>
                    <a:lumOff val="35000"/>
                  </a:schemeClr>
                </a:solidFill>
              </a:rPr>
              <a:t>Solutions</a:t>
            </a:r>
            <a:endParaRPr lang="en-US" dirty="0">
              <a:solidFill>
                <a:schemeClr val="tx1">
                  <a:lumMod val="65000"/>
                  <a:lumOff val="35000"/>
                </a:schemeClr>
              </a:solidFill>
            </a:endParaRPr>
          </a:p>
          <a:p>
            <a:r>
              <a:rPr lang="en-US" dirty="0"/>
              <a:t>The </a:t>
            </a:r>
            <a:r>
              <a:rPr lang="en-US" dirty="0" smtClean="0">
                <a:solidFill>
                  <a:schemeClr val="tx1">
                    <a:lumMod val="65000"/>
                    <a:lumOff val="35000"/>
                  </a:schemeClr>
                </a:solidFill>
              </a:rPr>
              <a:t>Results</a:t>
            </a:r>
          </a:p>
          <a:p>
            <a:r>
              <a:rPr lang="en-US" dirty="0" smtClean="0"/>
              <a:t>What We </a:t>
            </a:r>
            <a:r>
              <a:rPr lang="en-US" dirty="0" smtClean="0">
                <a:solidFill>
                  <a:schemeClr val="tx1">
                    <a:lumMod val="65000"/>
                    <a:lumOff val="35000"/>
                  </a:schemeClr>
                </a:solidFill>
              </a:rPr>
              <a:t>Learned </a:t>
            </a:r>
            <a:r>
              <a:rPr lang="en-US" dirty="0" smtClean="0"/>
              <a:t>from This Case</a:t>
            </a:r>
            <a:endParaRPr lang="en-US" dirty="0"/>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What Is a Computer Network?</a:t>
            </a:r>
            <a:endParaRPr lang="en-US" dirty="0"/>
          </a:p>
        </p:txBody>
      </p:sp>
      <p:sp>
        <p:nvSpPr>
          <p:cNvPr id="3" name="Text Placeholder 2"/>
          <p:cNvSpPr>
            <a:spLocks noGrp="1"/>
          </p:cNvSpPr>
          <p:nvPr>
            <p:ph type="body" sz="quarter" idx="14"/>
          </p:nvPr>
        </p:nvSpPr>
        <p:spPr/>
        <p:txBody>
          <a:bodyPr/>
          <a:lstStyle/>
          <a:p>
            <a:r>
              <a:rPr lang="en-US" dirty="0" smtClean="0"/>
              <a:t>6.1</a:t>
            </a:r>
            <a:endParaRPr lang="en-US" dirty="0"/>
          </a:p>
        </p:txBody>
      </p:sp>
      <p:sp>
        <p:nvSpPr>
          <p:cNvPr id="4" name="Content Placeholder 3"/>
          <p:cNvSpPr>
            <a:spLocks noGrp="1"/>
          </p:cNvSpPr>
          <p:nvPr>
            <p:ph sz="quarter" idx="15"/>
          </p:nvPr>
        </p:nvSpPr>
        <p:spPr/>
        <p:txBody>
          <a:bodyPr>
            <a:normAutofit fontScale="92500" lnSpcReduction="20000"/>
          </a:bodyPr>
          <a:lstStyle/>
          <a:p>
            <a:r>
              <a:rPr lang="en-US" dirty="0" smtClean="0"/>
              <a:t>Bandwidth</a:t>
            </a:r>
          </a:p>
          <a:p>
            <a:r>
              <a:rPr lang="en-US" dirty="0" smtClean="0"/>
              <a:t>Broadband</a:t>
            </a:r>
          </a:p>
          <a:p>
            <a:r>
              <a:rPr lang="en-US" dirty="0" smtClean="0"/>
              <a:t>Local Area Networks (LAN)</a:t>
            </a:r>
          </a:p>
          <a:p>
            <a:r>
              <a:rPr lang="en-US" dirty="0" smtClean="0"/>
              <a:t>Wide Area Networks (WAN)</a:t>
            </a:r>
          </a:p>
          <a:p>
            <a:pPr lvl="1"/>
            <a:r>
              <a:rPr lang="en-US" dirty="0" smtClean="0"/>
              <a:t>Router</a:t>
            </a:r>
          </a:p>
          <a:p>
            <a:r>
              <a:rPr lang="en-US" dirty="0" smtClean="0"/>
              <a:t>Enterprise Networks</a:t>
            </a:r>
          </a:p>
          <a:p>
            <a:pPr lvl="1"/>
            <a:r>
              <a:rPr lang="en-US" dirty="0" smtClean="0"/>
              <a:t>Corporate Backbone Networks</a:t>
            </a:r>
          </a:p>
          <a:p>
            <a:pPr lvl="1"/>
            <a:r>
              <a:rPr lang="en-US" dirty="0" smtClean="0"/>
              <a:t>Software Defined Networks</a:t>
            </a:r>
          </a:p>
          <a:p>
            <a:endParaRPr lang="en-US" dirty="0"/>
          </a:p>
        </p:txBody>
      </p:sp>
    </p:spTree>
    <p:extLst>
      <p:ext uri="{BB962C8B-B14F-4D97-AF65-F5344CB8AC3E}">
        <p14:creationId xmlns:p14="http://schemas.microsoft.com/office/powerpoint/2010/main" val="1002660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Network Fundamentals</a:t>
            </a:r>
            <a:endParaRPr lang="en-US" dirty="0"/>
          </a:p>
        </p:txBody>
      </p:sp>
      <p:sp>
        <p:nvSpPr>
          <p:cNvPr id="3" name="Text Placeholder 2"/>
          <p:cNvSpPr>
            <a:spLocks noGrp="1"/>
          </p:cNvSpPr>
          <p:nvPr>
            <p:ph type="body" sz="quarter" idx="14"/>
          </p:nvPr>
        </p:nvSpPr>
        <p:spPr/>
        <p:txBody>
          <a:bodyPr/>
          <a:lstStyle/>
          <a:p>
            <a:r>
              <a:rPr lang="en-US" dirty="0" smtClean="0"/>
              <a:t>6.2</a:t>
            </a:r>
            <a:endParaRPr lang="en-US" dirty="0"/>
          </a:p>
        </p:txBody>
      </p:sp>
      <p:sp>
        <p:nvSpPr>
          <p:cNvPr id="4" name="Content Placeholder 3"/>
          <p:cNvSpPr>
            <a:spLocks noGrp="1"/>
          </p:cNvSpPr>
          <p:nvPr>
            <p:ph sz="quarter" idx="15"/>
          </p:nvPr>
        </p:nvSpPr>
        <p:spPr/>
        <p:txBody>
          <a:bodyPr>
            <a:normAutofit/>
          </a:bodyPr>
          <a:lstStyle/>
          <a:p>
            <a:r>
              <a:rPr lang="en-US" dirty="0" smtClean="0"/>
              <a:t>Basic Concepts</a:t>
            </a:r>
          </a:p>
          <a:p>
            <a:r>
              <a:rPr lang="en-US" dirty="0" smtClean="0"/>
              <a:t>Communications Media and Channels</a:t>
            </a:r>
          </a:p>
          <a:p>
            <a:r>
              <a:rPr lang="en-US" dirty="0" smtClean="0"/>
              <a:t>Network Protocols</a:t>
            </a:r>
          </a:p>
          <a:p>
            <a:r>
              <a:rPr lang="en-US" dirty="0" smtClean="0"/>
              <a:t>Types of Network Processing</a:t>
            </a:r>
          </a:p>
          <a:p>
            <a:endParaRPr lang="en-US" dirty="0"/>
          </a:p>
        </p:txBody>
      </p:sp>
    </p:spTree>
    <p:extLst>
      <p:ext uri="{BB962C8B-B14F-4D97-AF65-F5344CB8AC3E}">
        <p14:creationId xmlns:p14="http://schemas.microsoft.com/office/powerpoint/2010/main" val="2570418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Basic Concepts</a:t>
            </a:r>
            <a:endParaRPr lang="en-US" dirty="0"/>
          </a:p>
        </p:txBody>
      </p:sp>
      <p:sp>
        <p:nvSpPr>
          <p:cNvPr id="3" name="Text Placeholder 2"/>
          <p:cNvSpPr>
            <a:spLocks noGrp="1"/>
          </p:cNvSpPr>
          <p:nvPr>
            <p:ph type="body" sz="quarter" idx="13"/>
          </p:nvPr>
        </p:nvSpPr>
        <p:spPr/>
        <p:txBody>
          <a:bodyPr>
            <a:normAutofit/>
          </a:bodyPr>
          <a:lstStyle/>
          <a:p>
            <a:r>
              <a:rPr lang="en-US" dirty="0" smtClean="0"/>
              <a:t>Digital Signals</a:t>
            </a:r>
            <a:endParaRPr lang="en-US" dirty="0"/>
          </a:p>
          <a:p>
            <a:r>
              <a:rPr lang="en-US" dirty="0" smtClean="0"/>
              <a:t>Modem or Modulator-demodulator</a:t>
            </a:r>
          </a:p>
          <a:p>
            <a:pPr lvl="1"/>
            <a:r>
              <a:rPr lang="en-US" dirty="0" smtClean="0"/>
              <a:t>Dial-up modem</a:t>
            </a:r>
          </a:p>
          <a:p>
            <a:pPr lvl="1"/>
            <a:r>
              <a:rPr lang="en-US" dirty="0" smtClean="0"/>
              <a:t>Cable modems</a:t>
            </a:r>
          </a:p>
          <a:p>
            <a:pPr lvl="1"/>
            <a:r>
              <a:rPr lang="en-US" dirty="0" smtClean="0"/>
              <a:t>DSL</a:t>
            </a:r>
          </a:p>
          <a:p>
            <a:endParaRPr lang="en-US" dirty="0" smtClean="0"/>
          </a:p>
        </p:txBody>
      </p:sp>
    </p:spTree>
    <p:extLst>
      <p:ext uri="{BB962C8B-B14F-4D97-AF65-F5344CB8AC3E}">
        <p14:creationId xmlns:p14="http://schemas.microsoft.com/office/powerpoint/2010/main" val="1763938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Communications Media and Channels</a:t>
            </a:r>
            <a:endParaRPr lang="en-US" dirty="0"/>
          </a:p>
        </p:txBody>
      </p:sp>
      <p:sp>
        <p:nvSpPr>
          <p:cNvPr id="3" name="Content Placeholder 2"/>
          <p:cNvSpPr>
            <a:spLocks noGrp="1"/>
          </p:cNvSpPr>
          <p:nvPr>
            <p:ph sz="quarter" idx="14"/>
          </p:nvPr>
        </p:nvSpPr>
        <p:spPr/>
        <p:txBody>
          <a:bodyPr/>
          <a:lstStyle/>
          <a:p>
            <a:r>
              <a:rPr lang="en-US" dirty="0" smtClean="0"/>
              <a:t>Twisted-pair Wire</a:t>
            </a:r>
          </a:p>
          <a:p>
            <a:r>
              <a:rPr lang="en-US" dirty="0" smtClean="0"/>
              <a:t>Coaxial Cable</a:t>
            </a:r>
          </a:p>
          <a:p>
            <a:r>
              <a:rPr lang="en-US" dirty="0" smtClean="0"/>
              <a:t>Fiber Optics</a:t>
            </a:r>
          </a:p>
          <a:p>
            <a:endParaRPr lang="en-US" dirty="0" smtClean="0"/>
          </a:p>
        </p:txBody>
      </p:sp>
    </p:spTree>
    <p:extLst>
      <p:ext uri="{BB962C8B-B14F-4D97-AF65-F5344CB8AC3E}">
        <p14:creationId xmlns:p14="http://schemas.microsoft.com/office/powerpoint/2010/main" val="2243200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normAutofit fontScale="92500" lnSpcReduction="20000"/>
          </a:bodyPr>
          <a:lstStyle/>
          <a:p>
            <a:r>
              <a:rPr lang="en-US" b="1" dirty="0" smtClean="0"/>
              <a:t>Figure 6.3 </a:t>
            </a:r>
            <a:r>
              <a:rPr lang="en-US" dirty="0" smtClean="0"/>
              <a:t>Twisted-Pair Wire</a:t>
            </a:r>
            <a:endParaRPr lang="en-US" dirty="0"/>
          </a:p>
        </p:txBody>
      </p:sp>
      <p:pic>
        <p:nvPicPr>
          <p:cNvPr id="9"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2124075" y="1990725"/>
            <a:ext cx="4972050" cy="401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7293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70000" lnSpcReduction="20000"/>
          </a:bodyPr>
          <a:lstStyle/>
          <a:p>
            <a:r>
              <a:rPr lang="en-US" b="1" dirty="0"/>
              <a:t>Figure </a:t>
            </a:r>
            <a:r>
              <a:rPr lang="en-US" b="1" dirty="0" smtClean="0"/>
              <a:t>6.4 </a:t>
            </a:r>
            <a:r>
              <a:rPr lang="en-US" dirty="0" smtClean="0"/>
              <a:t>Two views of coaxial cable.</a:t>
            </a:r>
            <a:endParaRPr lang="en-US" dirty="0"/>
          </a:p>
        </p:txBody>
      </p:sp>
      <p:pic>
        <p:nvPicPr>
          <p:cNvPr id="5" name="Picture 3"/>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155141"/>
            <a:ext cx="8153400" cy="36907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8052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62500" lnSpcReduction="20000"/>
          </a:bodyPr>
          <a:lstStyle/>
          <a:p>
            <a:r>
              <a:rPr lang="en-US" b="1" dirty="0"/>
              <a:t>Figure </a:t>
            </a:r>
            <a:r>
              <a:rPr lang="en-US" b="1" dirty="0" smtClean="0"/>
              <a:t>6.5 </a:t>
            </a:r>
            <a:r>
              <a:rPr lang="en-US" dirty="0"/>
              <a:t>Two views of </a:t>
            </a:r>
            <a:r>
              <a:rPr lang="en-US" dirty="0" smtClean="0"/>
              <a:t>fiber optic cable.</a:t>
            </a:r>
            <a:endParaRPr lang="en-US" dirty="0"/>
          </a:p>
        </p:txBody>
      </p:sp>
      <p:pic>
        <p:nvPicPr>
          <p:cNvPr id="5" name="Content Placeholder 4"/>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776182"/>
            <a:ext cx="8153400" cy="44486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41734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47500" lnSpcReduction="20000"/>
          </a:bodyPr>
          <a:lstStyle/>
          <a:p>
            <a:r>
              <a:rPr lang="en-US" b="1" dirty="0" smtClean="0"/>
              <a:t>Table 6.1 </a:t>
            </a:r>
            <a:r>
              <a:rPr lang="en-US" dirty="0" smtClean="0"/>
              <a:t>Advantages and Disadvantages of </a:t>
            </a:r>
            <a:r>
              <a:rPr lang="en-US" dirty="0" err="1" smtClean="0"/>
              <a:t>Wireline</a:t>
            </a:r>
            <a:r>
              <a:rPr lang="en-US" dirty="0" smtClean="0"/>
              <a:t> Communications  Channels</a:t>
            </a:r>
            <a:endParaRPr lang="en-US" dirty="0"/>
          </a:p>
        </p:txBody>
      </p:sp>
      <p:pic>
        <p:nvPicPr>
          <p:cNvPr id="5"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tretch>
            <a:fillRect/>
          </a:stretch>
        </p:blipFill>
        <p:spPr bwMode="auto">
          <a:xfrm>
            <a:off x="744583" y="1447800"/>
            <a:ext cx="7731034"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2623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Network Protocols</a:t>
            </a:r>
            <a:endParaRPr lang="en-US" dirty="0"/>
          </a:p>
        </p:txBody>
      </p:sp>
      <p:sp>
        <p:nvSpPr>
          <p:cNvPr id="3" name="Content Placeholder 2"/>
          <p:cNvSpPr>
            <a:spLocks noGrp="1"/>
          </p:cNvSpPr>
          <p:nvPr>
            <p:ph sz="quarter" idx="14"/>
          </p:nvPr>
        </p:nvSpPr>
        <p:spPr/>
        <p:txBody>
          <a:bodyPr/>
          <a:lstStyle/>
          <a:p>
            <a:r>
              <a:rPr lang="en-US" dirty="0" smtClean="0"/>
              <a:t>Ethernet</a:t>
            </a:r>
          </a:p>
          <a:p>
            <a:r>
              <a:rPr lang="en-US" dirty="0" smtClean="0"/>
              <a:t>Transmission Control Protocol/Internet Protocol (TCP/IP)</a:t>
            </a:r>
          </a:p>
          <a:p>
            <a:pPr lvl="1"/>
            <a:r>
              <a:rPr lang="en-US" dirty="0" smtClean="0"/>
              <a:t>Four Layers</a:t>
            </a:r>
          </a:p>
          <a:p>
            <a:pPr lvl="1"/>
            <a:r>
              <a:rPr lang="en-US" dirty="0" smtClean="0"/>
              <a:t>Packet Switching</a:t>
            </a:r>
            <a:endParaRPr lang="en-US" dirty="0"/>
          </a:p>
        </p:txBody>
      </p:sp>
    </p:spTree>
    <p:extLst>
      <p:ext uri="{BB962C8B-B14F-4D97-AF65-F5344CB8AC3E}">
        <p14:creationId xmlns:p14="http://schemas.microsoft.com/office/powerpoint/2010/main" val="1543259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20000"/>
          </a:bodyPr>
          <a:lstStyle/>
          <a:p>
            <a:r>
              <a:rPr lang="en-US" b="1" dirty="0" smtClean="0"/>
              <a:t>Figure 6.7 </a:t>
            </a:r>
            <a:r>
              <a:rPr lang="en-US" dirty="0" smtClean="0"/>
              <a:t>Packet Switching</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482117"/>
            <a:ext cx="8153400" cy="30367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4190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Three Basic Functions of the TCP</a:t>
            </a:r>
            <a:endParaRPr lang="en-US" dirty="0"/>
          </a:p>
        </p:txBody>
      </p:sp>
      <p:sp>
        <p:nvSpPr>
          <p:cNvPr id="5" name="Text Placeholder 4"/>
          <p:cNvSpPr>
            <a:spLocks noGrp="1"/>
          </p:cNvSpPr>
          <p:nvPr>
            <p:ph type="body" sz="quarter" idx="13"/>
          </p:nvPr>
        </p:nvSpPr>
        <p:spPr/>
        <p:txBody>
          <a:bodyPr/>
          <a:lstStyle/>
          <a:p>
            <a:r>
              <a:rPr lang="en-US" dirty="0"/>
              <a:t>Manages the movement of data packets between computers by establishing a connection between the computers</a:t>
            </a:r>
          </a:p>
          <a:p>
            <a:r>
              <a:rPr lang="en-US" dirty="0"/>
              <a:t>Sequences the transfer of packets</a:t>
            </a:r>
          </a:p>
          <a:p>
            <a:r>
              <a:rPr lang="en-US" dirty="0"/>
              <a:t>Acknowledges the packets that have been </a:t>
            </a:r>
            <a:r>
              <a:rPr lang="en-US" dirty="0" smtClean="0"/>
              <a:t>transmitted</a:t>
            </a:r>
            <a:endParaRPr lang="en-US" dirty="0"/>
          </a:p>
        </p:txBody>
      </p:sp>
    </p:spTree>
    <p:extLst>
      <p:ext uri="{BB962C8B-B14F-4D97-AF65-F5344CB8AC3E}">
        <p14:creationId xmlns:p14="http://schemas.microsoft.com/office/powerpoint/2010/main" val="2324332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Four Layers of the TCP/IP Reference Model</a:t>
            </a:r>
            <a:endParaRPr lang="en-US" dirty="0"/>
          </a:p>
        </p:txBody>
      </p:sp>
      <p:sp>
        <p:nvSpPr>
          <p:cNvPr id="3" name="Text Placeholder 2"/>
          <p:cNvSpPr>
            <a:spLocks noGrp="1"/>
          </p:cNvSpPr>
          <p:nvPr>
            <p:ph type="body" sz="quarter" idx="13"/>
          </p:nvPr>
        </p:nvSpPr>
        <p:spPr/>
        <p:txBody>
          <a:bodyPr/>
          <a:lstStyle/>
          <a:p>
            <a:r>
              <a:rPr lang="en-US" dirty="0"/>
              <a:t>Application Layer</a:t>
            </a:r>
          </a:p>
          <a:p>
            <a:r>
              <a:rPr lang="en-US" dirty="0"/>
              <a:t>Transport Layer</a:t>
            </a:r>
          </a:p>
          <a:p>
            <a:r>
              <a:rPr lang="en-US" dirty="0"/>
              <a:t>Internet Layer</a:t>
            </a:r>
          </a:p>
          <a:p>
            <a:r>
              <a:rPr lang="en-US" dirty="0"/>
              <a:t>Network Interface </a:t>
            </a:r>
            <a:r>
              <a:rPr lang="en-US" dirty="0" smtClean="0"/>
              <a:t>Layer</a:t>
            </a:r>
            <a:endParaRPr lang="en-US" dirty="0"/>
          </a:p>
        </p:txBody>
      </p:sp>
    </p:spTree>
    <p:extLst>
      <p:ext uri="{BB962C8B-B14F-4D97-AF65-F5344CB8AC3E}">
        <p14:creationId xmlns:p14="http://schemas.microsoft.com/office/powerpoint/2010/main" val="4227023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smtClean="0"/>
              <a:t>Figure 6.6 </a:t>
            </a:r>
            <a:r>
              <a:rPr lang="en-US" dirty="0" smtClean="0"/>
              <a:t>The four layers of the TCP/IP reference model.</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803590"/>
            <a:ext cx="8153400" cy="43938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98510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Types of Network Processing</a:t>
            </a:r>
            <a:endParaRPr lang="en-US" dirty="0"/>
          </a:p>
        </p:txBody>
      </p:sp>
      <p:sp>
        <p:nvSpPr>
          <p:cNvPr id="3" name="Content Placeholder 2"/>
          <p:cNvSpPr>
            <a:spLocks noGrp="1"/>
          </p:cNvSpPr>
          <p:nvPr>
            <p:ph sz="quarter" idx="14"/>
          </p:nvPr>
        </p:nvSpPr>
        <p:spPr/>
        <p:txBody>
          <a:bodyPr/>
          <a:lstStyle/>
          <a:p>
            <a:r>
              <a:rPr lang="en-US" dirty="0" smtClean="0"/>
              <a:t>Client/server computing</a:t>
            </a:r>
          </a:p>
          <a:p>
            <a:r>
              <a:rPr lang="en-US" dirty="0" smtClean="0"/>
              <a:t>Peer-to-peer Processing (P2P)</a:t>
            </a:r>
          </a:p>
        </p:txBody>
      </p:sp>
    </p:spTree>
    <p:extLst>
      <p:ext uri="{BB962C8B-B14F-4D97-AF65-F5344CB8AC3E}">
        <p14:creationId xmlns:p14="http://schemas.microsoft.com/office/powerpoint/2010/main" val="4179165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The Internet and </a:t>
            </a:r>
            <a:br>
              <a:rPr lang="en-US" dirty="0" smtClean="0"/>
            </a:br>
            <a:r>
              <a:rPr lang="en-US" dirty="0" smtClean="0"/>
              <a:t>the World Wide Web</a:t>
            </a:r>
            <a:endParaRPr lang="en-US" dirty="0"/>
          </a:p>
        </p:txBody>
      </p:sp>
      <p:sp>
        <p:nvSpPr>
          <p:cNvPr id="3" name="Text Placeholder 2"/>
          <p:cNvSpPr>
            <a:spLocks noGrp="1"/>
          </p:cNvSpPr>
          <p:nvPr>
            <p:ph type="body" sz="quarter" idx="14"/>
          </p:nvPr>
        </p:nvSpPr>
        <p:spPr/>
        <p:txBody>
          <a:bodyPr/>
          <a:lstStyle/>
          <a:p>
            <a:r>
              <a:rPr lang="en-US" dirty="0" smtClean="0"/>
              <a:t>6.3</a:t>
            </a:r>
            <a:endParaRPr lang="en-US" dirty="0"/>
          </a:p>
        </p:txBody>
      </p:sp>
      <p:sp>
        <p:nvSpPr>
          <p:cNvPr id="4" name="Content Placeholder 3"/>
          <p:cNvSpPr>
            <a:spLocks noGrp="1"/>
          </p:cNvSpPr>
          <p:nvPr>
            <p:ph sz="quarter" idx="15"/>
          </p:nvPr>
        </p:nvSpPr>
        <p:spPr/>
        <p:txBody>
          <a:bodyPr/>
          <a:lstStyle/>
          <a:p>
            <a:r>
              <a:rPr lang="en-US" dirty="0" smtClean="0"/>
              <a:t>Accessing the Internet</a:t>
            </a:r>
          </a:p>
          <a:p>
            <a:r>
              <a:rPr lang="en-US" dirty="0" smtClean="0"/>
              <a:t>The Future of the Internet</a:t>
            </a:r>
          </a:p>
          <a:p>
            <a:r>
              <a:rPr lang="en-US" dirty="0" smtClean="0"/>
              <a:t>The World Wide Web</a:t>
            </a:r>
          </a:p>
          <a:p>
            <a:endParaRPr lang="en-US" dirty="0"/>
          </a:p>
        </p:txBody>
      </p:sp>
    </p:spTree>
    <p:extLst>
      <p:ext uri="{BB962C8B-B14F-4D97-AF65-F5344CB8AC3E}">
        <p14:creationId xmlns:p14="http://schemas.microsoft.com/office/powerpoint/2010/main" val="2520267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62500" lnSpcReduction="20000"/>
          </a:bodyPr>
          <a:lstStyle/>
          <a:p>
            <a:r>
              <a:rPr lang="en-US" b="1" dirty="0" smtClean="0"/>
              <a:t>Figure 6.8 </a:t>
            </a:r>
            <a:r>
              <a:rPr lang="en-US" dirty="0" smtClean="0"/>
              <a:t>Internet (backbone in white).</a:t>
            </a:r>
            <a:endParaRPr lang="en-US" dirty="0"/>
          </a:p>
        </p:txBody>
      </p:sp>
      <p:pic>
        <p:nvPicPr>
          <p:cNvPr id="8"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8153400" cy="448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9515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Accessing the Internet</a:t>
            </a:r>
            <a:endParaRPr lang="en-US" dirty="0"/>
          </a:p>
        </p:txBody>
      </p:sp>
      <p:sp>
        <p:nvSpPr>
          <p:cNvPr id="3" name="Content Placeholder 2"/>
          <p:cNvSpPr>
            <a:spLocks noGrp="1"/>
          </p:cNvSpPr>
          <p:nvPr>
            <p:ph sz="quarter" idx="14"/>
          </p:nvPr>
        </p:nvSpPr>
        <p:spPr/>
        <p:txBody>
          <a:bodyPr/>
          <a:lstStyle/>
          <a:p>
            <a:r>
              <a:rPr lang="en-US" dirty="0" smtClean="0"/>
              <a:t>Connecting via an Online Service</a:t>
            </a:r>
          </a:p>
          <a:p>
            <a:r>
              <a:rPr lang="en-US" dirty="0" smtClean="0"/>
              <a:t>Connecting via Other Means</a:t>
            </a:r>
          </a:p>
          <a:p>
            <a:r>
              <a:rPr lang="en-US" dirty="0" smtClean="0"/>
              <a:t>Addresses on the Internet</a:t>
            </a:r>
            <a:endParaRPr lang="en-US" dirty="0"/>
          </a:p>
        </p:txBody>
      </p:sp>
    </p:spTree>
    <p:extLst>
      <p:ext uri="{BB962C8B-B14F-4D97-AF65-F5344CB8AC3E}">
        <p14:creationId xmlns:p14="http://schemas.microsoft.com/office/powerpoint/2010/main" val="1461565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70000" lnSpcReduction="20000"/>
          </a:bodyPr>
          <a:lstStyle/>
          <a:p>
            <a:r>
              <a:rPr lang="en-US" b="1" dirty="0" smtClean="0"/>
              <a:t>Table 6.2 </a:t>
            </a:r>
            <a:r>
              <a:rPr lang="en-US" dirty="0" smtClean="0"/>
              <a:t>Internet Connection Methods</a:t>
            </a:r>
            <a:endParaRPr lang="en-US" dirty="0"/>
          </a:p>
        </p:txBody>
      </p:sp>
      <p:pic>
        <p:nvPicPr>
          <p:cNvPr id="7" name="Picture 2"/>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533400" y="2031806"/>
            <a:ext cx="8153400" cy="393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4109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Google Fiber</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6.1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Internet Access in Cuba</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6.2</a:t>
            </a:r>
            <a:endParaRPr lang="en-US" dirty="0"/>
          </a:p>
        </p:txBody>
      </p:sp>
    </p:spTree>
    <p:extLst>
      <p:ext uri="{BB962C8B-B14F-4D97-AF65-F5344CB8AC3E}">
        <p14:creationId xmlns:p14="http://schemas.microsoft.com/office/powerpoint/2010/main" val="34302299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US" dirty="0" smtClean="0"/>
              <a:t>Addresses on the Internet</a:t>
            </a:r>
            <a:endParaRPr lang="en-US" dirty="0"/>
          </a:p>
        </p:txBody>
      </p:sp>
      <p:sp>
        <p:nvSpPr>
          <p:cNvPr id="7" name="Text Placeholder 6"/>
          <p:cNvSpPr>
            <a:spLocks noGrp="1"/>
          </p:cNvSpPr>
          <p:nvPr>
            <p:ph type="body" sz="quarter" idx="13"/>
          </p:nvPr>
        </p:nvSpPr>
        <p:spPr/>
        <p:txBody>
          <a:bodyPr/>
          <a:lstStyle/>
          <a:p>
            <a:r>
              <a:rPr lang="en-US" dirty="0" smtClean="0"/>
              <a:t>Internet </a:t>
            </a:r>
            <a:r>
              <a:rPr lang="en-US" dirty="0" err="1" smtClean="0"/>
              <a:t>Protocal</a:t>
            </a:r>
            <a:r>
              <a:rPr lang="en-US" dirty="0" smtClean="0"/>
              <a:t> (IP) Address</a:t>
            </a:r>
          </a:p>
          <a:p>
            <a:r>
              <a:rPr lang="en-US" dirty="0" smtClean="0"/>
              <a:t>Internet Corporation for Assigned Names (ICANN)</a:t>
            </a:r>
          </a:p>
          <a:p>
            <a:r>
              <a:rPr lang="en-US" dirty="0" smtClean="0"/>
              <a:t>Top Level Domain (TLD)</a:t>
            </a:r>
          </a:p>
          <a:p>
            <a:pPr lvl="1"/>
            <a:r>
              <a:rPr lang="en-US" dirty="0" smtClean="0"/>
              <a:t>.com, .</a:t>
            </a:r>
            <a:r>
              <a:rPr lang="en-US" dirty="0" err="1" smtClean="0"/>
              <a:t>edu</a:t>
            </a:r>
            <a:r>
              <a:rPr lang="en-US" dirty="0" smtClean="0"/>
              <a:t>, .mil, .</a:t>
            </a:r>
            <a:r>
              <a:rPr lang="en-US" dirty="0" err="1" smtClean="0"/>
              <a:t>gov</a:t>
            </a:r>
            <a:r>
              <a:rPr lang="en-US" dirty="0" smtClean="0"/>
              <a:t>, .org</a:t>
            </a:r>
            <a:endParaRPr lang="en-US" dirty="0"/>
          </a:p>
        </p:txBody>
      </p:sp>
    </p:spTree>
    <p:extLst>
      <p:ext uri="{BB962C8B-B14F-4D97-AF65-F5344CB8AC3E}">
        <p14:creationId xmlns:p14="http://schemas.microsoft.com/office/powerpoint/2010/main" val="1120396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The Future of the Internet</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Three Factors Could Cause Internet Brownout</a:t>
            </a:r>
          </a:p>
          <a:p>
            <a:pPr lvl="1"/>
            <a:r>
              <a:rPr lang="en-US" dirty="0" smtClean="0"/>
              <a:t>Increasing number of people who work online</a:t>
            </a:r>
          </a:p>
          <a:p>
            <a:pPr lvl="1"/>
            <a:r>
              <a:rPr lang="en-US" dirty="0" smtClean="0"/>
              <a:t>Soaring popularity of Web sites such as YouTube requiring large amounts of bandwidth</a:t>
            </a:r>
          </a:p>
          <a:p>
            <a:pPr lvl="1"/>
            <a:r>
              <a:rPr lang="en-US" dirty="0" smtClean="0"/>
              <a:t>Tremendous demand for high-definition television delivered over the Internet</a:t>
            </a:r>
          </a:p>
          <a:p>
            <a:r>
              <a:rPr lang="en-US" dirty="0" smtClean="0"/>
              <a:t>Internet2</a:t>
            </a:r>
            <a:endParaRPr lang="en-US" dirty="0"/>
          </a:p>
        </p:txBody>
      </p:sp>
    </p:spTree>
    <p:extLst>
      <p:ext uri="{BB962C8B-B14F-4D97-AF65-F5344CB8AC3E}">
        <p14:creationId xmlns:p14="http://schemas.microsoft.com/office/powerpoint/2010/main" val="3705918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World Wide Web (WWW)</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A system of universally accepted standards for storing, retrieving, formatting, and displaying information via a client/server architecture</a:t>
            </a:r>
          </a:p>
          <a:p>
            <a:pPr lvl="1"/>
            <a:r>
              <a:rPr lang="en-US" dirty="0" smtClean="0"/>
              <a:t>Web site</a:t>
            </a:r>
          </a:p>
          <a:p>
            <a:pPr lvl="1"/>
            <a:r>
              <a:rPr lang="en-US" dirty="0" smtClean="0"/>
              <a:t>Webmaster</a:t>
            </a:r>
          </a:p>
          <a:p>
            <a:pPr lvl="1"/>
            <a:r>
              <a:rPr lang="en-US" dirty="0" smtClean="0"/>
              <a:t>Uniform Resource Locator (URL)</a:t>
            </a:r>
          </a:p>
          <a:p>
            <a:pPr lvl="1"/>
            <a:r>
              <a:rPr lang="en-US" dirty="0" smtClean="0"/>
              <a:t>Browsers</a:t>
            </a:r>
            <a:endParaRPr lang="en-US" dirty="0"/>
          </a:p>
        </p:txBody>
      </p:sp>
    </p:spTree>
    <p:extLst>
      <p:ext uri="{BB962C8B-B14F-4D97-AF65-F5344CB8AC3E}">
        <p14:creationId xmlns:p14="http://schemas.microsoft.com/office/powerpoint/2010/main" val="1674483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Network Applications</a:t>
            </a:r>
            <a:endParaRPr lang="en-US" dirty="0"/>
          </a:p>
        </p:txBody>
      </p:sp>
      <p:sp>
        <p:nvSpPr>
          <p:cNvPr id="3" name="Text Placeholder 2"/>
          <p:cNvSpPr>
            <a:spLocks noGrp="1"/>
          </p:cNvSpPr>
          <p:nvPr>
            <p:ph type="body" sz="quarter" idx="14"/>
          </p:nvPr>
        </p:nvSpPr>
        <p:spPr/>
        <p:txBody>
          <a:bodyPr/>
          <a:lstStyle/>
          <a:p>
            <a:r>
              <a:rPr lang="en-US" dirty="0" smtClean="0"/>
              <a:t>6.4</a:t>
            </a:r>
            <a:endParaRPr lang="en-US" dirty="0"/>
          </a:p>
        </p:txBody>
      </p:sp>
      <p:sp>
        <p:nvSpPr>
          <p:cNvPr id="4" name="Content Placeholder 3"/>
          <p:cNvSpPr>
            <a:spLocks noGrp="1"/>
          </p:cNvSpPr>
          <p:nvPr>
            <p:ph sz="quarter" idx="15"/>
          </p:nvPr>
        </p:nvSpPr>
        <p:spPr/>
        <p:txBody>
          <a:bodyPr>
            <a:normAutofit lnSpcReduction="10000"/>
          </a:bodyPr>
          <a:lstStyle/>
          <a:p>
            <a:r>
              <a:rPr lang="en-US" dirty="0" smtClean="0"/>
              <a:t>Discovery</a:t>
            </a:r>
          </a:p>
          <a:p>
            <a:r>
              <a:rPr lang="en-US" dirty="0" smtClean="0"/>
              <a:t>Communication</a:t>
            </a:r>
          </a:p>
          <a:p>
            <a:r>
              <a:rPr lang="en-US" dirty="0" smtClean="0"/>
              <a:t>Collaboration</a:t>
            </a:r>
          </a:p>
          <a:p>
            <a:r>
              <a:rPr lang="en-US" dirty="0" smtClean="0"/>
              <a:t>E-Learning and Distance Learning</a:t>
            </a:r>
          </a:p>
          <a:p>
            <a:r>
              <a:rPr lang="en-US" dirty="0" smtClean="0"/>
              <a:t>Virtual Universities</a:t>
            </a:r>
          </a:p>
          <a:p>
            <a:r>
              <a:rPr lang="en-US" dirty="0" smtClean="0"/>
              <a:t>Telecommuting</a:t>
            </a:r>
          </a:p>
          <a:p>
            <a:endParaRPr lang="en-US" dirty="0"/>
          </a:p>
        </p:txBody>
      </p:sp>
    </p:spTree>
    <p:extLst>
      <p:ext uri="{BB962C8B-B14F-4D97-AF65-F5344CB8AC3E}">
        <p14:creationId xmlns:p14="http://schemas.microsoft.com/office/powerpoint/2010/main" val="3817182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Network Applications: Discovery</a:t>
            </a:r>
            <a:endParaRPr lang="en-US" dirty="0"/>
          </a:p>
        </p:txBody>
      </p:sp>
      <p:sp>
        <p:nvSpPr>
          <p:cNvPr id="4" name="Text Placeholder 3"/>
          <p:cNvSpPr>
            <a:spLocks noGrp="1"/>
          </p:cNvSpPr>
          <p:nvPr>
            <p:ph type="body" sz="quarter" idx="14"/>
          </p:nvPr>
        </p:nvSpPr>
        <p:spPr/>
        <p:txBody>
          <a:bodyPr/>
          <a:lstStyle/>
          <a:p>
            <a:r>
              <a:rPr lang="en-US" dirty="0" smtClean="0"/>
              <a:t>6.4</a:t>
            </a:r>
            <a:endParaRPr lang="en-US" dirty="0"/>
          </a:p>
        </p:txBody>
      </p:sp>
      <p:sp>
        <p:nvSpPr>
          <p:cNvPr id="3" name="Content Placeholder 2"/>
          <p:cNvSpPr>
            <a:spLocks noGrp="1"/>
          </p:cNvSpPr>
          <p:nvPr>
            <p:ph sz="quarter" idx="15"/>
          </p:nvPr>
        </p:nvSpPr>
        <p:spPr/>
        <p:txBody>
          <a:bodyPr/>
          <a:lstStyle/>
          <a:p>
            <a:r>
              <a:rPr lang="en-US" dirty="0" smtClean="0"/>
              <a:t>Search Engines and </a:t>
            </a:r>
            <a:r>
              <a:rPr lang="en-US" dirty="0" err="1" smtClean="0"/>
              <a:t>Metasearch</a:t>
            </a:r>
            <a:r>
              <a:rPr lang="en-US" dirty="0" smtClean="0"/>
              <a:t> Engines</a:t>
            </a:r>
          </a:p>
          <a:p>
            <a:r>
              <a:rPr lang="en-US" dirty="0" smtClean="0"/>
              <a:t>Publication of Material in Foreign Languages</a:t>
            </a:r>
          </a:p>
          <a:p>
            <a:r>
              <a:rPr lang="en-US" dirty="0" smtClean="0"/>
              <a:t>Portals</a:t>
            </a:r>
          </a:p>
          <a:p>
            <a:endParaRPr lang="en-US" dirty="0"/>
          </a:p>
        </p:txBody>
      </p:sp>
    </p:spTree>
    <p:extLst>
      <p:ext uri="{BB962C8B-B14F-4D97-AF65-F5344CB8AC3E}">
        <p14:creationId xmlns:p14="http://schemas.microsoft.com/office/powerpoint/2010/main" val="1610749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20000"/>
          </a:bodyPr>
          <a:lstStyle/>
          <a:p>
            <a:r>
              <a:rPr lang="en-US" b="1" dirty="0" smtClean="0"/>
              <a:t>Figure 6.9 </a:t>
            </a:r>
            <a:r>
              <a:rPr lang="en-US" dirty="0" smtClean="0"/>
              <a:t>Google Translate</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006064"/>
            <a:ext cx="8153400" cy="3988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5522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Portals</a:t>
            </a:r>
            <a:endParaRPr lang="en-US" dirty="0"/>
          </a:p>
        </p:txBody>
      </p:sp>
      <p:sp>
        <p:nvSpPr>
          <p:cNvPr id="3" name="Text Placeholder 2"/>
          <p:cNvSpPr>
            <a:spLocks noGrp="1"/>
          </p:cNvSpPr>
          <p:nvPr>
            <p:ph type="body" sz="quarter" idx="13"/>
          </p:nvPr>
        </p:nvSpPr>
        <p:spPr/>
        <p:txBody>
          <a:bodyPr/>
          <a:lstStyle/>
          <a:p>
            <a:r>
              <a:rPr lang="en-US" dirty="0" smtClean="0"/>
              <a:t>Commercial Portal</a:t>
            </a:r>
          </a:p>
          <a:p>
            <a:r>
              <a:rPr lang="en-US" dirty="0" smtClean="0"/>
              <a:t>Affinity Portal</a:t>
            </a:r>
          </a:p>
          <a:p>
            <a:r>
              <a:rPr lang="en-US" dirty="0" smtClean="0"/>
              <a:t>Corporate Portal</a:t>
            </a:r>
          </a:p>
          <a:p>
            <a:r>
              <a:rPr lang="en-US" dirty="0" err="1" smtClean="0"/>
              <a:t>Industrywide</a:t>
            </a:r>
            <a:r>
              <a:rPr lang="en-US" dirty="0" smtClean="0"/>
              <a:t> Porta</a:t>
            </a:r>
            <a:r>
              <a:rPr lang="en-US" dirty="0"/>
              <a:t>l</a:t>
            </a:r>
          </a:p>
        </p:txBody>
      </p:sp>
    </p:spTree>
    <p:extLst>
      <p:ext uri="{BB962C8B-B14F-4D97-AF65-F5344CB8AC3E}">
        <p14:creationId xmlns:p14="http://schemas.microsoft.com/office/powerpoint/2010/main" val="2329865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a:t>Network Applications: Communication</a:t>
            </a:r>
          </a:p>
        </p:txBody>
      </p:sp>
      <p:sp>
        <p:nvSpPr>
          <p:cNvPr id="4" name="Text Placeholder 3"/>
          <p:cNvSpPr>
            <a:spLocks noGrp="1"/>
          </p:cNvSpPr>
          <p:nvPr>
            <p:ph type="body" sz="quarter" idx="14"/>
          </p:nvPr>
        </p:nvSpPr>
        <p:spPr/>
        <p:txBody>
          <a:bodyPr/>
          <a:lstStyle/>
          <a:p>
            <a:r>
              <a:rPr lang="en-US" dirty="0" smtClean="0"/>
              <a:t>6.5</a:t>
            </a:r>
            <a:endParaRPr lang="en-US" dirty="0"/>
          </a:p>
        </p:txBody>
      </p:sp>
      <p:sp>
        <p:nvSpPr>
          <p:cNvPr id="3" name="Content Placeholder 2"/>
          <p:cNvSpPr>
            <a:spLocks noGrp="1"/>
          </p:cNvSpPr>
          <p:nvPr>
            <p:ph sz="quarter" idx="15"/>
          </p:nvPr>
        </p:nvSpPr>
        <p:spPr/>
        <p:txBody>
          <a:bodyPr>
            <a:normAutofit lnSpcReduction="10000"/>
          </a:bodyPr>
          <a:lstStyle/>
          <a:p>
            <a:r>
              <a:rPr lang="en-US" dirty="0" smtClean="0"/>
              <a:t>Electronic Mail (E-mail)</a:t>
            </a:r>
          </a:p>
          <a:p>
            <a:r>
              <a:rPr lang="en-US" dirty="0" smtClean="0"/>
              <a:t>Web-Based Call Centers</a:t>
            </a:r>
          </a:p>
          <a:p>
            <a:r>
              <a:rPr lang="en-US" dirty="0" smtClean="0"/>
              <a:t>Electronic Chat Rooms</a:t>
            </a:r>
          </a:p>
          <a:p>
            <a:r>
              <a:rPr lang="en-US" dirty="0" smtClean="0"/>
              <a:t>Voice Communication</a:t>
            </a:r>
          </a:p>
          <a:p>
            <a:pPr lvl="1"/>
            <a:r>
              <a:rPr lang="en-US" dirty="0" smtClean="0"/>
              <a:t>Internet Telephony (VoIP)</a:t>
            </a:r>
          </a:p>
          <a:p>
            <a:r>
              <a:rPr lang="en-US" dirty="0" smtClean="0"/>
              <a:t>Unified Communications (UC)</a:t>
            </a:r>
          </a:p>
          <a:p>
            <a:r>
              <a:rPr lang="en-US" dirty="0" smtClean="0"/>
              <a:t>Telecommuting</a:t>
            </a:r>
            <a:endParaRPr lang="en-US" dirty="0"/>
          </a:p>
        </p:txBody>
      </p:sp>
    </p:spTree>
    <p:extLst>
      <p:ext uri="{BB962C8B-B14F-4D97-AF65-F5344CB8AC3E}">
        <p14:creationId xmlns:p14="http://schemas.microsoft.com/office/powerpoint/2010/main" val="2047879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Get Rid of E-Mail? Seriously?</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6.3</a:t>
            </a:r>
            <a:endParaRPr lang="en-US" dirty="0"/>
          </a:p>
        </p:txBody>
      </p:sp>
    </p:spTree>
    <p:extLst>
      <p:ext uri="{BB962C8B-B14F-4D97-AF65-F5344CB8AC3E}">
        <p14:creationId xmlns:p14="http://schemas.microsoft.com/office/powerpoint/2010/main" val="34302299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Telecommuting</a:t>
            </a:r>
            <a:endParaRPr lang="en-US" dirty="0"/>
          </a:p>
        </p:txBody>
      </p:sp>
      <p:sp>
        <p:nvSpPr>
          <p:cNvPr id="3" name="Content Placeholder 2"/>
          <p:cNvSpPr>
            <a:spLocks noGrp="1"/>
          </p:cNvSpPr>
          <p:nvPr>
            <p:ph sz="quarter" idx="14"/>
          </p:nvPr>
        </p:nvSpPr>
        <p:spPr/>
        <p:txBody>
          <a:bodyPr/>
          <a:lstStyle/>
          <a:p>
            <a:r>
              <a:rPr lang="en-US" dirty="0" smtClean="0"/>
              <a:t>A process in which highly prized workers are able to work anywhere anytime.</a:t>
            </a:r>
          </a:p>
          <a:p>
            <a:r>
              <a:rPr lang="en-US" dirty="0" smtClean="0"/>
              <a:t>Knowledge workers</a:t>
            </a:r>
          </a:p>
          <a:p>
            <a:r>
              <a:rPr lang="en-US" dirty="0" smtClean="0"/>
              <a:t>Advantages versus disadvantages</a:t>
            </a:r>
          </a:p>
          <a:p>
            <a:endParaRPr lang="en-US" dirty="0"/>
          </a:p>
        </p:txBody>
      </p:sp>
    </p:spTree>
    <p:extLst>
      <p:ext uri="{BB962C8B-B14F-4D97-AF65-F5344CB8AC3E}">
        <p14:creationId xmlns:p14="http://schemas.microsoft.com/office/powerpoint/2010/main" val="33980494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a:t>Network Applications: Collaboration</a:t>
            </a:r>
          </a:p>
        </p:txBody>
      </p:sp>
      <p:sp>
        <p:nvSpPr>
          <p:cNvPr id="4" name="Text Placeholder 3"/>
          <p:cNvSpPr>
            <a:spLocks noGrp="1"/>
          </p:cNvSpPr>
          <p:nvPr>
            <p:ph type="body" sz="quarter" idx="14"/>
          </p:nvPr>
        </p:nvSpPr>
        <p:spPr/>
        <p:txBody>
          <a:bodyPr/>
          <a:lstStyle/>
          <a:p>
            <a:r>
              <a:rPr lang="en-US" dirty="0" smtClean="0"/>
              <a:t>6.6</a:t>
            </a:r>
            <a:endParaRPr lang="en-US" dirty="0"/>
          </a:p>
        </p:txBody>
      </p:sp>
      <p:sp>
        <p:nvSpPr>
          <p:cNvPr id="3" name="Content Placeholder 2"/>
          <p:cNvSpPr>
            <a:spLocks noGrp="1"/>
          </p:cNvSpPr>
          <p:nvPr>
            <p:ph sz="quarter" idx="15"/>
          </p:nvPr>
        </p:nvSpPr>
        <p:spPr/>
        <p:txBody>
          <a:bodyPr>
            <a:normAutofit/>
          </a:bodyPr>
          <a:lstStyle/>
          <a:p>
            <a:r>
              <a:rPr lang="en-US" dirty="0" smtClean="0"/>
              <a:t>Microsoft SharePoint</a:t>
            </a:r>
          </a:p>
          <a:p>
            <a:r>
              <a:rPr lang="en-US" dirty="0" smtClean="0"/>
              <a:t>Google Docs</a:t>
            </a:r>
          </a:p>
          <a:p>
            <a:r>
              <a:rPr lang="en-US" dirty="0" smtClean="0"/>
              <a:t>IBM Lotus </a:t>
            </a:r>
            <a:r>
              <a:rPr lang="en-US" dirty="0" err="1" smtClean="0"/>
              <a:t>Quickr</a:t>
            </a:r>
            <a:endParaRPr lang="en-US" dirty="0" smtClean="0"/>
          </a:p>
          <a:p>
            <a:r>
              <a:rPr lang="en-US" dirty="0" smtClean="0"/>
              <a:t>Jive</a:t>
            </a:r>
          </a:p>
          <a:p>
            <a:r>
              <a:rPr lang="en-US" dirty="0" smtClean="0"/>
              <a:t>Electronic Teleconferencing</a:t>
            </a:r>
            <a:endParaRPr lang="en-US" dirty="0"/>
          </a:p>
        </p:txBody>
      </p:sp>
    </p:spTree>
    <p:extLst>
      <p:ext uri="{BB962C8B-B14F-4D97-AF65-F5344CB8AC3E}">
        <p14:creationId xmlns:p14="http://schemas.microsoft.com/office/powerpoint/2010/main" val="1836906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Collaboration</a:t>
            </a:r>
            <a:endParaRPr lang="en-US" dirty="0"/>
          </a:p>
        </p:txBody>
      </p:sp>
      <p:sp>
        <p:nvSpPr>
          <p:cNvPr id="3" name="Content Placeholder 2"/>
          <p:cNvSpPr>
            <a:spLocks noGrp="1"/>
          </p:cNvSpPr>
          <p:nvPr>
            <p:ph sz="quarter" idx="14"/>
          </p:nvPr>
        </p:nvSpPr>
        <p:spPr/>
        <p:txBody>
          <a:bodyPr>
            <a:normAutofit/>
          </a:bodyPr>
          <a:lstStyle/>
          <a:p>
            <a:r>
              <a:rPr lang="en-US" dirty="0" smtClean="0"/>
              <a:t>Work group</a:t>
            </a:r>
          </a:p>
          <a:p>
            <a:r>
              <a:rPr lang="en-US" dirty="0" smtClean="0"/>
              <a:t>Workflow</a:t>
            </a:r>
          </a:p>
          <a:p>
            <a:r>
              <a:rPr lang="en-US" dirty="0" smtClean="0"/>
              <a:t>Virtual Team</a:t>
            </a:r>
          </a:p>
          <a:p>
            <a:r>
              <a:rPr lang="en-US" dirty="0" smtClean="0"/>
              <a:t>Virtual Collaboration</a:t>
            </a:r>
          </a:p>
          <a:p>
            <a:r>
              <a:rPr lang="en-US" dirty="0" smtClean="0"/>
              <a:t>Crowdsourcing</a:t>
            </a:r>
          </a:p>
          <a:p>
            <a:r>
              <a:rPr lang="en-US" dirty="0" smtClean="0"/>
              <a:t>Electronic Teleconferencing and Video Conferencing</a:t>
            </a:r>
          </a:p>
        </p:txBody>
      </p:sp>
    </p:spTree>
    <p:extLst>
      <p:ext uri="{BB962C8B-B14F-4D97-AF65-F5344CB8AC3E}">
        <p14:creationId xmlns:p14="http://schemas.microsoft.com/office/powerpoint/2010/main" val="1747667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77500" lnSpcReduction="20000"/>
          </a:bodyPr>
          <a:lstStyle/>
          <a:p>
            <a:r>
              <a:rPr lang="en-US" b="1" dirty="0" smtClean="0"/>
              <a:t>Figure 6.11 </a:t>
            </a:r>
            <a:r>
              <a:rPr lang="en-US" dirty="0" err="1" smtClean="0"/>
              <a:t>Telepresence</a:t>
            </a:r>
            <a:r>
              <a:rPr lang="en-US" dirty="0" smtClean="0"/>
              <a:t> System</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720622"/>
            <a:ext cx="8153400" cy="4559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5363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a:t>Network Applications</a:t>
            </a:r>
            <a:r>
              <a:rPr lang="en-US" dirty="0" smtClean="0"/>
              <a:t>:</a:t>
            </a:r>
          </a:p>
          <a:p>
            <a:r>
              <a:rPr lang="en-US" dirty="0" smtClean="0"/>
              <a:t>Educational</a:t>
            </a:r>
            <a:endParaRPr lang="en-US" dirty="0"/>
          </a:p>
        </p:txBody>
      </p:sp>
      <p:sp>
        <p:nvSpPr>
          <p:cNvPr id="4" name="Text Placeholder 3"/>
          <p:cNvSpPr>
            <a:spLocks noGrp="1"/>
          </p:cNvSpPr>
          <p:nvPr>
            <p:ph type="body" sz="quarter" idx="14"/>
          </p:nvPr>
        </p:nvSpPr>
        <p:spPr/>
        <p:txBody>
          <a:bodyPr/>
          <a:lstStyle/>
          <a:p>
            <a:r>
              <a:rPr lang="en-US" dirty="0" smtClean="0"/>
              <a:t>6.7</a:t>
            </a:r>
            <a:endParaRPr lang="en-US" dirty="0"/>
          </a:p>
        </p:txBody>
      </p:sp>
      <p:sp>
        <p:nvSpPr>
          <p:cNvPr id="3" name="Content Placeholder 2"/>
          <p:cNvSpPr>
            <a:spLocks noGrp="1"/>
          </p:cNvSpPr>
          <p:nvPr>
            <p:ph sz="quarter" idx="15"/>
          </p:nvPr>
        </p:nvSpPr>
        <p:spPr/>
        <p:txBody>
          <a:bodyPr/>
          <a:lstStyle/>
          <a:p>
            <a:r>
              <a:rPr lang="en-US" dirty="0" smtClean="0"/>
              <a:t>E-Learning</a:t>
            </a:r>
          </a:p>
          <a:p>
            <a:pPr lvl="1"/>
            <a:r>
              <a:rPr lang="en-US" dirty="0" smtClean="0"/>
              <a:t>Learning supported by the Web</a:t>
            </a:r>
          </a:p>
          <a:p>
            <a:r>
              <a:rPr lang="en-US" dirty="0" smtClean="0"/>
              <a:t>Distance Learning</a:t>
            </a:r>
          </a:p>
          <a:p>
            <a:pPr lvl="1"/>
            <a:r>
              <a:rPr lang="en-US" dirty="0" smtClean="0"/>
              <a:t>Any learning situation in which teachers and students do not meet face-to-face.</a:t>
            </a:r>
            <a:endParaRPr lang="en-US" dirty="0"/>
          </a:p>
        </p:txBody>
      </p:sp>
    </p:spTree>
    <p:extLst>
      <p:ext uri="{BB962C8B-B14F-4D97-AF65-F5344CB8AC3E}">
        <p14:creationId xmlns:p14="http://schemas.microsoft.com/office/powerpoint/2010/main" val="1980587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Massive Open Online Courses</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6.4</a:t>
            </a:r>
            <a:endParaRPr lang="en-US" dirty="0"/>
          </a:p>
        </p:txBody>
      </p:sp>
    </p:spTree>
    <p:extLst>
      <p:ext uri="{BB962C8B-B14F-4D97-AF65-F5344CB8AC3E}">
        <p14:creationId xmlns:p14="http://schemas.microsoft.com/office/powerpoint/2010/main" val="343022996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Virtual Universities</a:t>
            </a:r>
            <a:endParaRPr lang="en-US" dirty="0"/>
          </a:p>
        </p:txBody>
      </p:sp>
      <p:sp>
        <p:nvSpPr>
          <p:cNvPr id="3" name="Content Placeholder 2"/>
          <p:cNvSpPr>
            <a:spLocks noGrp="1"/>
          </p:cNvSpPr>
          <p:nvPr>
            <p:ph sz="quarter" idx="14"/>
          </p:nvPr>
        </p:nvSpPr>
        <p:spPr/>
        <p:txBody>
          <a:bodyPr/>
          <a:lstStyle/>
          <a:p>
            <a:r>
              <a:rPr lang="en-US" dirty="0" smtClean="0"/>
              <a:t>Online universities in which students take classes via the Internet at home or an off-site location.</a:t>
            </a:r>
            <a:endParaRPr lang="en-US" dirty="0"/>
          </a:p>
        </p:txBody>
      </p:sp>
    </p:spTree>
    <p:extLst>
      <p:ext uri="{BB962C8B-B14F-4D97-AF65-F5344CB8AC3E}">
        <p14:creationId xmlns:p14="http://schemas.microsoft.com/office/powerpoint/2010/main" val="41118466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Network </a:t>
            </a:r>
            <a:br>
              <a:rPr lang="en-US" dirty="0" smtClean="0"/>
            </a:br>
            <a:r>
              <a:rPr lang="en-US" dirty="0" smtClean="0"/>
              <a:t>Neutrality Wars</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Problem</a:t>
            </a:r>
          </a:p>
          <a:p>
            <a:r>
              <a:rPr lang="en-US" dirty="0" smtClean="0"/>
              <a:t>A Possible </a:t>
            </a:r>
            <a:r>
              <a:rPr lang="en-US" dirty="0" smtClean="0">
                <a:solidFill>
                  <a:schemeClr val="tx1">
                    <a:lumMod val="65000"/>
                    <a:lumOff val="35000"/>
                  </a:schemeClr>
                </a:solidFill>
              </a:rPr>
              <a:t>Solution</a:t>
            </a:r>
          </a:p>
          <a:p>
            <a:r>
              <a:rPr lang="en-US" dirty="0"/>
              <a:t>The </a:t>
            </a:r>
            <a:r>
              <a:rPr lang="en-US" dirty="0" smtClean="0">
                <a:solidFill>
                  <a:schemeClr val="tx1">
                    <a:lumMod val="65000"/>
                    <a:lumOff val="35000"/>
                  </a:schemeClr>
                </a:solidFill>
              </a:rPr>
              <a:t>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16140</TotalTime>
  <Words>3932</Words>
  <Application>Microsoft Office PowerPoint</Application>
  <PresentationFormat>On-screen Show (4:3)</PresentationFormat>
  <Paragraphs>337</Paragraphs>
  <Slides>42</Slides>
  <Notes>31</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PowerPoint Presentation</vt:lpstr>
      <vt:lpstr>PowerPoint Presentation</vt:lpstr>
      <vt:lpstr>PowerPoint Presentation</vt:lpstr>
      <vt:lpstr>[ WEB RESOURCES]</vt:lpstr>
      <vt:lpstr>[ Opening Case What to Do About Landline Telephones]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Network  Neutrality Wars]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Rainer_6e_Chapter6_Slides</dc:title>
  <dc:creator>John Kenneth Corley</dc:creator>
  <cp:lastModifiedBy>techsupport</cp:lastModifiedBy>
  <cp:revision>485</cp:revision>
  <dcterms:created xsi:type="dcterms:W3CDTF">2013-08-07T23:49:12Z</dcterms:created>
  <dcterms:modified xsi:type="dcterms:W3CDTF">2015-10-01T20:05:47Z</dcterms:modified>
</cp:coreProperties>
</file>