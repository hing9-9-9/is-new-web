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700" r:id="rId2"/>
    <p:sldId id="701" r:id="rId3"/>
    <p:sldId id="702" r:id="rId4"/>
    <p:sldId id="752" r:id="rId5"/>
    <p:sldId id="705" r:id="rId6"/>
    <p:sldId id="939" r:id="rId7"/>
    <p:sldId id="940" r:id="rId8"/>
    <p:sldId id="941" r:id="rId9"/>
    <p:sldId id="1310" r:id="rId10"/>
    <p:sldId id="942" r:id="rId11"/>
    <p:sldId id="943" r:id="rId12"/>
    <p:sldId id="944" r:id="rId13"/>
    <p:sldId id="1311" r:id="rId14"/>
    <p:sldId id="706" r:id="rId15"/>
    <p:sldId id="945" r:id="rId16"/>
    <p:sldId id="946" r:id="rId17"/>
    <p:sldId id="947" r:id="rId18"/>
    <p:sldId id="948" r:id="rId19"/>
    <p:sldId id="949" r:id="rId20"/>
    <p:sldId id="950" r:id="rId21"/>
    <p:sldId id="951" r:id="rId22"/>
    <p:sldId id="952" r:id="rId23"/>
    <p:sldId id="1312" r:id="rId24"/>
    <p:sldId id="953" r:id="rId25"/>
    <p:sldId id="954" r:id="rId26"/>
    <p:sldId id="955" r:id="rId27"/>
    <p:sldId id="1313" r:id="rId28"/>
    <p:sldId id="1064" r:id="rId29"/>
    <p:sldId id="956" r:id="rId30"/>
    <p:sldId id="957" r:id="rId31"/>
    <p:sldId id="958" r:id="rId32"/>
    <p:sldId id="959" r:id="rId33"/>
    <p:sldId id="960" r:id="rId34"/>
    <p:sldId id="1345" r:id="rId35"/>
    <p:sldId id="1346" r:id="rId36"/>
    <p:sldId id="1374" r:id="rId37"/>
    <p:sldId id="1065" r:id="rId38"/>
    <p:sldId id="1066" r:id="rId39"/>
    <p:sldId id="961" r:id="rId40"/>
    <p:sldId id="1314" r:id="rId41"/>
    <p:sldId id="1315" r:id="rId42"/>
    <p:sldId id="1067" r:id="rId43"/>
    <p:sldId id="962" r:id="rId44"/>
    <p:sldId id="108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Describe how Republic Wireless and </a:t>
            </a:r>
            <a:r>
              <a:rPr lang="en-US" dirty="0" err="1" smtClean="0"/>
              <a:t>FreedomPop</a:t>
            </a:r>
            <a:r>
              <a:rPr lang="en-US" dirty="0" smtClean="0"/>
              <a:t> can be disruptive to the major U.S. cellular service providers.</a:t>
            </a:r>
          </a:p>
          <a:p>
            <a:pPr marL="228600" indent="-228600">
              <a:buFont typeface="+mj-lt"/>
              <a:buAutoNum type="arabicPeriod"/>
            </a:pPr>
            <a:r>
              <a:rPr lang="en-US" dirty="0" smtClean="0"/>
              <a:t>What actions should the major cellular service providers take to combat Republic and </a:t>
            </a:r>
            <a:r>
              <a:rPr lang="en-US" dirty="0" err="1" smtClean="0"/>
              <a:t>FreedomPop’s</a:t>
            </a:r>
            <a:r>
              <a:rPr lang="en-US" dirty="0" smtClean="0"/>
              <a:t> business models?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1697527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a:t>
            </a:r>
            <a:r>
              <a:rPr lang="en-US" dirty="0" smtClean="0"/>
              <a:t>without wires.</a:t>
            </a:r>
          </a:p>
          <a:p>
            <a:r>
              <a:rPr lang="en-US" b="1" dirty="0" smtClean="0"/>
              <a:t>Mobile: </a:t>
            </a:r>
            <a:r>
              <a:rPr lang="en-US" dirty="0" smtClean="0"/>
              <a:t>something that changes its location over time.</a:t>
            </a:r>
          </a:p>
          <a:p>
            <a:r>
              <a:rPr lang="en-US" b="1" dirty="0" smtClean="0"/>
              <a:t>Mobile Computing: </a:t>
            </a:r>
            <a:r>
              <a:rPr lang="en-US" dirty="0" smtClean="0"/>
              <a:t>a real-time, wireless connection between a mobile device and other computing environments, such as the Internet or an intranet.</a:t>
            </a:r>
          </a:p>
          <a:p>
            <a:r>
              <a:rPr lang="en-US" b="1" dirty="0" smtClean="0"/>
              <a:t>Mobile Commerce (or M-Commerce): </a:t>
            </a:r>
            <a:r>
              <a:rPr lang="en-US" dirty="0" smtClean="0"/>
              <a:t>e-commerce (EC) transactions conducted with a mobile device. </a:t>
            </a:r>
          </a:p>
          <a:p>
            <a:r>
              <a:rPr lang="en-US" b="1" dirty="0" smtClean="0"/>
              <a:t>Pervasive Computing (or Ubiquitous Computing): </a:t>
            </a:r>
            <a:r>
              <a:rPr lang="en-US" dirty="0" smtClean="0"/>
              <a:t>virtually every object has processing power with either wireless or wired connections to a global network.</a:t>
            </a:r>
          </a:p>
          <a:p>
            <a:r>
              <a:rPr lang="en-US" b="1" dirty="0" smtClean="0"/>
              <a:t>Dematerialization: </a:t>
            </a:r>
            <a:r>
              <a:rPr lang="en-US" dirty="0" smtClean="0"/>
              <a:t>a phenomenon that occurs when the functions of many physical devices are included in one other physical device. Consider that your smartphone includes the functions of digital cameras for images and video, radios, televisions, Internet access via Web browsers, recording studios, editing suites, movie theaters, GPS navigators, word processors, spreadsheets, stereos, flashlights, board games, card games, video games, an entire range of medical devices, maps, atlases, encyclopedias, dictionaries, translators, textbooks, watches, alarm clocks, books, calculators, address books, credit card </a:t>
            </a:r>
            <a:r>
              <a:rPr lang="en-US" dirty="0" err="1" smtClean="0"/>
              <a:t>swipers</a:t>
            </a:r>
            <a:r>
              <a:rPr lang="en-US" dirty="0" smtClean="0"/>
              <a:t>, magnifying glasses, money and credit cards, car keys, hotel keys, cellular telephony, Wi-Fi, e-mail access, text messaging, a full QWERTY keyboard, and many, many others.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118751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Wireless Devices Provide Three Major Advantages:</a:t>
            </a:r>
          </a:p>
          <a:p>
            <a:r>
              <a:rPr lang="en-US" dirty="0" smtClean="0"/>
              <a:t>1. Small</a:t>
            </a:r>
            <a:r>
              <a:rPr lang="en-US" baseline="0" dirty="0" smtClean="0"/>
              <a:t> </a:t>
            </a:r>
            <a:r>
              <a:rPr lang="en-US" dirty="0" smtClean="0"/>
              <a:t>enough to easily carry or wear</a:t>
            </a:r>
          </a:p>
          <a:p>
            <a:r>
              <a:rPr lang="en-US" dirty="0" smtClean="0"/>
              <a:t>2. Sufficient computing power to perform productive tasks.</a:t>
            </a:r>
          </a:p>
          <a:p>
            <a:r>
              <a:rPr lang="en-US" dirty="0" smtClean="0"/>
              <a:t>3. Can communicate wirelessly with the Internet and other devices.</a:t>
            </a:r>
          </a:p>
          <a:p>
            <a:endParaRPr lang="en-US" dirty="0" smtClean="0"/>
          </a:p>
          <a:p>
            <a:r>
              <a:rPr lang="en-US" b="1" dirty="0" smtClean="0"/>
              <a:t>Wireless: </a:t>
            </a:r>
            <a:r>
              <a:rPr lang="en-US" dirty="0" smtClean="0"/>
              <a:t>without wires.</a:t>
            </a:r>
          </a:p>
          <a:p>
            <a:r>
              <a:rPr lang="en-US" b="1" dirty="0" smtClean="0"/>
              <a:t>Mobile: </a:t>
            </a:r>
            <a:r>
              <a:rPr lang="en-US" dirty="0" smtClean="0"/>
              <a:t>something that changes its location over time.</a:t>
            </a:r>
          </a:p>
          <a:p>
            <a:r>
              <a:rPr lang="en-US" b="1" dirty="0" smtClean="0"/>
              <a:t>Mobile Computing: </a:t>
            </a:r>
            <a:r>
              <a:rPr lang="en-US" dirty="0" smtClean="0"/>
              <a:t>a real-time, wireless connection between a mobile device and other computing environments, such as the Internet or an intranet.</a:t>
            </a:r>
          </a:p>
          <a:p>
            <a:r>
              <a:rPr lang="en-US" b="1" dirty="0" smtClean="0"/>
              <a:t>Mobile Commerce (or M-Commerce): </a:t>
            </a:r>
            <a:r>
              <a:rPr lang="en-US" dirty="0" smtClean="0"/>
              <a:t>e-commerce (EC) transactions conducted with a mobile device. </a:t>
            </a:r>
          </a:p>
          <a:p>
            <a:r>
              <a:rPr lang="en-US" b="1" dirty="0" smtClean="0"/>
              <a:t>Pervasive Computing (or Ubiquitous Computing): </a:t>
            </a:r>
            <a:r>
              <a:rPr lang="en-US" dirty="0" smtClean="0"/>
              <a:t>virtually every object has processing power with either wireless or wired connections to a global network.</a:t>
            </a:r>
          </a:p>
          <a:p>
            <a:r>
              <a:rPr lang="en-US" b="1" dirty="0" smtClean="0"/>
              <a:t>Dematerialization: </a:t>
            </a:r>
            <a:r>
              <a:rPr lang="en-US" dirty="0" smtClean="0"/>
              <a:t>a phenomenon that occurs when the functions of many physical devices are included in one other physical device. Consider that your smartphone includes the functions of digital cameras for images and video, radios, televisions, Internet access via Web browsers, recording studios, editing suites, movie theaters, GPS navigators, word processors, spreadsheets, stereos, flashlights, board games, card games, video games, an entire range of medical devices, maps, atlases, encyclopedias, dictionaries, translators, textbooks, watches, alarm clocks, books, calculators, address books, credit card </a:t>
            </a:r>
            <a:r>
              <a:rPr lang="en-US" dirty="0" err="1" smtClean="0"/>
              <a:t>swipers</a:t>
            </a:r>
            <a:r>
              <a:rPr lang="en-US" dirty="0" smtClean="0"/>
              <a:t>, magnifying glasses, money and credit cards, car keys, hotel keys, cellular telephony, Wi-Fi, e-mail access, text messaging, a full QWERTY keyboard, and many, many others.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3611381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 </a:t>
            </a:r>
            <a:r>
              <a:rPr lang="en-US" sz="1200" b="0" i="0" u="none" strike="noStrike" kern="1200" baseline="0" dirty="0" smtClean="0">
                <a:solidFill>
                  <a:schemeClr val="tx1"/>
                </a:solidFill>
                <a:latin typeface="+mn-lt"/>
                <a:ea typeface="+mn-ea"/>
                <a:cs typeface="+mn-cs"/>
              </a:rPr>
              <a:t>Dematerialization with smartphones.</a:t>
            </a:r>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1272600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3122767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other possible applications of Skybox Imaging (not mentioned in the case).</a:t>
            </a:r>
          </a:p>
          <a:p>
            <a:pPr marL="228600" indent="-228600">
              <a:buFont typeface="+mj-lt"/>
              <a:buAutoNum type="arabicPeriod"/>
            </a:pPr>
            <a:r>
              <a:rPr lang="en-US" dirty="0" smtClean="0"/>
              <a:t>Why might the U.S. government object to Skybox Imaging’s business? Provide </a:t>
            </a:r>
            <a:r>
              <a:rPr lang="en-US" dirty="0" err="1" smtClean="0"/>
              <a:t>specifi</a:t>
            </a:r>
            <a:r>
              <a:rPr lang="en-US" dirty="0" smtClean="0"/>
              <a:t> c examples in your answer.</a:t>
            </a:r>
          </a:p>
          <a:p>
            <a:pPr marL="228600" indent="-228600">
              <a:buFont typeface="+mj-lt"/>
              <a:buAutoNum type="arabicPeriod"/>
            </a:pPr>
            <a:r>
              <a:rPr lang="en-US" dirty="0" smtClean="0"/>
              <a:t>Might other nations object to Skybox Imaging’s business? If so, which ones, and why?</a:t>
            </a:r>
          </a:p>
          <a:p>
            <a:pPr marL="228600" indent="-228600">
              <a:buFont typeface="+mj-lt"/>
              <a:buAutoNum type="arabicPeriod"/>
            </a:pPr>
            <a:r>
              <a:rPr lang="en-US" dirty="0" smtClean="0"/>
              <a:t>Describe other applications for </a:t>
            </a:r>
            <a:r>
              <a:rPr lang="en-US" dirty="0" err="1" smtClean="0"/>
              <a:t>Urthecast</a:t>
            </a:r>
            <a:r>
              <a:rPr lang="en-US" dirty="0" smtClean="0"/>
              <a:t> satellites.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Radio: </a:t>
            </a:r>
            <a:r>
              <a:rPr lang="en-US" dirty="0" smtClean="0"/>
              <a:t>uses radio-wave frequencies to send data directly between transmitters and receivers.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3535975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Infrared: </a:t>
            </a:r>
            <a:r>
              <a:rPr lang="en-US" dirty="0" smtClean="0"/>
              <a:t>is red light that is not commonly visible to human eyes and common applications of infrared light are found in remote control units for televisions and DVD and CD players.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3993416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249694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Wireless Devices Provide Three Major Advantages:</a:t>
            </a:r>
          </a:p>
          <a:p>
            <a:r>
              <a:rPr lang="en-US" dirty="0" smtClean="0"/>
              <a:t>1. Small</a:t>
            </a:r>
            <a:r>
              <a:rPr lang="en-US" baseline="0" dirty="0" smtClean="0"/>
              <a:t> </a:t>
            </a:r>
            <a:r>
              <a:rPr lang="en-US" dirty="0" smtClean="0"/>
              <a:t>enough to easily carry or wear</a:t>
            </a:r>
          </a:p>
          <a:p>
            <a:r>
              <a:rPr lang="en-US" dirty="0" smtClean="0"/>
              <a:t>2. Sufficient computing power to perform productive tasks.</a:t>
            </a:r>
          </a:p>
          <a:p>
            <a:r>
              <a:rPr lang="en-US" dirty="0" smtClean="0"/>
              <a:t>3. Can communicate wirelessly with the Internet and other devices.</a:t>
            </a:r>
          </a:p>
          <a:p>
            <a:endParaRPr lang="en-US" dirty="0" smtClean="0"/>
          </a:p>
          <a:p>
            <a:r>
              <a:rPr lang="en-US" b="1" dirty="0" smtClean="0"/>
              <a:t>Wireless: </a:t>
            </a:r>
            <a:r>
              <a:rPr lang="en-US" dirty="0" smtClean="0"/>
              <a:t>without wires.</a:t>
            </a:r>
          </a:p>
          <a:p>
            <a:r>
              <a:rPr lang="en-US" b="1" dirty="0" smtClean="0"/>
              <a:t>Mobile: </a:t>
            </a:r>
            <a:r>
              <a:rPr lang="en-US" dirty="0" smtClean="0"/>
              <a:t>something that changes its location over time.</a:t>
            </a:r>
          </a:p>
          <a:p>
            <a:r>
              <a:rPr lang="en-US" b="1" dirty="0" smtClean="0"/>
              <a:t>Mobile Computing: </a:t>
            </a:r>
            <a:r>
              <a:rPr lang="en-US" dirty="0" smtClean="0"/>
              <a:t>a real-time, wireless connection between a mobile device and other computing environments, such as the Internet or an intranet.</a:t>
            </a:r>
          </a:p>
          <a:p>
            <a:r>
              <a:rPr lang="en-US" b="1" dirty="0" smtClean="0"/>
              <a:t>Mobile Commerce (or M-Commerce): </a:t>
            </a:r>
            <a:r>
              <a:rPr lang="en-US" dirty="0" smtClean="0"/>
              <a:t>e-commerce (EC) transactions conducted with a mobile device. </a:t>
            </a:r>
          </a:p>
          <a:p>
            <a:r>
              <a:rPr lang="en-US" b="1" dirty="0" smtClean="0"/>
              <a:t>Pervasive Computing (or Ubiquitous Computing): </a:t>
            </a:r>
            <a:r>
              <a:rPr lang="en-US" dirty="0" smtClean="0"/>
              <a:t>virtually every object has processing power with either wireless or wired connections to a global network.</a:t>
            </a:r>
          </a:p>
          <a:p>
            <a:r>
              <a:rPr lang="en-US" b="1" dirty="0" smtClean="0"/>
              <a:t>Dematerialization: </a:t>
            </a:r>
            <a:r>
              <a:rPr lang="en-US" dirty="0" smtClean="0"/>
              <a:t>a phenomenon that occurs when the functions of many physical devices are included in one other physical device. Consider that your smartphone includes the functions of digital cameras for images and video, radios, televisions, Internet access via Web browsers, recording studios, editing suites, movie theaters, GPS navigators, word processors, spreadsheets, stereos, flashlights, board games, card games, video games, an entire range of medical devices, maps, atlases, encyclopedias, dictionaries, translators, textbooks, watches, alarm clocks, books, calculators, address books, credit card </a:t>
            </a:r>
            <a:r>
              <a:rPr lang="en-US" dirty="0" err="1" smtClean="0"/>
              <a:t>swipers</a:t>
            </a:r>
            <a:r>
              <a:rPr lang="en-US" dirty="0" smtClean="0"/>
              <a:t>, magnifying glasses, money and credit cards, car keys, hotel keys, cellular telephony, Wi-Fi, e-mail access, text messaging, a full QWERTY keyboard, and many, many others.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2620424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Short-Range Wireless Networks:</a:t>
            </a:r>
            <a:r>
              <a:rPr lang="en-US" b="0" dirty="0" smtClean="0"/>
              <a:t> have a range of 100 feet or less (e.g., Bluetooth, ultra-wideband (UWB), and near-field communications (NFC)).</a:t>
            </a:r>
          </a:p>
          <a:p>
            <a:r>
              <a:rPr lang="en-US" b="1" dirty="0" smtClean="0"/>
              <a:t>Bluetooth: </a:t>
            </a:r>
            <a:r>
              <a:rPr lang="en-US" dirty="0" smtClean="0"/>
              <a:t>an industry specification used to create small personal area networks.</a:t>
            </a:r>
          </a:p>
          <a:p>
            <a:r>
              <a:rPr lang="en-US" b="1" dirty="0" smtClean="0"/>
              <a:t>Bluetooth 1.0: </a:t>
            </a:r>
            <a:r>
              <a:rPr lang="en-US" dirty="0" smtClean="0"/>
              <a:t>can link up to eight devices within a 10-meter area (about 30 feet) with a bandwidth of 700 kilobits per second (Kbps) using low-power, radio-based communication.</a:t>
            </a:r>
          </a:p>
          <a:p>
            <a:r>
              <a:rPr lang="en-US" b="1" dirty="0" smtClean="0"/>
              <a:t>Bluetooth 4.0: </a:t>
            </a:r>
            <a:r>
              <a:rPr lang="en-US" dirty="0" smtClean="0"/>
              <a:t>can transmit up to approximately 25 megabits per second (Mbps) up to 100 meters (roughly 300 feet).</a:t>
            </a:r>
          </a:p>
          <a:p>
            <a:r>
              <a:rPr lang="en-US" b="1" dirty="0" smtClean="0"/>
              <a:t>Personal Area Network: </a:t>
            </a:r>
            <a:r>
              <a:rPr lang="en-US" dirty="0" smtClean="0"/>
              <a:t>a computer network used for communication among computer devices (e.g., telephones, personal digital assistants, and smartphones) located close to one person.</a:t>
            </a:r>
          </a:p>
          <a:p>
            <a:r>
              <a:rPr lang="en-US" b="1" dirty="0" smtClean="0"/>
              <a:t>Ultra-Wideband: </a:t>
            </a:r>
            <a:r>
              <a:rPr lang="en-US" dirty="0" smtClean="0"/>
              <a:t>a high-bandwidth wireless technology with transmission speeds in excess of 100 Mbps which makes UWB a good choice for applications such as streaming multimedia from a personal computer to a television.</a:t>
            </a:r>
          </a:p>
          <a:p>
            <a:r>
              <a:rPr lang="en-US" b="1" dirty="0" smtClean="0"/>
              <a:t>Near-Field Communications: </a:t>
            </a:r>
            <a:r>
              <a:rPr lang="en-US" dirty="0" smtClean="0"/>
              <a:t>has the smallest range of any short-range wireless networks, and is designed to be embedded in mobile devices such as cell phones and credit cards.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1088961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Medium-Range Wireless Networks: </a:t>
            </a:r>
            <a:r>
              <a:rPr lang="en-US" dirty="0" smtClean="0"/>
              <a:t>the familiar wireless local area networks (WLANs) and the most common type of Medium-Range network is wireless fidelity (Wi-Fi).</a:t>
            </a:r>
          </a:p>
          <a:p>
            <a:r>
              <a:rPr lang="en-US" b="1" dirty="0" smtClean="0"/>
              <a:t>Wireless Fidelity (Wi-Fi): </a:t>
            </a:r>
            <a:r>
              <a:rPr lang="en-US" dirty="0" smtClean="0"/>
              <a:t>a medium-range WLAN. </a:t>
            </a:r>
          </a:p>
          <a:p>
            <a:r>
              <a:rPr lang="en-US" b="1" dirty="0" smtClean="0"/>
              <a:t>Wireless Mesh Networks: </a:t>
            </a:r>
            <a:r>
              <a:rPr lang="en-US" dirty="0" smtClean="0"/>
              <a:t>networks using multiple Wi-Fi access points to create a wide area network that can be quite large and are essentially a series of interconnected local area networks.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1464265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8.4 </a:t>
            </a:r>
            <a:r>
              <a:rPr lang="en-US" dirty="0" smtClean="0"/>
              <a:t>Wireless access point.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3826746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why wireless communications were critical to the success of the 2014 Winter Olympic Games. Provide specific examples to support your answer.</a:t>
            </a:r>
          </a:p>
          <a:p>
            <a:pPr marL="228600" indent="-228600">
              <a:buFont typeface="+mj-lt"/>
              <a:buAutoNum type="arabicPeriod"/>
            </a:pPr>
            <a:r>
              <a:rPr lang="en-US" dirty="0" smtClean="0"/>
              <a:t>What other potential problems did Avaya have to consider that were not mentioned in this case? Provide specific examples to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Generations of Cellular Technology Evolution:</a:t>
            </a:r>
          </a:p>
          <a:p>
            <a:r>
              <a:rPr lang="en-US" b="1" dirty="0" smtClean="0"/>
              <a:t>First generation (1G): </a:t>
            </a:r>
            <a:r>
              <a:rPr lang="en-US" dirty="0" smtClean="0"/>
              <a:t>cellular networks used analog signals and had low bandwidth (capacity).</a:t>
            </a:r>
          </a:p>
          <a:p>
            <a:r>
              <a:rPr lang="en-US" b="1" dirty="0" smtClean="0"/>
              <a:t>Second generation (2G): </a:t>
            </a:r>
            <a:r>
              <a:rPr lang="en-US" dirty="0" smtClean="0"/>
              <a:t>uses digital signals primarily for voice communication; it provides data communication up to 10 Kbps.</a:t>
            </a:r>
          </a:p>
          <a:p>
            <a:r>
              <a:rPr lang="en-US" b="1" dirty="0" smtClean="0"/>
              <a:t>2.5G: </a:t>
            </a:r>
            <a:r>
              <a:rPr lang="en-US" dirty="0" smtClean="0"/>
              <a:t>uses digital signals and provides voice and data communication up to 144 Kbps.</a:t>
            </a:r>
          </a:p>
          <a:p>
            <a:r>
              <a:rPr lang="en-US" b="1" dirty="0" smtClean="0"/>
              <a:t>Third generation (3G): </a:t>
            </a:r>
            <a:r>
              <a:rPr lang="en-US" dirty="0" smtClean="0"/>
              <a:t>uses digital signals and can transmit voice and data up to 384 Kbps when the device is moving at a walking pace, 128 Kbps when it is moving in a car, and up to 2 Mbps when it is in a fixed location. It supports video, Web browsing, and instant messaging.</a:t>
            </a:r>
          </a:p>
          <a:p>
            <a:r>
              <a:rPr lang="en-US" b="1" dirty="0" smtClean="0"/>
              <a:t>Fourth generation (4G): </a:t>
            </a:r>
            <a:r>
              <a:rPr lang="en-US" dirty="0" smtClean="0"/>
              <a:t>is not one defined technology or standard. The International Telecommunications Union (ITU) has specified speed requirements for 4G: 100 Mbps (million bits per second) for high-mobility communications such as cars and trains, and 1 </a:t>
            </a:r>
            <a:r>
              <a:rPr lang="en-US" dirty="0" err="1" smtClean="0"/>
              <a:t>Gbps</a:t>
            </a:r>
            <a:r>
              <a:rPr lang="en-US" dirty="0" smtClean="0"/>
              <a:t> (billion bits per second) for low-mobility communications such as pedestrians. A 4G system is expected to provide a secure all-IP-based mobile broadband system to all types of mobile devices.</a:t>
            </a:r>
          </a:p>
          <a:p>
            <a:r>
              <a:rPr lang="en-US" b="1" dirty="0" smtClean="0"/>
              <a:t>Fifth Generation (5G): </a:t>
            </a:r>
            <a:r>
              <a:rPr lang="en-US" dirty="0" smtClean="0"/>
              <a:t>expected to be deployed by 2020, 5G networks are predicted to be faster and more intelligent than previous generations of cellular networks. With 5G, wearable computers (e.g., </a:t>
            </a:r>
            <a:r>
              <a:rPr lang="en-US" dirty="0" err="1" smtClean="0"/>
              <a:t>Fitbit</a:t>
            </a:r>
            <a:r>
              <a:rPr lang="en-US" dirty="0" smtClean="0"/>
              <a:t>), smartphones, tablets, and other devices with sensors that are location- and context-aware will work together with apps and services that you use.</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Wireless Broadband or </a:t>
            </a:r>
            <a:r>
              <a:rPr lang="en-US" b="1" dirty="0" err="1" smtClean="0"/>
              <a:t>WiMAX</a:t>
            </a:r>
            <a:r>
              <a:rPr lang="en-US" b="1" dirty="0" smtClean="0"/>
              <a:t>: </a:t>
            </a:r>
            <a:r>
              <a:rPr lang="en-US" dirty="0" smtClean="0"/>
              <a:t>Worldwide Interoperability for Microwave Access (</a:t>
            </a:r>
            <a:r>
              <a:rPr lang="en-US" dirty="0" err="1" smtClean="0"/>
              <a:t>WiMAX</a:t>
            </a:r>
            <a:r>
              <a:rPr lang="en-US" dirty="0" smtClean="0"/>
              <a:t>) is the name for IEEE Standard 802.16 which has a wireless access range of up to 31 miles and a data transfer rate of up to 75 Mbps. It is a secure system, and it offers features such as voice and video.</a:t>
            </a:r>
          </a:p>
          <a:p>
            <a:endParaRPr lang="en-US" dirty="0" smtClean="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3993642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Mobile Computing: </a:t>
            </a:r>
            <a:r>
              <a:rPr lang="en-US" dirty="0" smtClean="0"/>
              <a:t>a real-time connection between a mobile device and other computing environments, such as the Internet or an intranet.</a:t>
            </a:r>
          </a:p>
          <a:p>
            <a:r>
              <a:rPr lang="en-US" b="1" dirty="0" smtClean="0"/>
              <a:t>Mobility: </a:t>
            </a:r>
            <a:r>
              <a:rPr lang="en-US" dirty="0" smtClean="0"/>
              <a:t>means that users carry a device with them and can initiate a real-time contact with other systems from wherever they happen to be. </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714153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Mobile Computing: </a:t>
            </a:r>
            <a:r>
              <a:rPr lang="en-US" dirty="0" smtClean="0"/>
              <a:t>a real-time connection between a mobile device and other computing environments, such as the Internet or an intranet.</a:t>
            </a:r>
          </a:p>
          <a:p>
            <a:r>
              <a:rPr lang="en-US" b="1" dirty="0" smtClean="0"/>
              <a:t>Mobility: </a:t>
            </a:r>
            <a:r>
              <a:rPr lang="en-US" dirty="0" smtClean="0"/>
              <a:t>means that users carry a device with them and can initiate a real-time contact with other systems from wherever they happen to be. </a:t>
            </a:r>
          </a:p>
          <a:p>
            <a:r>
              <a:rPr lang="en-US" b="1" dirty="0" smtClean="0"/>
              <a:t>Broad Reach: </a:t>
            </a:r>
            <a:r>
              <a:rPr lang="en-US" dirty="0" smtClean="0"/>
              <a:t>when users carry an open mobile device, they can be reached instantly, even across great distances.</a:t>
            </a:r>
          </a:p>
          <a:p>
            <a:endParaRPr lang="en-US" dirty="0" smtClean="0"/>
          </a:p>
          <a:p>
            <a:r>
              <a:rPr lang="en-US" b="1" dirty="0" smtClean="0"/>
              <a:t>Mobility and Broad Reach Create Five Value-added Attributes that Break the Barriers of Geography and Time:</a:t>
            </a:r>
          </a:p>
          <a:p>
            <a:pPr marL="228600" indent="-228600">
              <a:buFont typeface="+mj-lt"/>
              <a:buAutoNum type="arabicPeriod"/>
            </a:pPr>
            <a:r>
              <a:rPr lang="en-US" dirty="0" smtClean="0"/>
              <a:t>Ubiquity</a:t>
            </a:r>
          </a:p>
          <a:p>
            <a:pPr marL="228600" indent="-228600">
              <a:buFont typeface="+mj-lt"/>
              <a:buAutoNum type="arabicPeriod"/>
            </a:pPr>
            <a:r>
              <a:rPr lang="en-US" dirty="0" smtClean="0"/>
              <a:t>Convenience</a:t>
            </a:r>
          </a:p>
          <a:p>
            <a:pPr marL="228600" indent="-228600">
              <a:buFont typeface="+mj-lt"/>
              <a:buAutoNum type="arabicPeriod"/>
            </a:pPr>
            <a:r>
              <a:rPr lang="en-US" dirty="0" smtClean="0"/>
              <a:t>Instant connectivity</a:t>
            </a:r>
          </a:p>
          <a:p>
            <a:pPr marL="228600" indent="-228600">
              <a:buFont typeface="+mj-lt"/>
              <a:buAutoNum type="arabicPeriod"/>
            </a:pPr>
            <a:r>
              <a:rPr lang="en-US" dirty="0" smtClean="0"/>
              <a:t>Personalization</a:t>
            </a:r>
          </a:p>
          <a:p>
            <a:pPr marL="228600" indent="-228600">
              <a:buFont typeface="+mj-lt"/>
              <a:buAutoNum type="arabicPeriod"/>
            </a:pPr>
            <a:r>
              <a:rPr lang="en-US" dirty="0" smtClean="0"/>
              <a:t>Localization of products and services</a:t>
            </a:r>
          </a:p>
          <a:p>
            <a:pPr marL="228600" indent="-228600">
              <a:buFont typeface="+mj-lt"/>
              <a:buAutoNum type="arabicPeriod"/>
            </a:pPr>
            <a:endParaRPr lang="en-US" dirty="0" smtClean="0"/>
          </a:p>
          <a:p>
            <a:r>
              <a:rPr lang="en-US" b="1" dirty="0" smtClean="0"/>
              <a:t>Mobile Commerce: </a:t>
            </a:r>
            <a:r>
              <a:rPr lang="en-US" dirty="0" smtClean="0"/>
              <a:t>electronic commerce (EC) transactions that are conducted in a wireless environment, especially via the Internet.</a:t>
            </a:r>
          </a:p>
          <a:p>
            <a:r>
              <a:rPr lang="en-US" b="1" dirty="0" smtClean="0"/>
              <a:t>Development of M-Commerce is Driven by:</a:t>
            </a:r>
          </a:p>
          <a:p>
            <a:pPr marL="171450" indent="-171450">
              <a:buFont typeface="Arial" panose="020B0604020202020204" pitchFamily="34" charset="0"/>
              <a:buChar char="•"/>
            </a:pPr>
            <a:r>
              <a:rPr lang="en-US" b="1" dirty="0" smtClean="0"/>
              <a:t>Widespread availability of mobile devices: </a:t>
            </a:r>
            <a:r>
              <a:rPr lang="en-US" dirty="0" smtClean="0"/>
              <a:t>By mid-2014, some 6 billion cell phones were in use throughout the world. Cell phones are spreading more quickly in the developing world than the developed world. Experts estimate that within a few years about 70 percent of cell phones in developed countries will have Internet access. Mobile Internet access in developing countries will increase rapidly as well.</a:t>
            </a:r>
          </a:p>
          <a:p>
            <a:pPr marL="171450" indent="-171450">
              <a:buFont typeface="Arial" panose="020B0604020202020204" pitchFamily="34" charset="0"/>
              <a:buChar char="•"/>
            </a:pPr>
            <a:r>
              <a:rPr lang="en-US" b="1" dirty="0" smtClean="0"/>
              <a:t>Declining prices: </a:t>
            </a:r>
            <a:r>
              <a:rPr lang="en-US" dirty="0" smtClean="0"/>
              <a:t>The price of wireless devices is declining and will continue to decline.</a:t>
            </a:r>
          </a:p>
          <a:p>
            <a:pPr marL="171450" indent="-171450">
              <a:buFont typeface="Arial" panose="020B0604020202020204" pitchFamily="34" charset="0"/>
              <a:buChar char="•"/>
            </a:pPr>
            <a:r>
              <a:rPr lang="en-US" b="1" dirty="0" smtClean="0"/>
              <a:t>Bandwidth improvement: </a:t>
            </a:r>
            <a:r>
              <a:rPr lang="en-US" dirty="0" smtClean="0"/>
              <a:t>To properly conduct m-commerce, you need sufficient bandwidth for transmitting text, voice, video, and multimedia. Wi-Fi, 4G cellular technology, and </a:t>
            </a:r>
            <a:r>
              <a:rPr lang="en-US" dirty="0" err="1" smtClean="0"/>
              <a:t>WiMAX</a:t>
            </a:r>
            <a:r>
              <a:rPr lang="en-US" dirty="0" smtClean="0"/>
              <a:t> all provide the necessary bandwidth.</a:t>
            </a:r>
          </a:p>
          <a:p>
            <a:pPr marL="0" indent="0">
              <a:buFont typeface="+mj-lt"/>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2075021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Location-Based Applications and Services: </a:t>
            </a:r>
            <a:r>
              <a:rPr lang="en-US" dirty="0" smtClean="0"/>
              <a:t>M-commerce B2C applications include location-based services and location-based applications.</a:t>
            </a:r>
          </a:p>
          <a:p>
            <a:r>
              <a:rPr lang="en-US" b="1" dirty="0" smtClean="0"/>
              <a:t>Location-Based Commerce (L-Commerce): </a:t>
            </a:r>
            <a:r>
              <a:rPr lang="en-US" dirty="0" smtClean="0"/>
              <a:t>Location-based mobile commerce.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3544197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Generations of Cellular Technology Evolution:</a:t>
            </a:r>
          </a:p>
          <a:p>
            <a:r>
              <a:rPr lang="en-US" b="1" dirty="0" smtClean="0"/>
              <a:t>First generation (1G): </a:t>
            </a:r>
            <a:r>
              <a:rPr lang="en-US" dirty="0" smtClean="0"/>
              <a:t>cellular networks used analog signals and had low bandwidth (capacity).</a:t>
            </a:r>
          </a:p>
          <a:p>
            <a:r>
              <a:rPr lang="en-US" b="1" dirty="0" smtClean="0"/>
              <a:t>Second generation (2G): </a:t>
            </a:r>
            <a:r>
              <a:rPr lang="en-US" dirty="0" smtClean="0"/>
              <a:t>uses digital signals primarily for voice communication; it provides data communication up to 10 Kbps.</a:t>
            </a:r>
          </a:p>
          <a:p>
            <a:r>
              <a:rPr lang="en-US" b="1" dirty="0" smtClean="0"/>
              <a:t>2.5G: </a:t>
            </a:r>
            <a:r>
              <a:rPr lang="en-US" dirty="0" smtClean="0"/>
              <a:t>uses digital signals and provides voice and data communication up to 144 Kbps.</a:t>
            </a:r>
          </a:p>
          <a:p>
            <a:r>
              <a:rPr lang="en-US" b="1" dirty="0" smtClean="0"/>
              <a:t>Third generation (3G): </a:t>
            </a:r>
            <a:r>
              <a:rPr lang="en-US" dirty="0" smtClean="0"/>
              <a:t>uses digital signals and can transmit voice and data up to 384 Kbps when the device is moving at a walking pace, 128 Kbps when it is moving in a car, and up to 2 Mbps when it is in a fixed location. It supports video, Web browsing, and instant messaging.</a:t>
            </a:r>
          </a:p>
          <a:p>
            <a:r>
              <a:rPr lang="en-US" b="1" dirty="0" smtClean="0"/>
              <a:t>Fourth generation (4G): </a:t>
            </a:r>
            <a:r>
              <a:rPr lang="en-US" dirty="0" smtClean="0"/>
              <a:t>is not one defined technology or standard. The International Telecommunications Union (ITU) has specified speed requirements for 4G: 100 Mbps (million bits per second) for high-mobility communications such as cars and trains, and 1 </a:t>
            </a:r>
            <a:r>
              <a:rPr lang="en-US" dirty="0" err="1" smtClean="0"/>
              <a:t>Gbps</a:t>
            </a:r>
            <a:r>
              <a:rPr lang="en-US" dirty="0" smtClean="0"/>
              <a:t> (billion bits per second) for low-mobility communications such as pedestrians. A 4G system is expected to provide a secure all-IP-based mobile broadband system to all types of mobile devices.</a:t>
            </a:r>
          </a:p>
          <a:p>
            <a:r>
              <a:rPr lang="en-US" b="1" dirty="0" smtClean="0"/>
              <a:t>Fifth Generation (5G): </a:t>
            </a:r>
            <a:r>
              <a:rPr lang="en-US" dirty="0" smtClean="0"/>
              <a:t>expected to be deployed by 2020, 5G networks are predicted to be faster and more intelligent than previous generations of cellular networks. With 5G, wearable computers (e.g., </a:t>
            </a:r>
            <a:r>
              <a:rPr lang="en-US" dirty="0" err="1" smtClean="0"/>
              <a:t>Fitbit</a:t>
            </a:r>
            <a:r>
              <a:rPr lang="en-US" dirty="0" smtClean="0"/>
              <a:t>), smartphones, tablets, and other devices with sensors that are location- and context-aware will work together with apps and services that you use.</a:t>
            </a:r>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3313502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Wireless Broadband or WiMAX: </a:t>
            </a:r>
            <a:r>
              <a:rPr lang="en-US" dirty="0" smtClean="0"/>
              <a:t>Worldwide Interoperability for Microwave Access (WiMAX) is the name for IEEE Standard 802.16 which has a wireless access range of up to 31 miles and a data transfer rate of up to 75 Mbps. It is a secure system, and it offers features such as voice and video.</a:t>
            </a:r>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823733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Four Major Threats to Wireless Networks:</a:t>
            </a:r>
          </a:p>
          <a:p>
            <a:r>
              <a:rPr lang="en-US" b="1" dirty="0" smtClean="0"/>
              <a:t>Rogue Access Point: </a:t>
            </a:r>
            <a:r>
              <a:rPr lang="en-US" dirty="0" smtClean="0"/>
              <a:t>an unauthorized access point connected to a wireless network.</a:t>
            </a:r>
          </a:p>
          <a:p>
            <a:r>
              <a:rPr lang="en-US" b="1" dirty="0" smtClean="0"/>
              <a:t>Evil Twin Attack: </a:t>
            </a:r>
            <a:r>
              <a:rPr lang="en-US" dirty="0" smtClean="0"/>
              <a:t>the attacker is in the vicinity with a Wi-Fi-enabled computer and a separate connection to the Internet. Using a </a:t>
            </a:r>
            <a:r>
              <a:rPr lang="en-US" dirty="0" err="1" smtClean="0"/>
              <a:t>hotspotter</a:t>
            </a:r>
            <a:r>
              <a:rPr lang="en-US" dirty="0" smtClean="0"/>
              <a:t>—a device that detects wireless networks and provides information on them the attacker simulates a wireless access point with the same wireless network name, or SSID, as the one that authorized users expect. If the signal is strong enough, users will connect to the attacker’s system instead of the real access point.</a:t>
            </a:r>
          </a:p>
          <a:p>
            <a:r>
              <a:rPr lang="en-US" b="1" dirty="0" smtClean="0"/>
              <a:t>War Driving: </a:t>
            </a:r>
            <a:r>
              <a:rPr lang="en-US" dirty="0" smtClean="0"/>
              <a:t>the act of locating WLANs while driving (or walking) around a city or elsewhere.</a:t>
            </a:r>
          </a:p>
          <a:p>
            <a:r>
              <a:rPr lang="en-US" b="1" dirty="0" smtClean="0"/>
              <a:t>Eavesdropping: </a:t>
            </a:r>
            <a:r>
              <a:rPr lang="en-US" dirty="0" smtClean="0"/>
              <a:t>efforts by unauthorized users to access data that are traveling over wireless networks.</a:t>
            </a:r>
          </a:p>
          <a:p>
            <a:r>
              <a:rPr lang="en-US" b="1" dirty="0" smtClean="0"/>
              <a:t>Radio-Frequency (RF) Jamming: </a:t>
            </a:r>
            <a:r>
              <a:rPr lang="en-US" dirty="0" smtClean="0"/>
              <a:t>a person or a device intentionally or unintentionally interferes with your wireless network transmissions.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36</a:t>
            </a:fld>
            <a:endParaRPr lang="en-US"/>
          </a:p>
        </p:txBody>
      </p:sp>
    </p:spTree>
    <p:extLst>
      <p:ext uri="{BB962C8B-B14F-4D97-AF65-F5344CB8AC3E}">
        <p14:creationId xmlns:p14="http://schemas.microsoft.com/office/powerpoint/2010/main" val="1167881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other uses for </a:t>
            </a:r>
            <a:r>
              <a:rPr lang="en-US" dirty="0" err="1" smtClean="0"/>
              <a:t>iBeacon</a:t>
            </a:r>
            <a:r>
              <a:rPr lang="en-US" dirty="0" smtClean="0"/>
              <a:t> can you think of?</a:t>
            </a:r>
          </a:p>
          <a:p>
            <a:pPr marL="228600" indent="-228600">
              <a:buFont typeface="+mj-lt"/>
              <a:buAutoNum type="arabicPeriod"/>
            </a:pPr>
            <a:r>
              <a:rPr lang="en-US" dirty="0" smtClean="0"/>
              <a:t>Other than privacy concerns, what are other possible disadvantages of the </a:t>
            </a:r>
            <a:r>
              <a:rPr lang="en-US" dirty="0" err="1" smtClean="0"/>
              <a:t>iBeacon</a:t>
            </a:r>
            <a:r>
              <a:rPr lang="en-US" dirty="0" smtClean="0"/>
              <a:t> app? Provide specific examples to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advantages and the disadvantages of the iPad mobile app for patients. Do the same for medical carts and medical kiosks.</a:t>
            </a:r>
          </a:p>
          <a:p>
            <a:pPr marL="228600" indent="-228600">
              <a:buFont typeface="+mj-lt"/>
              <a:buAutoNum type="arabicPeriod"/>
            </a:pPr>
            <a:r>
              <a:rPr lang="en-US" dirty="0" smtClean="0"/>
              <a:t>Describe the advantages and the disadvantages of the iPad mobile app for Miami Children’s Hospital. Do the same for medical carts and medical kiosks.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Wireless Sensor Networks (WSNs): </a:t>
            </a:r>
            <a:r>
              <a:rPr lang="en-US" dirty="0" smtClean="0"/>
              <a:t>networks of interconnected, battery powered, wireless sensors called motes that are placed into the physical environment.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r>
              <a:rPr lang="en-US" b="1" dirty="0" smtClean="0"/>
              <a:t>Radio-Frequency Identification (RFID): </a:t>
            </a:r>
            <a:r>
              <a:rPr lang="en-US" dirty="0" smtClean="0"/>
              <a:t>technology that allows manufacturers to attach tags with antennas and computer chips on goods and then track their movement through radio signals. RFID was developed to replace bar codes.</a:t>
            </a:r>
          </a:p>
          <a:p>
            <a:r>
              <a:rPr lang="en-US" b="1" dirty="0" smtClean="0"/>
              <a:t>Universal Product Code (UPC): </a:t>
            </a:r>
            <a:r>
              <a:rPr lang="en-US" dirty="0" smtClean="0"/>
              <a:t>A typical bar code made up of 12 digits that are batched in various groups. The first digit identifies the item type, the next five digits identify the manufacturer, and the next five identify the product. The last digit is a check digit for error detection.</a:t>
            </a:r>
          </a:p>
          <a:p>
            <a:r>
              <a:rPr lang="en-US" b="1" dirty="0" smtClean="0"/>
              <a:t>RFID Systems: </a:t>
            </a:r>
            <a:r>
              <a:rPr lang="en-US" dirty="0" smtClean="0"/>
              <a:t>tags have embedded microchips, which contain data, and antennas to transmit radio signals over a short distance to RFID readers including information that uniquely identifies an item (location and when it was made).</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QR code: </a:t>
            </a:r>
            <a:r>
              <a:rPr lang="en-US" dirty="0" smtClean="0"/>
              <a:t>a two-dimensional code, readable by dedicated QR readers and camera phones</a:t>
            </a:r>
          </a:p>
          <a:p>
            <a:endParaRPr lang="en-US" dirty="0" smtClean="0"/>
          </a:p>
          <a:p>
            <a:r>
              <a:rPr lang="en-US" b="1" dirty="0" smtClean="0"/>
              <a:t>Limitations of Bar codes:</a:t>
            </a:r>
          </a:p>
          <a:p>
            <a:pPr marL="171450" indent="-171450">
              <a:buFont typeface="Arial" panose="020B0604020202020204" pitchFamily="34" charset="0"/>
              <a:buChar char="•"/>
            </a:pPr>
            <a:r>
              <a:rPr lang="en-US" dirty="0" smtClean="0"/>
              <a:t>Require a line of sight to the scanning device</a:t>
            </a:r>
          </a:p>
          <a:p>
            <a:pPr marL="171450" indent="-171450">
              <a:buFont typeface="Arial" panose="020B0604020202020204" pitchFamily="34" charset="0"/>
              <a:buChar char="•"/>
            </a:pPr>
            <a:r>
              <a:rPr lang="en-US" dirty="0" smtClean="0"/>
              <a:t>Pose substantial problems in a manufacturing plant, warehouse or shipping/receiving dock</a:t>
            </a:r>
          </a:p>
          <a:p>
            <a:pPr marL="171450" indent="-171450">
              <a:buFont typeface="Arial" panose="020B0604020202020204" pitchFamily="34" charset="0"/>
              <a:buChar char="•"/>
            </a:pPr>
            <a:r>
              <a:rPr lang="en-US" dirty="0" smtClean="0"/>
              <a:t>can be ripped, soiled, or lost</a:t>
            </a:r>
          </a:p>
          <a:p>
            <a:pPr marL="171450" indent="-171450">
              <a:buFont typeface="Arial" panose="020B0604020202020204" pitchFamily="34" charset="0"/>
              <a:buChar char="•"/>
            </a:pPr>
            <a:r>
              <a:rPr lang="en-US" dirty="0" smtClean="0"/>
              <a:t>identifies the manufacturer and product but not the actual item</a:t>
            </a:r>
          </a:p>
          <a:p>
            <a:endParaRPr lang="en-US" dirty="0" smtClean="0"/>
          </a:p>
          <a:p>
            <a:r>
              <a:rPr lang="en-US" b="1" dirty="0" smtClean="0"/>
              <a:t>Two Basic Types of RFID Tags:</a:t>
            </a:r>
          </a:p>
          <a:p>
            <a:r>
              <a:rPr lang="en-US" b="1" i="1" dirty="0" smtClean="0"/>
              <a:t>Active RFID: </a:t>
            </a:r>
            <a:r>
              <a:rPr lang="en-US" dirty="0" smtClean="0"/>
              <a:t>tags that use internal batteries for power, and they broadcast radio waves to a reader.</a:t>
            </a:r>
          </a:p>
          <a:p>
            <a:r>
              <a:rPr lang="en-US" b="1" i="1" dirty="0" smtClean="0"/>
              <a:t>Passive RFID: </a:t>
            </a:r>
            <a:r>
              <a:rPr lang="en-US" dirty="0" smtClean="0"/>
              <a:t>tags rely entirely on readers for their power, less expensive than active tags, and can be read only up to 20 feet.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6393622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endParaRPr lang="en-US" dirty="0" smtClean="0"/>
          </a:p>
          <a:p>
            <a:r>
              <a:rPr lang="en-US" b="1" dirty="0" smtClean="0"/>
              <a:t>Examples of </a:t>
            </a:r>
            <a:r>
              <a:rPr lang="en-US" b="1" dirty="0" err="1" smtClean="0"/>
              <a:t>IoT</a:t>
            </a:r>
            <a:r>
              <a:rPr lang="en-US" b="1" dirty="0" smtClean="0"/>
              <a:t> Use:</a:t>
            </a:r>
          </a:p>
          <a:p>
            <a:r>
              <a:rPr lang="en-US" dirty="0" smtClean="0"/>
              <a:t>Coke machines</a:t>
            </a:r>
          </a:p>
          <a:p>
            <a:r>
              <a:rPr lang="en-US" dirty="0" smtClean="0"/>
              <a:t>A heart monitor implant</a:t>
            </a:r>
          </a:p>
          <a:p>
            <a:r>
              <a:rPr lang="en-US" dirty="0" smtClean="0"/>
              <a:t>A farm animal with a biochip transmitter</a:t>
            </a:r>
          </a:p>
          <a:p>
            <a:r>
              <a:rPr lang="en-US" dirty="0" smtClean="0"/>
              <a:t>An automobile tire pressure</a:t>
            </a:r>
          </a:p>
          <a:p>
            <a:endParaRPr lang="en-US" dirty="0" smtClean="0"/>
          </a:p>
          <a:p>
            <a:r>
              <a:rPr lang="en-US" b="1" dirty="0" smtClean="0"/>
              <a:t>Capabilities of </a:t>
            </a:r>
            <a:r>
              <a:rPr lang="en-US" b="1" dirty="0" err="1" smtClean="0"/>
              <a:t>IoT</a:t>
            </a:r>
            <a:r>
              <a:rPr lang="en-US" b="1" dirty="0" smtClean="0"/>
              <a:t>:</a:t>
            </a:r>
          </a:p>
          <a:p>
            <a:pPr marL="171450" indent="-171450">
              <a:buFont typeface="Arial" panose="020B0604020202020204" pitchFamily="34" charset="0"/>
              <a:buChar char="•"/>
            </a:pPr>
            <a:r>
              <a:rPr lang="en-US" dirty="0" smtClean="0"/>
              <a:t>Reducing waste, loss, and cost</a:t>
            </a:r>
          </a:p>
          <a:p>
            <a:pPr marL="171450" indent="-171450">
              <a:buFont typeface="Arial" panose="020B0604020202020204" pitchFamily="34" charset="0"/>
              <a:buChar char="•"/>
            </a:pPr>
            <a:r>
              <a:rPr lang="en-US" dirty="0" smtClean="0"/>
              <a:t>Identifying the need for repair, replacement, or recall</a:t>
            </a:r>
          </a:p>
          <a:p>
            <a:pPr marL="171450" indent="-171450">
              <a:buFont typeface="Arial" panose="020B0604020202020204" pitchFamily="34" charset="0"/>
              <a:buChar char="•"/>
            </a:pPr>
            <a:r>
              <a:rPr lang="en-US" dirty="0" smtClean="0"/>
              <a:t>Tracking expiration data on perishable items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2947057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Internet of Things (</a:t>
            </a:r>
            <a:r>
              <a:rPr lang="en-US" b="1" dirty="0" err="1" smtClean="0"/>
              <a:t>IoT</a:t>
            </a:r>
            <a:r>
              <a:rPr lang="en-US" b="1" dirty="0" smtClean="0"/>
              <a:t>): </a:t>
            </a:r>
            <a:r>
              <a:rPr lang="en-US" dirty="0" smtClean="0"/>
              <a:t>a scenario in which objects, animals, and people are provided with unique identifiers and the ability to automatically transfer data over a network without requiring human-to-human or human-to-computer interaction.</a:t>
            </a:r>
          </a:p>
          <a:p>
            <a:endParaRPr lang="en-US" dirty="0" smtClean="0"/>
          </a:p>
          <a:p>
            <a:r>
              <a:rPr lang="en-US" b="1" dirty="0" smtClean="0"/>
              <a:t>Examples of </a:t>
            </a:r>
            <a:r>
              <a:rPr lang="en-US" b="1" dirty="0" err="1" smtClean="0"/>
              <a:t>IoT</a:t>
            </a:r>
            <a:r>
              <a:rPr lang="en-US" b="1" dirty="0" smtClean="0"/>
              <a:t> Use:</a:t>
            </a:r>
          </a:p>
          <a:p>
            <a:r>
              <a:rPr lang="en-US" dirty="0" smtClean="0"/>
              <a:t>Coke machines</a:t>
            </a:r>
          </a:p>
          <a:p>
            <a:r>
              <a:rPr lang="en-US" dirty="0" smtClean="0"/>
              <a:t>A heart monitor implant</a:t>
            </a:r>
          </a:p>
          <a:p>
            <a:r>
              <a:rPr lang="en-US" dirty="0" smtClean="0"/>
              <a:t>A farm animal with a biochip transmitter</a:t>
            </a:r>
          </a:p>
          <a:p>
            <a:r>
              <a:rPr lang="en-US" dirty="0" smtClean="0"/>
              <a:t>An automobile tire pressure</a:t>
            </a:r>
          </a:p>
          <a:p>
            <a:endParaRPr lang="en-US" dirty="0" smtClean="0"/>
          </a:p>
          <a:p>
            <a:r>
              <a:rPr lang="en-US" b="1" dirty="0" smtClean="0"/>
              <a:t>Capabilities of </a:t>
            </a:r>
            <a:r>
              <a:rPr lang="en-US" b="1" dirty="0" err="1" smtClean="0"/>
              <a:t>IoT</a:t>
            </a:r>
            <a:r>
              <a:rPr lang="en-US" b="1" dirty="0" smtClean="0"/>
              <a:t>:</a:t>
            </a:r>
          </a:p>
          <a:p>
            <a:pPr marL="171450" indent="-171450">
              <a:buFont typeface="Arial" panose="020B0604020202020204" pitchFamily="34" charset="0"/>
              <a:buChar char="•"/>
            </a:pPr>
            <a:r>
              <a:rPr lang="en-US" dirty="0" smtClean="0"/>
              <a:t>Reducing waste, loss, and cost</a:t>
            </a:r>
          </a:p>
          <a:p>
            <a:pPr marL="171450" indent="-171450">
              <a:buFont typeface="Arial" panose="020B0604020202020204" pitchFamily="34" charset="0"/>
              <a:buChar char="•"/>
            </a:pPr>
            <a:r>
              <a:rPr lang="en-US" dirty="0" smtClean="0"/>
              <a:t>Identifying the need for repair, replacement, or recall</a:t>
            </a:r>
          </a:p>
          <a:p>
            <a:pPr marL="171450" indent="-171450">
              <a:buFont typeface="Arial" panose="020B0604020202020204" pitchFamily="34" charset="0"/>
              <a:buChar char="•"/>
            </a:pPr>
            <a:r>
              <a:rPr lang="en-US" dirty="0" smtClean="0"/>
              <a:t>Tracking expiration data on perishable items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14148702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how RFID technology can generate increased customer satisfaction.</a:t>
            </a:r>
          </a:p>
          <a:p>
            <a:pPr marL="228600" indent="-228600">
              <a:buFont typeface="+mj-lt"/>
              <a:buAutoNum type="arabicPeriod"/>
            </a:pPr>
            <a:r>
              <a:rPr lang="en-US" dirty="0" smtClean="0"/>
              <a:t>What are potential disadvantages to implementing RFID technology in a retailer such as Marks &amp; Spencer?</a:t>
            </a:r>
          </a:p>
          <a:p>
            <a:pPr marL="228600" indent="-228600">
              <a:buFont typeface="+mj-lt"/>
              <a:buAutoNum type="arabicPeriod"/>
            </a:pPr>
            <a:r>
              <a:rPr lang="en-US" dirty="0" smtClean="0"/>
              <a:t>Why did Marks &amp; Spencer initially deploy RFID technology on a limited basis? In your opinion, was this the correct strategy? Why or why not? Be specific.</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42</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Four Major Threats to Wireless Networks:</a:t>
            </a:r>
          </a:p>
          <a:p>
            <a:r>
              <a:rPr lang="en-US" b="1" dirty="0" smtClean="0"/>
              <a:t>Rogue Access Point: </a:t>
            </a:r>
            <a:r>
              <a:rPr lang="en-US" dirty="0" smtClean="0"/>
              <a:t>an unauthorized access point connected to a wireless network.</a:t>
            </a:r>
          </a:p>
          <a:p>
            <a:r>
              <a:rPr lang="en-US" b="1" dirty="0" smtClean="0"/>
              <a:t>Evil Twin Attack: </a:t>
            </a:r>
            <a:r>
              <a:rPr lang="en-US" dirty="0" smtClean="0"/>
              <a:t>the attacker is in the vicinity with a Wi-Fi-enabled computer and a separate connection to the Internet. Using a </a:t>
            </a:r>
            <a:r>
              <a:rPr lang="en-US" dirty="0" err="1" smtClean="0"/>
              <a:t>hotspotter</a:t>
            </a:r>
            <a:r>
              <a:rPr lang="en-US" dirty="0" smtClean="0"/>
              <a:t>—a device that detects wireless networks and provides information on them the attacker simulates a wireless access point with the same wireless network name, or SSID, as the one that authorized users expect. If the signal is strong enough, users will connect to the attacker’s system instead of the real access point.</a:t>
            </a:r>
          </a:p>
          <a:p>
            <a:r>
              <a:rPr lang="en-US" b="1" dirty="0" smtClean="0"/>
              <a:t>War Driving: </a:t>
            </a:r>
            <a:r>
              <a:rPr lang="en-US" dirty="0" smtClean="0"/>
              <a:t>the act of locating WLANs while driving (or walking) around a city or elsewhere.</a:t>
            </a:r>
          </a:p>
          <a:p>
            <a:r>
              <a:rPr lang="en-US" b="1" dirty="0" smtClean="0"/>
              <a:t>Eavesdropping: </a:t>
            </a:r>
            <a:r>
              <a:rPr lang="en-US" dirty="0" smtClean="0"/>
              <a:t>efforts by unauthorized users to access data that are traveling over wireless networks.</a:t>
            </a:r>
          </a:p>
          <a:p>
            <a:r>
              <a:rPr lang="en-US" b="1" dirty="0" smtClean="0"/>
              <a:t>Radio-Frequency (RF) Jamming: </a:t>
            </a:r>
            <a:r>
              <a:rPr lang="en-US" dirty="0" smtClean="0"/>
              <a:t>a person or a device intentionally or unintentionally interferes with your wireless network transmissions.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43</a:t>
            </a:fld>
            <a:endParaRPr lang="en-US"/>
          </a:p>
        </p:txBody>
      </p:sp>
    </p:spTree>
    <p:extLst>
      <p:ext uri="{BB962C8B-B14F-4D97-AF65-F5344CB8AC3E}">
        <p14:creationId xmlns:p14="http://schemas.microsoft.com/office/powerpoint/2010/main" val="361510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Explain why mobile ads are so effective on Facebook. Provide specific examples to support your answer.</a:t>
            </a:r>
          </a:p>
          <a:p>
            <a:pPr marL="228600" indent="-228600">
              <a:buFont typeface="+mj-lt"/>
              <a:buAutoNum type="arabicPeriod"/>
            </a:pPr>
            <a:r>
              <a:rPr lang="en-US" b="0" dirty="0" smtClean="0"/>
              <a:t>You are accessing Facebook on your smartphone or tablet. Would ads placed directly into your news feed bother you? Why or why not?</a:t>
            </a:r>
          </a:p>
          <a:p>
            <a:pPr marL="228600" indent="-228600">
              <a:buFont typeface="+mj-lt"/>
              <a:buAutoNum type="arabicPeriod"/>
            </a:pPr>
            <a:r>
              <a:rPr lang="en-US" b="0" dirty="0" smtClean="0"/>
              <a:t>You are accessing Facebook from your desktop computer. Would ads placed directly into your news feed bother you? Why or why not?</a:t>
            </a:r>
          </a:p>
          <a:p>
            <a:pPr marL="228600" indent="-228600">
              <a:buFont typeface="+mj-lt"/>
              <a:buAutoNum type="arabicPeriod"/>
            </a:pPr>
            <a:r>
              <a:rPr lang="en-US" b="0" dirty="0" smtClean="0"/>
              <a:t>If there is a difference between your answers to questions 2 and 3 above, explain why.</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44</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chGuide Title">
    <p:spTree>
      <p:nvGrpSpPr>
        <p:cNvPr id="1" name=""/>
        <p:cNvGrpSpPr/>
        <p:nvPr/>
      </p:nvGrpSpPr>
      <p:grpSpPr>
        <a:xfrm>
          <a:off x="0" y="0"/>
          <a:ext cx="0" cy="0"/>
          <a:chOff x="0" y="0"/>
          <a:chExt cx="0" cy="0"/>
        </a:xfrm>
      </p:grpSpPr>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7391400" y="1219200"/>
            <a:ext cx="1219200" cy="12192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0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7391400" y="1219200"/>
            <a:ext cx="1219200" cy="1219200"/>
          </a:xfrm>
        </p:spPr>
        <p:txBody>
          <a:bodyPr anchor="ctr" anchorCtr="0">
            <a:normAutofit/>
          </a:bodyPr>
          <a:lstStyle>
            <a:lvl1pPr marL="0" indent="0" algn="ctr">
              <a:buFontTx/>
              <a:buNone/>
              <a:defRPr sz="72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1</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6213" y="1600200"/>
            <a:ext cx="6632787" cy="681079"/>
          </a:xfrm>
          <a:prstGeom prst="rect">
            <a:avLst/>
          </a:prstGeom>
        </p:spPr>
      </p:pic>
    </p:spTree>
    <p:extLst>
      <p:ext uri="{BB962C8B-B14F-4D97-AF65-F5344CB8AC3E}">
        <p14:creationId xmlns:p14="http://schemas.microsoft.com/office/powerpoint/2010/main" val="25546915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G_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0" y="457200"/>
            <a:ext cx="1905000" cy="2590800"/>
          </a:xfrm>
        </p:spPr>
        <p:txBody>
          <a:bodyPr>
            <a:noAutofit/>
          </a:bodyPr>
          <a:lstStyle>
            <a:lvl1pPr marL="0" indent="0" algn="ctr">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TG 1.1</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chemeClr val="accent1">
                    <a:lumMod val="75000"/>
                  </a:schemeClr>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1744217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 id="2147483677" r:id="rId23"/>
    <p:sldLayoutId id="2147483678" r:id="rId2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Wireless, Mobile Computing, and Mobile Commerce</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8</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Identify advantages and disadvantages of each of the four main types of wireless transmission media.</a:t>
            </a:r>
          </a:p>
          <a:p>
            <a:r>
              <a:rPr lang="en-US" dirty="0"/>
              <a:t>Explain how businesses can use </a:t>
            </a:r>
            <a:r>
              <a:rPr lang="en-US" dirty="0" smtClean="0"/>
              <a:t>short-range</a:t>
            </a:r>
            <a:r>
              <a:rPr lang="en-US" dirty="0"/>
              <a:t>, medium-range, and long-range </a:t>
            </a:r>
            <a:r>
              <a:rPr lang="en-US" dirty="0" smtClean="0"/>
              <a:t>networks.</a:t>
            </a:r>
            <a:endParaRPr lang="en-US" dirty="0"/>
          </a:p>
          <a:p>
            <a:r>
              <a:rPr lang="en-US" dirty="0"/>
              <a:t>Provide a specific example of how each of the five major m-commerce applications can benefit a business.</a:t>
            </a:r>
          </a:p>
          <a:p>
            <a:r>
              <a:rPr lang="en-US" dirty="0"/>
              <a:t>Describe </a:t>
            </a:r>
            <a:r>
              <a:rPr lang="en-US" dirty="0" smtClean="0"/>
              <a:t>the Internet of Things, and provide examples of how organizations can utilize the Internet of Things.</a:t>
            </a:r>
            <a:endParaRPr lang="en-US" dirty="0"/>
          </a:p>
          <a:p>
            <a:r>
              <a:rPr lang="en-US" dirty="0"/>
              <a:t>Explain how the four major threats to wireless networks can damage a business</a:t>
            </a:r>
            <a:r>
              <a:rPr lang="en-US" dirty="0" smtClean="0"/>
              <a:t>.</a:t>
            </a:r>
            <a:endParaRPr lang="en-US" dirty="0"/>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Wireless Technologies</a:t>
            </a:r>
          </a:p>
          <a:p>
            <a:r>
              <a:rPr lang="en-US" dirty="0"/>
              <a:t>Wireless Computer Networks and Internet Access</a:t>
            </a:r>
          </a:p>
          <a:p>
            <a:r>
              <a:rPr lang="en-US" dirty="0"/>
              <a:t>Mobile Computing and Mobile Commerce</a:t>
            </a:r>
          </a:p>
          <a:p>
            <a:r>
              <a:rPr lang="en-US" dirty="0" smtClean="0"/>
              <a:t>The Internet of Things</a:t>
            </a:r>
            <a:endParaRPr lang="en-US" dirty="0"/>
          </a:p>
          <a:p>
            <a:r>
              <a:rPr lang="en-US" dirty="0"/>
              <a:t>Wireless </a:t>
            </a:r>
            <a:r>
              <a:rPr lang="en-US" dirty="0" smtClean="0"/>
              <a:t>Security</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Republic Wireless and Freedom-Pop Could Disrupt…</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Business Problem</a:t>
            </a:r>
          </a:p>
          <a:p>
            <a:r>
              <a:rPr lang="en-US" dirty="0" smtClean="0"/>
              <a:t>Two </a:t>
            </a:r>
            <a:r>
              <a:rPr lang="en-US" dirty="0" smtClean="0">
                <a:solidFill>
                  <a:schemeClr val="tx1">
                    <a:lumMod val="65000"/>
                    <a:lumOff val="35000"/>
                  </a:schemeClr>
                </a:solidFill>
              </a:rPr>
              <a:t>Disruptive Solutions</a:t>
            </a:r>
            <a:endParaRPr lang="en-US" dirty="0">
              <a:solidFill>
                <a:schemeClr val="tx1">
                  <a:lumMod val="65000"/>
                  <a:lumOff val="35000"/>
                </a:schemeClr>
              </a:solidFill>
            </a:endParaRPr>
          </a:p>
          <a:p>
            <a:r>
              <a:rPr lang="en-US" dirty="0" smtClean="0"/>
              <a:t>The </a:t>
            </a:r>
            <a:r>
              <a:rPr lang="en-US" dirty="0">
                <a:solidFill>
                  <a:schemeClr val="tx1">
                    <a:lumMod val="65000"/>
                    <a:lumOff val="35000"/>
                  </a:schemeClr>
                </a:solidFill>
              </a:rPr>
              <a:t>Results</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Wireless Technologies</a:t>
            </a:r>
            <a:endParaRPr lang="en-US" dirty="0"/>
          </a:p>
        </p:txBody>
      </p:sp>
      <p:sp>
        <p:nvSpPr>
          <p:cNvPr id="7" name="Text Placeholder 6"/>
          <p:cNvSpPr>
            <a:spLocks noGrp="1"/>
          </p:cNvSpPr>
          <p:nvPr>
            <p:ph type="body" sz="quarter" idx="14"/>
          </p:nvPr>
        </p:nvSpPr>
        <p:spPr/>
        <p:txBody>
          <a:bodyPr/>
          <a:lstStyle/>
          <a:p>
            <a:r>
              <a:rPr lang="en-US" dirty="0" smtClean="0"/>
              <a:t>8.1</a:t>
            </a:r>
            <a:endParaRPr lang="en-US" dirty="0"/>
          </a:p>
        </p:txBody>
      </p:sp>
      <p:sp>
        <p:nvSpPr>
          <p:cNvPr id="6" name="Text Placeholder 5"/>
          <p:cNvSpPr>
            <a:spLocks noGrp="1"/>
          </p:cNvSpPr>
          <p:nvPr>
            <p:ph sz="quarter" idx="15"/>
          </p:nvPr>
        </p:nvSpPr>
        <p:spPr/>
        <p:txBody>
          <a:bodyPr/>
          <a:lstStyle/>
          <a:p>
            <a:r>
              <a:rPr lang="en-US" dirty="0" smtClean="0"/>
              <a:t>Wireless Devices</a:t>
            </a:r>
          </a:p>
          <a:p>
            <a:pPr lvl="1"/>
            <a:r>
              <a:rPr lang="en-US" dirty="0" smtClean="0"/>
              <a:t>Smartphones</a:t>
            </a:r>
            <a:endParaRPr lang="en-US" dirty="0"/>
          </a:p>
          <a:p>
            <a:r>
              <a:rPr lang="en-US" dirty="0" smtClean="0"/>
              <a:t>Wireless Transmission Media</a:t>
            </a:r>
          </a:p>
          <a:p>
            <a:pPr lvl="1"/>
            <a:r>
              <a:rPr lang="en-US" dirty="0" smtClean="0"/>
              <a:t>Microwave</a:t>
            </a:r>
          </a:p>
          <a:p>
            <a:pPr lvl="1"/>
            <a:r>
              <a:rPr lang="en-US" dirty="0" smtClean="0"/>
              <a:t>Satellite</a:t>
            </a:r>
          </a:p>
          <a:p>
            <a:pPr lvl="1"/>
            <a:r>
              <a:rPr lang="en-US" dirty="0" smtClean="0"/>
              <a:t>Radio</a:t>
            </a:r>
            <a:endParaRPr lang="en-US" dirty="0"/>
          </a:p>
        </p:txBody>
      </p:sp>
    </p:spTree>
    <p:extLst>
      <p:ext uri="{BB962C8B-B14F-4D97-AF65-F5344CB8AC3E}">
        <p14:creationId xmlns:p14="http://schemas.microsoft.com/office/powerpoint/2010/main" val="4183879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Wireless Devices</a:t>
            </a:r>
            <a:endParaRPr lang="en-US" dirty="0"/>
          </a:p>
        </p:txBody>
      </p:sp>
      <p:sp>
        <p:nvSpPr>
          <p:cNvPr id="4" name="Text Placeholder 3"/>
          <p:cNvSpPr>
            <a:spLocks noGrp="1"/>
          </p:cNvSpPr>
          <p:nvPr>
            <p:ph type="body" sz="quarter" idx="4294967295"/>
          </p:nvPr>
        </p:nvSpPr>
        <p:spPr>
          <a:xfrm>
            <a:off x="533400" y="2133600"/>
            <a:ext cx="8153400" cy="3962400"/>
          </a:xfrm>
        </p:spPr>
        <p:txBody>
          <a:bodyPr>
            <a:normAutofit fontScale="92500" lnSpcReduction="10000"/>
          </a:bodyPr>
          <a:lstStyle/>
          <a:p>
            <a:r>
              <a:rPr lang="en-US" dirty="0" smtClean="0"/>
              <a:t>Three Major Advantages for Users</a:t>
            </a:r>
          </a:p>
          <a:p>
            <a:pPr lvl="1"/>
            <a:r>
              <a:rPr lang="en-US" dirty="0"/>
              <a:t>S</a:t>
            </a:r>
            <a:r>
              <a:rPr lang="en-US" dirty="0" smtClean="0"/>
              <a:t>mall </a:t>
            </a:r>
            <a:r>
              <a:rPr lang="en-US" dirty="0"/>
              <a:t>enough to easily carry or wear.</a:t>
            </a:r>
          </a:p>
          <a:p>
            <a:pPr lvl="1"/>
            <a:r>
              <a:rPr lang="en-US" dirty="0"/>
              <a:t>S</a:t>
            </a:r>
            <a:r>
              <a:rPr lang="en-US" dirty="0" smtClean="0"/>
              <a:t>ufficient </a:t>
            </a:r>
            <a:r>
              <a:rPr lang="en-US" dirty="0"/>
              <a:t>computing power to perform productive tasks.</a:t>
            </a:r>
          </a:p>
          <a:p>
            <a:pPr lvl="1"/>
            <a:r>
              <a:rPr lang="en-US" dirty="0" smtClean="0"/>
              <a:t>Communicate </a:t>
            </a:r>
            <a:r>
              <a:rPr lang="en-US" dirty="0"/>
              <a:t>wirelessly with the Internet </a:t>
            </a:r>
            <a:r>
              <a:rPr lang="en-US" dirty="0" smtClean="0"/>
              <a:t>&amp; other </a:t>
            </a:r>
            <a:r>
              <a:rPr lang="en-US" dirty="0"/>
              <a:t>devices</a:t>
            </a:r>
            <a:r>
              <a:rPr lang="en-US" dirty="0" smtClean="0"/>
              <a:t>.</a:t>
            </a:r>
          </a:p>
          <a:p>
            <a:r>
              <a:rPr lang="en-US" dirty="0" smtClean="0"/>
              <a:t>One Major Disadvantage for Business</a:t>
            </a:r>
          </a:p>
          <a:p>
            <a:pPr lvl="1"/>
            <a:r>
              <a:rPr lang="en-US" dirty="0"/>
              <a:t>Workers can capture and transmit sensitive proprietary </a:t>
            </a:r>
            <a:r>
              <a:rPr lang="en-US" dirty="0" smtClean="0"/>
              <a:t>information</a:t>
            </a:r>
            <a:endParaRPr lang="en-US" dirty="0"/>
          </a:p>
        </p:txBody>
      </p:sp>
    </p:spTree>
    <p:extLst>
      <p:ext uri="{BB962C8B-B14F-4D97-AF65-F5344CB8AC3E}">
        <p14:creationId xmlns:p14="http://schemas.microsoft.com/office/powerpoint/2010/main" val="3362489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p:cNvSpPr>
            <a:spLocks noGrp="1"/>
          </p:cNvSpPr>
          <p:nvPr>
            <p:ph type="subTitle" idx="1"/>
          </p:nvPr>
        </p:nvSpPr>
        <p:spPr/>
        <p:txBody>
          <a:bodyPr>
            <a:normAutofit fontScale="77500" lnSpcReduction="20000"/>
          </a:bodyPr>
          <a:lstStyle/>
          <a:p>
            <a:r>
              <a:rPr lang="en-US" dirty="0" smtClean="0"/>
              <a:t>Modern Smartphone Capabilities</a:t>
            </a:r>
            <a:endParaRPr lang="en-US" dirty="0"/>
          </a:p>
        </p:txBody>
      </p:sp>
      <p:sp>
        <p:nvSpPr>
          <p:cNvPr id="10" name="Content Placeholder 9"/>
          <p:cNvSpPr>
            <a:spLocks noGrp="1"/>
          </p:cNvSpPr>
          <p:nvPr>
            <p:ph sz="quarter" idx="14"/>
          </p:nvPr>
        </p:nvSpPr>
        <p:spPr/>
        <p:txBody>
          <a:bodyPr>
            <a:normAutofit fontScale="70000" lnSpcReduction="20000"/>
          </a:bodyPr>
          <a:lstStyle/>
          <a:p>
            <a:r>
              <a:rPr lang="en-US" dirty="0"/>
              <a:t>Cellular telephony</a:t>
            </a:r>
          </a:p>
          <a:p>
            <a:r>
              <a:rPr lang="en-US" dirty="0"/>
              <a:t>Bluetooth</a:t>
            </a:r>
          </a:p>
          <a:p>
            <a:r>
              <a:rPr lang="en-US" dirty="0"/>
              <a:t>Wi-Fi</a:t>
            </a:r>
          </a:p>
          <a:p>
            <a:r>
              <a:rPr lang="en-US" dirty="0"/>
              <a:t>Digital camera for images &amp; video</a:t>
            </a:r>
          </a:p>
          <a:p>
            <a:r>
              <a:rPr lang="en-US" dirty="0"/>
              <a:t>Global Positioning System (GPS)</a:t>
            </a:r>
          </a:p>
          <a:p>
            <a:r>
              <a:rPr lang="en-US" dirty="0"/>
              <a:t>Organizer</a:t>
            </a:r>
          </a:p>
          <a:p>
            <a:r>
              <a:rPr lang="en-US" dirty="0"/>
              <a:t>Scheduler</a:t>
            </a:r>
          </a:p>
          <a:p>
            <a:r>
              <a:rPr lang="en-US" dirty="0"/>
              <a:t>Address book</a:t>
            </a:r>
          </a:p>
          <a:p>
            <a:r>
              <a:rPr lang="en-US" dirty="0" smtClean="0"/>
              <a:t>Calculator</a:t>
            </a:r>
            <a:endParaRPr lang="en-US" dirty="0"/>
          </a:p>
        </p:txBody>
      </p:sp>
      <p:sp>
        <p:nvSpPr>
          <p:cNvPr id="11" name="Content Placeholder 10"/>
          <p:cNvSpPr>
            <a:spLocks noGrp="1"/>
          </p:cNvSpPr>
          <p:nvPr>
            <p:ph sz="quarter" idx="15"/>
          </p:nvPr>
        </p:nvSpPr>
        <p:spPr/>
        <p:txBody>
          <a:bodyPr>
            <a:normAutofit fontScale="70000" lnSpcReduction="20000"/>
          </a:bodyPr>
          <a:lstStyle/>
          <a:p>
            <a:r>
              <a:rPr lang="en-US" dirty="0"/>
              <a:t>E-mail</a:t>
            </a:r>
          </a:p>
          <a:p>
            <a:r>
              <a:rPr lang="en-US" dirty="0"/>
              <a:t>Short Message Service (SMS, sending and receiving short text messages up to 160 characters in length)</a:t>
            </a:r>
          </a:p>
          <a:p>
            <a:r>
              <a:rPr lang="en-US" dirty="0"/>
              <a:t>Instant Messaging</a:t>
            </a:r>
          </a:p>
          <a:p>
            <a:r>
              <a:rPr lang="en-US" dirty="0"/>
              <a:t>Text messaging</a:t>
            </a:r>
          </a:p>
          <a:p>
            <a:r>
              <a:rPr lang="en-US" dirty="0"/>
              <a:t>MP3 music player</a:t>
            </a:r>
          </a:p>
          <a:p>
            <a:r>
              <a:rPr lang="en-US" dirty="0"/>
              <a:t>Video player</a:t>
            </a:r>
          </a:p>
          <a:p>
            <a:r>
              <a:rPr lang="en-US" dirty="0"/>
              <a:t>Internet access with full-function browser</a:t>
            </a:r>
          </a:p>
          <a:p>
            <a:r>
              <a:rPr lang="en-US" dirty="0"/>
              <a:t>QWERTY </a:t>
            </a:r>
            <a:r>
              <a:rPr lang="en-US" dirty="0" smtClean="0"/>
              <a:t>keyboard</a:t>
            </a:r>
            <a:endParaRPr lang="en-US" dirty="0"/>
          </a:p>
        </p:txBody>
      </p:sp>
    </p:spTree>
    <p:extLst>
      <p:ext uri="{BB962C8B-B14F-4D97-AF65-F5344CB8AC3E}">
        <p14:creationId xmlns:p14="http://schemas.microsoft.com/office/powerpoint/2010/main" val="430680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55000" lnSpcReduction="20000"/>
          </a:bodyPr>
          <a:lstStyle/>
          <a:p>
            <a:r>
              <a:rPr lang="en-US" b="1" dirty="0">
                <a:solidFill>
                  <a:schemeClr val="tx1"/>
                </a:solidFill>
              </a:rPr>
              <a:t>FIGURE 8.1 </a:t>
            </a:r>
            <a:r>
              <a:rPr lang="en-US" dirty="0">
                <a:solidFill>
                  <a:schemeClr val="tx1"/>
                </a:solidFill>
              </a:rPr>
              <a:t>Dematerialization with smartphones</a:t>
            </a:r>
            <a:r>
              <a:rPr lang="en-US" dirty="0" smtClean="0">
                <a:solidFill>
                  <a:schemeClr val="tx1"/>
                </a:solidFill>
              </a:rPr>
              <a:t>.</a:t>
            </a:r>
            <a:endParaRPr lang="en-US" dirty="0">
              <a:solidFill>
                <a:schemeClr val="tx1"/>
              </a:solidFill>
            </a:endParaRPr>
          </a:p>
        </p:txBody>
      </p:sp>
      <p:pic>
        <p:nvPicPr>
          <p:cNvPr id="9" name="Picture 3"/>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287312" y="1447800"/>
            <a:ext cx="664557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3396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lnSpcReduction="10000"/>
          </a:bodyPr>
          <a:lstStyle/>
          <a:p>
            <a:r>
              <a:rPr lang="en-US" dirty="0" smtClean="0"/>
              <a:t>Wireless Transmission Media (WTM)</a:t>
            </a:r>
            <a:endParaRPr lang="en-US" dirty="0"/>
          </a:p>
        </p:txBody>
      </p:sp>
      <p:sp>
        <p:nvSpPr>
          <p:cNvPr id="5" name="Text Placeholder 4"/>
          <p:cNvSpPr>
            <a:spLocks noGrp="1"/>
          </p:cNvSpPr>
          <p:nvPr>
            <p:ph sz="quarter" idx="14"/>
          </p:nvPr>
        </p:nvSpPr>
        <p:spPr/>
        <p:txBody>
          <a:bodyPr>
            <a:normAutofit lnSpcReduction="10000"/>
          </a:bodyPr>
          <a:lstStyle/>
          <a:p>
            <a:r>
              <a:rPr lang="en-US" dirty="0"/>
              <a:t>Wireless Media (aka, broadcast media)</a:t>
            </a:r>
          </a:p>
          <a:p>
            <a:pPr lvl="1"/>
            <a:r>
              <a:rPr lang="en-US" dirty="0"/>
              <a:t>transmit signals without </a:t>
            </a:r>
            <a:r>
              <a:rPr lang="en-US" dirty="0" smtClean="0"/>
              <a:t>wires</a:t>
            </a:r>
            <a:endParaRPr lang="en-US" dirty="0"/>
          </a:p>
          <a:p>
            <a:r>
              <a:rPr lang="en-US" dirty="0"/>
              <a:t>Major Types of Wireless Media Channels:</a:t>
            </a:r>
          </a:p>
          <a:p>
            <a:pPr lvl="1"/>
            <a:r>
              <a:rPr lang="en-US" dirty="0"/>
              <a:t>Microwave</a:t>
            </a:r>
          </a:p>
          <a:p>
            <a:pPr lvl="1"/>
            <a:r>
              <a:rPr lang="en-US" dirty="0"/>
              <a:t>Satellite</a:t>
            </a:r>
          </a:p>
          <a:p>
            <a:pPr lvl="1"/>
            <a:r>
              <a:rPr lang="en-US" dirty="0"/>
              <a:t>Radio</a:t>
            </a:r>
          </a:p>
          <a:p>
            <a:pPr lvl="1"/>
            <a:r>
              <a:rPr lang="en-US" dirty="0" smtClean="0"/>
              <a:t>Infrared</a:t>
            </a:r>
            <a:endParaRPr lang="en-US" dirty="0"/>
          </a:p>
        </p:txBody>
      </p:sp>
    </p:spTree>
    <p:extLst>
      <p:ext uri="{BB962C8B-B14F-4D97-AF65-F5344CB8AC3E}">
        <p14:creationId xmlns:p14="http://schemas.microsoft.com/office/powerpoint/2010/main" val="3020825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WTM:  Microwave </a:t>
            </a:r>
            <a:endParaRPr lang="en-US" dirty="0"/>
          </a:p>
        </p:txBody>
      </p:sp>
      <p:sp>
        <p:nvSpPr>
          <p:cNvPr id="9" name="Content Placeholder 8"/>
          <p:cNvSpPr>
            <a:spLocks noGrp="1"/>
          </p:cNvSpPr>
          <p:nvPr>
            <p:ph sz="quarter" idx="14"/>
          </p:nvPr>
        </p:nvSpPr>
        <p:spPr/>
        <p:txBody>
          <a:bodyPr/>
          <a:lstStyle/>
          <a:p>
            <a:r>
              <a:rPr lang="en-US" dirty="0" smtClean="0"/>
              <a:t>High bandwidth</a:t>
            </a:r>
          </a:p>
          <a:p>
            <a:r>
              <a:rPr lang="en-US" dirty="0" smtClean="0"/>
              <a:t>Relatively Inexpensive</a:t>
            </a:r>
            <a:endParaRPr lang="en-US" dirty="0"/>
          </a:p>
        </p:txBody>
      </p:sp>
      <p:sp>
        <p:nvSpPr>
          <p:cNvPr id="10" name="Content Placeholder 9"/>
          <p:cNvSpPr>
            <a:spLocks noGrp="1"/>
          </p:cNvSpPr>
          <p:nvPr>
            <p:ph sz="quarter" idx="15"/>
          </p:nvPr>
        </p:nvSpPr>
        <p:spPr/>
        <p:txBody>
          <a:bodyPr/>
          <a:lstStyle/>
          <a:p>
            <a:r>
              <a:rPr lang="en-US" dirty="0"/>
              <a:t>Requires an unobstructed line of </a:t>
            </a:r>
            <a:r>
              <a:rPr lang="en-US" dirty="0" smtClean="0"/>
              <a:t>sight</a:t>
            </a:r>
            <a:endParaRPr lang="en-US" dirty="0"/>
          </a:p>
          <a:p>
            <a:r>
              <a:rPr lang="en-US" dirty="0"/>
              <a:t>Susceptible to environmental interference</a:t>
            </a:r>
          </a:p>
        </p:txBody>
      </p:sp>
      <p:sp>
        <p:nvSpPr>
          <p:cNvPr id="5" name="Text Placeholder 4"/>
          <p:cNvSpPr>
            <a:spLocks noGrp="1"/>
          </p:cNvSpPr>
          <p:nvPr>
            <p:ph type="body" idx="16"/>
          </p:nvPr>
        </p:nvSpPr>
        <p:spPr/>
        <p:txBody>
          <a:bodyPr>
            <a:normAutofit fontScale="92500" lnSpcReduction="10000"/>
          </a:bodyPr>
          <a:lstStyle/>
          <a:p>
            <a:r>
              <a:rPr lang="en-US" dirty="0" smtClean="0"/>
              <a:t>Disadvantages</a:t>
            </a:r>
            <a:endParaRPr lang="en-US" dirty="0"/>
          </a:p>
        </p:txBody>
      </p:sp>
      <p:sp>
        <p:nvSpPr>
          <p:cNvPr id="8" name="Text Placeholder 7"/>
          <p:cNvSpPr>
            <a:spLocks noGrp="1"/>
          </p:cNvSpPr>
          <p:nvPr>
            <p:ph type="body" sz="quarter" idx="3"/>
          </p:nvPr>
        </p:nvSpPr>
        <p:spPr/>
        <p:txBody>
          <a:bodyPr>
            <a:normAutofit fontScale="92500" lnSpcReduction="10000"/>
          </a:bodyPr>
          <a:lstStyle/>
          <a:p>
            <a:r>
              <a:rPr lang="en-US" dirty="0" smtClean="0"/>
              <a:t>Advantages</a:t>
            </a:r>
            <a:endParaRPr lang="en-US" dirty="0"/>
          </a:p>
        </p:txBody>
      </p:sp>
    </p:spTree>
    <p:extLst>
      <p:ext uri="{BB962C8B-B14F-4D97-AF65-F5344CB8AC3E}">
        <p14:creationId xmlns:p14="http://schemas.microsoft.com/office/powerpoint/2010/main" val="286974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r>
              <a:rPr lang="en-US" dirty="0" smtClean="0"/>
              <a:t>WTM:  Satellite</a:t>
            </a:r>
            <a:endParaRPr lang="en-US" dirty="0"/>
          </a:p>
        </p:txBody>
      </p:sp>
      <p:sp>
        <p:nvSpPr>
          <p:cNvPr id="4" name="Content Placeholder 3"/>
          <p:cNvSpPr>
            <a:spLocks noGrp="1"/>
          </p:cNvSpPr>
          <p:nvPr>
            <p:ph sz="quarter" idx="14"/>
          </p:nvPr>
        </p:nvSpPr>
        <p:spPr/>
        <p:txBody>
          <a:bodyPr>
            <a:normAutofit/>
          </a:bodyPr>
          <a:lstStyle/>
          <a:p>
            <a:r>
              <a:rPr lang="en-US" sz="3000" dirty="0"/>
              <a:t>High bandwidth</a:t>
            </a:r>
          </a:p>
          <a:p>
            <a:r>
              <a:rPr lang="en-US" sz="3000" dirty="0"/>
              <a:t>Large coverage area</a:t>
            </a:r>
          </a:p>
        </p:txBody>
      </p:sp>
      <p:sp>
        <p:nvSpPr>
          <p:cNvPr id="6" name="Content Placeholder 5"/>
          <p:cNvSpPr>
            <a:spLocks noGrp="1"/>
          </p:cNvSpPr>
          <p:nvPr>
            <p:ph sz="quarter" idx="15"/>
          </p:nvPr>
        </p:nvSpPr>
        <p:spPr/>
        <p:txBody>
          <a:bodyPr>
            <a:normAutofit fontScale="92500"/>
          </a:bodyPr>
          <a:lstStyle/>
          <a:p>
            <a:r>
              <a:rPr lang="en-US" dirty="0"/>
              <a:t>Expensive</a:t>
            </a:r>
          </a:p>
          <a:p>
            <a:r>
              <a:rPr lang="en-US" dirty="0"/>
              <a:t>Requires unobstructed line of sight</a:t>
            </a:r>
          </a:p>
          <a:p>
            <a:r>
              <a:rPr lang="en-US" dirty="0"/>
              <a:t>Signals experience propagation delay</a:t>
            </a:r>
          </a:p>
          <a:p>
            <a:r>
              <a:rPr lang="en-US" dirty="0"/>
              <a:t>Requires the use of encryption for security</a:t>
            </a:r>
          </a:p>
        </p:txBody>
      </p:sp>
      <p:sp>
        <p:nvSpPr>
          <p:cNvPr id="3" name="Text Placeholder 2"/>
          <p:cNvSpPr>
            <a:spLocks noGrp="1"/>
          </p:cNvSpPr>
          <p:nvPr>
            <p:ph type="body" idx="16"/>
          </p:nvPr>
        </p:nvSpPr>
        <p:spPr/>
        <p:txBody>
          <a:bodyPr>
            <a:normAutofit fontScale="92500" lnSpcReduction="10000"/>
          </a:bodyPr>
          <a:lstStyle/>
          <a:p>
            <a:r>
              <a:rPr lang="en-US" dirty="0" smtClean="0"/>
              <a:t>Disadvantages</a:t>
            </a:r>
            <a:endParaRPr lang="en-US" dirty="0"/>
          </a:p>
        </p:txBody>
      </p:sp>
      <p:sp>
        <p:nvSpPr>
          <p:cNvPr id="5" name="Text Placeholder 4"/>
          <p:cNvSpPr>
            <a:spLocks noGrp="1"/>
          </p:cNvSpPr>
          <p:nvPr>
            <p:ph type="body" sz="quarter" idx="3"/>
          </p:nvPr>
        </p:nvSpPr>
        <p:spPr/>
        <p:txBody>
          <a:bodyPr>
            <a:normAutofit fontScale="92500" lnSpcReduction="10000"/>
          </a:bodyPr>
          <a:lstStyle/>
          <a:p>
            <a:r>
              <a:rPr lang="en-US" dirty="0" smtClean="0"/>
              <a:t>Advantages</a:t>
            </a:r>
            <a:endParaRPr lang="en-US" dirty="0"/>
          </a:p>
        </p:txBody>
      </p:sp>
    </p:spTree>
    <p:extLst>
      <p:ext uri="{BB962C8B-B14F-4D97-AF65-F5344CB8AC3E}">
        <p14:creationId xmlns:p14="http://schemas.microsoft.com/office/powerpoint/2010/main" val="679757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55000" lnSpcReduction="20000"/>
          </a:bodyPr>
          <a:lstStyle/>
          <a:p>
            <a:r>
              <a:rPr lang="en-US" b="1" dirty="0"/>
              <a:t>FIGURE 8.2 </a:t>
            </a:r>
            <a:r>
              <a:rPr lang="en-US" dirty="0"/>
              <a:t>Comparison of satellite footprints</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3309506" y="1447800"/>
            <a:ext cx="2601187"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5808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Skybox Imaging Provides Commercial Images from Earth’s Orbit</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8.1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p:cNvSpPr>
            <a:spLocks noGrp="1"/>
          </p:cNvSpPr>
          <p:nvPr>
            <p:ph type="subTitle" idx="1"/>
          </p:nvPr>
        </p:nvSpPr>
        <p:spPr/>
        <p:txBody>
          <a:bodyPr>
            <a:normAutofit fontScale="92500"/>
          </a:bodyPr>
          <a:lstStyle/>
          <a:p>
            <a:r>
              <a:rPr lang="en-US" dirty="0" smtClean="0"/>
              <a:t>Three Basic Types of Telecommunications Satellites</a:t>
            </a:r>
            <a:endParaRPr lang="en-US" dirty="0"/>
          </a:p>
        </p:txBody>
      </p:sp>
      <p:sp>
        <p:nvSpPr>
          <p:cNvPr id="9" name="Text Placeholder 8"/>
          <p:cNvSpPr>
            <a:spLocks noGrp="1"/>
          </p:cNvSpPr>
          <p:nvPr>
            <p:ph type="body" sz="quarter" idx="13"/>
          </p:nvPr>
        </p:nvSpPr>
        <p:spPr/>
        <p:txBody>
          <a:bodyPr/>
          <a:lstStyle/>
          <a:p>
            <a:r>
              <a:rPr lang="en-US" dirty="0" smtClean="0"/>
              <a:t>Geostationary Earth Orbit (GEO)</a:t>
            </a:r>
          </a:p>
          <a:p>
            <a:r>
              <a:rPr lang="en-US" dirty="0" smtClean="0"/>
              <a:t>Middle Earth Orbit (MEO)</a:t>
            </a:r>
          </a:p>
          <a:p>
            <a:r>
              <a:rPr lang="en-US" dirty="0" smtClean="0"/>
              <a:t>Low Earth Orbit (LEO)</a:t>
            </a:r>
            <a:endParaRPr lang="en-US" dirty="0"/>
          </a:p>
        </p:txBody>
      </p:sp>
    </p:spTree>
    <p:extLst>
      <p:ext uri="{BB962C8B-B14F-4D97-AF65-F5344CB8AC3E}">
        <p14:creationId xmlns:p14="http://schemas.microsoft.com/office/powerpoint/2010/main" val="3004348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smtClean="0"/>
              <a:t>Geostationary Earth Orbit (GEO)</a:t>
            </a:r>
            <a:endParaRPr lang="en-US" dirty="0"/>
          </a:p>
        </p:txBody>
      </p:sp>
      <p:sp>
        <p:nvSpPr>
          <p:cNvPr id="4" name="Content Placeholder 3"/>
          <p:cNvSpPr>
            <a:spLocks noGrp="1"/>
          </p:cNvSpPr>
          <p:nvPr>
            <p:ph sz="quarter" idx="15"/>
          </p:nvPr>
        </p:nvSpPr>
        <p:spPr>
          <a:xfrm>
            <a:off x="3733800" y="1828800"/>
            <a:ext cx="4876800" cy="4419600"/>
          </a:xfrm>
        </p:spPr>
        <p:txBody>
          <a:bodyPr>
            <a:normAutofit fontScale="70000" lnSpcReduction="20000"/>
          </a:bodyPr>
          <a:lstStyle/>
          <a:p>
            <a:pPr marL="0" indent="0">
              <a:buNone/>
            </a:pPr>
            <a:r>
              <a:rPr lang="en-US" dirty="0" smtClean="0"/>
              <a:t>22,300 miles</a:t>
            </a:r>
          </a:p>
          <a:p>
            <a:pPr marL="0" indent="0">
              <a:buNone/>
            </a:pPr>
            <a:r>
              <a:rPr lang="en-US" dirty="0" smtClean="0"/>
              <a:t>8</a:t>
            </a:r>
          </a:p>
          <a:p>
            <a:pPr marL="0" indent="0">
              <a:buNone/>
            </a:pPr>
            <a:r>
              <a:rPr lang="en-US" dirty="0" smtClean="0"/>
              <a:t>TV Signal</a:t>
            </a:r>
          </a:p>
          <a:p>
            <a:pPr marL="0" indent="0">
              <a:buNone/>
            </a:pPr>
            <a:endParaRPr lang="en-US" dirty="0"/>
          </a:p>
          <a:p>
            <a:r>
              <a:rPr lang="en-US" i="1" dirty="0"/>
              <a:t>Satellites stationary relative to point on Earth</a:t>
            </a:r>
          </a:p>
          <a:p>
            <a:r>
              <a:rPr lang="en-US" i="1" dirty="0"/>
              <a:t>Few satellites needed for global coverage</a:t>
            </a:r>
          </a:p>
          <a:p>
            <a:r>
              <a:rPr lang="en-US" i="1" dirty="0"/>
              <a:t>Transmission delay (approximately .25 second)</a:t>
            </a:r>
          </a:p>
          <a:p>
            <a:r>
              <a:rPr lang="en-US" i="1" dirty="0"/>
              <a:t>Most expensive to build and launch</a:t>
            </a:r>
          </a:p>
          <a:p>
            <a:r>
              <a:rPr lang="en-US" i="1" dirty="0"/>
              <a:t>Longest orbital life (many years)</a:t>
            </a:r>
          </a:p>
          <a:p>
            <a:pPr marL="0" indent="0">
              <a:buNone/>
            </a:pPr>
            <a:endParaRPr lang="en-US" dirty="0"/>
          </a:p>
        </p:txBody>
      </p:sp>
      <p:sp>
        <p:nvSpPr>
          <p:cNvPr id="6" name="Content Placeholder 3"/>
          <p:cNvSpPr txBox="1">
            <a:spLocks/>
          </p:cNvSpPr>
          <p:nvPr/>
        </p:nvSpPr>
        <p:spPr>
          <a:xfrm>
            <a:off x="228600" y="1828800"/>
            <a:ext cx="3505200" cy="44196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Times New Roman"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baseline="0">
                <a:solidFill>
                  <a:schemeClr val="tx1"/>
                </a:solidFill>
                <a:latin typeface="Times New Roman"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tx1"/>
                </a:solidFill>
                <a:latin typeface="Times New Roman"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tx1"/>
                </a:solidFill>
                <a:latin typeface="Times New Roman"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tx1"/>
                </a:solidFill>
                <a:latin typeface="Times New Roman"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 typeface="Arial" pitchFamily="34" charset="0"/>
              <a:buNone/>
            </a:pPr>
            <a:r>
              <a:rPr lang="en-US" b="1" dirty="0" smtClean="0"/>
              <a:t>Orbit:</a:t>
            </a:r>
          </a:p>
          <a:p>
            <a:pPr marL="0" indent="0" algn="r">
              <a:buFont typeface="Arial" pitchFamily="34" charset="0"/>
              <a:buNone/>
            </a:pPr>
            <a:r>
              <a:rPr lang="en-US" b="1" dirty="0" smtClean="0"/>
              <a:t>Number of Satellites:</a:t>
            </a:r>
          </a:p>
          <a:p>
            <a:pPr marL="0" indent="0" algn="r">
              <a:buFont typeface="Arial" pitchFamily="34" charset="0"/>
              <a:buNone/>
            </a:pPr>
            <a:r>
              <a:rPr lang="en-US" b="1" dirty="0" smtClean="0"/>
              <a:t>Use:</a:t>
            </a:r>
          </a:p>
          <a:p>
            <a:pPr marL="0" indent="0" algn="r">
              <a:buFont typeface="Arial" pitchFamily="34" charset="0"/>
              <a:buNone/>
            </a:pPr>
            <a:endParaRPr lang="en-US" b="1" dirty="0" smtClean="0"/>
          </a:p>
          <a:p>
            <a:pPr marL="0" indent="0" algn="r">
              <a:buNone/>
            </a:pPr>
            <a:r>
              <a:rPr lang="en-US" b="1" dirty="0" smtClean="0"/>
              <a:t>Characteristics:</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a:solidFill>
                  <a:schemeClr val="bg1"/>
                </a:solidFill>
              </a:rPr>
              <a:t>a</a:t>
            </a:r>
          </a:p>
        </p:txBody>
      </p:sp>
    </p:spTree>
    <p:extLst>
      <p:ext uri="{BB962C8B-B14F-4D97-AF65-F5344CB8AC3E}">
        <p14:creationId xmlns:p14="http://schemas.microsoft.com/office/powerpoint/2010/main" val="2523503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p:cNvSpPr>
            <a:spLocks noGrp="1"/>
          </p:cNvSpPr>
          <p:nvPr>
            <p:ph type="subTitle" idx="1"/>
          </p:nvPr>
        </p:nvSpPr>
        <p:spPr/>
        <p:txBody>
          <a:bodyPr/>
          <a:lstStyle/>
          <a:p>
            <a:r>
              <a:rPr lang="en-US" dirty="0" smtClean="0"/>
              <a:t>Internet over Satellite (</a:t>
            </a:r>
            <a:r>
              <a:rPr lang="en-US" dirty="0" err="1" smtClean="0"/>
              <a:t>IoS</a:t>
            </a:r>
            <a:r>
              <a:rPr lang="en-US" dirty="0" smtClean="0"/>
              <a:t>)</a:t>
            </a:r>
            <a:endParaRPr lang="en-US" dirty="0"/>
          </a:p>
        </p:txBody>
      </p:sp>
      <p:sp>
        <p:nvSpPr>
          <p:cNvPr id="4" name="Content Placeholder 3"/>
          <p:cNvSpPr>
            <a:spLocks noGrp="1"/>
          </p:cNvSpPr>
          <p:nvPr>
            <p:ph sz="quarter" idx="14"/>
          </p:nvPr>
        </p:nvSpPr>
        <p:spPr/>
        <p:txBody>
          <a:bodyPr/>
          <a:lstStyle/>
          <a:p>
            <a:r>
              <a:rPr lang="en-US" dirty="0" smtClean="0"/>
              <a:t>Provides Internet services to remote areas of Earth</a:t>
            </a:r>
            <a:endParaRPr lang="en-US" dirty="0"/>
          </a:p>
        </p:txBody>
      </p:sp>
      <p:sp>
        <p:nvSpPr>
          <p:cNvPr id="6" name="Content Placeholder 5"/>
          <p:cNvSpPr>
            <a:spLocks noGrp="1"/>
          </p:cNvSpPr>
          <p:nvPr>
            <p:ph sz="quarter" idx="15"/>
          </p:nvPr>
        </p:nvSpPr>
        <p:spPr/>
        <p:txBody>
          <a:bodyPr/>
          <a:lstStyle/>
          <a:p>
            <a:r>
              <a:rPr lang="en-US" dirty="0" smtClean="0"/>
              <a:t>Propagation delay</a:t>
            </a:r>
          </a:p>
          <a:p>
            <a:r>
              <a:rPr lang="en-US" dirty="0" smtClean="0"/>
              <a:t>Disrupted by environmental conditions</a:t>
            </a:r>
            <a:endParaRPr lang="en-US" dirty="0"/>
          </a:p>
        </p:txBody>
      </p:sp>
      <p:sp>
        <p:nvSpPr>
          <p:cNvPr id="5" name="Text Placeholder 4"/>
          <p:cNvSpPr>
            <a:spLocks noGrp="1"/>
          </p:cNvSpPr>
          <p:nvPr>
            <p:ph type="body" idx="16"/>
          </p:nvPr>
        </p:nvSpPr>
        <p:spPr/>
        <p:txBody>
          <a:bodyPr/>
          <a:lstStyle/>
          <a:p>
            <a:r>
              <a:rPr lang="en-US" dirty="0" smtClean="0"/>
              <a:t>Disadvantages</a:t>
            </a:r>
            <a:endParaRPr lang="en-US" dirty="0"/>
          </a:p>
        </p:txBody>
      </p:sp>
      <p:sp>
        <p:nvSpPr>
          <p:cNvPr id="3" name="Text Placeholder 2"/>
          <p:cNvSpPr>
            <a:spLocks noGrp="1"/>
          </p:cNvSpPr>
          <p:nvPr>
            <p:ph type="body" sz="quarter" idx="3"/>
          </p:nvPr>
        </p:nvSpPr>
        <p:spPr/>
        <p:txBody>
          <a:bodyPr/>
          <a:lstStyle/>
          <a:p>
            <a:r>
              <a:rPr lang="en-US" dirty="0" smtClean="0"/>
              <a:t>Advantages</a:t>
            </a:r>
            <a:endParaRPr lang="en-US" dirty="0"/>
          </a:p>
        </p:txBody>
      </p:sp>
    </p:spTree>
    <p:extLst>
      <p:ext uri="{BB962C8B-B14F-4D97-AF65-F5344CB8AC3E}">
        <p14:creationId xmlns:p14="http://schemas.microsoft.com/office/powerpoint/2010/main" val="2709870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Middle Earth Orbit (MEO)</a:t>
            </a:r>
            <a:endParaRPr lang="en-US" dirty="0"/>
          </a:p>
        </p:txBody>
      </p:sp>
      <p:sp>
        <p:nvSpPr>
          <p:cNvPr id="4" name="Content Placeholder 3"/>
          <p:cNvSpPr>
            <a:spLocks noGrp="1"/>
          </p:cNvSpPr>
          <p:nvPr>
            <p:ph sz="quarter" idx="15"/>
          </p:nvPr>
        </p:nvSpPr>
        <p:spPr>
          <a:xfrm>
            <a:off x="3733800" y="1828800"/>
            <a:ext cx="4876800" cy="4419600"/>
          </a:xfrm>
        </p:spPr>
        <p:txBody>
          <a:bodyPr>
            <a:normAutofit fontScale="70000" lnSpcReduction="20000"/>
          </a:bodyPr>
          <a:lstStyle/>
          <a:p>
            <a:pPr marL="0" indent="0">
              <a:buNone/>
            </a:pPr>
            <a:r>
              <a:rPr lang="en-US" dirty="0"/>
              <a:t>6,434 miles</a:t>
            </a:r>
          </a:p>
          <a:p>
            <a:pPr marL="0" indent="0">
              <a:buNone/>
            </a:pPr>
            <a:r>
              <a:rPr lang="en-US" dirty="0"/>
              <a:t>10 - 12 </a:t>
            </a:r>
          </a:p>
          <a:p>
            <a:pPr marL="0" indent="0">
              <a:buNone/>
            </a:pPr>
            <a:r>
              <a:rPr lang="en-US" dirty="0"/>
              <a:t>Global Positioning Systems (GPS)</a:t>
            </a:r>
          </a:p>
          <a:p>
            <a:pPr marL="0" indent="0">
              <a:buNone/>
            </a:pPr>
            <a:endParaRPr lang="en-US" dirty="0"/>
          </a:p>
          <a:p>
            <a:r>
              <a:rPr lang="en-US" i="1" dirty="0" smtClean="0"/>
              <a:t>Satellites move relative to point on Earth</a:t>
            </a:r>
          </a:p>
          <a:p>
            <a:r>
              <a:rPr lang="en-US" i="1" dirty="0" smtClean="0"/>
              <a:t>Moderate number needed for global coverage</a:t>
            </a:r>
          </a:p>
          <a:p>
            <a:r>
              <a:rPr lang="en-US" i="1" dirty="0" smtClean="0"/>
              <a:t>Requires medium-powered transmitters</a:t>
            </a:r>
          </a:p>
          <a:p>
            <a:r>
              <a:rPr lang="en-US" i="1" dirty="0" smtClean="0"/>
              <a:t>Negligible transmission delay</a:t>
            </a:r>
          </a:p>
          <a:p>
            <a:r>
              <a:rPr lang="en-US" i="1" dirty="0" smtClean="0"/>
              <a:t>Less expensive to build and launch</a:t>
            </a:r>
          </a:p>
          <a:p>
            <a:r>
              <a:rPr lang="en-US" i="1" dirty="0" smtClean="0"/>
              <a:t>Moderate orbital life (6–12 years)</a:t>
            </a:r>
          </a:p>
          <a:p>
            <a:pPr marL="0" indent="0">
              <a:buNone/>
            </a:pPr>
            <a:endParaRPr lang="en-US" dirty="0"/>
          </a:p>
        </p:txBody>
      </p:sp>
      <p:sp>
        <p:nvSpPr>
          <p:cNvPr id="6" name="Content Placeholder 3"/>
          <p:cNvSpPr txBox="1">
            <a:spLocks/>
          </p:cNvSpPr>
          <p:nvPr/>
        </p:nvSpPr>
        <p:spPr>
          <a:xfrm>
            <a:off x="228600" y="1828800"/>
            <a:ext cx="3505200" cy="44196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Times New Roman"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baseline="0">
                <a:solidFill>
                  <a:schemeClr val="tx1"/>
                </a:solidFill>
                <a:latin typeface="Times New Roman"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tx1"/>
                </a:solidFill>
                <a:latin typeface="Times New Roman"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tx1"/>
                </a:solidFill>
                <a:latin typeface="Times New Roman"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tx1"/>
                </a:solidFill>
                <a:latin typeface="Times New Roman"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 typeface="Arial" pitchFamily="34" charset="0"/>
              <a:buNone/>
            </a:pPr>
            <a:r>
              <a:rPr lang="en-US" b="1" dirty="0" smtClean="0"/>
              <a:t>Orbit:</a:t>
            </a:r>
          </a:p>
          <a:p>
            <a:pPr marL="0" indent="0" algn="r">
              <a:buFont typeface="Arial" pitchFamily="34" charset="0"/>
              <a:buNone/>
            </a:pPr>
            <a:r>
              <a:rPr lang="en-US" b="1" dirty="0" smtClean="0"/>
              <a:t>Number of Satellites:</a:t>
            </a:r>
          </a:p>
          <a:p>
            <a:pPr marL="0" indent="0" algn="r">
              <a:buFont typeface="Arial" pitchFamily="34" charset="0"/>
              <a:buNone/>
            </a:pPr>
            <a:r>
              <a:rPr lang="en-US" b="1" dirty="0" smtClean="0"/>
              <a:t>Use:</a:t>
            </a:r>
          </a:p>
          <a:p>
            <a:pPr marL="0" indent="0" algn="r">
              <a:buFont typeface="Arial" pitchFamily="34" charset="0"/>
              <a:buNone/>
            </a:pPr>
            <a:endParaRPr lang="en-US" b="1" dirty="0" smtClean="0"/>
          </a:p>
          <a:p>
            <a:pPr marL="0" indent="0" algn="r">
              <a:buNone/>
            </a:pPr>
            <a:r>
              <a:rPr lang="en-US" b="1" dirty="0" smtClean="0"/>
              <a:t>Characteristics:</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a:solidFill>
                  <a:schemeClr val="bg1"/>
                </a:solidFill>
              </a:rPr>
              <a:t>a</a:t>
            </a:r>
          </a:p>
        </p:txBody>
      </p:sp>
    </p:spTree>
    <p:extLst>
      <p:ext uri="{BB962C8B-B14F-4D97-AF65-F5344CB8AC3E}">
        <p14:creationId xmlns:p14="http://schemas.microsoft.com/office/powerpoint/2010/main" val="2032419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a:xfrm>
            <a:off x="546728" y="762000"/>
            <a:ext cx="8292472" cy="1066800"/>
          </a:xfrm>
        </p:spPr>
        <p:txBody>
          <a:bodyPr>
            <a:normAutofit fontScale="85000" lnSpcReduction="10000"/>
          </a:bodyPr>
          <a:lstStyle/>
          <a:p>
            <a:r>
              <a:rPr lang="en-US" dirty="0" smtClean="0"/>
              <a:t>Global Positioning Systems (GPS)</a:t>
            </a:r>
          </a:p>
        </p:txBody>
      </p:sp>
      <p:sp>
        <p:nvSpPr>
          <p:cNvPr id="8" name="Text Placeholder 7"/>
          <p:cNvSpPr>
            <a:spLocks noGrp="1"/>
          </p:cNvSpPr>
          <p:nvPr>
            <p:ph type="body" sz="quarter" idx="13"/>
          </p:nvPr>
        </p:nvSpPr>
        <p:spPr/>
        <p:txBody>
          <a:bodyPr>
            <a:normAutofit fontScale="85000" lnSpcReduction="20000"/>
          </a:bodyPr>
          <a:lstStyle/>
          <a:p>
            <a:r>
              <a:rPr lang="en-US" dirty="0"/>
              <a:t>A wireless system that utilizes satellites to enable users to determine their position anywhere on Earth.</a:t>
            </a:r>
          </a:p>
          <a:p>
            <a:r>
              <a:rPr lang="en-US" dirty="0"/>
              <a:t>Supported by 24 MEO Satellites</a:t>
            </a:r>
          </a:p>
          <a:p>
            <a:r>
              <a:rPr lang="en-US" dirty="0"/>
              <a:t>Uses of GPS</a:t>
            </a:r>
          </a:p>
          <a:p>
            <a:pPr lvl="1"/>
            <a:r>
              <a:rPr lang="en-US" dirty="0"/>
              <a:t>Navigating, Mapping, Surveying, 911 location</a:t>
            </a:r>
          </a:p>
          <a:p>
            <a:r>
              <a:rPr lang="en-US" dirty="0"/>
              <a:t>Three additional GPS Systems</a:t>
            </a:r>
          </a:p>
          <a:p>
            <a:pPr lvl="1"/>
            <a:r>
              <a:rPr lang="en-US" dirty="0"/>
              <a:t>GLONASS, Russia 2005</a:t>
            </a:r>
          </a:p>
          <a:p>
            <a:pPr lvl="1"/>
            <a:r>
              <a:rPr lang="en-US" dirty="0"/>
              <a:t>Galileo, European Union 2015</a:t>
            </a:r>
          </a:p>
          <a:p>
            <a:pPr lvl="1"/>
            <a:r>
              <a:rPr lang="en-US" dirty="0" err="1"/>
              <a:t>Beidou</a:t>
            </a:r>
            <a:r>
              <a:rPr lang="en-US" dirty="0"/>
              <a:t>, China 2020</a:t>
            </a:r>
          </a:p>
          <a:p>
            <a:endParaRPr lang="en-US" dirty="0"/>
          </a:p>
        </p:txBody>
      </p:sp>
    </p:spTree>
    <p:extLst>
      <p:ext uri="{BB962C8B-B14F-4D97-AF65-F5344CB8AC3E}">
        <p14:creationId xmlns:p14="http://schemas.microsoft.com/office/powerpoint/2010/main" val="3357239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Low Earth Orbit (LEO)</a:t>
            </a:r>
            <a:endParaRPr lang="en-US" dirty="0"/>
          </a:p>
        </p:txBody>
      </p:sp>
      <p:sp>
        <p:nvSpPr>
          <p:cNvPr id="4" name="Content Placeholder 3"/>
          <p:cNvSpPr>
            <a:spLocks noGrp="1"/>
          </p:cNvSpPr>
          <p:nvPr>
            <p:ph sz="quarter" idx="15"/>
          </p:nvPr>
        </p:nvSpPr>
        <p:spPr>
          <a:xfrm>
            <a:off x="3733800" y="1828800"/>
            <a:ext cx="4876800" cy="4419600"/>
          </a:xfrm>
        </p:spPr>
        <p:txBody>
          <a:bodyPr>
            <a:normAutofit fontScale="70000" lnSpcReduction="20000"/>
          </a:bodyPr>
          <a:lstStyle/>
          <a:p>
            <a:pPr marL="0" indent="0">
              <a:buNone/>
            </a:pPr>
            <a:r>
              <a:rPr lang="en-US" dirty="0"/>
              <a:t>400 - 700 miles</a:t>
            </a:r>
          </a:p>
          <a:p>
            <a:pPr marL="0" indent="0">
              <a:buNone/>
            </a:pPr>
            <a:r>
              <a:rPr lang="en-US" dirty="0"/>
              <a:t>Many </a:t>
            </a:r>
          </a:p>
          <a:p>
            <a:pPr marL="0" indent="0">
              <a:buNone/>
            </a:pPr>
            <a:r>
              <a:rPr lang="en-US" dirty="0"/>
              <a:t>Telephone, Internet</a:t>
            </a:r>
          </a:p>
          <a:p>
            <a:pPr marL="0" indent="0">
              <a:buNone/>
            </a:pPr>
            <a:endParaRPr lang="en-US" dirty="0"/>
          </a:p>
          <a:p>
            <a:r>
              <a:rPr lang="en-US" i="1" dirty="0"/>
              <a:t>Satellites move rapidly relative to point on Earth</a:t>
            </a:r>
          </a:p>
          <a:p>
            <a:r>
              <a:rPr lang="en-US" i="1" dirty="0"/>
              <a:t>Large number needed for global coverage</a:t>
            </a:r>
          </a:p>
          <a:p>
            <a:r>
              <a:rPr lang="en-US" i="1" dirty="0"/>
              <a:t>Requires only low-power transmitters</a:t>
            </a:r>
          </a:p>
          <a:p>
            <a:r>
              <a:rPr lang="en-US" i="1" dirty="0"/>
              <a:t>Negligible transmission delay</a:t>
            </a:r>
          </a:p>
          <a:p>
            <a:r>
              <a:rPr lang="en-US" i="1" dirty="0"/>
              <a:t>Least expensive to build and launch</a:t>
            </a:r>
          </a:p>
          <a:p>
            <a:r>
              <a:rPr lang="en-US" i="1" dirty="0"/>
              <a:t>Shortest orbital life (as low as 5 years</a:t>
            </a:r>
            <a:r>
              <a:rPr lang="en-US" i="1" dirty="0" smtClean="0"/>
              <a:t>)</a:t>
            </a:r>
            <a:endParaRPr lang="en-US" i="1" dirty="0"/>
          </a:p>
        </p:txBody>
      </p:sp>
      <p:sp>
        <p:nvSpPr>
          <p:cNvPr id="6" name="Content Placeholder 3"/>
          <p:cNvSpPr txBox="1">
            <a:spLocks/>
          </p:cNvSpPr>
          <p:nvPr/>
        </p:nvSpPr>
        <p:spPr>
          <a:xfrm>
            <a:off x="228600" y="1828800"/>
            <a:ext cx="3505200" cy="44196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Times New Roman"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baseline="0">
                <a:solidFill>
                  <a:schemeClr val="tx1"/>
                </a:solidFill>
                <a:latin typeface="Times New Roman"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tx1"/>
                </a:solidFill>
                <a:latin typeface="Times New Roman"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tx1"/>
                </a:solidFill>
                <a:latin typeface="Times New Roman"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tx1"/>
                </a:solidFill>
                <a:latin typeface="Times New Roman"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 typeface="Arial" pitchFamily="34" charset="0"/>
              <a:buNone/>
            </a:pPr>
            <a:r>
              <a:rPr lang="en-US" b="1" dirty="0" smtClean="0"/>
              <a:t>Orbit:</a:t>
            </a:r>
          </a:p>
          <a:p>
            <a:pPr marL="0" indent="0" algn="r">
              <a:buFont typeface="Arial" pitchFamily="34" charset="0"/>
              <a:buNone/>
            </a:pPr>
            <a:r>
              <a:rPr lang="en-US" b="1" dirty="0" smtClean="0"/>
              <a:t>Number of Satellites:</a:t>
            </a:r>
          </a:p>
          <a:p>
            <a:pPr marL="0" indent="0" algn="r">
              <a:buFont typeface="Arial" pitchFamily="34" charset="0"/>
              <a:buNone/>
            </a:pPr>
            <a:r>
              <a:rPr lang="en-US" b="1" dirty="0" smtClean="0"/>
              <a:t>Use:</a:t>
            </a:r>
          </a:p>
          <a:p>
            <a:pPr marL="0" indent="0" algn="r">
              <a:buFont typeface="Arial" pitchFamily="34" charset="0"/>
              <a:buNone/>
            </a:pPr>
            <a:endParaRPr lang="en-US" b="1" dirty="0" smtClean="0"/>
          </a:p>
          <a:p>
            <a:pPr marL="0" indent="0" algn="r">
              <a:buNone/>
            </a:pPr>
            <a:r>
              <a:rPr lang="en-US" b="1" dirty="0" smtClean="0"/>
              <a:t>Characteristics:</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smtClean="0">
                <a:solidFill>
                  <a:schemeClr val="bg1"/>
                </a:solidFill>
              </a:rPr>
              <a:t>A</a:t>
            </a:r>
          </a:p>
          <a:p>
            <a:pPr marL="0" indent="0" algn="r">
              <a:buNone/>
            </a:pPr>
            <a:r>
              <a:rPr lang="en-US" dirty="0">
                <a:solidFill>
                  <a:schemeClr val="bg1"/>
                </a:solidFill>
              </a:rPr>
              <a:t>a</a:t>
            </a:r>
          </a:p>
        </p:txBody>
      </p:sp>
    </p:spTree>
    <p:extLst>
      <p:ext uri="{BB962C8B-B14F-4D97-AF65-F5344CB8AC3E}">
        <p14:creationId xmlns:p14="http://schemas.microsoft.com/office/powerpoint/2010/main" val="1583935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subTitle" idx="1"/>
          </p:nvPr>
        </p:nvSpPr>
        <p:spPr/>
        <p:txBody>
          <a:bodyPr>
            <a:normAutofit/>
          </a:bodyPr>
          <a:lstStyle/>
          <a:p>
            <a:r>
              <a:rPr lang="en-US" dirty="0" smtClean="0"/>
              <a:t>WTM: Radio</a:t>
            </a:r>
            <a:endParaRPr lang="en-US" dirty="0"/>
          </a:p>
        </p:txBody>
      </p:sp>
      <p:sp>
        <p:nvSpPr>
          <p:cNvPr id="6" name="Content Placeholder 5"/>
          <p:cNvSpPr>
            <a:spLocks noGrp="1"/>
          </p:cNvSpPr>
          <p:nvPr>
            <p:ph sz="quarter" idx="14"/>
          </p:nvPr>
        </p:nvSpPr>
        <p:spPr/>
        <p:txBody>
          <a:bodyPr/>
          <a:lstStyle/>
          <a:p>
            <a:r>
              <a:rPr lang="en-US" dirty="0"/>
              <a:t>High bandwidth</a:t>
            </a:r>
          </a:p>
          <a:p>
            <a:r>
              <a:rPr lang="en-US" dirty="0"/>
              <a:t>Signals pass through walls</a:t>
            </a:r>
          </a:p>
          <a:p>
            <a:r>
              <a:rPr lang="en-US" dirty="0"/>
              <a:t>Inexpensive and easy to install</a:t>
            </a:r>
          </a:p>
        </p:txBody>
      </p:sp>
      <p:sp>
        <p:nvSpPr>
          <p:cNvPr id="7" name="Content Placeholder 6"/>
          <p:cNvSpPr>
            <a:spLocks noGrp="1"/>
          </p:cNvSpPr>
          <p:nvPr>
            <p:ph sz="quarter" idx="15"/>
          </p:nvPr>
        </p:nvSpPr>
        <p:spPr/>
        <p:txBody>
          <a:bodyPr/>
          <a:lstStyle/>
          <a:p>
            <a:r>
              <a:rPr lang="en-US" dirty="0"/>
              <a:t>Creates electrical interference problems</a:t>
            </a:r>
          </a:p>
          <a:p>
            <a:r>
              <a:rPr lang="en-US" dirty="0"/>
              <a:t>Susceptible to ‘snooping’ unless </a:t>
            </a:r>
            <a:r>
              <a:rPr lang="en-US" dirty="0" smtClean="0"/>
              <a:t>encrypted</a:t>
            </a:r>
            <a:endParaRPr lang="en-US" dirty="0"/>
          </a:p>
        </p:txBody>
      </p:sp>
      <p:sp>
        <p:nvSpPr>
          <p:cNvPr id="5" name="Text Placeholder 4"/>
          <p:cNvSpPr>
            <a:spLocks noGrp="1"/>
          </p:cNvSpPr>
          <p:nvPr>
            <p:ph type="body" idx="16"/>
          </p:nvPr>
        </p:nvSpPr>
        <p:spPr/>
        <p:txBody>
          <a:bodyPr/>
          <a:lstStyle/>
          <a:p>
            <a:r>
              <a:rPr lang="en-US" dirty="0"/>
              <a:t>A</a:t>
            </a:r>
            <a:r>
              <a:rPr lang="en-US" dirty="0" smtClean="0"/>
              <a:t>dvantages</a:t>
            </a:r>
            <a:endParaRPr lang="en-US" dirty="0"/>
          </a:p>
        </p:txBody>
      </p:sp>
      <p:sp>
        <p:nvSpPr>
          <p:cNvPr id="3" name="Text Placeholder 2"/>
          <p:cNvSpPr>
            <a:spLocks noGrp="1"/>
          </p:cNvSpPr>
          <p:nvPr>
            <p:ph type="body" sz="quarter" idx="3"/>
          </p:nvPr>
        </p:nvSpPr>
        <p:spPr/>
        <p:txBody>
          <a:bodyPr/>
          <a:lstStyle/>
          <a:p>
            <a:r>
              <a:rPr lang="en-US" dirty="0" smtClean="0"/>
              <a:t>Disadvantages</a:t>
            </a:r>
            <a:endParaRPr lang="en-US" dirty="0"/>
          </a:p>
        </p:txBody>
      </p:sp>
    </p:spTree>
    <p:extLst>
      <p:ext uri="{BB962C8B-B14F-4D97-AF65-F5344CB8AC3E}">
        <p14:creationId xmlns:p14="http://schemas.microsoft.com/office/powerpoint/2010/main" val="3792788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subTitle" idx="1"/>
          </p:nvPr>
        </p:nvSpPr>
        <p:spPr/>
        <p:txBody>
          <a:bodyPr/>
          <a:lstStyle/>
          <a:p>
            <a:r>
              <a:rPr lang="en-US" dirty="0" smtClean="0"/>
              <a:t>WTM: Infrared</a:t>
            </a:r>
            <a:endParaRPr lang="en-US" dirty="0"/>
          </a:p>
        </p:txBody>
      </p:sp>
      <p:sp>
        <p:nvSpPr>
          <p:cNvPr id="4" name="Content Placeholder 3"/>
          <p:cNvSpPr>
            <a:spLocks noGrp="1"/>
          </p:cNvSpPr>
          <p:nvPr>
            <p:ph sz="quarter" idx="14"/>
          </p:nvPr>
        </p:nvSpPr>
        <p:spPr/>
        <p:txBody>
          <a:bodyPr/>
          <a:lstStyle/>
          <a:p>
            <a:r>
              <a:rPr lang="en-US" dirty="0" smtClean="0"/>
              <a:t>Low to medium bandwidth</a:t>
            </a:r>
          </a:p>
          <a:p>
            <a:r>
              <a:rPr lang="en-US" dirty="0" smtClean="0"/>
              <a:t>Used only for short distances</a:t>
            </a:r>
            <a:endParaRPr lang="en-US" dirty="0"/>
          </a:p>
        </p:txBody>
      </p:sp>
      <p:sp>
        <p:nvSpPr>
          <p:cNvPr id="6" name="Content Placeholder 5"/>
          <p:cNvSpPr>
            <a:spLocks noGrp="1"/>
          </p:cNvSpPr>
          <p:nvPr>
            <p:ph sz="quarter" idx="15"/>
          </p:nvPr>
        </p:nvSpPr>
        <p:spPr/>
        <p:txBody>
          <a:bodyPr/>
          <a:lstStyle/>
          <a:p>
            <a:r>
              <a:rPr lang="en-US" dirty="0" smtClean="0"/>
              <a:t>Requires an unobstructed line of sight</a:t>
            </a:r>
          </a:p>
        </p:txBody>
      </p:sp>
      <p:sp>
        <p:nvSpPr>
          <p:cNvPr id="7" name="Text Placeholder 6"/>
          <p:cNvSpPr>
            <a:spLocks noGrp="1"/>
          </p:cNvSpPr>
          <p:nvPr>
            <p:ph type="body" idx="16"/>
          </p:nvPr>
        </p:nvSpPr>
        <p:spPr/>
        <p:txBody>
          <a:bodyPr/>
          <a:lstStyle/>
          <a:p>
            <a:r>
              <a:rPr lang="en-US" dirty="0" smtClean="0"/>
              <a:t>Advantages</a:t>
            </a:r>
            <a:endParaRPr lang="en-US" dirty="0"/>
          </a:p>
        </p:txBody>
      </p:sp>
      <p:sp>
        <p:nvSpPr>
          <p:cNvPr id="5" name="Text Placeholder 4"/>
          <p:cNvSpPr>
            <a:spLocks noGrp="1"/>
          </p:cNvSpPr>
          <p:nvPr>
            <p:ph type="body" sz="quarter" idx="3"/>
          </p:nvPr>
        </p:nvSpPr>
        <p:spPr/>
        <p:txBody>
          <a:bodyPr/>
          <a:lstStyle/>
          <a:p>
            <a:r>
              <a:rPr lang="en-US" dirty="0" smtClean="0"/>
              <a:t>Disadvantages</a:t>
            </a:r>
            <a:endParaRPr lang="en-US" dirty="0"/>
          </a:p>
        </p:txBody>
      </p:sp>
    </p:spTree>
    <p:extLst>
      <p:ext uri="{BB962C8B-B14F-4D97-AF65-F5344CB8AC3E}">
        <p14:creationId xmlns:p14="http://schemas.microsoft.com/office/powerpoint/2010/main" val="1683326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normAutofit fontScale="47500" lnSpcReduction="20000"/>
          </a:bodyPr>
          <a:lstStyle/>
          <a:p>
            <a:r>
              <a:rPr lang="en-US" b="1" dirty="0"/>
              <a:t>FIGURE 8.3 </a:t>
            </a:r>
            <a:r>
              <a:rPr lang="en-US" dirty="0"/>
              <a:t>Obtaining GPS information in an automobile</a:t>
            </a:r>
            <a:r>
              <a:rPr lang="en-US" dirty="0" smtClean="0"/>
              <a:t>.</a:t>
            </a:r>
            <a:endParaRPr lang="en-US" dirty="0"/>
          </a:p>
        </p:txBody>
      </p:sp>
      <p:pic>
        <p:nvPicPr>
          <p:cNvPr id="10"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409700" y="1881187"/>
            <a:ext cx="6400800"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4663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Wireless Computer Networks &amp; Internet Access</a:t>
            </a:r>
            <a:endParaRPr lang="en-US" dirty="0"/>
          </a:p>
        </p:txBody>
      </p:sp>
      <p:sp>
        <p:nvSpPr>
          <p:cNvPr id="6" name="Text Placeholder 5"/>
          <p:cNvSpPr>
            <a:spLocks noGrp="1"/>
          </p:cNvSpPr>
          <p:nvPr>
            <p:ph type="body" sz="quarter" idx="14"/>
          </p:nvPr>
        </p:nvSpPr>
        <p:spPr/>
        <p:txBody>
          <a:bodyPr/>
          <a:lstStyle/>
          <a:p>
            <a:r>
              <a:rPr lang="en-US" dirty="0" smtClean="0"/>
              <a:t>8.2</a:t>
            </a:r>
            <a:endParaRPr lang="en-US" dirty="0"/>
          </a:p>
        </p:txBody>
      </p:sp>
      <p:sp>
        <p:nvSpPr>
          <p:cNvPr id="5" name="Text Placeholder 4"/>
          <p:cNvSpPr>
            <a:spLocks noGrp="1"/>
          </p:cNvSpPr>
          <p:nvPr>
            <p:ph sz="quarter" idx="15"/>
          </p:nvPr>
        </p:nvSpPr>
        <p:spPr/>
        <p:txBody>
          <a:bodyPr/>
          <a:lstStyle/>
          <a:p>
            <a:r>
              <a:rPr lang="en-US" dirty="0" smtClean="0"/>
              <a:t>Short-Range Wireless Networks</a:t>
            </a:r>
          </a:p>
          <a:p>
            <a:r>
              <a:rPr lang="en-US" dirty="0" smtClean="0"/>
              <a:t>Medium-Range Wireless Networks</a:t>
            </a:r>
          </a:p>
          <a:p>
            <a:r>
              <a:rPr lang="en-US" dirty="0" smtClean="0"/>
              <a:t>Wide-Area Wireless Networks</a:t>
            </a:r>
            <a:endParaRPr lang="en-US" dirty="0"/>
          </a:p>
        </p:txBody>
      </p:sp>
    </p:spTree>
    <p:extLst>
      <p:ext uri="{BB962C8B-B14F-4D97-AF65-F5344CB8AC3E}">
        <p14:creationId xmlns:p14="http://schemas.microsoft.com/office/powerpoint/2010/main" val="1609911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lnSpcReduction="10000"/>
          </a:bodyPr>
          <a:lstStyle/>
          <a:p>
            <a:r>
              <a:rPr lang="en-US" dirty="0" smtClean="0"/>
              <a:t>Short-Range Wireless Networks</a:t>
            </a:r>
          </a:p>
        </p:txBody>
      </p:sp>
      <p:sp>
        <p:nvSpPr>
          <p:cNvPr id="4" name="Text Placeholder 3"/>
          <p:cNvSpPr>
            <a:spLocks noGrp="1"/>
          </p:cNvSpPr>
          <p:nvPr>
            <p:ph sz="quarter" idx="14"/>
          </p:nvPr>
        </p:nvSpPr>
        <p:spPr/>
        <p:txBody>
          <a:bodyPr/>
          <a:lstStyle/>
          <a:p>
            <a:r>
              <a:rPr lang="en-US" dirty="0" smtClean="0"/>
              <a:t>Bluetooth</a:t>
            </a:r>
          </a:p>
          <a:p>
            <a:r>
              <a:rPr lang="en-US" dirty="0" smtClean="0"/>
              <a:t>Ultra-Wideband</a:t>
            </a:r>
          </a:p>
          <a:p>
            <a:r>
              <a:rPr lang="en-US" dirty="0" smtClean="0"/>
              <a:t>Near-Field Communications</a:t>
            </a:r>
            <a:endParaRPr lang="en-US" dirty="0"/>
          </a:p>
        </p:txBody>
      </p:sp>
    </p:spTree>
    <p:extLst>
      <p:ext uri="{BB962C8B-B14F-4D97-AF65-F5344CB8AC3E}">
        <p14:creationId xmlns:p14="http://schemas.microsoft.com/office/powerpoint/2010/main" val="3141862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lnSpcReduction="10000"/>
          </a:bodyPr>
          <a:lstStyle/>
          <a:p>
            <a:r>
              <a:rPr lang="en-US" dirty="0" smtClean="0"/>
              <a:t>Medium-Range Wireless Networks</a:t>
            </a:r>
          </a:p>
        </p:txBody>
      </p:sp>
      <p:sp>
        <p:nvSpPr>
          <p:cNvPr id="5" name="Text Placeholder 4"/>
          <p:cNvSpPr>
            <a:spLocks noGrp="1"/>
          </p:cNvSpPr>
          <p:nvPr>
            <p:ph sz="quarter" idx="14"/>
          </p:nvPr>
        </p:nvSpPr>
        <p:spPr/>
        <p:txBody>
          <a:bodyPr/>
          <a:lstStyle/>
          <a:p>
            <a:r>
              <a:rPr lang="en-US" dirty="0"/>
              <a:t>Wireless Fidelity (Wi-Fi)</a:t>
            </a:r>
          </a:p>
          <a:p>
            <a:pPr lvl="1"/>
            <a:r>
              <a:rPr lang="en-US" dirty="0"/>
              <a:t>Wireless Local Area Networks (WLAN)</a:t>
            </a:r>
          </a:p>
          <a:p>
            <a:pPr lvl="1"/>
            <a:r>
              <a:rPr lang="en-US" dirty="0"/>
              <a:t>Wi-Fi Direct</a:t>
            </a:r>
          </a:p>
          <a:p>
            <a:pPr lvl="1"/>
            <a:r>
              <a:rPr lang="en-US" dirty="0" err="1"/>
              <a:t>MiFi</a:t>
            </a:r>
            <a:endParaRPr lang="en-US" dirty="0"/>
          </a:p>
          <a:p>
            <a:pPr lvl="1"/>
            <a:r>
              <a:rPr lang="en-US" dirty="0"/>
              <a:t>Super Wi-Fi</a:t>
            </a:r>
          </a:p>
          <a:p>
            <a:r>
              <a:rPr lang="en-US" dirty="0"/>
              <a:t>Wireless Mesh </a:t>
            </a:r>
            <a:r>
              <a:rPr lang="en-US" dirty="0" smtClean="0"/>
              <a:t>Networks</a:t>
            </a:r>
            <a:endParaRPr lang="en-US" dirty="0"/>
          </a:p>
        </p:txBody>
      </p:sp>
    </p:spTree>
    <p:extLst>
      <p:ext uri="{BB962C8B-B14F-4D97-AF65-F5344CB8AC3E}">
        <p14:creationId xmlns:p14="http://schemas.microsoft.com/office/powerpoint/2010/main" val="2779390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7500" lnSpcReduction="20000"/>
          </a:bodyPr>
          <a:lstStyle/>
          <a:p>
            <a:r>
              <a:rPr lang="en-US" b="1" dirty="0"/>
              <a:t>FIGURE 8.4 </a:t>
            </a:r>
            <a:r>
              <a:rPr lang="en-US" dirty="0"/>
              <a:t>Wireless access point</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143770" y="1447800"/>
            <a:ext cx="493266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1000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A Wi-Fi Network Provides Communications at the 2014 Winter Olympic Games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8.2</a:t>
            </a:r>
            <a:endParaRPr lang="en-US" dirty="0"/>
          </a:p>
        </p:txBody>
      </p:sp>
    </p:spTree>
    <p:extLst>
      <p:ext uri="{BB962C8B-B14F-4D97-AF65-F5344CB8AC3E}">
        <p14:creationId xmlns:p14="http://schemas.microsoft.com/office/powerpoint/2010/main" val="36391172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a:bodyPr>
          <a:lstStyle/>
          <a:p>
            <a:r>
              <a:rPr lang="en-US" dirty="0" smtClean="0"/>
              <a:t>Wide-Area Wireless Networks</a:t>
            </a:r>
          </a:p>
        </p:txBody>
      </p:sp>
      <p:sp>
        <p:nvSpPr>
          <p:cNvPr id="4" name="Text Placeholder 3"/>
          <p:cNvSpPr>
            <a:spLocks noGrp="1"/>
          </p:cNvSpPr>
          <p:nvPr>
            <p:ph sz="quarter" idx="14"/>
          </p:nvPr>
        </p:nvSpPr>
        <p:spPr/>
        <p:txBody>
          <a:bodyPr>
            <a:normAutofit fontScale="92500" lnSpcReduction="10000"/>
          </a:bodyPr>
          <a:lstStyle/>
          <a:p>
            <a:r>
              <a:rPr lang="en-US" dirty="0"/>
              <a:t>Cellular Radio (Cellular telephones)</a:t>
            </a:r>
          </a:p>
          <a:p>
            <a:pPr lvl="1"/>
            <a:r>
              <a:rPr lang="en-US" dirty="0"/>
              <a:t>1G</a:t>
            </a:r>
          </a:p>
          <a:p>
            <a:pPr lvl="1"/>
            <a:r>
              <a:rPr lang="en-US" dirty="0"/>
              <a:t>2G</a:t>
            </a:r>
          </a:p>
          <a:p>
            <a:pPr lvl="1"/>
            <a:r>
              <a:rPr lang="en-US" dirty="0"/>
              <a:t>3G</a:t>
            </a:r>
          </a:p>
          <a:p>
            <a:pPr lvl="2"/>
            <a:r>
              <a:rPr lang="en-US" dirty="0"/>
              <a:t>CDMA</a:t>
            </a:r>
          </a:p>
          <a:p>
            <a:pPr lvl="3"/>
            <a:r>
              <a:rPr lang="en-US" dirty="0"/>
              <a:t>EV-DO</a:t>
            </a:r>
          </a:p>
          <a:p>
            <a:pPr lvl="2"/>
            <a:r>
              <a:rPr lang="en-US" dirty="0"/>
              <a:t>GSM</a:t>
            </a:r>
          </a:p>
          <a:p>
            <a:pPr lvl="1"/>
            <a:r>
              <a:rPr lang="en-US" dirty="0"/>
              <a:t>4G</a:t>
            </a:r>
          </a:p>
          <a:p>
            <a:r>
              <a:rPr lang="en-US" dirty="0"/>
              <a:t>Wireless Broadband (or </a:t>
            </a:r>
            <a:r>
              <a:rPr lang="en-US" dirty="0" err="1"/>
              <a:t>WiMax</a:t>
            </a:r>
            <a:r>
              <a:rPr lang="en-US" dirty="0" smtClean="0"/>
              <a:t>)</a:t>
            </a:r>
            <a:endParaRPr lang="en-US" dirty="0"/>
          </a:p>
        </p:txBody>
      </p:sp>
    </p:spTree>
    <p:extLst>
      <p:ext uri="{BB962C8B-B14F-4D97-AF65-F5344CB8AC3E}">
        <p14:creationId xmlns:p14="http://schemas.microsoft.com/office/powerpoint/2010/main" val="365781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Mobile </a:t>
            </a:r>
            <a:r>
              <a:rPr lang="en-US" dirty="0"/>
              <a:t>Computing and Mobile Commerce</a:t>
            </a:r>
          </a:p>
        </p:txBody>
      </p:sp>
      <p:sp>
        <p:nvSpPr>
          <p:cNvPr id="8" name="Text Placeholder 7"/>
          <p:cNvSpPr>
            <a:spLocks noGrp="1"/>
          </p:cNvSpPr>
          <p:nvPr>
            <p:ph type="body" sz="quarter" idx="14"/>
          </p:nvPr>
        </p:nvSpPr>
        <p:spPr/>
        <p:txBody>
          <a:bodyPr/>
          <a:lstStyle/>
          <a:p>
            <a:r>
              <a:rPr lang="en-US" dirty="0" smtClean="0"/>
              <a:t>8.3</a:t>
            </a:r>
            <a:endParaRPr lang="en-US" dirty="0"/>
          </a:p>
        </p:txBody>
      </p:sp>
      <p:sp>
        <p:nvSpPr>
          <p:cNvPr id="7" name="Text Placeholder 6"/>
          <p:cNvSpPr>
            <a:spLocks noGrp="1"/>
          </p:cNvSpPr>
          <p:nvPr>
            <p:ph sz="quarter" idx="15"/>
          </p:nvPr>
        </p:nvSpPr>
        <p:spPr/>
        <p:txBody>
          <a:bodyPr>
            <a:normAutofit fontScale="92500" lnSpcReduction="10000"/>
          </a:bodyPr>
          <a:lstStyle/>
          <a:p>
            <a:r>
              <a:rPr lang="en-US" dirty="0" smtClean="0"/>
              <a:t>Mobile Computing</a:t>
            </a:r>
          </a:p>
          <a:p>
            <a:pPr lvl="1"/>
            <a:r>
              <a:rPr lang="en-US" dirty="0" smtClean="0"/>
              <a:t>Refers to a  real-time connection between a mobile device and other computing environments, such as the Internet or an Intranet.</a:t>
            </a:r>
          </a:p>
          <a:p>
            <a:r>
              <a:rPr lang="en-US" dirty="0" smtClean="0"/>
              <a:t>Mobile Commerce</a:t>
            </a:r>
          </a:p>
          <a:p>
            <a:pPr lvl="1"/>
            <a:r>
              <a:rPr lang="en-US" dirty="0" smtClean="0"/>
              <a:t>Electronic commerce (EC) transactions conducted in a wireless environment, especially via the Internet.</a:t>
            </a:r>
            <a:endParaRPr lang="en-US" dirty="0"/>
          </a:p>
        </p:txBody>
      </p:sp>
    </p:spTree>
    <p:extLst>
      <p:ext uri="{BB962C8B-B14F-4D97-AF65-F5344CB8AC3E}">
        <p14:creationId xmlns:p14="http://schemas.microsoft.com/office/powerpoint/2010/main" val="153826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Mobile Computing</a:t>
            </a:r>
            <a:endParaRPr lang="en-US" dirty="0"/>
          </a:p>
        </p:txBody>
      </p:sp>
      <p:sp>
        <p:nvSpPr>
          <p:cNvPr id="4" name="Text Placeholder 3"/>
          <p:cNvSpPr>
            <a:spLocks noGrp="1"/>
          </p:cNvSpPr>
          <p:nvPr>
            <p:ph type="body" sz="quarter" idx="4294967295"/>
          </p:nvPr>
        </p:nvSpPr>
        <p:spPr>
          <a:xfrm>
            <a:off x="533400" y="2133600"/>
            <a:ext cx="8153400" cy="3962400"/>
          </a:xfrm>
        </p:spPr>
        <p:txBody>
          <a:bodyPr>
            <a:normAutofit fontScale="77500" lnSpcReduction="20000"/>
          </a:bodyPr>
          <a:lstStyle/>
          <a:p>
            <a:r>
              <a:rPr lang="en-US" dirty="0" smtClean="0"/>
              <a:t>Two Major Characteristics</a:t>
            </a:r>
          </a:p>
          <a:p>
            <a:pPr lvl="1"/>
            <a:r>
              <a:rPr lang="en-US" dirty="0" smtClean="0"/>
              <a:t>Mobility</a:t>
            </a:r>
          </a:p>
          <a:p>
            <a:pPr lvl="1"/>
            <a:r>
              <a:rPr lang="en-US" dirty="0" smtClean="0"/>
              <a:t>Broad Reach</a:t>
            </a:r>
          </a:p>
          <a:p>
            <a:pPr marL="457200" lvl="1" indent="0">
              <a:buNone/>
            </a:pPr>
            <a:endParaRPr lang="en-US" dirty="0" smtClean="0"/>
          </a:p>
          <a:p>
            <a:r>
              <a:rPr lang="en-US" dirty="0" smtClean="0"/>
              <a:t>Mobility </a:t>
            </a:r>
            <a:r>
              <a:rPr lang="en-US" dirty="0"/>
              <a:t>&amp; Broad Reach </a:t>
            </a:r>
            <a:r>
              <a:rPr lang="en-US" dirty="0" smtClean="0">
                <a:sym typeface="Wingdings" pitchFamily="2" charset="2"/>
              </a:rPr>
              <a:t>Create</a:t>
            </a:r>
            <a:r>
              <a:rPr lang="en-US" dirty="0" smtClean="0"/>
              <a:t> </a:t>
            </a:r>
            <a:r>
              <a:rPr lang="en-US" dirty="0"/>
              <a:t>5 value-added attributes</a:t>
            </a:r>
          </a:p>
          <a:p>
            <a:pPr marL="971550" lvl="1" indent="-514350">
              <a:buFont typeface="+mj-lt"/>
              <a:buAutoNum type="arabicPeriod"/>
            </a:pPr>
            <a:r>
              <a:rPr lang="en-US" dirty="0" smtClean="0"/>
              <a:t>Ubiquity</a:t>
            </a:r>
            <a:endParaRPr lang="en-US" dirty="0"/>
          </a:p>
          <a:p>
            <a:pPr marL="971550" lvl="1" indent="-514350">
              <a:buFont typeface="+mj-lt"/>
              <a:buAutoNum type="arabicPeriod"/>
            </a:pPr>
            <a:r>
              <a:rPr lang="en-US" dirty="0"/>
              <a:t>Convenience</a:t>
            </a:r>
          </a:p>
          <a:p>
            <a:pPr marL="971550" lvl="1" indent="-514350">
              <a:buFont typeface="+mj-lt"/>
              <a:buAutoNum type="arabicPeriod"/>
            </a:pPr>
            <a:r>
              <a:rPr lang="en-US" dirty="0"/>
              <a:t>Instant connectivity</a:t>
            </a:r>
          </a:p>
          <a:p>
            <a:pPr marL="971550" lvl="1" indent="-514350">
              <a:buFont typeface="+mj-lt"/>
              <a:buAutoNum type="arabicPeriod"/>
            </a:pPr>
            <a:r>
              <a:rPr lang="en-US" dirty="0"/>
              <a:t>Personalization</a:t>
            </a:r>
          </a:p>
          <a:p>
            <a:pPr marL="971550" lvl="1" indent="-514350">
              <a:buFont typeface="+mj-lt"/>
              <a:buAutoNum type="arabicPeriod"/>
            </a:pPr>
            <a:r>
              <a:rPr lang="en-US" dirty="0"/>
              <a:t>Localization of Products and </a:t>
            </a:r>
            <a:r>
              <a:rPr lang="en-US" dirty="0" smtClean="0"/>
              <a:t>Services</a:t>
            </a:r>
            <a:endParaRPr lang="en-US" b="1" i="1" dirty="0"/>
          </a:p>
          <a:p>
            <a:endParaRPr lang="en-US" dirty="0"/>
          </a:p>
        </p:txBody>
      </p:sp>
    </p:spTree>
    <p:extLst>
      <p:ext uri="{BB962C8B-B14F-4D97-AF65-F5344CB8AC3E}">
        <p14:creationId xmlns:p14="http://schemas.microsoft.com/office/powerpoint/2010/main" val="2027369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Mobile Commerce</a:t>
            </a:r>
            <a:endParaRPr lang="en-US" dirty="0"/>
          </a:p>
        </p:txBody>
      </p:sp>
      <p:sp>
        <p:nvSpPr>
          <p:cNvPr id="6" name="Text Placeholder 5"/>
          <p:cNvSpPr>
            <a:spLocks noGrp="1"/>
          </p:cNvSpPr>
          <p:nvPr>
            <p:ph type="body" sz="quarter" idx="4294967295"/>
          </p:nvPr>
        </p:nvSpPr>
        <p:spPr>
          <a:xfrm>
            <a:off x="533400" y="2133600"/>
            <a:ext cx="8153400" cy="3962400"/>
          </a:xfrm>
        </p:spPr>
        <p:txBody>
          <a:bodyPr>
            <a:normAutofit/>
          </a:bodyPr>
          <a:lstStyle/>
          <a:p>
            <a:r>
              <a:rPr lang="en-US" dirty="0" smtClean="0"/>
              <a:t>Also known as “M-commerce”</a:t>
            </a:r>
            <a:endParaRPr lang="en-US" dirty="0"/>
          </a:p>
          <a:p>
            <a:pPr lvl="1"/>
            <a:endParaRPr lang="en-US" dirty="0"/>
          </a:p>
          <a:p>
            <a:r>
              <a:rPr lang="en-US" dirty="0"/>
              <a:t>Drivers of M-commerce</a:t>
            </a:r>
          </a:p>
          <a:p>
            <a:pPr lvl="1"/>
            <a:r>
              <a:rPr lang="en-US" dirty="0"/>
              <a:t>Widespread availability of mobile devices</a:t>
            </a:r>
          </a:p>
          <a:p>
            <a:pPr lvl="1"/>
            <a:r>
              <a:rPr lang="en-US" dirty="0"/>
              <a:t>Declining prices</a:t>
            </a:r>
          </a:p>
          <a:p>
            <a:pPr lvl="1"/>
            <a:r>
              <a:rPr lang="en-US" dirty="0"/>
              <a:t>Bandwidth improvement</a:t>
            </a:r>
          </a:p>
          <a:p>
            <a:endParaRPr lang="en-US" dirty="0"/>
          </a:p>
        </p:txBody>
      </p:sp>
    </p:spTree>
    <p:extLst>
      <p:ext uri="{BB962C8B-B14F-4D97-AF65-F5344CB8AC3E}">
        <p14:creationId xmlns:p14="http://schemas.microsoft.com/office/powerpoint/2010/main" val="1832356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lnSpcReduction="10000"/>
          </a:bodyPr>
          <a:lstStyle/>
          <a:p>
            <a:r>
              <a:rPr lang="en-US" dirty="0" smtClean="0"/>
              <a:t>Mobile Commerce (continued)</a:t>
            </a:r>
            <a:endParaRPr lang="en-US" dirty="0"/>
          </a:p>
        </p:txBody>
      </p:sp>
      <p:sp>
        <p:nvSpPr>
          <p:cNvPr id="6" name="Text Placeholder 5"/>
          <p:cNvSpPr>
            <a:spLocks noGrp="1"/>
          </p:cNvSpPr>
          <p:nvPr>
            <p:ph type="body" sz="quarter" idx="4294967295"/>
          </p:nvPr>
        </p:nvSpPr>
        <p:spPr>
          <a:xfrm>
            <a:off x="533400" y="2133600"/>
            <a:ext cx="8153400" cy="3962400"/>
          </a:xfrm>
        </p:spPr>
        <p:txBody>
          <a:bodyPr>
            <a:normAutofit/>
          </a:bodyPr>
          <a:lstStyle/>
          <a:p>
            <a:r>
              <a:rPr lang="en-US" dirty="0" smtClean="0"/>
              <a:t>Mobile Commerce Applications Include:</a:t>
            </a:r>
          </a:p>
          <a:p>
            <a:pPr lvl="1"/>
            <a:r>
              <a:rPr lang="en-US" dirty="0"/>
              <a:t>Location-Based Applications and Services</a:t>
            </a:r>
          </a:p>
          <a:p>
            <a:pPr lvl="1"/>
            <a:r>
              <a:rPr lang="en-US" dirty="0"/>
              <a:t>Financial Services</a:t>
            </a:r>
          </a:p>
          <a:p>
            <a:pPr lvl="1"/>
            <a:r>
              <a:rPr lang="en-US" dirty="0" err="1"/>
              <a:t>Intrabusiness</a:t>
            </a:r>
            <a:r>
              <a:rPr lang="en-US" dirty="0"/>
              <a:t> Applications</a:t>
            </a:r>
          </a:p>
          <a:p>
            <a:pPr lvl="1"/>
            <a:r>
              <a:rPr lang="en-US" dirty="0"/>
              <a:t>Accessing Information</a:t>
            </a:r>
          </a:p>
          <a:p>
            <a:pPr lvl="1"/>
            <a:r>
              <a:rPr lang="en-US" dirty="0"/>
              <a:t>Telemetry </a:t>
            </a:r>
            <a:r>
              <a:rPr lang="en-US" dirty="0" smtClean="0"/>
              <a:t>Applications</a:t>
            </a:r>
            <a:endParaRPr lang="en-US" dirty="0"/>
          </a:p>
        </p:txBody>
      </p:sp>
    </p:spTree>
    <p:extLst>
      <p:ext uri="{BB962C8B-B14F-4D97-AF65-F5344CB8AC3E}">
        <p14:creationId xmlns:p14="http://schemas.microsoft.com/office/powerpoint/2010/main" val="679831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Generations </a:t>
            </a:r>
            <a:r>
              <a:rPr lang="en-US" dirty="0"/>
              <a:t>of Cellular Technology </a:t>
            </a:r>
            <a:r>
              <a:rPr lang="en-US" dirty="0" smtClean="0"/>
              <a:t>Evolution</a:t>
            </a:r>
            <a:endParaRPr lang="en-US" dirty="0"/>
          </a:p>
        </p:txBody>
      </p:sp>
      <p:sp>
        <p:nvSpPr>
          <p:cNvPr id="5" name="Content Placeholder 4"/>
          <p:cNvSpPr>
            <a:spLocks noGrp="1"/>
          </p:cNvSpPr>
          <p:nvPr>
            <p:ph sz="quarter" idx="4294967295"/>
          </p:nvPr>
        </p:nvSpPr>
        <p:spPr>
          <a:xfrm>
            <a:off x="609600" y="2286000"/>
            <a:ext cx="8001000" cy="3962400"/>
          </a:xfrm>
          <a:prstGeom prst="rect">
            <a:avLst/>
          </a:prstGeom>
        </p:spPr>
        <p:txBody>
          <a:bodyPr>
            <a:normAutofit/>
          </a:bodyPr>
          <a:lstStyle/>
          <a:p>
            <a:r>
              <a:rPr lang="en-US" dirty="0" smtClean="0"/>
              <a:t>(1G) First generation</a:t>
            </a:r>
          </a:p>
          <a:p>
            <a:r>
              <a:rPr lang="en-US" dirty="0" smtClean="0"/>
              <a:t>(2G) Second generation</a:t>
            </a:r>
            <a:endParaRPr lang="en-US" dirty="0"/>
          </a:p>
          <a:p>
            <a:r>
              <a:rPr lang="en-US" dirty="0" smtClean="0"/>
              <a:t>2.5G</a:t>
            </a:r>
            <a:endParaRPr lang="en-US" dirty="0"/>
          </a:p>
          <a:p>
            <a:r>
              <a:rPr lang="en-US" dirty="0" smtClean="0"/>
              <a:t>(3G) Third generation</a:t>
            </a:r>
            <a:endParaRPr lang="en-US" dirty="0"/>
          </a:p>
          <a:p>
            <a:r>
              <a:rPr lang="en-US" dirty="0" smtClean="0"/>
              <a:t>(4G) Fourth generation</a:t>
            </a:r>
          </a:p>
          <a:p>
            <a:r>
              <a:rPr lang="en-US" dirty="0" smtClean="0"/>
              <a:t>(5G) Fifth generation</a:t>
            </a:r>
            <a:endParaRPr lang="en-US" dirty="0"/>
          </a:p>
        </p:txBody>
      </p:sp>
    </p:spTree>
    <p:extLst>
      <p:ext uri="{BB962C8B-B14F-4D97-AF65-F5344CB8AC3E}">
        <p14:creationId xmlns:p14="http://schemas.microsoft.com/office/powerpoint/2010/main" val="4073066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Wireless </a:t>
            </a:r>
            <a:r>
              <a:rPr lang="en-US" dirty="0"/>
              <a:t>Broadband or WiMAX</a:t>
            </a:r>
          </a:p>
        </p:txBody>
      </p:sp>
      <p:sp>
        <p:nvSpPr>
          <p:cNvPr id="5" name="Content Placeholder 4"/>
          <p:cNvSpPr>
            <a:spLocks noGrp="1"/>
          </p:cNvSpPr>
          <p:nvPr>
            <p:ph sz="quarter" idx="4294967295"/>
          </p:nvPr>
        </p:nvSpPr>
        <p:spPr>
          <a:xfrm>
            <a:off x="609600" y="2286000"/>
            <a:ext cx="8001000" cy="3962400"/>
          </a:xfrm>
          <a:prstGeom prst="rect">
            <a:avLst/>
          </a:prstGeom>
        </p:spPr>
        <p:txBody>
          <a:bodyPr>
            <a:normAutofit/>
          </a:bodyPr>
          <a:lstStyle/>
          <a:p>
            <a:r>
              <a:rPr lang="en-US" dirty="0"/>
              <a:t>Worldwide Interoperability for Microwave Access (WiMAX</a:t>
            </a:r>
            <a:r>
              <a:rPr lang="en-US" dirty="0" smtClean="0"/>
              <a:t>)</a:t>
            </a:r>
          </a:p>
          <a:p>
            <a:r>
              <a:rPr lang="en-US" dirty="0" smtClean="0"/>
              <a:t>WiMAX = IEEE </a:t>
            </a:r>
            <a:r>
              <a:rPr lang="en-US" dirty="0"/>
              <a:t>Standard </a:t>
            </a:r>
            <a:r>
              <a:rPr lang="en-US" dirty="0" smtClean="0"/>
              <a:t>802.16</a:t>
            </a:r>
          </a:p>
          <a:p>
            <a:r>
              <a:rPr lang="en-US" dirty="0" smtClean="0"/>
              <a:t>Wireless </a:t>
            </a:r>
            <a:r>
              <a:rPr lang="en-US" dirty="0"/>
              <a:t>access range of up to 31 </a:t>
            </a:r>
            <a:r>
              <a:rPr lang="en-US" dirty="0" smtClean="0"/>
              <a:t>miles</a:t>
            </a:r>
          </a:p>
          <a:p>
            <a:r>
              <a:rPr lang="en-US" dirty="0" smtClean="0"/>
              <a:t>Data </a:t>
            </a:r>
            <a:r>
              <a:rPr lang="en-US" dirty="0"/>
              <a:t>transfer rate of up to 75 </a:t>
            </a:r>
            <a:r>
              <a:rPr lang="en-US" dirty="0" smtClean="0"/>
              <a:t>Mbps</a:t>
            </a:r>
          </a:p>
          <a:p>
            <a:r>
              <a:rPr lang="en-US" dirty="0" smtClean="0"/>
              <a:t>A </a:t>
            </a:r>
            <a:r>
              <a:rPr lang="en-US" dirty="0"/>
              <a:t>secure </a:t>
            </a:r>
            <a:r>
              <a:rPr lang="en-US" dirty="0" smtClean="0"/>
              <a:t>system offering voice </a:t>
            </a:r>
            <a:r>
              <a:rPr lang="en-US" dirty="0"/>
              <a:t>and </a:t>
            </a:r>
            <a:r>
              <a:rPr lang="en-US" dirty="0" smtClean="0"/>
              <a:t>video</a:t>
            </a:r>
            <a:endParaRPr lang="en-US" dirty="0"/>
          </a:p>
        </p:txBody>
      </p:sp>
    </p:spTree>
    <p:extLst>
      <p:ext uri="{BB962C8B-B14F-4D97-AF65-F5344CB8AC3E}">
        <p14:creationId xmlns:p14="http://schemas.microsoft.com/office/powerpoint/2010/main" val="4175921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1828800" y="762000"/>
            <a:ext cx="6831367" cy="1676400"/>
          </a:xfrm>
        </p:spPr>
        <p:txBody>
          <a:bodyPr>
            <a:normAutofit/>
          </a:bodyPr>
          <a:lstStyle/>
          <a:p>
            <a:r>
              <a:rPr lang="en-US" dirty="0" smtClean="0"/>
              <a:t>Wireless Security</a:t>
            </a:r>
            <a:endParaRPr lang="en-US" dirty="0"/>
          </a:p>
        </p:txBody>
      </p:sp>
      <p:sp>
        <p:nvSpPr>
          <p:cNvPr id="5" name="Text Placeholder 4"/>
          <p:cNvSpPr>
            <a:spLocks noGrp="1"/>
          </p:cNvSpPr>
          <p:nvPr>
            <p:ph type="body" sz="quarter" idx="14"/>
          </p:nvPr>
        </p:nvSpPr>
        <p:spPr>
          <a:xfrm>
            <a:off x="0" y="457200"/>
            <a:ext cx="2133600" cy="1524000"/>
          </a:xfrm>
        </p:spPr>
        <p:txBody>
          <a:bodyPr/>
          <a:lstStyle/>
          <a:p>
            <a:r>
              <a:rPr lang="en-US" dirty="0" smtClean="0"/>
              <a:t>10.5</a:t>
            </a:r>
            <a:endParaRPr lang="en-US" dirty="0"/>
          </a:p>
        </p:txBody>
      </p:sp>
      <p:sp>
        <p:nvSpPr>
          <p:cNvPr id="6" name="Content Placeholder 5"/>
          <p:cNvSpPr>
            <a:spLocks noGrp="1"/>
          </p:cNvSpPr>
          <p:nvPr>
            <p:ph sz="quarter" idx="15"/>
          </p:nvPr>
        </p:nvSpPr>
        <p:spPr/>
        <p:txBody>
          <a:bodyPr/>
          <a:lstStyle/>
          <a:p>
            <a:pPr marL="0" indent="0">
              <a:buNone/>
            </a:pPr>
            <a:r>
              <a:rPr lang="en-US" dirty="0" smtClean="0"/>
              <a:t>Four Major Threats to Wireless Networks</a:t>
            </a:r>
          </a:p>
          <a:p>
            <a:pPr lvl="1"/>
            <a:r>
              <a:rPr lang="en-US" dirty="0" smtClean="0"/>
              <a:t>Rogue Access Point (Evil Twin)</a:t>
            </a:r>
          </a:p>
          <a:p>
            <a:pPr lvl="1"/>
            <a:r>
              <a:rPr lang="en-US" dirty="0" smtClean="0"/>
              <a:t>War Driving</a:t>
            </a:r>
          </a:p>
          <a:p>
            <a:pPr lvl="1"/>
            <a:r>
              <a:rPr lang="en-US" dirty="0" smtClean="0"/>
              <a:t>Eavesdropping</a:t>
            </a:r>
          </a:p>
          <a:p>
            <a:pPr lvl="1"/>
            <a:r>
              <a:rPr lang="en-US" dirty="0" smtClean="0"/>
              <a:t>Radio Frequency Jamming</a:t>
            </a:r>
            <a:endParaRPr lang="en-US" dirty="0"/>
          </a:p>
        </p:txBody>
      </p:sp>
    </p:spTree>
    <p:extLst>
      <p:ext uri="{BB962C8B-B14F-4D97-AF65-F5344CB8AC3E}">
        <p14:creationId xmlns:p14="http://schemas.microsoft.com/office/powerpoint/2010/main" val="292275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Apple’s </a:t>
            </a:r>
            <a:r>
              <a:rPr lang="en-US" dirty="0" err="1" smtClean="0"/>
              <a:t>iBeacon</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8.3</a:t>
            </a:r>
            <a:endParaRPr lang="en-US" dirty="0"/>
          </a:p>
        </p:txBody>
      </p:sp>
    </p:spTree>
    <p:extLst>
      <p:ext uri="{BB962C8B-B14F-4D97-AF65-F5344CB8AC3E}">
        <p14:creationId xmlns:p14="http://schemas.microsoft.com/office/powerpoint/2010/main" val="363911721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Telemedicine at the Miami Children’s Hospital</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8.4</a:t>
            </a:r>
            <a:endParaRPr lang="en-US" dirty="0"/>
          </a:p>
        </p:txBody>
      </p:sp>
    </p:spTree>
    <p:extLst>
      <p:ext uri="{BB962C8B-B14F-4D97-AF65-F5344CB8AC3E}">
        <p14:creationId xmlns:p14="http://schemas.microsoft.com/office/powerpoint/2010/main" val="363911721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The Internet of Things (</a:t>
            </a:r>
            <a:r>
              <a:rPr lang="en-US" dirty="0" err="1" smtClean="0"/>
              <a:t>IoT</a:t>
            </a:r>
            <a:r>
              <a:rPr lang="en-US" dirty="0" smtClean="0"/>
              <a:t>)</a:t>
            </a:r>
          </a:p>
          <a:p>
            <a:endParaRPr lang="en-US" dirty="0"/>
          </a:p>
        </p:txBody>
      </p:sp>
      <p:sp>
        <p:nvSpPr>
          <p:cNvPr id="7" name="Text Placeholder 6"/>
          <p:cNvSpPr>
            <a:spLocks noGrp="1"/>
          </p:cNvSpPr>
          <p:nvPr>
            <p:ph type="body" sz="quarter" idx="14"/>
          </p:nvPr>
        </p:nvSpPr>
        <p:spPr/>
        <p:txBody>
          <a:bodyPr/>
          <a:lstStyle/>
          <a:p>
            <a:r>
              <a:rPr lang="en-US" dirty="0" smtClean="0"/>
              <a:t>8.4</a:t>
            </a:r>
            <a:endParaRPr lang="en-US" dirty="0"/>
          </a:p>
        </p:txBody>
      </p:sp>
      <p:sp>
        <p:nvSpPr>
          <p:cNvPr id="6" name="Text Placeholder 5"/>
          <p:cNvSpPr>
            <a:spLocks noGrp="1"/>
          </p:cNvSpPr>
          <p:nvPr>
            <p:ph sz="quarter" idx="15"/>
          </p:nvPr>
        </p:nvSpPr>
        <p:spPr/>
        <p:txBody>
          <a:bodyPr>
            <a:normAutofit fontScale="92500" lnSpcReduction="20000"/>
          </a:bodyPr>
          <a:lstStyle/>
          <a:p>
            <a:r>
              <a:rPr lang="en-US" dirty="0">
                <a:solidFill>
                  <a:schemeClr val="tx1"/>
                </a:solidFill>
              </a:rPr>
              <a:t>Internet of </a:t>
            </a:r>
            <a:r>
              <a:rPr lang="en-US" dirty="0" smtClean="0">
                <a:solidFill>
                  <a:schemeClr val="tx1"/>
                </a:solidFill>
              </a:rPr>
              <a:t>Everything</a:t>
            </a:r>
          </a:p>
          <a:p>
            <a:r>
              <a:rPr lang="en-US" dirty="0" smtClean="0">
                <a:solidFill>
                  <a:schemeClr val="tx1"/>
                </a:solidFill>
              </a:rPr>
              <a:t>Internet of Anything</a:t>
            </a:r>
            <a:endParaRPr lang="en-US" dirty="0">
              <a:solidFill>
                <a:schemeClr val="tx1"/>
              </a:solidFill>
            </a:endParaRPr>
          </a:p>
          <a:p>
            <a:r>
              <a:rPr lang="en-US" dirty="0" smtClean="0">
                <a:solidFill>
                  <a:schemeClr val="tx1"/>
                </a:solidFill>
              </a:rPr>
              <a:t>Machine-to-Machine (M2M) Communication</a:t>
            </a:r>
            <a:endParaRPr lang="en-US" dirty="0">
              <a:solidFill>
                <a:schemeClr val="tx1"/>
              </a:solidFill>
            </a:endParaRPr>
          </a:p>
          <a:p>
            <a:r>
              <a:rPr lang="en-US" dirty="0" smtClean="0">
                <a:solidFill>
                  <a:schemeClr val="tx1"/>
                </a:solidFill>
              </a:rPr>
              <a:t>Radio-Frequency </a:t>
            </a:r>
            <a:r>
              <a:rPr lang="en-US" dirty="0">
                <a:solidFill>
                  <a:schemeClr val="tx1"/>
                </a:solidFill>
              </a:rPr>
              <a:t>Identification (RFID)</a:t>
            </a:r>
          </a:p>
          <a:p>
            <a:pPr lvl="1"/>
            <a:r>
              <a:rPr lang="en-US" dirty="0"/>
              <a:t>Versus bar codes</a:t>
            </a:r>
          </a:p>
          <a:p>
            <a:pPr lvl="1"/>
            <a:r>
              <a:rPr lang="en-US" dirty="0"/>
              <a:t>Versus QR codes</a:t>
            </a:r>
          </a:p>
          <a:p>
            <a:r>
              <a:rPr lang="en-US" dirty="0">
                <a:solidFill>
                  <a:schemeClr val="tx1"/>
                </a:solidFill>
              </a:rPr>
              <a:t>Wireless Sensor Networks</a:t>
            </a:r>
          </a:p>
        </p:txBody>
      </p:sp>
    </p:spTree>
    <p:extLst>
      <p:ext uri="{BB962C8B-B14F-4D97-AF65-F5344CB8AC3E}">
        <p14:creationId xmlns:p14="http://schemas.microsoft.com/office/powerpoint/2010/main" val="2665573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lnSpcReduction="20000"/>
          </a:bodyPr>
          <a:lstStyle/>
          <a:p>
            <a:r>
              <a:rPr lang="en-US" dirty="0" smtClean="0"/>
              <a:t>Examples of the Internet of Things in </a:t>
            </a:r>
            <a:r>
              <a:rPr lang="en-US" dirty="0" err="1" smtClean="0"/>
              <a:t>USe</a:t>
            </a:r>
            <a:endParaRPr lang="en-US" dirty="0" smtClean="0"/>
          </a:p>
          <a:p>
            <a:endParaRPr lang="en-US" dirty="0"/>
          </a:p>
        </p:txBody>
      </p:sp>
      <p:sp>
        <p:nvSpPr>
          <p:cNvPr id="6" name="Text Placeholder 5"/>
          <p:cNvSpPr>
            <a:spLocks noGrp="1"/>
          </p:cNvSpPr>
          <p:nvPr>
            <p:ph sz="quarter" idx="14"/>
          </p:nvPr>
        </p:nvSpPr>
        <p:spPr/>
        <p:txBody>
          <a:bodyPr>
            <a:normAutofit/>
          </a:bodyPr>
          <a:lstStyle/>
          <a:p>
            <a:r>
              <a:rPr lang="en-US" dirty="0" smtClean="0">
                <a:solidFill>
                  <a:schemeClr val="tx1"/>
                </a:solidFill>
              </a:rPr>
              <a:t>The Smart Home</a:t>
            </a:r>
          </a:p>
          <a:p>
            <a:r>
              <a:rPr lang="en-US" dirty="0" smtClean="0">
                <a:solidFill>
                  <a:schemeClr val="tx1"/>
                </a:solidFill>
              </a:rPr>
              <a:t>Healthcare</a:t>
            </a:r>
          </a:p>
          <a:p>
            <a:r>
              <a:rPr lang="en-US" dirty="0" smtClean="0">
                <a:solidFill>
                  <a:schemeClr val="tx1"/>
                </a:solidFill>
              </a:rPr>
              <a:t>Automotive</a:t>
            </a:r>
          </a:p>
          <a:p>
            <a:r>
              <a:rPr lang="en-US" dirty="0" smtClean="0">
                <a:solidFill>
                  <a:schemeClr val="tx1"/>
                </a:solidFill>
              </a:rPr>
              <a:t>Supply Chain Management</a:t>
            </a:r>
          </a:p>
          <a:p>
            <a:r>
              <a:rPr lang="en-US" dirty="0" smtClean="0">
                <a:solidFill>
                  <a:schemeClr val="tx1"/>
                </a:solidFill>
              </a:rPr>
              <a:t>Environmental Monitoring</a:t>
            </a:r>
            <a:endParaRPr lang="en-US" dirty="0">
              <a:solidFill>
                <a:schemeClr val="tx1"/>
              </a:solidFill>
            </a:endParaRPr>
          </a:p>
        </p:txBody>
      </p:sp>
    </p:spTree>
    <p:extLst>
      <p:ext uri="{BB962C8B-B14F-4D97-AF65-F5344CB8AC3E}">
        <p14:creationId xmlns:p14="http://schemas.microsoft.com/office/powerpoint/2010/main" val="38598497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fontScale="92500" lnSpcReduction="20000"/>
          </a:bodyPr>
          <a:lstStyle/>
          <a:p>
            <a:r>
              <a:rPr lang="en-US" dirty="0" smtClean="0"/>
              <a:t>Examples of the Internet of Things in Use (Continued)</a:t>
            </a:r>
          </a:p>
          <a:p>
            <a:endParaRPr lang="en-US" dirty="0"/>
          </a:p>
        </p:txBody>
      </p:sp>
      <p:sp>
        <p:nvSpPr>
          <p:cNvPr id="6" name="Text Placeholder 5"/>
          <p:cNvSpPr>
            <a:spLocks noGrp="1"/>
          </p:cNvSpPr>
          <p:nvPr>
            <p:ph sz="quarter" idx="14"/>
          </p:nvPr>
        </p:nvSpPr>
        <p:spPr/>
        <p:txBody>
          <a:bodyPr>
            <a:normAutofit/>
          </a:bodyPr>
          <a:lstStyle/>
          <a:p>
            <a:r>
              <a:rPr lang="en-US" dirty="0" smtClean="0">
                <a:solidFill>
                  <a:schemeClr val="tx1"/>
                </a:solidFill>
              </a:rPr>
              <a:t>Infrastructure Management</a:t>
            </a:r>
          </a:p>
          <a:p>
            <a:r>
              <a:rPr lang="en-US" dirty="0" smtClean="0">
                <a:solidFill>
                  <a:schemeClr val="tx1"/>
                </a:solidFill>
              </a:rPr>
              <a:t>Energy Management</a:t>
            </a:r>
          </a:p>
          <a:p>
            <a:r>
              <a:rPr lang="en-US" dirty="0" smtClean="0">
                <a:solidFill>
                  <a:schemeClr val="tx1"/>
                </a:solidFill>
              </a:rPr>
              <a:t>Agriculture</a:t>
            </a:r>
          </a:p>
          <a:p>
            <a:r>
              <a:rPr lang="en-US" dirty="0" smtClean="0">
                <a:solidFill>
                  <a:schemeClr val="tx1"/>
                </a:solidFill>
              </a:rPr>
              <a:t>Transportation</a:t>
            </a:r>
            <a:endParaRPr lang="en-US" dirty="0">
              <a:solidFill>
                <a:schemeClr val="tx1"/>
              </a:solidFill>
            </a:endParaRPr>
          </a:p>
        </p:txBody>
      </p:sp>
    </p:spTree>
    <p:extLst>
      <p:ext uri="{BB962C8B-B14F-4D97-AF65-F5344CB8AC3E}">
        <p14:creationId xmlns:p14="http://schemas.microsoft.com/office/powerpoint/2010/main" val="6435506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Marks &amp; Spencer Embraces RFID</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8.5</a:t>
            </a:r>
            <a:endParaRPr lang="en-US" dirty="0"/>
          </a:p>
        </p:txBody>
      </p:sp>
    </p:spTree>
    <p:extLst>
      <p:ext uri="{BB962C8B-B14F-4D97-AF65-F5344CB8AC3E}">
        <p14:creationId xmlns:p14="http://schemas.microsoft.com/office/powerpoint/2010/main" val="36391172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p:txBody>
          <a:bodyPr>
            <a:normAutofit/>
          </a:bodyPr>
          <a:lstStyle/>
          <a:p>
            <a:r>
              <a:rPr lang="en-US" dirty="0" smtClean="0"/>
              <a:t>Wireless Security</a:t>
            </a:r>
            <a:endParaRPr lang="en-US" dirty="0"/>
          </a:p>
        </p:txBody>
      </p:sp>
      <p:sp>
        <p:nvSpPr>
          <p:cNvPr id="5" name="Text Placeholder 4"/>
          <p:cNvSpPr>
            <a:spLocks noGrp="1"/>
          </p:cNvSpPr>
          <p:nvPr>
            <p:ph type="body" sz="quarter" idx="14"/>
          </p:nvPr>
        </p:nvSpPr>
        <p:spPr/>
        <p:txBody>
          <a:bodyPr/>
          <a:lstStyle/>
          <a:p>
            <a:r>
              <a:rPr lang="en-US" dirty="0" smtClean="0"/>
              <a:t>8.5</a:t>
            </a:r>
            <a:endParaRPr lang="en-US" dirty="0"/>
          </a:p>
        </p:txBody>
      </p:sp>
      <p:sp>
        <p:nvSpPr>
          <p:cNvPr id="4" name="Text Placeholder 3"/>
          <p:cNvSpPr>
            <a:spLocks noGrp="1"/>
          </p:cNvSpPr>
          <p:nvPr>
            <p:ph sz="quarter" idx="15"/>
          </p:nvPr>
        </p:nvSpPr>
        <p:spPr/>
        <p:txBody>
          <a:bodyPr/>
          <a:lstStyle/>
          <a:p>
            <a:r>
              <a:rPr lang="en-US" dirty="0"/>
              <a:t>Four Major Threats</a:t>
            </a:r>
          </a:p>
          <a:p>
            <a:pPr lvl="1"/>
            <a:r>
              <a:rPr lang="en-US" dirty="0"/>
              <a:t>Rogue access points</a:t>
            </a:r>
          </a:p>
          <a:p>
            <a:pPr lvl="1"/>
            <a:r>
              <a:rPr lang="en-US" dirty="0"/>
              <a:t>War driving</a:t>
            </a:r>
          </a:p>
          <a:p>
            <a:pPr lvl="1"/>
            <a:r>
              <a:rPr lang="en-US" dirty="0"/>
              <a:t>Eavesdropping</a:t>
            </a:r>
          </a:p>
          <a:p>
            <a:pPr lvl="1"/>
            <a:r>
              <a:rPr lang="en-US" dirty="0"/>
              <a:t>Radio-frequency jamming</a:t>
            </a:r>
          </a:p>
        </p:txBody>
      </p:sp>
    </p:spTree>
    <p:extLst>
      <p:ext uri="{BB962C8B-B14F-4D97-AF65-F5344CB8AC3E}">
        <p14:creationId xmlns:p14="http://schemas.microsoft.com/office/powerpoint/2010/main" val="946683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Has Facebook Solved </a:t>
            </a:r>
            <a:br>
              <a:rPr lang="en-US" dirty="0" smtClean="0"/>
            </a:br>
            <a:r>
              <a:rPr lang="en-US" dirty="0" smtClean="0"/>
              <a:t>the Mobile Ad Problem?</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The </a:t>
            </a:r>
            <a:r>
              <a:rPr lang="en-US" dirty="0" smtClean="0">
                <a:solidFill>
                  <a:schemeClr val="tx1">
                    <a:lumMod val="65000"/>
                    <a:lumOff val="35000"/>
                  </a:schemeClr>
                </a:solidFill>
              </a:rPr>
              <a:t>IT 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16626</TotalTime>
  <Words>4416</Words>
  <Application>Microsoft Office PowerPoint</Application>
  <PresentationFormat>On-screen Show (4:3)</PresentationFormat>
  <Paragraphs>489</Paragraphs>
  <Slides>44</Slides>
  <Notes>29</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PowerPoint Presentation</vt:lpstr>
      <vt:lpstr>PowerPoint Presentation</vt:lpstr>
      <vt:lpstr>PowerPoint Presentation</vt:lpstr>
      <vt:lpstr>[ WEB RESOURCES]</vt:lpstr>
      <vt:lpstr>[ Opening Case Republic Wireless and Freedom-Pop Could Disrupt…]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Has Facebook Solved  the Mobile Ad Problem?]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Rainer_6e_Chapter8_Slides</dc:title>
  <dc:creator>John Kenneth Corley</dc:creator>
  <cp:lastModifiedBy>techsupport</cp:lastModifiedBy>
  <cp:revision>531</cp:revision>
  <dcterms:created xsi:type="dcterms:W3CDTF">2013-08-07T23:49:12Z</dcterms:created>
  <dcterms:modified xsi:type="dcterms:W3CDTF">2015-10-01T20:05:44Z</dcterms:modified>
</cp:coreProperties>
</file>