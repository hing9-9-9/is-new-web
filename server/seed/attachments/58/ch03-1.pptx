
<file path=[Content_Types].xml><?xml version="1.0" encoding="utf-8"?>
<Types xmlns="http://schemas.openxmlformats.org/package/2006/content-types">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665" r:id="rId2"/>
    <p:sldId id="666" r:id="rId3"/>
    <p:sldId id="667" r:id="rId4"/>
    <p:sldId id="747" r:id="rId5"/>
    <p:sldId id="670" r:id="rId6"/>
    <p:sldId id="835" r:id="rId7"/>
    <p:sldId id="836" r:id="rId8"/>
    <p:sldId id="837" r:id="rId9"/>
    <p:sldId id="838" r:id="rId10"/>
    <p:sldId id="839" r:id="rId11"/>
    <p:sldId id="671" r:id="rId12"/>
    <p:sldId id="840" r:id="rId13"/>
    <p:sldId id="841" r:id="rId14"/>
    <p:sldId id="842" r:id="rId15"/>
    <p:sldId id="843" r:id="rId16"/>
    <p:sldId id="844" r:id="rId17"/>
    <p:sldId id="845" r:id="rId18"/>
    <p:sldId id="846" r:id="rId19"/>
    <p:sldId id="1050" r:id="rId20"/>
    <p:sldId id="847" r:id="rId21"/>
    <p:sldId id="848" r:id="rId22"/>
    <p:sldId id="849" r:id="rId23"/>
    <p:sldId id="850" r:id="rId24"/>
    <p:sldId id="1051" r:id="rId25"/>
    <p:sldId id="851" r:id="rId26"/>
    <p:sldId id="852" r:id="rId27"/>
    <p:sldId id="853" r:id="rId28"/>
    <p:sldId id="108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dirty="0" smtClean="0"/>
              <a:t>Present the pros and cons of the NSA’s actions.</a:t>
            </a:r>
          </a:p>
          <a:p>
            <a:pPr marL="228600" indent="-228600">
              <a:buFont typeface="+mj-lt"/>
              <a:buAutoNum type="arabicPeriod"/>
            </a:pPr>
            <a:r>
              <a:rPr lang="en-US" dirty="0" smtClean="0"/>
              <a:t>Present the pros and cons of Edward Snowden’s actions.</a:t>
            </a:r>
          </a:p>
          <a:p>
            <a:pPr marL="228600" indent="-228600">
              <a:buFont typeface="+mj-lt"/>
              <a:buAutoNum type="arabicPeriod"/>
            </a:pPr>
            <a:r>
              <a:rPr lang="en-US" dirty="0" smtClean="0"/>
              <a:t>Are the NSA’s actions legal? Support your answer with specific examples.</a:t>
            </a:r>
          </a:p>
          <a:p>
            <a:pPr marL="228600" indent="-228600">
              <a:buFont typeface="+mj-lt"/>
              <a:buAutoNum type="arabicPeriod"/>
            </a:pPr>
            <a:r>
              <a:rPr lang="en-US" dirty="0" smtClean="0"/>
              <a:t>Are the NSA’s actions ethical? Support your answer with specific examples.</a:t>
            </a:r>
          </a:p>
          <a:p>
            <a:pPr marL="228600" indent="-228600">
              <a:buFont typeface="+mj-lt"/>
              <a:buAutoNum type="arabicPeriod"/>
            </a:pPr>
            <a:r>
              <a:rPr lang="en-US" dirty="0" smtClean="0"/>
              <a:t>Were Edward Snowden’s actions legal? Support your answer with specific examples.</a:t>
            </a:r>
          </a:p>
          <a:p>
            <a:pPr marL="228600" indent="-228600">
              <a:buFont typeface="+mj-lt"/>
              <a:buAutoNum type="arabicPeriod"/>
            </a:pPr>
            <a:r>
              <a:rPr lang="en-US" dirty="0" smtClean="0"/>
              <a:t>Were Edward Snowden’s actions ethical? Support your answer with specific examples.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1913421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b="1" dirty="0" smtClean="0"/>
              <a:t>Utilitarian Approach</a:t>
            </a:r>
            <a:r>
              <a:rPr lang="en-US" dirty="0" smtClean="0"/>
              <a:t>: states that an ethical action is the one that provides the most good or does the least harm.</a:t>
            </a:r>
          </a:p>
          <a:p>
            <a:pPr marL="171450" indent="-171450">
              <a:buFont typeface="Arial" pitchFamily="34" charset="0"/>
              <a:buChar char="•"/>
            </a:pPr>
            <a:r>
              <a:rPr lang="en-US" b="1" dirty="0" smtClean="0"/>
              <a:t>Rights Approach</a:t>
            </a:r>
            <a:r>
              <a:rPr lang="en-US" dirty="0" smtClean="0"/>
              <a:t>: maintains that an ethical action is the one that best protects and respects the moral rights of the affected parties.</a:t>
            </a:r>
          </a:p>
          <a:p>
            <a:pPr marL="171450" indent="-171450">
              <a:buFont typeface="Arial" pitchFamily="34" charset="0"/>
              <a:buChar char="•"/>
            </a:pPr>
            <a:r>
              <a:rPr lang="en-US" b="1" dirty="0" smtClean="0"/>
              <a:t>Fairness Approach</a:t>
            </a:r>
            <a:r>
              <a:rPr lang="en-US" dirty="0" smtClean="0"/>
              <a:t>: posits that ethical actions treat all human beings equally, or, if unequally, then fairly, based on some defensible standard. For example, most people might believe it is fair to pay people higher salaries if they work harder or if they contribute a greater amount to the firm.</a:t>
            </a:r>
          </a:p>
          <a:p>
            <a:pPr marL="171450" indent="-171450">
              <a:buFont typeface="Arial" pitchFamily="34" charset="0"/>
              <a:buChar char="•"/>
            </a:pPr>
            <a:r>
              <a:rPr lang="en-US" b="1" dirty="0" smtClean="0"/>
              <a:t>Common Good Approach</a:t>
            </a:r>
            <a:r>
              <a:rPr lang="en-US" dirty="0" smtClean="0"/>
              <a:t>: highlights the interlocking relationships that underlie all societies. This approach argues that respect and compassion for all others is the basis for ethical actions.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2167537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Recognize an ethical issue:</a:t>
            </a:r>
          </a:p>
          <a:p>
            <a:r>
              <a:rPr lang="en-US" dirty="0" smtClean="0"/>
              <a:t>• Could this decision or situation damage someone or some group?</a:t>
            </a:r>
          </a:p>
          <a:p>
            <a:r>
              <a:rPr lang="en-US" dirty="0" smtClean="0"/>
              <a:t>• Does this decision involve a choice between a good and a bad alternative?</a:t>
            </a:r>
          </a:p>
          <a:p>
            <a:r>
              <a:rPr lang="en-US" dirty="0" smtClean="0"/>
              <a:t>• Does this issue involve more than simply legal considerations? If so, then in what way?</a:t>
            </a:r>
          </a:p>
          <a:p>
            <a:r>
              <a:rPr lang="en-US" b="1" dirty="0" smtClean="0"/>
              <a:t>Get the facts:</a:t>
            </a:r>
          </a:p>
          <a:p>
            <a:r>
              <a:rPr lang="en-US" dirty="0" smtClean="0"/>
              <a:t>• What are the relevant facts of the situation?</a:t>
            </a:r>
          </a:p>
          <a:p>
            <a:r>
              <a:rPr lang="en-US" dirty="0" smtClean="0"/>
              <a:t>• Do I have sufficient information to make a decision?</a:t>
            </a:r>
          </a:p>
          <a:p>
            <a:r>
              <a:rPr lang="en-US" dirty="0" smtClean="0"/>
              <a:t>• Which individuals and/or groups have an important stake in the outcome?</a:t>
            </a:r>
          </a:p>
          <a:p>
            <a:r>
              <a:rPr lang="en-US" dirty="0" smtClean="0"/>
              <a:t>• Have I consulted all relevant persons and groups?</a:t>
            </a:r>
          </a:p>
          <a:p>
            <a:r>
              <a:rPr lang="en-US" b="1" dirty="0" smtClean="0"/>
              <a:t>Evaluate alternative actions:</a:t>
            </a:r>
          </a:p>
          <a:p>
            <a:r>
              <a:rPr lang="en-US" dirty="0" smtClean="0"/>
              <a:t>• Which option will produce the most good and do the least harm? (the utilitarian approach)</a:t>
            </a:r>
          </a:p>
          <a:p>
            <a:r>
              <a:rPr lang="en-US" dirty="0" smtClean="0"/>
              <a:t>• Which option best respects the rights of all stakeholders? (the rights approach)</a:t>
            </a:r>
          </a:p>
          <a:p>
            <a:r>
              <a:rPr lang="en-US" dirty="0" smtClean="0"/>
              <a:t>• Which option treats people equally or proportionately? (the fairness approach)</a:t>
            </a:r>
          </a:p>
          <a:p>
            <a:r>
              <a:rPr lang="en-US" dirty="0" smtClean="0"/>
              <a:t>• Which option best serves the community as a whole, and not just some members? (the common good approach)</a:t>
            </a:r>
          </a:p>
          <a:p>
            <a:r>
              <a:rPr lang="en-US" b="1" dirty="0" smtClean="0"/>
              <a:t>Make a decision and test it:</a:t>
            </a:r>
          </a:p>
          <a:p>
            <a:r>
              <a:rPr lang="en-US" dirty="0" smtClean="0"/>
              <a:t>• Considering all the approaches, which option best addresses the situation?</a:t>
            </a:r>
          </a:p>
          <a:p>
            <a:r>
              <a:rPr lang="en-US" b="1" dirty="0" smtClean="0"/>
              <a:t>Act and reflect on the outcome of your decision:</a:t>
            </a:r>
          </a:p>
          <a:p>
            <a:r>
              <a:rPr lang="en-US" dirty="0" smtClean="0"/>
              <a:t>• How can I implement my decision with the greatest care and attention to the concerns of all stakeholders?</a:t>
            </a:r>
          </a:p>
          <a:p>
            <a:r>
              <a:rPr lang="en-US" dirty="0" smtClean="0"/>
              <a:t>• How did my decision turn out, and what did I learn from this specific situation?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2167537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Fundamental Tenets of Ethics:</a:t>
            </a:r>
          </a:p>
          <a:p>
            <a:pPr marL="171450" indent="-171450">
              <a:buFont typeface="Arial" pitchFamily="34" charset="0"/>
              <a:buChar char="•"/>
            </a:pPr>
            <a:r>
              <a:rPr lang="en-US" b="1" dirty="0" smtClean="0"/>
              <a:t>Responsibility:</a:t>
            </a:r>
            <a:r>
              <a:rPr lang="en-US" b="1" baseline="0" dirty="0" smtClean="0"/>
              <a:t> </a:t>
            </a:r>
            <a:r>
              <a:rPr lang="en-US" b="0" baseline="0" dirty="0" smtClean="0"/>
              <a:t>m</a:t>
            </a:r>
            <a:r>
              <a:rPr lang="en-US" dirty="0" smtClean="0"/>
              <a:t>eans that you accept the consequences of your decisions and actions.</a:t>
            </a:r>
          </a:p>
          <a:p>
            <a:pPr marL="171450" indent="-171450">
              <a:buFont typeface="Arial" pitchFamily="34" charset="0"/>
              <a:buChar char="•"/>
            </a:pPr>
            <a:r>
              <a:rPr lang="en-US" b="1" dirty="0" smtClean="0"/>
              <a:t>Accountability: </a:t>
            </a:r>
            <a:r>
              <a:rPr lang="en-US" dirty="0" smtClean="0"/>
              <a:t>refers to determining who is responsible for actions that were taken.</a:t>
            </a:r>
          </a:p>
          <a:p>
            <a:pPr marL="171450" indent="-171450">
              <a:buFont typeface="Arial" pitchFamily="34" charset="0"/>
              <a:buChar char="•"/>
            </a:pPr>
            <a:r>
              <a:rPr lang="en-US" b="1" dirty="0" smtClean="0"/>
              <a:t>Liability: </a:t>
            </a:r>
            <a:r>
              <a:rPr lang="en-US" dirty="0" smtClean="0"/>
              <a:t>is a legal concept that gives individuals the right to recover the damages done to them by other individuals, organizations, or systems.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614140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mtClean="0"/>
              <a:t>As the Turnitin database expands rapidly by incorporating a growing number of papers and essays, what will be the impact on subsequent papers submitted to it?</a:t>
            </a:r>
          </a:p>
          <a:p>
            <a:pPr marL="228600" indent="-228600">
              <a:buFont typeface="+mj-lt"/>
              <a:buAutoNum type="arabicPeriod"/>
            </a:pPr>
            <a:r>
              <a:rPr lang="en-US" smtClean="0"/>
              <a:t>Discuss the ethical implications of writing a paper yourself that you know contains some plagiarized material and then using Turnitin’s service yourself.</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1. </a:t>
            </a:r>
            <a:r>
              <a:rPr lang="en-US" sz="1200" b="1" i="1" u="none" strike="noStrike" kern="1200" baseline="0" dirty="0" smtClean="0">
                <a:solidFill>
                  <a:schemeClr val="tx1"/>
                </a:solidFill>
                <a:latin typeface="+mn-lt"/>
                <a:ea typeface="+mn-ea"/>
                <a:cs typeface="+mn-cs"/>
              </a:rPr>
              <a:t>Privacy issues </a:t>
            </a:r>
            <a:r>
              <a:rPr lang="en-US" sz="1200" b="0" i="0" u="none" strike="noStrike" kern="1200" baseline="0" dirty="0" smtClean="0">
                <a:solidFill>
                  <a:schemeClr val="tx1"/>
                </a:solidFill>
                <a:latin typeface="+mn-lt"/>
                <a:ea typeface="+mn-ea"/>
                <a:cs typeface="+mn-cs"/>
              </a:rPr>
              <a:t>involve collecting, storing, and disseminating information about individuals.</a:t>
            </a:r>
          </a:p>
          <a:p>
            <a:r>
              <a:rPr lang="en-US" sz="1200" b="1" i="0" u="none" strike="noStrike" kern="1200" baseline="0" dirty="0" smtClean="0">
                <a:solidFill>
                  <a:schemeClr val="tx1"/>
                </a:solidFill>
                <a:latin typeface="+mn-lt"/>
                <a:ea typeface="+mn-ea"/>
                <a:cs typeface="+mn-cs"/>
              </a:rPr>
              <a:t>2. </a:t>
            </a:r>
            <a:r>
              <a:rPr lang="en-US" sz="1200" b="1" i="1" u="none" strike="noStrike" kern="1200" baseline="0" dirty="0" smtClean="0">
                <a:solidFill>
                  <a:schemeClr val="tx1"/>
                </a:solidFill>
                <a:latin typeface="+mn-lt"/>
                <a:ea typeface="+mn-ea"/>
                <a:cs typeface="+mn-cs"/>
              </a:rPr>
              <a:t>Accuracy issues </a:t>
            </a:r>
            <a:r>
              <a:rPr lang="en-US" sz="1200" b="0" i="0" u="none" strike="noStrike" kern="1200" baseline="0" dirty="0" smtClean="0">
                <a:solidFill>
                  <a:schemeClr val="tx1"/>
                </a:solidFill>
                <a:latin typeface="+mn-lt"/>
                <a:ea typeface="+mn-ea"/>
                <a:cs typeface="+mn-cs"/>
              </a:rPr>
              <a:t>involve the authenticity, fidelity, and correctness of information that is collected and processed.</a:t>
            </a:r>
          </a:p>
          <a:p>
            <a:r>
              <a:rPr lang="en-US" sz="1200" b="1" i="0" u="none" strike="noStrike" kern="1200" baseline="0" dirty="0" smtClean="0">
                <a:solidFill>
                  <a:schemeClr val="tx1"/>
                </a:solidFill>
                <a:latin typeface="+mn-lt"/>
                <a:ea typeface="+mn-ea"/>
                <a:cs typeface="+mn-cs"/>
              </a:rPr>
              <a:t>3. </a:t>
            </a:r>
            <a:r>
              <a:rPr lang="en-US" sz="1200" b="1" i="1" u="none" strike="noStrike" kern="1200" baseline="0" dirty="0" smtClean="0">
                <a:solidFill>
                  <a:schemeClr val="tx1"/>
                </a:solidFill>
                <a:latin typeface="+mn-lt"/>
                <a:ea typeface="+mn-ea"/>
                <a:cs typeface="+mn-cs"/>
              </a:rPr>
              <a:t>Property issues </a:t>
            </a:r>
            <a:r>
              <a:rPr lang="en-US" sz="1200" b="0" i="0" u="none" strike="noStrike" kern="1200" baseline="0" dirty="0" smtClean="0">
                <a:solidFill>
                  <a:schemeClr val="tx1"/>
                </a:solidFill>
                <a:latin typeface="+mn-lt"/>
                <a:ea typeface="+mn-ea"/>
                <a:cs typeface="+mn-cs"/>
              </a:rPr>
              <a:t>involve the ownership and value of information.</a:t>
            </a:r>
          </a:p>
          <a:p>
            <a:r>
              <a:rPr lang="en-US" sz="1200" b="1" i="0" u="none" strike="noStrike" kern="1200" baseline="0" dirty="0" smtClean="0">
                <a:solidFill>
                  <a:schemeClr val="tx1"/>
                </a:solidFill>
                <a:latin typeface="+mn-lt"/>
                <a:ea typeface="+mn-ea"/>
                <a:cs typeface="+mn-cs"/>
              </a:rPr>
              <a:t>4. </a:t>
            </a:r>
            <a:r>
              <a:rPr lang="en-US" sz="1200" b="1" i="1" u="none" strike="noStrike" kern="1200" baseline="0" dirty="0" smtClean="0">
                <a:solidFill>
                  <a:schemeClr val="tx1"/>
                </a:solidFill>
                <a:latin typeface="+mn-lt"/>
                <a:ea typeface="+mn-ea"/>
                <a:cs typeface="+mn-cs"/>
              </a:rPr>
              <a:t>Accessibility issues </a:t>
            </a:r>
            <a:r>
              <a:rPr lang="en-US" sz="1200" b="0" i="0" u="none" strike="noStrike" kern="1200" baseline="0" dirty="0" smtClean="0">
                <a:solidFill>
                  <a:schemeClr val="tx1"/>
                </a:solidFill>
                <a:latin typeface="+mn-lt"/>
                <a:ea typeface="+mn-ea"/>
                <a:cs typeface="+mn-cs"/>
              </a:rPr>
              <a:t>revolve around who should have access to information and whether a fee should be paid for this access.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2052554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b="1" dirty="0" smtClean="0"/>
              <a:t>Digital Dossier: </a:t>
            </a:r>
            <a:r>
              <a:rPr lang="en-US" dirty="0" smtClean="0"/>
              <a:t>data integrated from data gathered about you in a typical day (surveillance cameras located on toll roads, on other roadways, in busy intersections, in public places, and at work; credit card transactions; telephone calls (landline and cellular); banking transactions; queries to search engines; and government records (including police records).</a:t>
            </a:r>
          </a:p>
          <a:p>
            <a:pPr marL="171450" indent="-171450">
              <a:buFont typeface="Arial" pitchFamily="34" charset="0"/>
              <a:buChar char="•"/>
            </a:pPr>
            <a:r>
              <a:rPr lang="en-US" b="1" dirty="0" smtClean="0"/>
              <a:t>Profiling: </a:t>
            </a:r>
            <a:r>
              <a:rPr lang="en-US" dirty="0" smtClean="0"/>
              <a:t>The process of forming a digital</a:t>
            </a:r>
            <a:r>
              <a:rPr lang="en-US" baseline="0" dirty="0" smtClean="0"/>
              <a:t> dossier.</a:t>
            </a:r>
            <a:endParaRPr lang="en-US" dirty="0" smtClean="0"/>
          </a:p>
          <a:p>
            <a:pPr marL="171450" indent="-171450">
              <a:buFont typeface="Arial" pitchFamily="34" charset="0"/>
              <a:buChar char="•"/>
            </a:pPr>
            <a:r>
              <a:rPr lang="en-US" b="1" dirty="0" smtClean="0"/>
              <a:t>Data Aggregators: </a:t>
            </a:r>
            <a:r>
              <a:rPr lang="en-US" dirty="0" smtClean="0"/>
              <a:t>companies that collect public data such as real estate records and published telephone numbers, in addition to nonpublic information such as Social Security numbers; financial data; and police, criminal, and motor vehicle records.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8424768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Electronic Surveillance: </a:t>
            </a:r>
            <a:r>
              <a:rPr lang="en-US" dirty="0" smtClean="0"/>
              <a:t>conducted by employers, the government, and other institutions. Surveillance cameras track you at airports, subways, banks, and other public venues. Inexpensive digital sensors are now  incorporated into laptop webcams, video-game motion sensors, smartphone cameras, utility meters, passports, employee ID cards high-resolution photographs taken from the air or from the street by Google or Microsoft , your license plates will be recorded and time-stamped as you drive down a city street, cross a toll bridge, or park at a shopping mall.</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1059469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mtClean="0"/>
              <a:t>Is using EyeSee mannequins in stores an ethical practice? Why or why not? Support your answer.</a:t>
            </a:r>
          </a:p>
          <a:p>
            <a:pPr marL="228600" indent="-228600">
              <a:buFont typeface="+mj-lt"/>
              <a:buAutoNum type="arabicPeriod"/>
            </a:pPr>
            <a:r>
              <a:rPr lang="en-US" smtClean="0"/>
              <a:t>If stores notify people that they may be fi lmed, do the stores have to indicate how they might be fi lmed (i.e., by mannequins)? What are the ethical implications of how stores make these notifi cations?</a:t>
            </a:r>
          </a:p>
          <a:p>
            <a:pPr marL="228600" indent="-228600">
              <a:buFont typeface="+mj-lt"/>
              <a:buAutoNum type="arabicPeriod"/>
            </a:pPr>
            <a:r>
              <a:rPr lang="en-US" smtClean="0"/>
              <a:t>Would knowing that the mannequins may be watching you change your shopping behavior? Why or why not? Explain your answer.</a:t>
            </a:r>
          </a:p>
          <a:p>
            <a:pPr marL="228600" indent="-228600">
              <a:buFont typeface="+mj-lt"/>
              <a:buAutoNum type="arabicPeriod"/>
            </a:pPr>
            <a:r>
              <a:rPr lang="en-US" smtClean="0"/>
              <a:t>What are the privacy implications of the EyeSee mannequins, given that stores already have security cameras placed in strategic locations?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20</a:t>
            </a:fld>
            <a:endParaRPr lang="en-US"/>
          </a:p>
        </p:txBody>
      </p:sp>
    </p:spTree>
    <p:extLst>
      <p:ext uri="{BB962C8B-B14F-4D97-AF65-F5344CB8AC3E}">
        <p14:creationId xmlns:p14="http://schemas.microsoft.com/office/powerpoint/2010/main" val="1281552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Is </a:t>
            </a:r>
            <a:r>
              <a:rPr lang="en-US" dirty="0" err="1" smtClean="0"/>
              <a:t>Tapad’s</a:t>
            </a:r>
            <a:r>
              <a:rPr lang="en-US" dirty="0" smtClean="0"/>
              <a:t> business model ethical? Why or why not?</a:t>
            </a:r>
          </a:p>
          <a:p>
            <a:pPr marL="228600" indent="-228600">
              <a:buFont typeface="+mj-lt"/>
              <a:buAutoNum type="arabicPeriod"/>
            </a:pPr>
            <a:r>
              <a:rPr lang="en-US" dirty="0" smtClean="0"/>
              <a:t>What is the relationship between </a:t>
            </a:r>
            <a:r>
              <a:rPr lang="en-US" dirty="0" err="1" smtClean="0"/>
              <a:t>Tapad’s</a:t>
            </a:r>
            <a:r>
              <a:rPr lang="en-US" dirty="0" smtClean="0"/>
              <a:t> business model and your privacy? Provide </a:t>
            </a:r>
            <a:r>
              <a:rPr lang="en-US" dirty="0" err="1" smtClean="0"/>
              <a:t>specifi</a:t>
            </a:r>
            <a:r>
              <a:rPr lang="en-US" dirty="0" smtClean="0"/>
              <a:t> c examples to support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Privacy Policies (or Privacy Codes): </a:t>
            </a:r>
            <a:r>
              <a:rPr lang="en-US" dirty="0" smtClean="0"/>
              <a:t>an organization’s guidelines for protecting the privacy of its customers, clients, and employees.</a:t>
            </a:r>
          </a:p>
          <a:p>
            <a:r>
              <a:rPr lang="en-US" b="1" dirty="0" smtClean="0"/>
              <a:t>Opt-Out Model of Informed Consent: </a:t>
            </a:r>
            <a:r>
              <a:rPr lang="en-US" dirty="0" smtClean="0"/>
              <a:t>permits the company to collect personal information until the customer specifically requests that the data not be collected. </a:t>
            </a:r>
          </a:p>
          <a:p>
            <a:r>
              <a:rPr lang="en-US" b="1" dirty="0" smtClean="0"/>
              <a:t>Opt-In Model of Informed Consent: </a:t>
            </a:r>
            <a:r>
              <a:rPr lang="en-US" dirty="0" smtClean="0"/>
              <a:t>Privacy advocates prefer this model, which prohibits an organization from collecting any personal information unless the customer specifically authorizes it.</a:t>
            </a:r>
          </a:p>
          <a:p>
            <a:r>
              <a:rPr lang="en-US" b="1" dirty="0" smtClean="0"/>
              <a:t>Platform for Privacy Preferences (P3P): </a:t>
            </a:r>
            <a:r>
              <a:rPr lang="en-US" dirty="0" smtClean="0"/>
              <a:t>a protocol that automatically communicates privacy policies between an electronic commerce Web site and visitors to that site. P3P enables visitors to determine the types of personal data that can be extracted by the sites they visit.</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2175188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Safe Harbor: </a:t>
            </a:r>
            <a:r>
              <a:rPr lang="en-US" dirty="0" smtClean="0"/>
              <a:t>The U.S. Department of Commerce, in consultation with the European Union, developed a “safe harbor” framework to regulate the way that the U.S. companies export and handle the personal data (e.g., names and addresses) of European citizens.</a:t>
            </a:r>
          </a:p>
          <a:p>
            <a:r>
              <a:rPr lang="en-US" b="1" dirty="0" smtClean="0"/>
              <a:t>The European Community Commission (ECC) (1998): </a:t>
            </a:r>
            <a:r>
              <a:rPr lang="en-US" dirty="0" smtClean="0"/>
              <a:t>issued guidelines to all of its member countries regarding the rights of individuals to access information about themselves. The EU data protection laws are stricter than the U.S. laws and therefore could create problems for the U.S.-based multinational corporations, which could face lawsuits for privacy violations.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32169723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b="0" dirty="0" smtClean="0"/>
              <a:t>Describe how each of the companies discussed above can protect your privacy in some way.</a:t>
            </a:r>
          </a:p>
          <a:p>
            <a:pPr marL="228600" indent="-228600">
              <a:buFont typeface="+mj-lt"/>
              <a:buAutoNum type="arabicPeriod"/>
            </a:pPr>
            <a:r>
              <a:rPr lang="en-US" b="0" dirty="0" smtClean="0"/>
              <a:t>Describe the disadvantages to you from using any of the services described in this case.</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Ethics and Privacy</a:t>
            </a:r>
            <a:endParaRPr lang="en-US" dirty="0"/>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3</a:t>
            </a:r>
            <a:endParaRPr lang="en-US" dirty="0"/>
          </a:p>
        </p:txBody>
      </p:sp>
    </p:spTree>
    <p:extLst>
      <p:ext uri="{BB962C8B-B14F-4D97-AF65-F5344CB8AC3E}">
        <p14:creationId xmlns:p14="http://schemas.microsoft.com/office/powerpoint/2010/main" val="375702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Define ethics, list and describe the three fundamental tenets of ethics, and describe the four categories of ethical issues related to information technology.</a:t>
            </a:r>
          </a:p>
          <a:p>
            <a:r>
              <a:rPr lang="en-US" dirty="0"/>
              <a:t>Identify three places that store personal data, and for each one, discuss at least one potential threat to the privacy of the data stored there.</a:t>
            </a:r>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227378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Ethical Issues</a:t>
            </a:r>
          </a:p>
          <a:p>
            <a:r>
              <a:rPr lang="en-US" dirty="0" smtClean="0"/>
              <a:t>Privacy</a:t>
            </a:r>
            <a:endParaRPr lang="en-US" dirty="0"/>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187650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02712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 </a:t>
            </a:r>
            <a:r>
              <a:rPr lang="en-US" dirty="0">
                <a:solidFill>
                  <a:schemeClr val="accent1">
                    <a:lumMod val="75000"/>
                  </a:schemeClr>
                </a:solidFill>
              </a:rPr>
              <a:t>Opening Case </a:t>
            </a:r>
            <a:r>
              <a:rPr lang="en-US" dirty="0" smtClean="0"/>
              <a:t>The National Security Agency’s Surveillance Programs</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Huge Problem</a:t>
            </a:r>
          </a:p>
          <a:p>
            <a:r>
              <a:rPr lang="en-US" dirty="0" smtClean="0"/>
              <a:t>The Reaction</a:t>
            </a:r>
          </a:p>
          <a:p>
            <a:r>
              <a:rPr lang="en-US" dirty="0" smtClean="0"/>
              <a:t>The Results</a:t>
            </a:r>
            <a:endParaRPr lang="en-US" dirty="0"/>
          </a:p>
          <a:p>
            <a:endParaRPr lang="en-US" dirty="0"/>
          </a:p>
        </p:txBody>
      </p:sp>
    </p:spTree>
    <p:extLst>
      <p:ext uri="{BB962C8B-B14F-4D97-AF65-F5344CB8AC3E}">
        <p14:creationId xmlns:p14="http://schemas.microsoft.com/office/powerpoint/2010/main" val="4022389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Ethical Issues</a:t>
            </a:r>
            <a:endParaRPr lang="en-US" dirty="0"/>
          </a:p>
        </p:txBody>
      </p:sp>
      <p:sp>
        <p:nvSpPr>
          <p:cNvPr id="3" name="Text Placeholder 2"/>
          <p:cNvSpPr>
            <a:spLocks noGrp="1"/>
          </p:cNvSpPr>
          <p:nvPr>
            <p:ph type="body" sz="quarter" idx="14"/>
          </p:nvPr>
        </p:nvSpPr>
        <p:spPr/>
        <p:txBody>
          <a:bodyPr/>
          <a:lstStyle/>
          <a:p>
            <a:r>
              <a:rPr lang="en-US" dirty="0" smtClean="0"/>
              <a:t>3.1</a:t>
            </a:r>
            <a:endParaRPr lang="en-US" dirty="0"/>
          </a:p>
        </p:txBody>
      </p:sp>
      <p:sp>
        <p:nvSpPr>
          <p:cNvPr id="4" name="Content Placeholder 3"/>
          <p:cNvSpPr>
            <a:spLocks noGrp="1"/>
          </p:cNvSpPr>
          <p:nvPr>
            <p:ph sz="quarter" idx="15"/>
          </p:nvPr>
        </p:nvSpPr>
        <p:spPr/>
        <p:txBody>
          <a:bodyPr/>
          <a:lstStyle/>
          <a:p>
            <a:r>
              <a:rPr lang="en-US" dirty="0" smtClean="0"/>
              <a:t>Ethical Frameworks</a:t>
            </a:r>
          </a:p>
          <a:p>
            <a:r>
              <a:rPr lang="en-US" dirty="0" smtClean="0"/>
              <a:t>Ethics in the Corporate Environment</a:t>
            </a:r>
          </a:p>
          <a:p>
            <a:r>
              <a:rPr lang="en-US" dirty="0" smtClean="0"/>
              <a:t>Ethics and Information Technology</a:t>
            </a:r>
          </a:p>
          <a:p>
            <a:endParaRPr lang="en-US" dirty="0" smtClean="0"/>
          </a:p>
          <a:p>
            <a:endParaRPr lang="en-US" dirty="0"/>
          </a:p>
        </p:txBody>
      </p:sp>
    </p:spTree>
    <p:extLst>
      <p:ext uri="{BB962C8B-B14F-4D97-AF65-F5344CB8AC3E}">
        <p14:creationId xmlns:p14="http://schemas.microsoft.com/office/powerpoint/2010/main" val="558504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Ethical Issues </a:t>
            </a:r>
            <a:endParaRPr lang="en-US" dirty="0"/>
          </a:p>
        </p:txBody>
      </p:sp>
      <p:sp>
        <p:nvSpPr>
          <p:cNvPr id="3" name="Text Placeholder 2"/>
          <p:cNvSpPr>
            <a:spLocks noGrp="1"/>
          </p:cNvSpPr>
          <p:nvPr>
            <p:ph type="body" sz="quarter" idx="14"/>
          </p:nvPr>
        </p:nvSpPr>
        <p:spPr/>
        <p:txBody>
          <a:bodyPr/>
          <a:lstStyle/>
          <a:p>
            <a:r>
              <a:rPr lang="en-US" dirty="0" smtClean="0"/>
              <a:t>3.1</a:t>
            </a:r>
            <a:endParaRPr lang="en-US" dirty="0"/>
          </a:p>
        </p:txBody>
      </p:sp>
      <p:sp>
        <p:nvSpPr>
          <p:cNvPr id="4" name="Content Placeholder 3"/>
          <p:cNvSpPr>
            <a:spLocks noGrp="1"/>
          </p:cNvSpPr>
          <p:nvPr>
            <p:ph sz="quarter" idx="15"/>
          </p:nvPr>
        </p:nvSpPr>
        <p:spPr/>
        <p:txBody>
          <a:bodyPr>
            <a:normAutofit/>
          </a:bodyPr>
          <a:lstStyle/>
          <a:p>
            <a:r>
              <a:rPr lang="en-US" dirty="0" smtClean="0"/>
              <a:t>Ethics</a:t>
            </a:r>
          </a:p>
          <a:p>
            <a:pPr lvl="1"/>
            <a:r>
              <a:rPr lang="en-US" dirty="0" smtClean="0"/>
              <a:t>The principles of right and wrong that individuals use to make choices that guide their behavior.</a:t>
            </a:r>
          </a:p>
          <a:p>
            <a:endParaRPr lang="en-US" dirty="0"/>
          </a:p>
        </p:txBody>
      </p:sp>
    </p:spTree>
    <p:extLst>
      <p:ext uri="{BB962C8B-B14F-4D97-AF65-F5344CB8AC3E}">
        <p14:creationId xmlns:p14="http://schemas.microsoft.com/office/powerpoint/2010/main" val="2256330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Ethical Frameworks</a:t>
            </a:r>
            <a:endParaRPr lang="en-US" dirty="0"/>
          </a:p>
        </p:txBody>
      </p:sp>
      <p:sp>
        <p:nvSpPr>
          <p:cNvPr id="3" name="Text Placeholder 2"/>
          <p:cNvSpPr>
            <a:spLocks noGrp="1"/>
          </p:cNvSpPr>
          <p:nvPr>
            <p:ph type="body" sz="quarter" idx="13"/>
          </p:nvPr>
        </p:nvSpPr>
        <p:spPr/>
        <p:txBody>
          <a:bodyPr>
            <a:normAutofit/>
          </a:bodyPr>
          <a:lstStyle/>
          <a:p>
            <a:r>
              <a:rPr lang="en-US" dirty="0" smtClean="0"/>
              <a:t>Four Widely Used Standards</a:t>
            </a:r>
          </a:p>
          <a:p>
            <a:pPr lvl="1"/>
            <a:r>
              <a:rPr lang="en-US" dirty="0" smtClean="0"/>
              <a:t>Utilitarian Approach</a:t>
            </a:r>
          </a:p>
          <a:p>
            <a:pPr lvl="1"/>
            <a:r>
              <a:rPr lang="en-US" dirty="0" smtClean="0"/>
              <a:t>Rights Approach</a:t>
            </a:r>
          </a:p>
          <a:p>
            <a:pPr lvl="1"/>
            <a:r>
              <a:rPr lang="en-US" dirty="0" smtClean="0"/>
              <a:t>Fairness Approach</a:t>
            </a:r>
          </a:p>
          <a:p>
            <a:pPr lvl="1"/>
            <a:r>
              <a:rPr lang="en-US" dirty="0" smtClean="0"/>
              <a:t>Common Good Approach</a:t>
            </a:r>
          </a:p>
          <a:p>
            <a:r>
              <a:rPr lang="en-US" dirty="0" smtClean="0"/>
              <a:t>Combine Four Standards to Create a Framework for Ethical Decision Making</a:t>
            </a:r>
            <a:endParaRPr lang="en-US" dirty="0"/>
          </a:p>
        </p:txBody>
      </p:sp>
    </p:spTree>
    <p:extLst>
      <p:ext uri="{BB962C8B-B14F-4D97-AF65-F5344CB8AC3E}">
        <p14:creationId xmlns:p14="http://schemas.microsoft.com/office/powerpoint/2010/main" val="3274363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Ethical Frameworks </a:t>
            </a:r>
            <a:endParaRPr lang="en-US" dirty="0"/>
          </a:p>
        </p:txBody>
      </p:sp>
      <p:sp>
        <p:nvSpPr>
          <p:cNvPr id="3" name="Text Placeholder 2"/>
          <p:cNvSpPr>
            <a:spLocks noGrp="1"/>
          </p:cNvSpPr>
          <p:nvPr>
            <p:ph type="body" sz="quarter" idx="13"/>
          </p:nvPr>
        </p:nvSpPr>
        <p:spPr/>
        <p:txBody>
          <a:bodyPr>
            <a:normAutofit/>
          </a:bodyPr>
          <a:lstStyle/>
          <a:p>
            <a:r>
              <a:rPr lang="en-US" dirty="0" smtClean="0"/>
              <a:t>Five Steps in Ethical Decision Making Framework</a:t>
            </a:r>
          </a:p>
          <a:p>
            <a:pPr marL="971550" lvl="1" indent="-514350">
              <a:buFont typeface="+mj-lt"/>
              <a:buAutoNum type="arabicPeriod"/>
            </a:pPr>
            <a:r>
              <a:rPr lang="en-US" dirty="0" smtClean="0"/>
              <a:t>Recognize an ethical issue</a:t>
            </a:r>
          </a:p>
          <a:p>
            <a:pPr marL="971550" lvl="1" indent="-514350">
              <a:buFont typeface="+mj-lt"/>
              <a:buAutoNum type="arabicPeriod"/>
            </a:pPr>
            <a:r>
              <a:rPr lang="en-US" dirty="0" smtClean="0"/>
              <a:t>Get the facts</a:t>
            </a:r>
          </a:p>
          <a:p>
            <a:pPr marL="971550" lvl="1" indent="-514350">
              <a:buFont typeface="+mj-lt"/>
              <a:buAutoNum type="arabicPeriod"/>
            </a:pPr>
            <a:r>
              <a:rPr lang="en-US" dirty="0" smtClean="0"/>
              <a:t>Evaluate alternative actions</a:t>
            </a:r>
          </a:p>
          <a:p>
            <a:pPr marL="971550" lvl="1" indent="-514350">
              <a:buFont typeface="+mj-lt"/>
              <a:buAutoNum type="arabicPeriod"/>
            </a:pPr>
            <a:r>
              <a:rPr lang="en-US" dirty="0" smtClean="0"/>
              <a:t>Make a Decisions and Test It</a:t>
            </a:r>
          </a:p>
          <a:p>
            <a:pPr marL="971550" lvl="1" indent="-514350">
              <a:buFont typeface="+mj-lt"/>
              <a:buAutoNum type="arabicPeriod"/>
            </a:pPr>
            <a:r>
              <a:rPr lang="en-US" dirty="0" smtClean="0"/>
              <a:t>Act and Reflect on the Outcome of Decisions</a:t>
            </a:r>
            <a:endParaRPr lang="en-US" dirty="0"/>
          </a:p>
        </p:txBody>
      </p:sp>
    </p:spTree>
    <p:extLst>
      <p:ext uri="{BB962C8B-B14F-4D97-AF65-F5344CB8AC3E}">
        <p14:creationId xmlns:p14="http://schemas.microsoft.com/office/powerpoint/2010/main" val="2419209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Ethics in the Corporate Environment</a:t>
            </a:r>
            <a:endParaRPr lang="en-US" dirty="0"/>
          </a:p>
        </p:txBody>
      </p:sp>
      <p:sp>
        <p:nvSpPr>
          <p:cNvPr id="3" name="Text Placeholder 2"/>
          <p:cNvSpPr>
            <a:spLocks noGrp="1"/>
          </p:cNvSpPr>
          <p:nvPr>
            <p:ph type="body" sz="quarter" idx="13"/>
          </p:nvPr>
        </p:nvSpPr>
        <p:spPr/>
        <p:txBody>
          <a:bodyPr/>
          <a:lstStyle/>
          <a:p>
            <a:r>
              <a:rPr lang="en-US" dirty="0" smtClean="0"/>
              <a:t>Code of Ethics</a:t>
            </a:r>
          </a:p>
          <a:p>
            <a:r>
              <a:rPr lang="en-US" dirty="0" smtClean="0"/>
              <a:t>Fundamental Tenets of Ethics</a:t>
            </a:r>
          </a:p>
          <a:p>
            <a:pPr lvl="1"/>
            <a:r>
              <a:rPr lang="en-US" dirty="0" smtClean="0"/>
              <a:t>Responsibility</a:t>
            </a:r>
          </a:p>
          <a:p>
            <a:pPr lvl="1"/>
            <a:r>
              <a:rPr lang="en-US" dirty="0" smtClean="0"/>
              <a:t>Accountability</a:t>
            </a:r>
          </a:p>
          <a:p>
            <a:pPr lvl="1"/>
            <a:r>
              <a:rPr lang="en-US" dirty="0" smtClean="0"/>
              <a:t>Liability</a:t>
            </a:r>
          </a:p>
          <a:p>
            <a:r>
              <a:rPr lang="en-US" dirty="0" smtClean="0"/>
              <a:t>What is </a:t>
            </a:r>
            <a:r>
              <a:rPr lang="en-US" b="1" u="sng" dirty="0" smtClean="0"/>
              <a:t>Unethical</a:t>
            </a:r>
            <a:r>
              <a:rPr lang="en-US" dirty="0" smtClean="0"/>
              <a:t> is not necessarily </a:t>
            </a:r>
            <a:r>
              <a:rPr lang="en-US" b="1" u="sng" dirty="0" smtClean="0"/>
              <a:t>Illegal</a:t>
            </a:r>
            <a:endParaRPr lang="en-US" b="1" u="sng" dirty="0"/>
          </a:p>
        </p:txBody>
      </p:sp>
    </p:spTree>
    <p:extLst>
      <p:ext uri="{BB962C8B-B14F-4D97-AF65-F5344CB8AC3E}">
        <p14:creationId xmlns:p14="http://schemas.microsoft.com/office/powerpoint/2010/main" val="2194893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Cheating Is Risky for Business Students</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3.1</a:t>
            </a:r>
            <a:endParaRPr lang="en-US" dirty="0"/>
          </a:p>
        </p:txBody>
      </p:sp>
    </p:spTree>
    <p:extLst>
      <p:ext uri="{BB962C8B-B14F-4D97-AF65-F5344CB8AC3E}">
        <p14:creationId xmlns:p14="http://schemas.microsoft.com/office/powerpoint/2010/main" val="238390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Ethics &amp; Information Technology</a:t>
            </a:r>
            <a:endParaRPr lang="en-US" dirty="0"/>
          </a:p>
        </p:txBody>
      </p:sp>
      <p:sp>
        <p:nvSpPr>
          <p:cNvPr id="3" name="Text Placeholder 2"/>
          <p:cNvSpPr>
            <a:spLocks noGrp="1"/>
          </p:cNvSpPr>
          <p:nvPr>
            <p:ph type="body" sz="quarter" idx="13"/>
          </p:nvPr>
        </p:nvSpPr>
        <p:spPr/>
        <p:txBody>
          <a:bodyPr/>
          <a:lstStyle/>
          <a:p>
            <a:r>
              <a:rPr lang="en-US" dirty="0" smtClean="0"/>
              <a:t>Four General Categories of Ethical Issues Related to IT:</a:t>
            </a:r>
          </a:p>
          <a:p>
            <a:pPr marL="971550" lvl="1" indent="-514350">
              <a:buFont typeface="+mj-lt"/>
              <a:buAutoNum type="arabicPeriod"/>
            </a:pPr>
            <a:r>
              <a:rPr lang="en-US" dirty="0" smtClean="0"/>
              <a:t>Privacy Issues</a:t>
            </a:r>
          </a:p>
          <a:p>
            <a:pPr marL="971550" lvl="1" indent="-514350">
              <a:buFont typeface="+mj-lt"/>
              <a:buAutoNum type="arabicPeriod"/>
            </a:pPr>
            <a:r>
              <a:rPr lang="en-US" dirty="0" smtClean="0"/>
              <a:t>Accuracy Issues</a:t>
            </a:r>
          </a:p>
          <a:p>
            <a:pPr marL="971550" lvl="1" indent="-514350">
              <a:buFont typeface="+mj-lt"/>
              <a:buAutoNum type="arabicPeriod"/>
            </a:pPr>
            <a:r>
              <a:rPr lang="en-US" dirty="0" smtClean="0"/>
              <a:t>Property Issues</a:t>
            </a:r>
          </a:p>
          <a:p>
            <a:pPr marL="971550" lvl="1" indent="-514350">
              <a:buFont typeface="+mj-lt"/>
              <a:buAutoNum type="arabicPeriod"/>
            </a:pPr>
            <a:r>
              <a:rPr lang="en-US" dirty="0" smtClean="0"/>
              <a:t>Accessibility Issues</a:t>
            </a:r>
            <a:endParaRPr lang="en-US" dirty="0"/>
          </a:p>
        </p:txBody>
      </p:sp>
    </p:spTree>
    <p:extLst>
      <p:ext uri="{BB962C8B-B14F-4D97-AF65-F5344CB8AC3E}">
        <p14:creationId xmlns:p14="http://schemas.microsoft.com/office/powerpoint/2010/main" val="1410248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Privacy</a:t>
            </a:r>
            <a:endParaRPr lang="en-US" dirty="0"/>
          </a:p>
        </p:txBody>
      </p:sp>
      <p:sp>
        <p:nvSpPr>
          <p:cNvPr id="3" name="Text Placeholder 2"/>
          <p:cNvSpPr>
            <a:spLocks noGrp="1"/>
          </p:cNvSpPr>
          <p:nvPr>
            <p:ph type="body" sz="quarter" idx="14"/>
          </p:nvPr>
        </p:nvSpPr>
        <p:spPr/>
        <p:txBody>
          <a:bodyPr/>
          <a:lstStyle/>
          <a:p>
            <a:r>
              <a:rPr lang="en-US" dirty="0" smtClean="0"/>
              <a:t>3.2</a:t>
            </a:r>
            <a:endParaRPr lang="en-US" dirty="0"/>
          </a:p>
        </p:txBody>
      </p:sp>
      <p:sp>
        <p:nvSpPr>
          <p:cNvPr id="4" name="Content Placeholder 3"/>
          <p:cNvSpPr>
            <a:spLocks noGrp="1"/>
          </p:cNvSpPr>
          <p:nvPr>
            <p:ph sz="quarter" idx="15"/>
          </p:nvPr>
        </p:nvSpPr>
        <p:spPr/>
        <p:txBody>
          <a:bodyPr>
            <a:normAutofit fontScale="92500"/>
          </a:bodyPr>
          <a:lstStyle/>
          <a:p>
            <a:r>
              <a:rPr lang="en-US" dirty="0" smtClean="0"/>
              <a:t>Electronic Surveillance</a:t>
            </a:r>
          </a:p>
          <a:p>
            <a:r>
              <a:rPr lang="en-US" dirty="0" smtClean="0"/>
              <a:t>Personal Information in Databases</a:t>
            </a:r>
          </a:p>
          <a:p>
            <a:r>
              <a:rPr lang="en-US" dirty="0" smtClean="0"/>
              <a:t>Information on Internet Bulletin Boards, Newsgroups, and Social Networking Sites</a:t>
            </a:r>
          </a:p>
          <a:p>
            <a:r>
              <a:rPr lang="en-US" dirty="0" smtClean="0"/>
              <a:t>Privacy Codes and Policies</a:t>
            </a:r>
          </a:p>
          <a:p>
            <a:r>
              <a:rPr lang="en-US" dirty="0" smtClean="0"/>
              <a:t>International Aspects of Privacy</a:t>
            </a:r>
            <a:endParaRPr lang="en-US" dirty="0"/>
          </a:p>
        </p:txBody>
      </p:sp>
    </p:spTree>
    <p:extLst>
      <p:ext uri="{BB962C8B-B14F-4D97-AF65-F5344CB8AC3E}">
        <p14:creationId xmlns:p14="http://schemas.microsoft.com/office/powerpoint/2010/main" val="1446044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Privacy </a:t>
            </a:r>
            <a:endParaRPr lang="en-US" dirty="0"/>
          </a:p>
        </p:txBody>
      </p:sp>
      <p:sp>
        <p:nvSpPr>
          <p:cNvPr id="3" name="Text Placeholder 2"/>
          <p:cNvSpPr>
            <a:spLocks noGrp="1"/>
          </p:cNvSpPr>
          <p:nvPr>
            <p:ph type="body" sz="quarter" idx="14"/>
          </p:nvPr>
        </p:nvSpPr>
        <p:spPr/>
        <p:txBody>
          <a:bodyPr/>
          <a:lstStyle/>
          <a:p>
            <a:r>
              <a:rPr lang="en-US" dirty="0" smtClean="0"/>
              <a:t>3.2</a:t>
            </a:r>
            <a:endParaRPr lang="en-US" dirty="0"/>
          </a:p>
        </p:txBody>
      </p:sp>
      <p:sp>
        <p:nvSpPr>
          <p:cNvPr id="4" name="Content Placeholder 3"/>
          <p:cNvSpPr>
            <a:spLocks noGrp="1"/>
          </p:cNvSpPr>
          <p:nvPr>
            <p:ph sz="quarter" idx="15"/>
          </p:nvPr>
        </p:nvSpPr>
        <p:spPr/>
        <p:txBody>
          <a:bodyPr>
            <a:normAutofit/>
          </a:bodyPr>
          <a:lstStyle/>
          <a:p>
            <a:r>
              <a:rPr lang="en-US" dirty="0" smtClean="0"/>
              <a:t>Privacy</a:t>
            </a:r>
          </a:p>
          <a:p>
            <a:pPr lvl="1"/>
            <a:r>
              <a:rPr lang="en-US" dirty="0" smtClean="0"/>
              <a:t>The right to be left alone and to be free of unreasonable personal intrusions.</a:t>
            </a:r>
          </a:p>
          <a:p>
            <a:r>
              <a:rPr lang="en-US" dirty="0" smtClean="0"/>
              <a:t>Information Privacy</a:t>
            </a:r>
          </a:p>
          <a:p>
            <a:pPr lvl="1"/>
            <a:r>
              <a:rPr lang="en-US" dirty="0" smtClean="0"/>
              <a:t>The right to determine when, and to what extent, information about you can be gathered and/or communicated to others.</a:t>
            </a:r>
            <a:endParaRPr lang="en-US" dirty="0"/>
          </a:p>
        </p:txBody>
      </p:sp>
    </p:spTree>
    <p:extLst>
      <p:ext uri="{BB962C8B-B14F-4D97-AF65-F5344CB8AC3E}">
        <p14:creationId xmlns:p14="http://schemas.microsoft.com/office/powerpoint/2010/main" val="133513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Privacy </a:t>
            </a:r>
            <a:endParaRPr lang="en-US" dirty="0"/>
          </a:p>
        </p:txBody>
      </p:sp>
      <p:sp>
        <p:nvSpPr>
          <p:cNvPr id="3" name="Text Placeholder 2"/>
          <p:cNvSpPr>
            <a:spLocks noGrp="1"/>
          </p:cNvSpPr>
          <p:nvPr>
            <p:ph type="body" sz="quarter" idx="14"/>
          </p:nvPr>
        </p:nvSpPr>
        <p:spPr/>
        <p:txBody>
          <a:bodyPr/>
          <a:lstStyle/>
          <a:p>
            <a:r>
              <a:rPr lang="en-US" dirty="0" smtClean="0"/>
              <a:t>3.2</a:t>
            </a:r>
            <a:endParaRPr lang="en-US" dirty="0"/>
          </a:p>
        </p:txBody>
      </p:sp>
      <p:sp>
        <p:nvSpPr>
          <p:cNvPr id="4" name="Content Placeholder 3"/>
          <p:cNvSpPr>
            <a:spLocks noGrp="1"/>
          </p:cNvSpPr>
          <p:nvPr>
            <p:ph sz="quarter" idx="15"/>
          </p:nvPr>
        </p:nvSpPr>
        <p:spPr/>
        <p:txBody>
          <a:bodyPr>
            <a:normAutofit lnSpcReduction="10000"/>
          </a:bodyPr>
          <a:lstStyle/>
          <a:p>
            <a:r>
              <a:rPr lang="en-US" dirty="0" smtClean="0"/>
              <a:t>Court Decisions in Many Countries have followed two rules:</a:t>
            </a:r>
          </a:p>
          <a:p>
            <a:pPr marL="971550" lvl="1" indent="-514350">
              <a:buFont typeface="+mj-lt"/>
              <a:buAutoNum type="arabicPeriod"/>
            </a:pPr>
            <a:r>
              <a:rPr lang="en-US" dirty="0" smtClean="0"/>
              <a:t>The right of privacy is not absolute. Privacy must be balanced against the needs of society.</a:t>
            </a:r>
          </a:p>
          <a:p>
            <a:pPr marL="971550" lvl="1" indent="-514350">
              <a:buFont typeface="+mj-lt"/>
              <a:buAutoNum type="arabicPeriod"/>
            </a:pPr>
            <a:r>
              <a:rPr lang="en-US" dirty="0" smtClean="0"/>
              <a:t>The public’s right to know supersedes the individual’s right of privacy.</a:t>
            </a:r>
            <a:endParaRPr lang="en-US" dirty="0"/>
          </a:p>
        </p:txBody>
      </p:sp>
    </p:spTree>
    <p:extLst>
      <p:ext uri="{BB962C8B-B14F-4D97-AF65-F5344CB8AC3E}">
        <p14:creationId xmlns:p14="http://schemas.microsoft.com/office/powerpoint/2010/main" val="3721859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Privacy </a:t>
            </a:r>
            <a:endParaRPr lang="en-US" dirty="0"/>
          </a:p>
        </p:txBody>
      </p:sp>
      <p:sp>
        <p:nvSpPr>
          <p:cNvPr id="3" name="Text Placeholder 2"/>
          <p:cNvSpPr>
            <a:spLocks noGrp="1"/>
          </p:cNvSpPr>
          <p:nvPr>
            <p:ph type="body" sz="quarter" idx="14"/>
          </p:nvPr>
        </p:nvSpPr>
        <p:spPr/>
        <p:txBody>
          <a:bodyPr/>
          <a:lstStyle/>
          <a:p>
            <a:r>
              <a:rPr lang="en-US" dirty="0" smtClean="0"/>
              <a:t>3.2</a:t>
            </a:r>
            <a:endParaRPr lang="en-US" dirty="0"/>
          </a:p>
        </p:txBody>
      </p:sp>
      <p:sp>
        <p:nvSpPr>
          <p:cNvPr id="4" name="Content Placeholder 3"/>
          <p:cNvSpPr>
            <a:spLocks noGrp="1"/>
          </p:cNvSpPr>
          <p:nvPr>
            <p:ph sz="quarter" idx="15"/>
          </p:nvPr>
        </p:nvSpPr>
        <p:spPr/>
        <p:txBody>
          <a:bodyPr>
            <a:normAutofit/>
          </a:bodyPr>
          <a:lstStyle/>
          <a:p>
            <a:r>
              <a:rPr lang="en-US" dirty="0" smtClean="0"/>
              <a:t>Digital Dossier</a:t>
            </a:r>
          </a:p>
          <a:p>
            <a:r>
              <a:rPr lang="en-US" dirty="0" smtClean="0"/>
              <a:t>Profiling</a:t>
            </a:r>
          </a:p>
          <a:p>
            <a:r>
              <a:rPr lang="en-US" dirty="0" smtClean="0"/>
              <a:t>Data Aggregators</a:t>
            </a:r>
          </a:p>
          <a:p>
            <a:pPr lvl="1"/>
            <a:r>
              <a:rPr lang="en-US" dirty="0" smtClean="0"/>
              <a:t>LexisNexis</a:t>
            </a:r>
          </a:p>
          <a:p>
            <a:pPr lvl="1"/>
            <a:r>
              <a:rPr lang="en-US" dirty="0" err="1" smtClean="0"/>
              <a:t>ChoicePoint</a:t>
            </a:r>
            <a:endParaRPr lang="en-US" dirty="0" smtClean="0"/>
          </a:p>
          <a:p>
            <a:pPr lvl="1"/>
            <a:r>
              <a:rPr lang="en-US" dirty="0" smtClean="0"/>
              <a:t>Acxiom</a:t>
            </a:r>
            <a:endParaRPr lang="en-US" dirty="0"/>
          </a:p>
        </p:txBody>
      </p:sp>
    </p:spTree>
    <p:extLst>
      <p:ext uri="{BB962C8B-B14F-4D97-AF65-F5344CB8AC3E}">
        <p14:creationId xmlns:p14="http://schemas.microsoft.com/office/powerpoint/2010/main" val="3253502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Electronic Surveillance</a:t>
            </a:r>
            <a:endParaRPr lang="en-US" dirty="0"/>
          </a:p>
        </p:txBody>
      </p:sp>
      <p:sp>
        <p:nvSpPr>
          <p:cNvPr id="3" name="Content Placeholder 2"/>
          <p:cNvSpPr>
            <a:spLocks noGrp="1"/>
          </p:cNvSpPr>
          <p:nvPr>
            <p:ph sz="quarter" idx="14"/>
          </p:nvPr>
        </p:nvSpPr>
        <p:spPr/>
        <p:txBody>
          <a:bodyPr/>
          <a:lstStyle/>
          <a:p>
            <a:r>
              <a:rPr lang="en-US" dirty="0" smtClean="0"/>
              <a:t>Using technology to monitor individuals as they go about their daily routines.</a:t>
            </a:r>
          </a:p>
          <a:p>
            <a:r>
              <a:rPr lang="en-US" dirty="0" smtClean="0"/>
              <a:t>Is conducted by employers, governments, and other institutions.</a:t>
            </a:r>
          </a:p>
          <a:p>
            <a:r>
              <a:rPr lang="en-US" dirty="0" smtClean="0"/>
              <a:t>Examples:</a:t>
            </a:r>
          </a:p>
          <a:p>
            <a:pPr lvl="1"/>
            <a:r>
              <a:rPr lang="en-US" dirty="0" smtClean="0"/>
              <a:t>Surveillance cameras in airports, subways, banks, and other public venues.</a:t>
            </a:r>
            <a:endParaRPr lang="en-US" dirty="0"/>
          </a:p>
        </p:txBody>
      </p:sp>
    </p:spTree>
    <p:extLst>
      <p:ext uri="{BB962C8B-B14F-4D97-AF65-F5344CB8AC3E}">
        <p14:creationId xmlns:p14="http://schemas.microsoft.com/office/powerpoint/2010/main" val="3253635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Electronic Surveillance </a:t>
            </a:r>
            <a:endParaRPr lang="en-US" dirty="0"/>
          </a:p>
        </p:txBody>
      </p:sp>
      <p:sp>
        <p:nvSpPr>
          <p:cNvPr id="3" name="Content Placeholder 2"/>
          <p:cNvSpPr>
            <a:spLocks noGrp="1"/>
          </p:cNvSpPr>
          <p:nvPr>
            <p:ph sz="quarter" idx="14"/>
          </p:nvPr>
        </p:nvSpPr>
        <p:spPr/>
        <p:txBody>
          <a:bodyPr/>
          <a:lstStyle/>
          <a:p>
            <a:r>
              <a:rPr lang="en-US" dirty="0" smtClean="0"/>
              <a:t>Inexpensive digital sensors are found in laptop webcams, video game sensors, smartphone cameras, utility meters, passports, and ID cards.</a:t>
            </a:r>
          </a:p>
          <a:p>
            <a:r>
              <a:rPr lang="en-US" dirty="0" smtClean="0"/>
              <a:t>Smartphones create </a:t>
            </a:r>
            <a:r>
              <a:rPr lang="en-US" dirty="0" err="1" smtClean="0"/>
              <a:t>geotags</a:t>
            </a:r>
            <a:endParaRPr lang="en-US" dirty="0" smtClean="0"/>
          </a:p>
          <a:p>
            <a:r>
              <a:rPr lang="en-US" dirty="0" smtClean="0"/>
              <a:t>Google and Microsoft street view images</a:t>
            </a:r>
          </a:p>
          <a:p>
            <a:r>
              <a:rPr lang="en-US" dirty="0" smtClean="0"/>
              <a:t>Satellite imaging</a:t>
            </a:r>
            <a:endParaRPr lang="en-US" dirty="0"/>
          </a:p>
        </p:txBody>
      </p:sp>
    </p:spTree>
    <p:extLst>
      <p:ext uri="{BB962C8B-B14F-4D97-AF65-F5344CB8AC3E}">
        <p14:creationId xmlns:p14="http://schemas.microsoft.com/office/powerpoint/2010/main" val="4215251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smtClean="0"/>
              <a:t>Those Mannequins Are Watching You</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3.2</a:t>
            </a:r>
            <a:endParaRPr lang="en-US" dirty="0"/>
          </a:p>
        </p:txBody>
      </p:sp>
    </p:spTree>
    <p:extLst>
      <p:ext uri="{BB962C8B-B14F-4D97-AF65-F5344CB8AC3E}">
        <p14:creationId xmlns:p14="http://schemas.microsoft.com/office/powerpoint/2010/main" val="21866696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Personal Information in Databases</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Personal Data / Record Keepers</a:t>
            </a:r>
          </a:p>
          <a:p>
            <a:pPr lvl="1"/>
            <a:r>
              <a:rPr lang="en-US" dirty="0" smtClean="0"/>
              <a:t>Credit Reporting </a:t>
            </a:r>
            <a:r>
              <a:rPr lang="en-US" dirty="0"/>
              <a:t>A</a:t>
            </a:r>
            <a:r>
              <a:rPr lang="en-US" dirty="0" smtClean="0"/>
              <a:t>gencies</a:t>
            </a:r>
          </a:p>
          <a:p>
            <a:pPr lvl="1"/>
            <a:r>
              <a:rPr lang="en-US" dirty="0" smtClean="0"/>
              <a:t>Banks and Financial Institutions</a:t>
            </a:r>
          </a:p>
          <a:p>
            <a:pPr lvl="1"/>
            <a:r>
              <a:rPr lang="en-US" dirty="0" smtClean="0"/>
              <a:t>Utility Companies</a:t>
            </a:r>
          </a:p>
          <a:p>
            <a:pPr lvl="1"/>
            <a:r>
              <a:rPr lang="en-US" dirty="0" smtClean="0"/>
              <a:t>Employers</a:t>
            </a:r>
          </a:p>
          <a:p>
            <a:pPr lvl="1"/>
            <a:r>
              <a:rPr lang="en-US" dirty="0" smtClean="0"/>
              <a:t>Hospitals</a:t>
            </a:r>
          </a:p>
          <a:p>
            <a:pPr lvl="1"/>
            <a:r>
              <a:rPr lang="en-US" dirty="0" smtClean="0"/>
              <a:t>Schools</a:t>
            </a:r>
          </a:p>
          <a:p>
            <a:pPr lvl="1"/>
            <a:r>
              <a:rPr lang="en-US" dirty="0" smtClean="0"/>
              <a:t>Government Agencies (IRS, State, City)</a:t>
            </a:r>
            <a:endParaRPr lang="en-US" dirty="0"/>
          </a:p>
        </p:txBody>
      </p:sp>
    </p:spTree>
    <p:extLst>
      <p:ext uri="{BB962C8B-B14F-4D97-AF65-F5344CB8AC3E}">
        <p14:creationId xmlns:p14="http://schemas.microsoft.com/office/powerpoint/2010/main" val="1450253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Personal Information in Databases </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Major Concerns about Information You Provide Record Keepers</a:t>
            </a:r>
          </a:p>
          <a:p>
            <a:pPr lvl="1"/>
            <a:r>
              <a:rPr lang="en-US" dirty="0"/>
              <a:t>Do you know where the records are</a:t>
            </a:r>
            <a:r>
              <a:rPr lang="en-US" dirty="0" smtClean="0"/>
              <a:t>?</a:t>
            </a:r>
          </a:p>
          <a:p>
            <a:pPr lvl="1"/>
            <a:r>
              <a:rPr lang="en-US" dirty="0"/>
              <a:t>Are the records accurate</a:t>
            </a:r>
            <a:r>
              <a:rPr lang="en-US" dirty="0" smtClean="0"/>
              <a:t>?</a:t>
            </a:r>
          </a:p>
          <a:p>
            <a:pPr lvl="1"/>
            <a:r>
              <a:rPr lang="en-US" dirty="0"/>
              <a:t>Can you change inaccurate data</a:t>
            </a:r>
            <a:r>
              <a:rPr lang="en-US" dirty="0" smtClean="0"/>
              <a:t>?</a:t>
            </a:r>
          </a:p>
          <a:p>
            <a:pPr lvl="1"/>
            <a:r>
              <a:rPr lang="en-US" dirty="0"/>
              <a:t>How long will it take to make a change</a:t>
            </a:r>
            <a:r>
              <a:rPr lang="en-US" dirty="0" smtClean="0"/>
              <a:t>?</a:t>
            </a:r>
          </a:p>
          <a:p>
            <a:pPr lvl="1"/>
            <a:r>
              <a:rPr lang="en-US" dirty="0"/>
              <a:t>Under what circumstances will personal data be released?</a:t>
            </a:r>
          </a:p>
        </p:txBody>
      </p:sp>
    </p:spTree>
    <p:extLst>
      <p:ext uri="{BB962C8B-B14F-4D97-AF65-F5344CB8AC3E}">
        <p14:creationId xmlns:p14="http://schemas.microsoft.com/office/powerpoint/2010/main" val="2031813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Personal Information in Databases </a:t>
            </a:r>
            <a:endParaRPr lang="en-US" dirty="0"/>
          </a:p>
        </p:txBody>
      </p:sp>
      <p:sp>
        <p:nvSpPr>
          <p:cNvPr id="3" name="Content Placeholder 2"/>
          <p:cNvSpPr>
            <a:spLocks noGrp="1"/>
          </p:cNvSpPr>
          <p:nvPr>
            <p:ph sz="quarter" idx="14"/>
          </p:nvPr>
        </p:nvSpPr>
        <p:spPr/>
        <p:txBody>
          <a:bodyPr>
            <a:normAutofit/>
          </a:bodyPr>
          <a:lstStyle/>
          <a:p>
            <a:r>
              <a:rPr lang="en-US" dirty="0" smtClean="0"/>
              <a:t>Major Concerns about Information You Provide Record Keepers</a:t>
            </a:r>
          </a:p>
          <a:p>
            <a:pPr lvl="1"/>
            <a:r>
              <a:rPr lang="en-US" dirty="0" smtClean="0"/>
              <a:t>How are the data used?</a:t>
            </a:r>
          </a:p>
          <a:p>
            <a:pPr lvl="1"/>
            <a:r>
              <a:rPr lang="en-US" dirty="0" smtClean="0"/>
              <a:t>To whom are the data given or sold?</a:t>
            </a:r>
          </a:p>
          <a:p>
            <a:pPr lvl="1"/>
            <a:r>
              <a:rPr lang="en-US" dirty="0" smtClean="0"/>
              <a:t>How secure are the data against access by unauthorized people?</a:t>
            </a:r>
            <a:endParaRPr lang="en-US" dirty="0"/>
          </a:p>
        </p:txBody>
      </p:sp>
    </p:spTree>
    <p:extLst>
      <p:ext uri="{BB962C8B-B14F-4D97-AF65-F5344CB8AC3E}">
        <p14:creationId xmlns:p14="http://schemas.microsoft.com/office/powerpoint/2010/main" val="2608010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0000" lnSpcReduction="20000"/>
          </a:bodyPr>
          <a:lstStyle/>
          <a:p>
            <a:r>
              <a:rPr lang="en-US" dirty="0" smtClean="0"/>
              <a:t>Information on Internet Bulletin Boards, Newsgroups, and Social Networking Sites</a:t>
            </a:r>
            <a:endParaRPr lang="en-US" dirty="0"/>
          </a:p>
        </p:txBody>
      </p:sp>
      <p:sp>
        <p:nvSpPr>
          <p:cNvPr id="3" name="Content Placeholder 2"/>
          <p:cNvSpPr>
            <a:spLocks noGrp="1"/>
          </p:cNvSpPr>
          <p:nvPr>
            <p:ph sz="quarter" idx="14"/>
          </p:nvPr>
        </p:nvSpPr>
        <p:spPr/>
        <p:txBody>
          <a:bodyPr/>
          <a:lstStyle/>
          <a:p>
            <a:r>
              <a:rPr lang="en-US" dirty="0" smtClean="0"/>
              <a:t>Free Speech versus Privacy on the Internet</a:t>
            </a:r>
          </a:p>
          <a:p>
            <a:r>
              <a:rPr lang="en-US" dirty="0" smtClean="0"/>
              <a:t>Derogatory Information Can Influence Hiring Decisions</a:t>
            </a:r>
          </a:p>
          <a:p>
            <a:r>
              <a:rPr lang="en-US" dirty="0" smtClean="0"/>
              <a:t>Little to No Recourse for Victims </a:t>
            </a:r>
            <a:endParaRPr lang="en-US" dirty="0"/>
          </a:p>
        </p:txBody>
      </p:sp>
    </p:spTree>
    <p:extLst>
      <p:ext uri="{BB962C8B-B14F-4D97-AF65-F5344CB8AC3E}">
        <p14:creationId xmlns:p14="http://schemas.microsoft.com/office/powerpoint/2010/main" val="3729698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err="1" smtClean="0"/>
              <a:t>Tapad</a:t>
            </a:r>
            <a:r>
              <a:rPr lang="en-US" dirty="0" smtClean="0"/>
              <a:t> Can Track You across Devices</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lstStyle/>
          <a:p>
            <a:r>
              <a:rPr lang="en-US" dirty="0" smtClean="0"/>
              <a:t>3.3</a:t>
            </a:r>
            <a:endParaRPr lang="en-US" dirty="0"/>
          </a:p>
        </p:txBody>
      </p:sp>
    </p:spTree>
    <p:extLst>
      <p:ext uri="{BB962C8B-B14F-4D97-AF65-F5344CB8AC3E}">
        <p14:creationId xmlns:p14="http://schemas.microsoft.com/office/powerpoint/2010/main" val="21866696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Privacy Codes &amp; Policies</a:t>
            </a:r>
            <a:endParaRPr lang="en-US" dirty="0"/>
          </a:p>
        </p:txBody>
      </p:sp>
      <p:sp>
        <p:nvSpPr>
          <p:cNvPr id="3" name="Content Placeholder 2"/>
          <p:cNvSpPr>
            <a:spLocks noGrp="1"/>
          </p:cNvSpPr>
          <p:nvPr>
            <p:ph sz="quarter" idx="14"/>
          </p:nvPr>
        </p:nvSpPr>
        <p:spPr/>
        <p:txBody>
          <a:bodyPr>
            <a:normAutofit lnSpcReduction="10000"/>
          </a:bodyPr>
          <a:lstStyle/>
          <a:p>
            <a:r>
              <a:rPr lang="en-US" dirty="0" smtClean="0"/>
              <a:t>An organization’s guidelines for protecting the privacy of its customers, clients, and employees.</a:t>
            </a:r>
          </a:p>
          <a:p>
            <a:pPr lvl="1"/>
            <a:r>
              <a:rPr lang="en-US" dirty="0" smtClean="0"/>
              <a:t>Opt-out Model</a:t>
            </a:r>
          </a:p>
          <a:p>
            <a:pPr lvl="1"/>
            <a:r>
              <a:rPr lang="en-US" dirty="0" smtClean="0"/>
              <a:t>Opt-in Model</a:t>
            </a:r>
          </a:p>
          <a:p>
            <a:r>
              <a:rPr lang="en-US" dirty="0" smtClean="0"/>
              <a:t>Platform for Privacy Preferences (P3P)</a:t>
            </a:r>
          </a:p>
          <a:p>
            <a:pPr lvl="1"/>
            <a:r>
              <a:rPr lang="en-US" dirty="0" smtClean="0"/>
              <a:t>A protocol that communicates privacy policies between a web site and its visitors</a:t>
            </a:r>
            <a:endParaRPr lang="en-US" dirty="0"/>
          </a:p>
        </p:txBody>
      </p:sp>
    </p:spTree>
    <p:extLst>
      <p:ext uri="{BB962C8B-B14F-4D97-AF65-F5344CB8AC3E}">
        <p14:creationId xmlns:p14="http://schemas.microsoft.com/office/powerpoint/2010/main" val="27379242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Privacy Codes &amp; Policies </a:t>
            </a:r>
            <a:endParaRPr lang="en-US" dirty="0"/>
          </a:p>
        </p:txBody>
      </p:sp>
      <p:sp>
        <p:nvSpPr>
          <p:cNvPr id="3" name="Content Placeholder 2"/>
          <p:cNvSpPr>
            <a:spLocks noGrp="1"/>
          </p:cNvSpPr>
          <p:nvPr>
            <p:ph sz="quarter" idx="14"/>
          </p:nvPr>
        </p:nvSpPr>
        <p:spPr/>
        <p:txBody>
          <a:bodyPr>
            <a:normAutofit/>
          </a:bodyPr>
          <a:lstStyle/>
          <a:p>
            <a:r>
              <a:rPr lang="en-US" dirty="0" smtClean="0"/>
              <a:t>US Federal Trade Commission’s Fair Information Practices Standard</a:t>
            </a:r>
          </a:p>
          <a:p>
            <a:r>
              <a:rPr lang="en-US" dirty="0" smtClean="0"/>
              <a:t>European Directive on Data Privacy</a:t>
            </a:r>
            <a:endParaRPr lang="en-US" dirty="0"/>
          </a:p>
        </p:txBody>
      </p:sp>
    </p:spTree>
    <p:extLst>
      <p:ext uri="{BB962C8B-B14F-4D97-AF65-F5344CB8AC3E}">
        <p14:creationId xmlns:p14="http://schemas.microsoft.com/office/powerpoint/2010/main" val="4036021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International Aspects of Privacy </a:t>
            </a:r>
            <a:endParaRPr lang="en-US" dirty="0"/>
          </a:p>
        </p:txBody>
      </p:sp>
      <p:sp>
        <p:nvSpPr>
          <p:cNvPr id="3" name="Content Placeholder 2"/>
          <p:cNvSpPr>
            <a:spLocks noGrp="1"/>
          </p:cNvSpPr>
          <p:nvPr>
            <p:ph sz="quarter" idx="14"/>
          </p:nvPr>
        </p:nvSpPr>
        <p:spPr/>
        <p:txBody>
          <a:bodyPr/>
          <a:lstStyle/>
          <a:p>
            <a:r>
              <a:rPr lang="en-US" dirty="0" smtClean="0"/>
              <a:t>The Global Nature of the Internet Complicates Data Privacy</a:t>
            </a:r>
          </a:p>
          <a:p>
            <a:r>
              <a:rPr lang="en-US" dirty="0" smtClean="0"/>
              <a:t>Approximately 50 Countries Have Data-Protection Laws</a:t>
            </a:r>
          </a:p>
          <a:p>
            <a:pPr lvl="1"/>
            <a:r>
              <a:rPr lang="en-US" dirty="0" smtClean="0"/>
              <a:t>Inconsistent standards from </a:t>
            </a:r>
            <a:r>
              <a:rPr lang="en-US" dirty="0"/>
              <a:t>c</a:t>
            </a:r>
            <a:r>
              <a:rPr lang="en-US" dirty="0" smtClean="0"/>
              <a:t>ountry to country</a:t>
            </a:r>
          </a:p>
          <a:p>
            <a:pPr lvl="1"/>
            <a:r>
              <a:rPr lang="en-US" dirty="0" err="1" smtClean="0"/>
              <a:t>Transborder</a:t>
            </a:r>
            <a:r>
              <a:rPr lang="en-US" dirty="0" smtClean="0"/>
              <a:t> data flow.</a:t>
            </a:r>
            <a:endParaRPr lang="en-US" dirty="0"/>
          </a:p>
        </p:txBody>
      </p:sp>
    </p:spTree>
    <p:extLst>
      <p:ext uri="{BB962C8B-B14F-4D97-AF65-F5344CB8AC3E}">
        <p14:creationId xmlns:p14="http://schemas.microsoft.com/office/powerpoint/2010/main" val="689483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smtClean="0"/>
              <a:t>Protecting Your Privacy</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Problem</a:t>
            </a:r>
          </a:p>
          <a:p>
            <a:r>
              <a:rPr lang="en-US" dirty="0" smtClean="0"/>
              <a:t>A </a:t>
            </a:r>
            <a:r>
              <a:rPr lang="en-US" dirty="0" smtClean="0">
                <a:solidFill>
                  <a:schemeClr val="tx1">
                    <a:lumMod val="65000"/>
                    <a:lumOff val="35000"/>
                  </a:schemeClr>
                </a:solidFill>
              </a:rPr>
              <a:t>Variety of Solutions</a:t>
            </a:r>
          </a:p>
          <a:p>
            <a:r>
              <a:rPr lang="en-US" dirty="0"/>
              <a:t>The </a:t>
            </a:r>
            <a:r>
              <a:rPr lang="en-US" dirty="0" smtClean="0">
                <a:solidFill>
                  <a:schemeClr val="tx1">
                    <a:lumMod val="65000"/>
                    <a:lumOff val="35000"/>
                  </a:schemeClr>
                </a:solidFill>
              </a:rPr>
              <a:t>Results</a:t>
            </a:r>
            <a:endParaRPr lang="en-US" dirty="0">
              <a:solidFill>
                <a:schemeClr val="tx1">
                  <a:lumMod val="65000"/>
                  <a:lumOff val="35000"/>
                </a:schemeClr>
              </a:solidFill>
            </a:endParaRPr>
          </a:p>
        </p:txBody>
      </p:sp>
    </p:spTree>
    <p:extLst>
      <p:ext uri="{BB962C8B-B14F-4D97-AF65-F5344CB8AC3E}">
        <p14:creationId xmlns:p14="http://schemas.microsoft.com/office/powerpoint/2010/main" val="4113457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16046</TotalTime>
  <Words>2012</Words>
  <Application>Microsoft Office PowerPoint</Application>
  <PresentationFormat>On-screen Show (4:3)</PresentationFormat>
  <Paragraphs>216</Paragraphs>
  <Slides>28</Slides>
  <Notes>14</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 WEB RESOURCES]</vt:lpstr>
      <vt:lpstr>[ Opening Case The National Security Agency’s Surveillance Programs]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Protecting Your Privacy]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Rainer_6e_Chapter3_Slides</dc:title>
  <dc:creator>John Kenneth Corley</dc:creator>
  <cp:lastModifiedBy>techsupport</cp:lastModifiedBy>
  <cp:revision>473</cp:revision>
  <dcterms:created xsi:type="dcterms:W3CDTF">2013-08-07T23:49:12Z</dcterms:created>
  <dcterms:modified xsi:type="dcterms:W3CDTF">2015-10-01T20:04:24Z</dcterms:modified>
</cp:coreProperties>
</file>