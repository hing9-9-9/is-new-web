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679" r:id="rId2"/>
    <p:sldId id="680" r:id="rId3"/>
    <p:sldId id="681" r:id="rId4"/>
    <p:sldId id="749" r:id="rId5"/>
    <p:sldId id="684" r:id="rId6"/>
    <p:sldId id="876" r:id="rId7"/>
    <p:sldId id="877" r:id="rId8"/>
    <p:sldId id="878" r:id="rId9"/>
    <p:sldId id="879" r:id="rId10"/>
    <p:sldId id="1095" r:id="rId11"/>
    <p:sldId id="1096" r:id="rId12"/>
    <p:sldId id="1097" r:id="rId13"/>
    <p:sldId id="685" r:id="rId14"/>
    <p:sldId id="1098" r:id="rId15"/>
    <p:sldId id="1099" r:id="rId16"/>
    <p:sldId id="1129" r:id="rId17"/>
    <p:sldId id="880" r:id="rId18"/>
    <p:sldId id="881" r:id="rId19"/>
    <p:sldId id="882" r:id="rId20"/>
    <p:sldId id="883" r:id="rId21"/>
    <p:sldId id="884" r:id="rId22"/>
    <p:sldId id="885" r:id="rId23"/>
    <p:sldId id="1130" r:id="rId24"/>
    <p:sldId id="886" r:id="rId25"/>
    <p:sldId id="1055" r:id="rId26"/>
    <p:sldId id="1131" r:id="rId27"/>
    <p:sldId id="1132" r:id="rId28"/>
    <p:sldId id="896" r:id="rId29"/>
    <p:sldId id="897" r:id="rId30"/>
    <p:sldId id="1133" r:id="rId31"/>
    <p:sldId id="898" r:id="rId32"/>
    <p:sldId id="899" r:id="rId33"/>
    <p:sldId id="1056" r:id="rId34"/>
    <p:sldId id="1134" r:id="rId35"/>
    <p:sldId id="1135" r:id="rId36"/>
    <p:sldId id="1136" r:id="rId37"/>
    <p:sldId id="900" r:id="rId38"/>
    <p:sldId id="901" r:id="rId39"/>
    <p:sldId id="902" r:id="rId40"/>
    <p:sldId id="903" r:id="rId41"/>
    <p:sldId id="1137" r:id="rId42"/>
    <p:sldId id="1101" r:id="rId43"/>
    <p:sldId id="1102" r:id="rId44"/>
    <p:sldId id="1138" r:id="rId45"/>
    <p:sldId id="1148" r:id="rId46"/>
    <p:sldId id="1149" r:id="rId47"/>
    <p:sldId id="1150" r:id="rId48"/>
    <p:sldId id="1151" r:id="rId49"/>
    <p:sldId id="1139" r:id="rId50"/>
    <p:sldId id="1152" r:id="rId51"/>
    <p:sldId id="1153" r:id="rId52"/>
    <p:sldId id="1156" r:id="rId53"/>
    <p:sldId id="1155" r:id="rId54"/>
    <p:sldId id="1154" r:id="rId55"/>
    <p:sldId id="1157" r:id="rId56"/>
    <p:sldId id="1086"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9B0B"/>
    <a:srgbClr val="F17901"/>
    <a:srgbClr val="69BE02"/>
    <a:srgbClr val="8E0000"/>
    <a:srgbClr val="B5FD5D"/>
    <a:srgbClr val="FEBB34"/>
    <a:srgbClr val="D5FEA4"/>
    <a:srgbClr val="7CFF33"/>
    <a:srgbClr val="75D402"/>
    <a:srgbClr val="7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77149" autoAdjust="0"/>
  </p:normalViewPr>
  <p:slideViewPr>
    <p:cSldViewPr>
      <p:cViewPr>
        <p:scale>
          <a:sx n="60" d="100"/>
          <a:sy n="60" d="100"/>
        </p:scale>
        <p:origin x="-2364" y="-7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EB6D6B-9C86-499A-A636-38829A5F60B2}" type="datetimeFigureOut">
              <a:rPr lang="en-US" smtClean="0"/>
              <a:t>10/1/2015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F41C25-7A1F-47FB-B705-003A328B9163}" type="slidenum">
              <a:rPr lang="en-US" smtClean="0"/>
              <a:t>‹#›</a:t>
            </a:fld>
            <a:endParaRPr lang="en-US"/>
          </a:p>
        </p:txBody>
      </p:sp>
    </p:spTree>
    <p:extLst>
      <p:ext uri="{BB962C8B-B14F-4D97-AF65-F5344CB8AC3E}">
        <p14:creationId xmlns:p14="http://schemas.microsoft.com/office/powerpoint/2010/main" val="425230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Questions</a:t>
            </a:r>
          </a:p>
          <a:p>
            <a:pPr marL="228600" indent="-228600">
              <a:buFont typeface="+mj-lt"/>
              <a:buAutoNum type="arabicPeriod"/>
            </a:pPr>
            <a:r>
              <a:rPr lang="en-US" dirty="0" smtClean="0"/>
              <a:t>Describe additional benefits (beyond those discussed in the case) of the State of Washington’s EDIE database.</a:t>
            </a:r>
          </a:p>
          <a:p>
            <a:pPr marL="228600" indent="-228600">
              <a:buFont typeface="+mj-lt"/>
              <a:buAutoNum type="arabicPeriod"/>
            </a:pPr>
            <a:r>
              <a:rPr lang="en-US" dirty="0" smtClean="0"/>
              <a:t>Describe potential disadvantages of the State of Washington’s EDIE database.</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a:t>
            </a:fld>
            <a:endParaRPr lang="en-US"/>
          </a:p>
        </p:txBody>
      </p:sp>
    </p:spTree>
    <p:extLst>
      <p:ext uri="{BB962C8B-B14F-4D97-AF65-F5344CB8AC3E}">
        <p14:creationId xmlns:p14="http://schemas.microsoft.com/office/powerpoint/2010/main" val="20644778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smtClean="0"/>
              <a:t>The amount of data increases exponentially over time</a:t>
            </a:r>
          </a:p>
          <a:p>
            <a:pPr marL="0" indent="0">
              <a:buFont typeface="Arial" panose="020B0604020202020204" pitchFamily="34" charset="0"/>
              <a:buNone/>
            </a:pPr>
            <a:endParaRPr lang="en-US" b="1" dirty="0" smtClean="0"/>
          </a:p>
          <a:p>
            <a:pPr marL="171450" indent="-171450">
              <a:buFont typeface="Arial" panose="020B0604020202020204" pitchFamily="34" charset="0"/>
              <a:buChar char="•"/>
            </a:pPr>
            <a:r>
              <a:rPr lang="en-US" b="1" dirty="0" smtClean="0"/>
              <a:t>Multiple Sources of Data:</a:t>
            </a:r>
          </a:p>
          <a:p>
            <a:pPr marL="628650" lvl="1" indent="-171450">
              <a:buFont typeface="Arial" panose="020B0604020202020204" pitchFamily="34" charset="0"/>
              <a:buChar char="•"/>
            </a:pPr>
            <a:r>
              <a:rPr lang="en-US" dirty="0" smtClean="0"/>
              <a:t>Data are scattered throughout organizations</a:t>
            </a:r>
          </a:p>
          <a:p>
            <a:pPr marL="628650" lvl="1" indent="-171450">
              <a:buFont typeface="Arial" panose="020B0604020202020204" pitchFamily="34" charset="0"/>
              <a:buChar char="•"/>
            </a:pPr>
            <a:r>
              <a:rPr lang="en-US" dirty="0" smtClean="0"/>
              <a:t>Data are generated from multiple sources (internal, personal, external)</a:t>
            </a:r>
          </a:p>
          <a:p>
            <a:pPr marL="628650" lvl="1" indent="-171450">
              <a:buFont typeface="Arial" panose="020B0604020202020204" pitchFamily="34" charset="0"/>
              <a:buChar char="•"/>
            </a:pPr>
            <a:r>
              <a:rPr lang="en-US" dirty="0" smtClean="0"/>
              <a:t>New sources of data (e.g., blogs, podcasts, </a:t>
            </a:r>
            <a:r>
              <a:rPr lang="en-US" dirty="0" err="1" smtClean="0"/>
              <a:t>videocasts</a:t>
            </a:r>
            <a:r>
              <a:rPr lang="en-US" dirty="0" smtClean="0"/>
              <a:t>, and RFID tags and other wireless sensors)</a:t>
            </a:r>
          </a:p>
          <a:p>
            <a:pPr marL="457200" lvl="1" indent="0">
              <a:buFont typeface="Arial" panose="020B0604020202020204" pitchFamily="34" charset="0"/>
              <a:buNone/>
            </a:pPr>
            <a:endParaRPr lang="en-US" dirty="0" smtClean="0"/>
          </a:p>
          <a:p>
            <a:pPr marL="171450" indent="-171450">
              <a:buFont typeface="Arial" panose="020B0604020202020204" pitchFamily="34" charset="0"/>
              <a:buChar char="•"/>
            </a:pPr>
            <a:r>
              <a:rPr lang="en-US" b="1" dirty="0" smtClean="0"/>
              <a:t>Data Degradation </a:t>
            </a:r>
            <a:r>
              <a:rPr lang="en-US" dirty="0" smtClean="0"/>
              <a:t>(e.g., customers move to new addresses, change their names, etc.)</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1" dirty="0" smtClean="0"/>
              <a:t>Data Rot: </a:t>
            </a:r>
            <a:r>
              <a:rPr lang="en-US" dirty="0" smtClean="0"/>
              <a:t>refers primarily to problems with the media on which the data are stored. Over time, temperature, humidity, and exposure to light can cause physical problems with storage media and thus make it difficult to access the data.</a:t>
            </a:r>
          </a:p>
          <a:p>
            <a:pPr marL="171450" indent="-171450">
              <a:buFont typeface="Arial" panose="020B0604020202020204" pitchFamily="34" charset="0"/>
              <a:buChar char="•"/>
            </a:pPr>
            <a:r>
              <a:rPr lang="en-US" b="1" dirty="0" smtClean="0"/>
              <a:t>Data security, quality, and integrity are critical</a:t>
            </a:r>
          </a:p>
          <a:p>
            <a:pPr marL="0" indent="0">
              <a:buFont typeface="Arial" panose="020B0604020202020204" pitchFamily="34" charset="0"/>
              <a:buNone/>
            </a:pPr>
            <a:endParaRPr lang="en-US" b="1" dirty="0" smtClean="0"/>
          </a:p>
          <a:p>
            <a:pPr marL="171450" indent="-171450">
              <a:buFont typeface="Arial" panose="020B0604020202020204" pitchFamily="34" charset="0"/>
              <a:buChar char="•"/>
            </a:pPr>
            <a:r>
              <a:rPr lang="en-US" b="1" dirty="0" smtClean="0"/>
              <a:t>Government</a:t>
            </a:r>
            <a:r>
              <a:rPr lang="en-US" b="1" baseline="0" dirty="0" smtClean="0"/>
              <a:t> Regulation:</a:t>
            </a:r>
            <a:endParaRPr lang="en-US" b="1" dirty="0" smtClean="0"/>
          </a:p>
          <a:p>
            <a:pPr marL="628650" lvl="1" indent="-171450">
              <a:buFont typeface="Arial" panose="020B0604020202020204" pitchFamily="34" charset="0"/>
              <a:buChar char="•"/>
            </a:pPr>
            <a:r>
              <a:rPr lang="en-US" dirty="0" smtClean="0"/>
              <a:t>Legal requirements change frequently and differ among countries and industries</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1" dirty="0" smtClean="0"/>
              <a:t>Federal regulations:</a:t>
            </a:r>
          </a:p>
          <a:p>
            <a:pPr marL="628650" lvl="1" indent="-171450">
              <a:buFont typeface="Arial" pitchFamily="34" charset="0"/>
              <a:buChar char="•"/>
            </a:pPr>
            <a:r>
              <a:rPr lang="en-US" dirty="0" smtClean="0"/>
              <a:t>-- Sarbanes–Oxley Act of 2002 requires that:</a:t>
            </a:r>
          </a:p>
          <a:p>
            <a:pPr lvl="2"/>
            <a:r>
              <a:rPr lang="en-US" dirty="0" smtClean="0"/>
              <a:t>(1) public companies evaluate and disclose the effectiveness of their internal financial controls</a:t>
            </a:r>
          </a:p>
          <a:p>
            <a:pPr lvl="2"/>
            <a:r>
              <a:rPr lang="en-US" dirty="0" smtClean="0"/>
              <a:t>(2) independent auditors for these companies agree to this disclosure. </a:t>
            </a:r>
          </a:p>
          <a:p>
            <a:pPr marL="628650" lvl="1" indent="-171450">
              <a:buFont typeface="Arial" panose="020B0604020202020204" pitchFamily="34" charset="0"/>
              <a:buChar char="•"/>
            </a:pPr>
            <a:endParaRPr lang="en-US" dirty="0" smtClean="0"/>
          </a:p>
          <a:p>
            <a:endParaRPr lang="en-US" b="1" dirty="0" smtClean="0"/>
          </a:p>
          <a:p>
            <a:endParaRPr lang="en-US" dirty="0" smtClean="0"/>
          </a:p>
          <a:p>
            <a:endParaRPr lang="en-US" dirty="0" smtClean="0"/>
          </a:p>
          <a:p>
            <a:endParaRPr lang="en-US" b="1" dirty="0" smtClean="0"/>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7</a:t>
            </a:fld>
            <a:endParaRPr lang="en-US"/>
          </a:p>
        </p:txBody>
      </p:sp>
    </p:spTree>
    <p:extLst>
      <p:ext uri="{BB962C8B-B14F-4D97-AF65-F5344CB8AC3E}">
        <p14:creationId xmlns:p14="http://schemas.microsoft.com/office/powerpoint/2010/main" val="16072445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smtClean="0"/>
              <a:t>Multiple Sources of Data:</a:t>
            </a:r>
          </a:p>
          <a:p>
            <a:pPr marL="628650" lvl="1" indent="-171450">
              <a:buFont typeface="Arial" panose="020B0604020202020204" pitchFamily="34" charset="0"/>
              <a:buChar char="•"/>
            </a:pPr>
            <a:r>
              <a:rPr lang="en-US" b="1" i="1" dirty="0" smtClean="0"/>
              <a:t>Internal Data Sources </a:t>
            </a:r>
            <a:r>
              <a:rPr lang="en-US" dirty="0" smtClean="0"/>
              <a:t>(e.g., corporate databases and company documents)</a:t>
            </a:r>
          </a:p>
          <a:p>
            <a:pPr marL="628650" lvl="1" indent="-171450">
              <a:buFont typeface="Arial" panose="020B0604020202020204" pitchFamily="34" charset="0"/>
              <a:buChar char="•"/>
            </a:pPr>
            <a:r>
              <a:rPr lang="en-US" b="1" i="1" dirty="0" smtClean="0"/>
              <a:t>Personal Data Sources </a:t>
            </a:r>
            <a:r>
              <a:rPr lang="en-US" dirty="0" smtClean="0"/>
              <a:t>(e.g., personal thoughts, opinions, and experiences)</a:t>
            </a:r>
          </a:p>
          <a:p>
            <a:pPr marL="628650" lvl="1" indent="-171450">
              <a:buFont typeface="Arial" panose="020B0604020202020204" pitchFamily="34" charset="0"/>
              <a:buChar char="•"/>
            </a:pPr>
            <a:r>
              <a:rPr lang="en-US" b="1" i="1" dirty="0" smtClean="0"/>
              <a:t>External Data Sources </a:t>
            </a:r>
            <a:r>
              <a:rPr lang="en-US" dirty="0" smtClean="0"/>
              <a:t>(e.g., commercial databases, government reports, and corporate Web sites).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8</a:t>
            </a:fld>
            <a:endParaRPr lang="en-US"/>
          </a:p>
        </p:txBody>
      </p:sp>
    </p:spTree>
    <p:extLst>
      <p:ext uri="{BB962C8B-B14F-4D97-AF65-F5344CB8AC3E}">
        <p14:creationId xmlns:p14="http://schemas.microsoft.com/office/powerpoint/2010/main" val="4249154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Data Governance: </a:t>
            </a:r>
            <a:r>
              <a:rPr lang="en-US" dirty="0" smtClean="0"/>
              <a:t>is an approach to managing information across an entire organization involving a formal set of unambiguous rules for creating, collecting, handling, and protecting its information.</a:t>
            </a:r>
          </a:p>
          <a:p>
            <a:r>
              <a:rPr lang="en-US" b="1" dirty="0" smtClean="0"/>
              <a:t>Master Data Management: </a:t>
            </a:r>
            <a:r>
              <a:rPr lang="en-US" dirty="0" smtClean="0"/>
              <a:t>a strategy for data governance involving a process that spans all organizational business processes and applications providing companies with the ability to store, maintain, exchange, and synchronize a consistent, accurate, and timely for the company’s master data.</a:t>
            </a:r>
          </a:p>
          <a:p>
            <a:r>
              <a:rPr lang="en-US" b="1" dirty="0" smtClean="0"/>
              <a:t>Master Data: </a:t>
            </a:r>
            <a:r>
              <a:rPr lang="en-US" dirty="0" smtClean="0"/>
              <a:t>a set of core data (e.g., customer, product, employee, vendor, geographic location, etc.) that span the enterprise information systems.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9</a:t>
            </a:fld>
            <a:endParaRPr lang="en-US"/>
          </a:p>
        </p:txBody>
      </p:sp>
    </p:spTree>
    <p:extLst>
      <p:ext uri="{BB962C8B-B14F-4D97-AF65-F5344CB8AC3E}">
        <p14:creationId xmlns:p14="http://schemas.microsoft.com/office/powerpoint/2010/main" val="24753385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Database Management System (DBMS): </a:t>
            </a:r>
            <a:r>
              <a:rPr lang="en-US" dirty="0" smtClean="0"/>
              <a:t>a set of programs that provide users with tools to create and manage a database.</a:t>
            </a:r>
          </a:p>
          <a:p>
            <a:endParaRPr lang="en-US" dirty="0" smtClean="0"/>
          </a:p>
          <a:p>
            <a:r>
              <a:rPr lang="en-US" b="1" dirty="0" smtClean="0"/>
              <a:t>Data redundancy: </a:t>
            </a:r>
            <a:r>
              <a:rPr lang="en-US" dirty="0" smtClean="0"/>
              <a:t>The same data are stored in multiple locations.</a:t>
            </a:r>
          </a:p>
          <a:p>
            <a:r>
              <a:rPr lang="en-US" b="1" dirty="0" smtClean="0"/>
              <a:t>Data isolation: </a:t>
            </a:r>
            <a:r>
              <a:rPr lang="en-US" dirty="0" smtClean="0"/>
              <a:t>Applications cannot access data associated with other applications.</a:t>
            </a:r>
          </a:p>
          <a:p>
            <a:r>
              <a:rPr lang="en-US" b="1" dirty="0" smtClean="0"/>
              <a:t>Data inconsistency: </a:t>
            </a:r>
            <a:r>
              <a:rPr lang="en-US" dirty="0" smtClean="0"/>
              <a:t>Various copies of the data do not agree.</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11</a:t>
            </a:fld>
            <a:endParaRPr lang="en-US"/>
          </a:p>
        </p:txBody>
      </p:sp>
    </p:spTree>
    <p:extLst>
      <p:ext uri="{BB962C8B-B14F-4D97-AF65-F5344CB8AC3E}">
        <p14:creationId xmlns:p14="http://schemas.microsoft.com/office/powerpoint/2010/main" val="722323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Database Management System (DBMS): </a:t>
            </a:r>
            <a:r>
              <a:rPr lang="en-US" dirty="0" smtClean="0"/>
              <a:t>a set of programs that provide users with tools to create and manage a database.</a:t>
            </a:r>
          </a:p>
          <a:p>
            <a:endParaRPr lang="en-US" dirty="0" smtClean="0"/>
          </a:p>
          <a:p>
            <a:r>
              <a:rPr lang="en-US" b="1" dirty="0" smtClean="0"/>
              <a:t>Data security: </a:t>
            </a:r>
            <a:r>
              <a:rPr lang="en-US" dirty="0" smtClean="0"/>
              <a:t>Because data are “put in one place” in databases, there is a risk of losing a lot of data at one time. Therefore, databases must have extremely high security measures in place to minimize mistakes and deter attacks.</a:t>
            </a:r>
          </a:p>
          <a:p>
            <a:r>
              <a:rPr lang="en-US" b="1" dirty="0" smtClean="0"/>
              <a:t>Data integrity: </a:t>
            </a:r>
            <a:r>
              <a:rPr lang="en-US" dirty="0" smtClean="0"/>
              <a:t>Data meet certain constraints; for example, there are no alphabetic characters in a Social Security number field.</a:t>
            </a:r>
          </a:p>
          <a:p>
            <a:r>
              <a:rPr lang="en-US" b="1" dirty="0" smtClean="0"/>
              <a:t>Data independence: </a:t>
            </a:r>
            <a:r>
              <a:rPr lang="en-US" dirty="0" smtClean="0"/>
              <a:t>Applications and data are independent of one another; that is, applications and data are not linked to each other, so all applications are able to access the same data.</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12</a:t>
            </a:fld>
            <a:endParaRPr lang="en-US"/>
          </a:p>
        </p:txBody>
      </p:sp>
    </p:spTree>
    <p:extLst>
      <p:ext uri="{BB962C8B-B14F-4D97-AF65-F5344CB8AC3E}">
        <p14:creationId xmlns:p14="http://schemas.microsoft.com/office/powerpoint/2010/main" val="1696840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Refer to the definition of a relational database. In what way can the Knowledge Graph be considered a database? Provide specific examples to support your answer.</a:t>
            </a:r>
          </a:p>
          <a:p>
            <a:pPr marL="228600" indent="-228600">
              <a:buFont typeface="+mj-lt"/>
              <a:buAutoNum type="arabicPeriod"/>
            </a:pPr>
            <a:r>
              <a:rPr lang="en-US" dirty="0" smtClean="0"/>
              <a:t>Refer to the definition of an expert system in Technology Guide 4. Could the Knowledge Graph be considered an expert system? If so, provide a specific example to support your answer.</a:t>
            </a:r>
          </a:p>
          <a:p>
            <a:pPr marL="228600" indent="-228600">
              <a:buFont typeface="+mj-lt"/>
              <a:buAutoNum type="arabicPeriod"/>
            </a:pPr>
            <a:r>
              <a:rPr lang="en-US" dirty="0" smtClean="0"/>
              <a:t>What are the advantages of the Knowledge Graph over traditional Google searches?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13</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Bit (binary digit): </a:t>
            </a:r>
            <a:r>
              <a:rPr lang="en-US" dirty="0" smtClean="0"/>
              <a:t>represents the smallest unit of data a computer can process and it consists only of a 0 or a 1.</a:t>
            </a:r>
          </a:p>
          <a:p>
            <a:r>
              <a:rPr lang="en-US" b="1" dirty="0" smtClean="0"/>
              <a:t>Byte: </a:t>
            </a:r>
            <a:r>
              <a:rPr lang="en-US" dirty="0" smtClean="0"/>
              <a:t>A group of eight bits represents a single character (letter, number, or symbol).</a:t>
            </a:r>
          </a:p>
          <a:p>
            <a:r>
              <a:rPr lang="en-US" b="1" dirty="0" smtClean="0"/>
              <a:t>Field: </a:t>
            </a:r>
            <a:r>
              <a:rPr lang="en-US" dirty="0" smtClean="0"/>
              <a:t>A column of data containing a logical grouping of characters into a word, a small group of words (e.g., last name, social security number, etc.).</a:t>
            </a:r>
          </a:p>
          <a:p>
            <a:r>
              <a:rPr lang="en-US" b="1" dirty="0" smtClean="0"/>
              <a:t>Record: </a:t>
            </a:r>
            <a:r>
              <a:rPr lang="en-US" dirty="0" smtClean="0"/>
              <a:t>A logical grouping of related fields in a row (e.g., student’s name, the courses taken, the date, and the grade).</a:t>
            </a:r>
          </a:p>
          <a:p>
            <a:r>
              <a:rPr lang="en-US" b="1" dirty="0" smtClean="0"/>
              <a:t>Data File: </a:t>
            </a:r>
            <a:r>
              <a:rPr lang="en-US" dirty="0" smtClean="0"/>
              <a:t>logical grouping of related records is called a data file or a table similar in appearance to a </a:t>
            </a:r>
            <a:r>
              <a:rPr lang="en-US" dirty="0" err="1" smtClean="0"/>
              <a:t>speadsheet</a:t>
            </a:r>
            <a:r>
              <a:rPr lang="en-US" dirty="0" smtClean="0"/>
              <a:t> in Excel consisting of multiple columns and multiple rows.</a:t>
            </a:r>
          </a:p>
          <a:p>
            <a:r>
              <a:rPr lang="en-US" b="1" dirty="0" smtClean="0"/>
              <a:t>Database: </a:t>
            </a:r>
            <a:r>
              <a:rPr lang="en-US" dirty="0" smtClean="0"/>
              <a:t>logical grouping of related data files (aka database tables).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14</a:t>
            </a:fld>
            <a:endParaRPr lang="en-US"/>
          </a:p>
        </p:txBody>
      </p:sp>
    </p:spTree>
    <p:extLst>
      <p:ext uri="{BB962C8B-B14F-4D97-AF65-F5344CB8AC3E}">
        <p14:creationId xmlns:p14="http://schemas.microsoft.com/office/powerpoint/2010/main" val="4850575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Relational Database Model: </a:t>
            </a:r>
            <a:r>
              <a:rPr lang="en-US" dirty="0" smtClean="0"/>
              <a:t>is based on the concept of two-dimensional tables and is usually designed with a number of related tables with each of these tables contains records (listed in rows) and attributes (listed in columns).</a:t>
            </a:r>
          </a:p>
          <a:p>
            <a:r>
              <a:rPr lang="en-US" b="1" dirty="0" smtClean="0"/>
              <a:t>Data Model:</a:t>
            </a:r>
            <a:r>
              <a:rPr lang="en-US" dirty="0" smtClean="0"/>
              <a:t> a diagram that represents entities in the database and their relationships.</a:t>
            </a:r>
          </a:p>
          <a:p>
            <a:r>
              <a:rPr lang="en-US" b="1" dirty="0" smtClean="0"/>
              <a:t>Entity: </a:t>
            </a:r>
            <a:r>
              <a:rPr lang="en-US" dirty="0" smtClean="0"/>
              <a:t>a person, place, thing, or event (e.g., customer, an employee, or a product).</a:t>
            </a:r>
          </a:p>
          <a:p>
            <a:r>
              <a:rPr lang="en-US" b="1" dirty="0" smtClean="0"/>
              <a:t>Instance of an entity: </a:t>
            </a:r>
            <a:r>
              <a:rPr lang="en-US" dirty="0" smtClean="0"/>
              <a:t>refers to each row (or record) in a relational table, which is a specific, unique representation of the entity.</a:t>
            </a:r>
          </a:p>
          <a:p>
            <a:r>
              <a:rPr lang="en-US" b="1" dirty="0" smtClean="0"/>
              <a:t>Attribute: </a:t>
            </a:r>
            <a:r>
              <a:rPr lang="en-US" dirty="0" smtClean="0"/>
              <a:t>each characteristic or quality of a particular entity.</a:t>
            </a:r>
          </a:p>
          <a:p>
            <a:r>
              <a:rPr lang="en-US" b="1" dirty="0" smtClean="0"/>
              <a:t>Primary Key: </a:t>
            </a:r>
            <a:r>
              <a:rPr lang="en-US" dirty="0" smtClean="0"/>
              <a:t>a field in a database that uniquely identify each record so that it can be retrieved, updated, and sorted.</a:t>
            </a:r>
          </a:p>
          <a:p>
            <a:r>
              <a:rPr lang="en-US" b="1" dirty="0" smtClean="0"/>
              <a:t>Secondary Key: </a:t>
            </a:r>
            <a:r>
              <a:rPr lang="en-US" dirty="0" smtClean="0"/>
              <a:t>a field that has some identifying information, but typically does not identify the record with complete accuracy and therefore cannot serve at the Primary Key.</a:t>
            </a:r>
          </a:p>
          <a:p>
            <a:r>
              <a:rPr lang="en-US" b="1" dirty="0" smtClean="0"/>
              <a:t>Foreign Key: </a:t>
            </a:r>
            <a:r>
              <a:rPr lang="en-US" dirty="0" smtClean="0"/>
              <a:t>a field (or group of fields) in one table that uniquely identifies a row of another table. It is used to establish and enforce a link between two tables.</a:t>
            </a:r>
          </a:p>
        </p:txBody>
      </p:sp>
      <p:sp>
        <p:nvSpPr>
          <p:cNvPr id="4" name="Slide Number Placeholder 3"/>
          <p:cNvSpPr>
            <a:spLocks noGrp="1"/>
          </p:cNvSpPr>
          <p:nvPr>
            <p:ph type="sldNum" sz="quarter" idx="10"/>
          </p:nvPr>
        </p:nvSpPr>
        <p:spPr/>
        <p:txBody>
          <a:bodyPr/>
          <a:lstStyle/>
          <a:p>
            <a:fld id="{2CF41C25-7A1F-47FB-B705-003A328B9163}" type="slidenum">
              <a:rPr lang="en-US" smtClean="0"/>
              <a:t>15</a:t>
            </a:fld>
            <a:endParaRPr lang="en-US"/>
          </a:p>
        </p:txBody>
      </p:sp>
    </p:spTree>
    <p:extLst>
      <p:ext uri="{BB962C8B-B14F-4D97-AF65-F5344CB8AC3E}">
        <p14:creationId xmlns:p14="http://schemas.microsoft.com/office/powerpoint/2010/main" val="41888843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5.3 </a:t>
            </a:r>
            <a:r>
              <a:rPr lang="en-US" dirty="0" smtClean="0"/>
              <a:t>Student database example.</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16</a:t>
            </a:fld>
            <a:endParaRPr lang="en-US"/>
          </a:p>
        </p:txBody>
      </p:sp>
    </p:spTree>
    <p:extLst>
      <p:ext uri="{BB962C8B-B14F-4D97-AF65-F5344CB8AC3E}">
        <p14:creationId xmlns:p14="http://schemas.microsoft.com/office/powerpoint/2010/main" val="16570890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Volume: </a:t>
            </a:r>
            <a:r>
              <a:rPr lang="en-US" dirty="0" smtClean="0"/>
              <a:t>incredible volume of data.</a:t>
            </a:r>
          </a:p>
          <a:p>
            <a:r>
              <a:rPr lang="en-US" b="1" dirty="0" smtClean="0"/>
              <a:t>Velocity: </a:t>
            </a:r>
            <a:r>
              <a:rPr lang="en-US" dirty="0" smtClean="0"/>
              <a:t>The rate at which data flow into an organization is rapidly increasing and it is critical because it increases the speed of the feedback loop between a company and its customers. </a:t>
            </a:r>
          </a:p>
          <a:p>
            <a:r>
              <a:rPr lang="en-US" b="1" dirty="0" smtClean="0"/>
              <a:t>Variety: </a:t>
            </a:r>
            <a:r>
              <a:rPr lang="en-US" dirty="0" smtClean="0"/>
              <a:t>Big Data formats change rapidly and can include </a:t>
            </a:r>
            <a:r>
              <a:rPr lang="en-US" dirty="0" err="1" smtClean="0"/>
              <a:t>include</a:t>
            </a:r>
            <a:r>
              <a:rPr lang="en-US" dirty="0" smtClean="0"/>
              <a:t> satellite imagery, broadcast audio streams, digital music files, Web page content.</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22</a:t>
            </a:fld>
            <a:endParaRPr lang="en-US"/>
          </a:p>
        </p:txBody>
      </p:sp>
    </p:spTree>
    <p:extLst>
      <p:ext uri="{BB962C8B-B14F-4D97-AF65-F5344CB8AC3E}">
        <p14:creationId xmlns:p14="http://schemas.microsoft.com/office/powerpoint/2010/main" val="33564764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Big Data can come from </a:t>
            </a:r>
            <a:r>
              <a:rPr lang="en-US" b="1" dirty="0" smtClean="0"/>
              <a:t>untrusted sources</a:t>
            </a:r>
            <a:r>
              <a:rPr lang="en-US" dirty="0" smtClean="0"/>
              <a:t>.</a:t>
            </a:r>
          </a:p>
          <a:p>
            <a:r>
              <a:rPr lang="en-US" b="1" dirty="0" smtClean="0"/>
              <a:t>Big Data is dirty: </a:t>
            </a:r>
            <a:r>
              <a:rPr lang="en-US" dirty="0" smtClean="0"/>
              <a:t>Dirty data refers to inaccurate, incomplete, incorrect, duplicate, or erroneous data.</a:t>
            </a:r>
          </a:p>
          <a:p>
            <a:r>
              <a:rPr lang="en-US" b="1" dirty="0" smtClean="0"/>
              <a:t>Big Data changes</a:t>
            </a:r>
            <a:r>
              <a:rPr lang="en-US" dirty="0" smtClean="0"/>
              <a:t>, especially in data streams: Organizations must be aware that data quality in an analysis can change, or the data itself can change, because the conditions under which the data are captured can change.</a:t>
            </a:r>
          </a:p>
        </p:txBody>
      </p:sp>
      <p:sp>
        <p:nvSpPr>
          <p:cNvPr id="4" name="Slide Number Placeholder 3"/>
          <p:cNvSpPr>
            <a:spLocks noGrp="1"/>
          </p:cNvSpPr>
          <p:nvPr>
            <p:ph type="sldNum" sz="quarter" idx="10"/>
          </p:nvPr>
        </p:nvSpPr>
        <p:spPr/>
        <p:txBody>
          <a:bodyPr/>
          <a:lstStyle/>
          <a:p>
            <a:fld id="{2CF41C25-7A1F-47FB-B705-003A328B9163}" type="slidenum">
              <a:rPr lang="en-US" smtClean="0"/>
              <a:t>23</a:t>
            </a:fld>
            <a:endParaRPr lang="en-US"/>
          </a:p>
        </p:txBody>
      </p:sp>
    </p:spTree>
    <p:extLst>
      <p:ext uri="{BB962C8B-B14F-4D97-AF65-F5344CB8AC3E}">
        <p14:creationId xmlns:p14="http://schemas.microsoft.com/office/powerpoint/2010/main" val="33564764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Describe the problems that MetLife was experiencing with customer data before it implemented the MetLife Wall.</a:t>
            </a:r>
          </a:p>
          <a:p>
            <a:pPr marL="228600" indent="-228600">
              <a:buFont typeface="+mj-lt"/>
              <a:buAutoNum type="arabicPeriod"/>
            </a:pPr>
            <a:r>
              <a:rPr lang="en-US" dirty="0" smtClean="0"/>
              <a:t>Describe how these problems originated.</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25</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Making Big Data Available: </a:t>
            </a:r>
            <a:r>
              <a:rPr lang="en-US" dirty="0" smtClean="0"/>
              <a:t>Making Big Data available for relevant stakeholders can help organizations gain value.</a:t>
            </a:r>
          </a:p>
          <a:p>
            <a:r>
              <a:rPr lang="en-US" b="1" dirty="0" smtClean="0"/>
              <a:t>Enabling Organizations to Conduct Experiments: </a:t>
            </a:r>
            <a:r>
              <a:rPr lang="en-US" dirty="0" smtClean="0"/>
              <a:t>Big Data allows organizations to improve performance by conducting controlled experiments. For example, Amazon (and many other companies such as Google and LinkedIn) constantly experiments by offering slight different “looks” on its Web site.</a:t>
            </a:r>
          </a:p>
          <a:p>
            <a:r>
              <a:rPr lang="en-US" b="1" dirty="0" smtClean="0"/>
              <a:t>Micro-Segmentation of Customers: </a:t>
            </a:r>
            <a:r>
              <a:rPr lang="en-US" dirty="0" smtClean="0"/>
              <a:t>Segmentation of a company’s customers means dividing them up into groups that share one or more characteristics.</a:t>
            </a:r>
          </a:p>
          <a:p>
            <a:r>
              <a:rPr lang="en-US" b="1" dirty="0" smtClean="0"/>
              <a:t>Creating New Business Models: </a:t>
            </a:r>
            <a:r>
              <a:rPr lang="en-US" dirty="0" smtClean="0"/>
              <a:t>Companies are able to use Big Data to create new business models. For example, a commercial transportation company operated a large fleet of large, long-haul trucks. </a:t>
            </a:r>
            <a:r>
              <a:rPr lang="en-US" dirty="0" err="1" smtClean="0"/>
              <a:t>Th</a:t>
            </a:r>
            <a:r>
              <a:rPr lang="en-US" dirty="0" smtClean="0"/>
              <a:t> e company recently placed sensors on all its trucks. These sensors wirelessly communicate large amounts of information to the company, a process called telematics. </a:t>
            </a:r>
            <a:r>
              <a:rPr lang="en-US" dirty="0" err="1" smtClean="0"/>
              <a:t>Th</a:t>
            </a:r>
            <a:r>
              <a:rPr lang="en-US" dirty="0" smtClean="0"/>
              <a:t> e sensors collect data on vehicle usage (including acceleration, braking, cornering, etc.), driver performance, and vehicle maintenance. By analyzing this Big Data, the transportation company was able to improve the condition of its trucks through near-real-time analysis that proactively suggested preventive maintenance.</a:t>
            </a:r>
          </a:p>
          <a:p>
            <a:r>
              <a:rPr lang="en-US" b="1" dirty="0" smtClean="0"/>
              <a:t>Organizations Can Analyze Far More Data: </a:t>
            </a:r>
            <a:r>
              <a:rPr lang="en-US" dirty="0" smtClean="0"/>
              <a:t>In some cases, organizations can even process all the data in a population relating to a particular phenomenon, meaning that they do not have to rely as much on sampling. </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26</a:t>
            </a:fld>
            <a:endParaRPr lang="en-US"/>
          </a:p>
        </p:txBody>
      </p:sp>
    </p:spTree>
    <p:extLst>
      <p:ext uri="{BB962C8B-B14F-4D97-AF65-F5344CB8AC3E}">
        <p14:creationId xmlns:p14="http://schemas.microsoft.com/office/powerpoint/2010/main" val="37825884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Data Warehouse: </a:t>
            </a:r>
            <a:r>
              <a:rPr lang="en-US" dirty="0" smtClean="0"/>
              <a:t>a repository of historical data that are organized by subject to support decision makers in the organization.</a:t>
            </a:r>
          </a:p>
          <a:p>
            <a:r>
              <a:rPr lang="en-US" b="1" dirty="0" smtClean="0"/>
              <a:t>Data Mart: </a:t>
            </a:r>
            <a:r>
              <a:rPr lang="en-US" dirty="0" smtClean="0"/>
              <a:t>a low-cost, scaled-down version of a data warehouse that is designed for the end-user needs in a strategic business unit (SBU) or an individual department.</a:t>
            </a:r>
          </a:p>
        </p:txBody>
      </p:sp>
      <p:sp>
        <p:nvSpPr>
          <p:cNvPr id="4" name="Slide Number Placeholder 3"/>
          <p:cNvSpPr>
            <a:spLocks noGrp="1"/>
          </p:cNvSpPr>
          <p:nvPr>
            <p:ph type="sldNum" sz="quarter" idx="10"/>
          </p:nvPr>
        </p:nvSpPr>
        <p:spPr/>
        <p:txBody>
          <a:bodyPr/>
          <a:lstStyle/>
          <a:p>
            <a:fld id="{2CF41C25-7A1F-47FB-B705-003A328B9163}" type="slidenum">
              <a:rPr lang="en-US" smtClean="0"/>
              <a:t>29</a:t>
            </a:fld>
            <a:endParaRPr lang="en-US"/>
          </a:p>
        </p:txBody>
      </p:sp>
    </p:spTree>
    <p:extLst>
      <p:ext uri="{BB962C8B-B14F-4D97-AF65-F5344CB8AC3E}">
        <p14:creationId xmlns:p14="http://schemas.microsoft.com/office/powerpoint/2010/main" val="19772981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5.4 </a:t>
            </a:r>
            <a:r>
              <a:rPr lang="en-US" dirty="0" smtClean="0"/>
              <a:t>Data warehouse framework.</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30</a:t>
            </a:fld>
            <a:endParaRPr lang="en-US"/>
          </a:p>
        </p:txBody>
      </p:sp>
    </p:spTree>
    <p:extLst>
      <p:ext uri="{BB962C8B-B14F-4D97-AF65-F5344CB8AC3E}">
        <p14:creationId xmlns:p14="http://schemas.microsoft.com/office/powerpoint/2010/main" val="23617580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Data Warehouse: </a:t>
            </a:r>
            <a:r>
              <a:rPr lang="en-US" dirty="0" smtClean="0"/>
              <a:t>a repository of historical data that are organized by subject to support decision makers in the organization.</a:t>
            </a:r>
          </a:p>
          <a:p>
            <a:r>
              <a:rPr lang="en-US" b="1" dirty="0" smtClean="0"/>
              <a:t>Data Mart: </a:t>
            </a:r>
            <a:r>
              <a:rPr lang="en-US" dirty="0" smtClean="0"/>
              <a:t>a low-cost, scaled-down version of a data warehouse that is designed for the end-user needs in a strategic business unit (SBU) or an individual department.</a:t>
            </a:r>
          </a:p>
          <a:p>
            <a:r>
              <a:rPr lang="en-US" b="1" dirty="0" smtClean="0"/>
              <a:t>Basic Characteristics of Data Warehouses and Data Marts:</a:t>
            </a:r>
          </a:p>
          <a:p>
            <a:r>
              <a:rPr lang="en-US" b="1" dirty="0" smtClean="0"/>
              <a:t>Organized by business dimension or subject </a:t>
            </a:r>
            <a:r>
              <a:rPr lang="en-US" dirty="0" smtClean="0"/>
              <a:t>- Data are organized by subject. For example, by customer, vendor, product, price level, and region. This arrangement differs from transactional systems, where data are organized by business process, such as order entry, inventory control, and accounts receivable.</a:t>
            </a:r>
          </a:p>
          <a:p>
            <a:r>
              <a:rPr lang="en-US" b="1" dirty="0" smtClean="0"/>
              <a:t>Use online analytical processing (OLAP)</a:t>
            </a:r>
          </a:p>
          <a:p>
            <a:r>
              <a:rPr lang="en-US" b="1" dirty="0" smtClean="0"/>
              <a:t>Integrated</a:t>
            </a:r>
            <a:r>
              <a:rPr lang="en-US" dirty="0" smtClean="0"/>
              <a:t> - Data are collected from multiple systems and then integrated around subjects.</a:t>
            </a:r>
          </a:p>
          <a:p>
            <a:r>
              <a:rPr lang="en-US" b="1" dirty="0" smtClean="0"/>
              <a:t>Time variant </a:t>
            </a:r>
            <a:r>
              <a:rPr lang="en-US" dirty="0" smtClean="0"/>
              <a:t>- Data warehouses and data marts maintain historical data (i.e., data that include time as a variable).</a:t>
            </a:r>
          </a:p>
          <a:p>
            <a:r>
              <a:rPr lang="en-US" b="1" dirty="0" smtClean="0"/>
              <a:t>Nonvolatile</a:t>
            </a:r>
            <a:r>
              <a:rPr lang="en-US" dirty="0" smtClean="0"/>
              <a:t> - Data warehouses and data marts are nonvolatile—that is, users cannot change or update the data.</a:t>
            </a:r>
          </a:p>
          <a:p>
            <a:r>
              <a:rPr lang="en-US" b="1" dirty="0" smtClean="0"/>
              <a:t>Multidimensional</a:t>
            </a:r>
            <a:r>
              <a:rPr lang="en-US" dirty="0" smtClean="0"/>
              <a:t> - Typically the data warehouse or mart uses a multidimensional data structure. Recall that relational databases store data in two-dimensional tables.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31</a:t>
            </a:fld>
            <a:endParaRPr lang="en-US"/>
          </a:p>
        </p:txBody>
      </p:sp>
    </p:spTree>
    <p:extLst>
      <p:ext uri="{BB962C8B-B14F-4D97-AF65-F5344CB8AC3E}">
        <p14:creationId xmlns:p14="http://schemas.microsoft.com/office/powerpoint/2010/main" val="21948356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Source Systems: </a:t>
            </a:r>
            <a:r>
              <a:rPr lang="en-US" dirty="0" smtClean="0"/>
              <a:t>Systems that provide a source of organizational data. </a:t>
            </a:r>
          </a:p>
          <a:p>
            <a:r>
              <a:rPr lang="en-US" b="1" dirty="0" smtClean="0"/>
              <a:t>Data Integration: </a:t>
            </a:r>
            <a:r>
              <a:rPr lang="en-US" dirty="0" smtClean="0"/>
              <a:t>reflects the growing number of ways that source system data can be handled. Typically organizations need to Extract, Transform, and Load (ETL) data from source system into a data warehouse or data mart.</a:t>
            </a:r>
          </a:p>
          <a:p>
            <a:r>
              <a:rPr lang="en-US" b="1" dirty="0" smtClean="0"/>
              <a:t>Storing the Data: </a:t>
            </a:r>
            <a:r>
              <a:rPr lang="en-US" dirty="0" smtClean="0"/>
              <a:t>A variety of architectures can be used to store decision-support data and the most common architecture is one central enterprise data warehouse, without data marts.</a:t>
            </a:r>
          </a:p>
          <a:p>
            <a:r>
              <a:rPr lang="en-US" b="1" dirty="0" smtClean="0"/>
              <a:t>Metadata: </a:t>
            </a:r>
            <a:r>
              <a:rPr lang="en-US" dirty="0" smtClean="0"/>
              <a:t>data maintained about the data within the data warehouse. (e.g., database, table, and column names; refresh schedules; and data-usage measures.</a:t>
            </a:r>
          </a:p>
          <a:p>
            <a:r>
              <a:rPr lang="en-US" b="1" dirty="0" smtClean="0"/>
              <a:t>Data Quality: </a:t>
            </a:r>
            <a:r>
              <a:rPr lang="en-US" dirty="0" smtClean="0"/>
              <a:t>quality of the data in the warehouse must meet users’ needs. If it does not, users will not trust the data and ultimately will not use it. Some of the data can be improved with data-cleansing soft ware, but the better, long-term solution is to improve the quality at the source system level.</a:t>
            </a:r>
          </a:p>
          <a:p>
            <a:r>
              <a:rPr lang="en-US" b="1" dirty="0" smtClean="0"/>
              <a:t>Governance: </a:t>
            </a:r>
            <a:r>
              <a:rPr lang="en-US" dirty="0" smtClean="0"/>
              <a:t>To ensure that BI is meeting their needs, organizations must implement governance to plan and control their BI activities. Governance requires that people, committees, and processes be in place.</a:t>
            </a:r>
          </a:p>
          <a:p>
            <a:r>
              <a:rPr lang="en-US" b="1" dirty="0" smtClean="0"/>
              <a:t>Users: </a:t>
            </a:r>
            <a:r>
              <a:rPr lang="en-US" dirty="0" smtClean="0"/>
              <a:t>There are many potential BI users, including IT developers; frontline workers; analysts; information workers; managers and executives; and suppliers, customers, and regulators.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
            </a:r>
          </a:p>
          <a:p>
            <a:r>
              <a:rPr lang="en-US" b="1" dirty="0" smtClean="0"/>
              <a:t>Common Examples of Source Systems Include:</a:t>
            </a:r>
          </a:p>
          <a:p>
            <a:r>
              <a:rPr lang="en-US" dirty="0" smtClean="0"/>
              <a:t>operational/transactional systems</a:t>
            </a:r>
          </a:p>
          <a:p>
            <a:r>
              <a:rPr lang="en-US" dirty="0" smtClean="0"/>
              <a:t>enterprise resource planning (ERP) systems</a:t>
            </a:r>
          </a:p>
          <a:p>
            <a:r>
              <a:rPr lang="en-US" dirty="0" smtClean="0"/>
              <a:t>Web site data</a:t>
            </a:r>
          </a:p>
          <a:p>
            <a:r>
              <a:rPr lang="en-US" dirty="0" smtClean="0"/>
              <a:t>third-party data (e.g., customer demographic data)</a:t>
            </a:r>
          </a:p>
          <a:p>
            <a:r>
              <a:rPr lang="en-US" dirty="0" smtClean="0"/>
              <a:t>operational databases</a:t>
            </a:r>
          </a:p>
        </p:txBody>
      </p:sp>
      <p:sp>
        <p:nvSpPr>
          <p:cNvPr id="4" name="Slide Number Placeholder 3"/>
          <p:cNvSpPr>
            <a:spLocks noGrp="1"/>
          </p:cNvSpPr>
          <p:nvPr>
            <p:ph type="sldNum" sz="quarter" idx="10"/>
          </p:nvPr>
        </p:nvSpPr>
        <p:spPr/>
        <p:txBody>
          <a:bodyPr/>
          <a:lstStyle/>
          <a:p>
            <a:fld id="{2CF41C25-7A1F-47FB-B705-003A328B9163}" type="slidenum">
              <a:rPr lang="en-US" smtClean="0"/>
              <a:t>32</a:t>
            </a:fld>
            <a:endParaRPr lang="en-US"/>
          </a:p>
        </p:txBody>
      </p:sp>
    </p:spTree>
    <p:extLst>
      <p:ext uri="{BB962C8B-B14F-4D97-AF65-F5344CB8AC3E}">
        <p14:creationId xmlns:p14="http://schemas.microsoft.com/office/powerpoint/2010/main" val="41715418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What are other advantages (not mentioned in the case) that </a:t>
            </a:r>
            <a:r>
              <a:rPr lang="en-US" dirty="0" err="1" smtClean="0"/>
              <a:t>Nordea</a:t>
            </a:r>
            <a:r>
              <a:rPr lang="en-US" dirty="0" smtClean="0"/>
              <a:t> Bank might realize from its data warehouse?</a:t>
            </a:r>
          </a:p>
          <a:p>
            <a:pPr marL="228600" indent="-228600">
              <a:buFont typeface="+mj-lt"/>
              <a:buAutoNum type="arabicPeriod"/>
            </a:pPr>
            <a:r>
              <a:rPr lang="en-US" dirty="0" smtClean="0"/>
              <a:t>What recommendations would you give to </a:t>
            </a:r>
            <a:r>
              <a:rPr lang="en-US" dirty="0" err="1" smtClean="0"/>
              <a:t>Nordea</a:t>
            </a:r>
            <a:r>
              <a:rPr lang="en-US" dirty="0" smtClean="0"/>
              <a:t> Bank about incorporating Big Data into its data management? Provide specific examples of what types of Big Data you think </a:t>
            </a:r>
            <a:r>
              <a:rPr lang="en-US" dirty="0" err="1" smtClean="0"/>
              <a:t>Nordea</a:t>
            </a:r>
            <a:r>
              <a:rPr lang="en-US" dirty="0" smtClean="0"/>
              <a:t> should consider.</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33</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5.5 </a:t>
            </a:r>
            <a:r>
              <a:rPr lang="en-US" sz="1200" b="0" i="0" u="none" strike="noStrike" kern="1200" baseline="0" dirty="0" smtClean="0">
                <a:solidFill>
                  <a:schemeClr val="tx1"/>
                </a:solidFill>
                <a:latin typeface="+mn-lt"/>
                <a:ea typeface="+mn-ea"/>
                <a:cs typeface="+mn-cs"/>
              </a:rPr>
              <a:t>Relational databases.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34</a:t>
            </a:fld>
            <a:endParaRPr lang="en-US"/>
          </a:p>
        </p:txBody>
      </p:sp>
    </p:spTree>
    <p:extLst>
      <p:ext uri="{BB962C8B-B14F-4D97-AF65-F5344CB8AC3E}">
        <p14:creationId xmlns:p14="http://schemas.microsoft.com/office/powerpoint/2010/main" val="17251262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5.6 </a:t>
            </a:r>
            <a:r>
              <a:rPr lang="en-US" sz="1200" b="0" i="0" u="none" strike="noStrike" kern="1200" baseline="0" dirty="0" smtClean="0">
                <a:solidFill>
                  <a:schemeClr val="tx1"/>
                </a:solidFill>
                <a:latin typeface="+mn-lt"/>
                <a:ea typeface="+mn-ea"/>
                <a:cs typeface="+mn-cs"/>
              </a:rPr>
              <a:t>Data cube.</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35</a:t>
            </a:fld>
            <a:endParaRPr lang="en-US"/>
          </a:p>
        </p:txBody>
      </p:sp>
    </p:spTree>
    <p:extLst>
      <p:ext uri="{BB962C8B-B14F-4D97-AF65-F5344CB8AC3E}">
        <p14:creationId xmlns:p14="http://schemas.microsoft.com/office/powerpoint/2010/main" val="32371192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5.7 </a:t>
            </a:r>
            <a:r>
              <a:rPr lang="en-US" sz="1200" b="0" i="0" u="none" strike="noStrike" kern="1200" baseline="0" dirty="0" smtClean="0">
                <a:solidFill>
                  <a:schemeClr val="tx1"/>
                </a:solidFill>
                <a:latin typeface="+mn-lt"/>
                <a:ea typeface="+mn-ea"/>
                <a:cs typeface="+mn-cs"/>
              </a:rPr>
              <a:t>Equivalence between relational and multidimensional databases.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36</a:t>
            </a:fld>
            <a:endParaRPr lang="en-US"/>
          </a:p>
        </p:txBody>
      </p:sp>
    </p:spTree>
    <p:extLst>
      <p:ext uri="{BB962C8B-B14F-4D97-AF65-F5344CB8AC3E}">
        <p14:creationId xmlns:p14="http://schemas.microsoft.com/office/powerpoint/2010/main" val="8316690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Knowledge management (KM): </a:t>
            </a:r>
            <a:r>
              <a:rPr lang="en-US" dirty="0" smtClean="0"/>
              <a:t>a process that helps organizations manipulate important knowledge that comprises part of the organization’s </a:t>
            </a:r>
            <a:r>
              <a:rPr lang="en-US" b="1" dirty="0" smtClean="0"/>
              <a:t>Knowledge: </a:t>
            </a:r>
            <a:r>
              <a:rPr lang="en-US" dirty="0" smtClean="0"/>
              <a:t>information that is contextual, relevant, and useful. It is information in action. Intellectual capital (or intellectual assets) is another term for knowledge.</a:t>
            </a:r>
          </a:p>
          <a:p>
            <a:r>
              <a:rPr lang="en-US" b="1" dirty="0" smtClean="0"/>
              <a:t>Explicit Knowledge: </a:t>
            </a:r>
            <a:r>
              <a:rPr lang="en-US" dirty="0" smtClean="0"/>
              <a:t>more objective, rational, and technical knowledge. In an organization, explicit knowledge consists of the policies, procedural guides, reports, products, strategies, goals, core competencies, and IT infrastructure of the enterprise.</a:t>
            </a:r>
          </a:p>
          <a:p>
            <a:r>
              <a:rPr lang="en-US" b="1" dirty="0" smtClean="0"/>
              <a:t>Tacit Knowledge: </a:t>
            </a:r>
            <a:r>
              <a:rPr lang="en-US" dirty="0" smtClean="0"/>
              <a:t>the cumulative store of subjective or experiential learning. In an organization, tacit knowledge consists of an organization’s experiences, insights, expertise, know-how, trade secrets, skill sets, understanding, and learning. It is generally imprecise and costly to transfer.</a:t>
            </a:r>
          </a:p>
          <a:p>
            <a:r>
              <a:rPr lang="en-US" b="1" dirty="0" smtClean="0"/>
              <a:t>Knowledge management systems (KMSs): </a:t>
            </a:r>
            <a:r>
              <a:rPr lang="en-US" dirty="0" smtClean="0"/>
              <a:t>refer to the use of modern information technologies—the Internet, intranets, extranets, databases—to systematize, enhance, and expedite intra-firm and inter-firm knowledge management. KMSs are intended to help an organization cope with turnover, rapid change, and downsizing by making the expertise of the organization’s human capital widely accessible.</a:t>
            </a:r>
          </a:p>
          <a:p>
            <a:r>
              <a:rPr lang="en-US" dirty="0" smtClean="0"/>
              <a:t>------------------------------</a:t>
            </a:r>
          </a:p>
          <a:p>
            <a:r>
              <a:rPr lang="en-US" b="1" dirty="0" smtClean="0"/>
              <a:t>The KMS Cycle Consists of Six Steps:</a:t>
            </a:r>
          </a:p>
          <a:p>
            <a:r>
              <a:rPr lang="en-US" b="1" dirty="0" smtClean="0"/>
              <a:t>Create knowledge: </a:t>
            </a:r>
            <a:r>
              <a:rPr lang="en-US" dirty="0" smtClean="0"/>
              <a:t>Knowledge is created as people determine new ways of doing things or develop know-how. Sometimes external knowledge is brought in.</a:t>
            </a:r>
          </a:p>
          <a:p>
            <a:r>
              <a:rPr lang="en-US" b="1" dirty="0" smtClean="0"/>
              <a:t>Capture knowledge: </a:t>
            </a:r>
            <a:r>
              <a:rPr lang="en-US" dirty="0" smtClean="0"/>
              <a:t>New knowledge must be identified as valuable and be represented in a reasonable way.</a:t>
            </a:r>
          </a:p>
          <a:p>
            <a:r>
              <a:rPr lang="en-US" b="1" dirty="0" smtClean="0"/>
              <a:t>Refine knowledge: </a:t>
            </a:r>
            <a:r>
              <a:rPr lang="en-US" dirty="0" smtClean="0"/>
              <a:t>New knowledge must be placed in context so that it is actionable. This is where tacit qualities (human insights) must be captured along with explicit facts.</a:t>
            </a:r>
          </a:p>
          <a:p>
            <a:r>
              <a:rPr lang="en-US" b="1" dirty="0" smtClean="0"/>
              <a:t>Store knowledge: </a:t>
            </a:r>
            <a:r>
              <a:rPr lang="en-US" dirty="0" smtClean="0"/>
              <a:t>Useful knowledge must then be stored in a reasonable format in a knowledge repository so that other people in the organization can access it.</a:t>
            </a:r>
          </a:p>
          <a:p>
            <a:r>
              <a:rPr lang="en-US" b="1" dirty="0" smtClean="0"/>
              <a:t>Manage knowledge: </a:t>
            </a:r>
            <a:r>
              <a:rPr lang="en-US" dirty="0" smtClean="0"/>
              <a:t>Like a library, the knowledge must be kept current. It must be reviewed regularly to verify that it is relevant and accurate.</a:t>
            </a:r>
          </a:p>
          <a:p>
            <a:r>
              <a:rPr lang="en-US" b="1" dirty="0" smtClean="0"/>
              <a:t>Disseminate knowledge: </a:t>
            </a:r>
            <a:r>
              <a:rPr lang="en-US" dirty="0" smtClean="0"/>
              <a:t>Knowledge must be made available in a useful format to anyone in the organization who needs it, anywhere and anytime.</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37</a:t>
            </a:fld>
            <a:endParaRPr lang="en-US"/>
          </a:p>
        </p:txBody>
      </p:sp>
    </p:spTree>
    <p:extLst>
      <p:ext uri="{BB962C8B-B14F-4D97-AF65-F5344CB8AC3E}">
        <p14:creationId xmlns:p14="http://schemas.microsoft.com/office/powerpoint/2010/main" val="39343372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Knowledge management (KM): </a:t>
            </a:r>
            <a:r>
              <a:rPr lang="en-US" dirty="0" smtClean="0"/>
              <a:t>a process that helps organizations manipulate important knowledge that comprises part of the organization’s </a:t>
            </a:r>
            <a:r>
              <a:rPr lang="en-US" b="1" dirty="0" smtClean="0"/>
              <a:t>Knowledge: </a:t>
            </a:r>
            <a:r>
              <a:rPr lang="en-US" dirty="0" smtClean="0"/>
              <a:t>information that is contextual, relevant, and useful. It is information in action. Intellectual capital (or intellectual assets) is another term for knowledge.</a:t>
            </a:r>
          </a:p>
          <a:p>
            <a:r>
              <a:rPr lang="en-US" b="1" dirty="0" smtClean="0"/>
              <a:t>Explicit Knowledge: </a:t>
            </a:r>
            <a:r>
              <a:rPr lang="en-US" dirty="0" smtClean="0"/>
              <a:t>more objective, rational, and technical knowledge. In an organization, explicit knowledge consists of the policies, procedural guides, reports, products, strategies, goals, core competencies, and IT infrastructure of the enterprise.</a:t>
            </a:r>
          </a:p>
          <a:p>
            <a:r>
              <a:rPr lang="en-US" b="1" dirty="0" smtClean="0"/>
              <a:t>Tacit Knowledge: </a:t>
            </a:r>
            <a:r>
              <a:rPr lang="en-US" dirty="0" smtClean="0"/>
              <a:t>the cumulative store of subjective or experiential learning. In an organization, tacit knowledge consists of an organization’s experiences, insights, expertise, know-how, trade secrets, skill sets, understanding, and learning. It is generally imprecise and costly to transfer.</a:t>
            </a:r>
          </a:p>
          <a:p>
            <a:r>
              <a:rPr lang="en-US" b="1" dirty="0" smtClean="0"/>
              <a:t>Knowledge management systems (KMSs): </a:t>
            </a:r>
            <a:r>
              <a:rPr lang="en-US" dirty="0" smtClean="0"/>
              <a:t>refer to the use of modern information technologies—the Internet, intranets, extranets, databases—to systematize, enhance, and expedite intra-firm and inter-firm knowledge management. KMSs are intended to help an organization cope with turnover, rapid change, and downsizing by making the expertise of the organization’s human capital widely accessible.</a:t>
            </a:r>
          </a:p>
          <a:p>
            <a:r>
              <a:rPr lang="en-US" dirty="0" smtClean="0"/>
              <a:t>------------------------------</a:t>
            </a:r>
          </a:p>
          <a:p>
            <a:r>
              <a:rPr lang="en-US" b="1" dirty="0" smtClean="0"/>
              <a:t>The KMS Cycle Consists of Six Steps:</a:t>
            </a:r>
          </a:p>
          <a:p>
            <a:r>
              <a:rPr lang="en-US" b="1" dirty="0" smtClean="0"/>
              <a:t>Create knowledge: </a:t>
            </a:r>
            <a:r>
              <a:rPr lang="en-US" dirty="0" smtClean="0"/>
              <a:t>Knowledge is created as people determine new ways of doing things or develop know-how. Sometimes external knowledge is brought in.</a:t>
            </a:r>
          </a:p>
          <a:p>
            <a:r>
              <a:rPr lang="en-US" b="1" dirty="0" smtClean="0"/>
              <a:t>Capture knowledge: </a:t>
            </a:r>
            <a:r>
              <a:rPr lang="en-US" dirty="0" smtClean="0"/>
              <a:t>New knowledge must be identified as valuable and be represented in a reasonable way.</a:t>
            </a:r>
          </a:p>
          <a:p>
            <a:r>
              <a:rPr lang="en-US" b="1" dirty="0" smtClean="0"/>
              <a:t>Refine knowledge: </a:t>
            </a:r>
            <a:r>
              <a:rPr lang="en-US" dirty="0" smtClean="0"/>
              <a:t>New knowledge must be placed in context so that it is actionable. This is where tacit qualities (human insights) must be captured along with explicit facts.</a:t>
            </a:r>
          </a:p>
          <a:p>
            <a:r>
              <a:rPr lang="en-US" b="1" dirty="0" smtClean="0"/>
              <a:t>Store knowledge: </a:t>
            </a:r>
            <a:r>
              <a:rPr lang="en-US" dirty="0" smtClean="0"/>
              <a:t>Useful knowledge must then be stored in a reasonable format in a knowledge repository so that other people in the organization can access it.</a:t>
            </a:r>
          </a:p>
          <a:p>
            <a:r>
              <a:rPr lang="en-US" b="1" dirty="0" smtClean="0"/>
              <a:t>Manage knowledge: </a:t>
            </a:r>
            <a:r>
              <a:rPr lang="en-US" dirty="0" smtClean="0"/>
              <a:t>Like a library, the knowledge must be kept current. It must be reviewed regularly to verify that it is relevant and accurate.</a:t>
            </a:r>
          </a:p>
          <a:p>
            <a:r>
              <a:rPr lang="en-US" b="1" dirty="0" smtClean="0"/>
              <a:t>Disseminate knowledge: </a:t>
            </a:r>
            <a:r>
              <a:rPr lang="en-US" dirty="0" smtClean="0"/>
              <a:t>Knowledge must be made available in a useful format to anyone in the organization who needs it, anywhere and anytime.</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38</a:t>
            </a:fld>
            <a:endParaRPr lang="en-US"/>
          </a:p>
        </p:txBody>
      </p:sp>
    </p:spTree>
    <p:extLst>
      <p:ext uri="{BB962C8B-B14F-4D97-AF65-F5344CB8AC3E}">
        <p14:creationId xmlns:p14="http://schemas.microsoft.com/office/powerpoint/2010/main" val="6461369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The KMS Cycle Consists of Six Steps:</a:t>
            </a:r>
          </a:p>
          <a:p>
            <a:r>
              <a:rPr lang="en-US" b="1" dirty="0" smtClean="0"/>
              <a:t>Create knowledge: </a:t>
            </a:r>
            <a:r>
              <a:rPr lang="en-US" dirty="0" smtClean="0"/>
              <a:t>Knowledge is created as people determine new ways of doing things or develop know-how. Sometimes external knowledge is brought in.</a:t>
            </a:r>
          </a:p>
          <a:p>
            <a:r>
              <a:rPr lang="en-US" b="1" dirty="0" smtClean="0"/>
              <a:t>Capture knowledge: </a:t>
            </a:r>
            <a:r>
              <a:rPr lang="en-US" dirty="0" smtClean="0"/>
              <a:t>New knowledge must be identified as valuable and be represented in a reasonable way.</a:t>
            </a:r>
          </a:p>
          <a:p>
            <a:r>
              <a:rPr lang="en-US" b="1" dirty="0" smtClean="0"/>
              <a:t>Refine knowledge: </a:t>
            </a:r>
            <a:r>
              <a:rPr lang="en-US" dirty="0" smtClean="0"/>
              <a:t>New knowledge must be placed in context so that it is actionable. This is where tacit qualities (human insights) must be captured along with explicit facts.</a:t>
            </a:r>
          </a:p>
          <a:p>
            <a:r>
              <a:rPr lang="en-US" b="1" dirty="0" smtClean="0"/>
              <a:t>Store knowledge: </a:t>
            </a:r>
            <a:r>
              <a:rPr lang="en-US" dirty="0" smtClean="0"/>
              <a:t>Useful knowledge must then be stored in a reasonable format in a knowledge repository so that other people in the organization can access it.</a:t>
            </a:r>
          </a:p>
          <a:p>
            <a:r>
              <a:rPr lang="en-US" b="1" dirty="0" smtClean="0"/>
              <a:t>Manage knowledge: </a:t>
            </a:r>
            <a:r>
              <a:rPr lang="en-US" dirty="0" smtClean="0"/>
              <a:t>Like a library, the knowledge must be kept current. It must be reviewed regularly to verify that it is relevant and accurate.</a:t>
            </a:r>
          </a:p>
          <a:p>
            <a:r>
              <a:rPr lang="en-US" b="1" dirty="0" smtClean="0"/>
              <a:t>Disseminate knowledge: </a:t>
            </a:r>
            <a:r>
              <a:rPr lang="en-US" dirty="0" smtClean="0"/>
              <a:t>Knowledge must be made available in a useful format to anyone in the organization who needs it, anywhere and anytime.</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40</a:t>
            </a:fld>
            <a:endParaRPr lang="en-US"/>
          </a:p>
        </p:txBody>
      </p:sp>
    </p:spTree>
    <p:extLst>
      <p:ext uri="{BB962C8B-B14F-4D97-AF65-F5344CB8AC3E}">
        <p14:creationId xmlns:p14="http://schemas.microsoft.com/office/powerpoint/2010/main" val="8606772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5.8 </a:t>
            </a:r>
            <a:r>
              <a:rPr lang="en-US" sz="1200" b="0" i="0" u="none" strike="noStrike" kern="1200" baseline="0" dirty="0" smtClean="0">
                <a:solidFill>
                  <a:schemeClr val="tx1"/>
                </a:solidFill>
                <a:latin typeface="+mn-lt"/>
                <a:ea typeface="+mn-ea"/>
                <a:cs typeface="+mn-cs"/>
              </a:rPr>
              <a:t>The knowledge management system cycle.</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41</a:t>
            </a:fld>
            <a:endParaRPr lang="en-US"/>
          </a:p>
        </p:txBody>
      </p:sp>
    </p:spTree>
    <p:extLst>
      <p:ext uri="{BB962C8B-B14F-4D97-AF65-F5344CB8AC3E}">
        <p14:creationId xmlns:p14="http://schemas.microsoft.com/office/powerpoint/2010/main" val="15984951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Relational Database: </a:t>
            </a:r>
            <a:r>
              <a:rPr lang="en-US" dirty="0" smtClean="0"/>
              <a:t>a collection of interrelated two-dimensional tables, consisting of rows and columns.</a:t>
            </a:r>
          </a:p>
          <a:p>
            <a:r>
              <a:rPr lang="en-US" b="1" dirty="0" smtClean="0"/>
              <a:t>Record: </a:t>
            </a:r>
            <a:r>
              <a:rPr lang="en-US" dirty="0" smtClean="0"/>
              <a:t>Each row in a database table or file.</a:t>
            </a:r>
          </a:p>
          <a:p>
            <a:r>
              <a:rPr lang="en-US" b="1" dirty="0" smtClean="0"/>
              <a:t>Field: </a:t>
            </a:r>
            <a:r>
              <a:rPr lang="en-US" dirty="0" smtClean="0"/>
              <a:t>Each column in a database table or file which represents an attribute (or characteristic) of that record. </a:t>
            </a:r>
          </a:p>
          <a:p>
            <a:r>
              <a:rPr lang="en-US" b="1" dirty="0" smtClean="0"/>
              <a:t>Primary Key: </a:t>
            </a:r>
            <a:r>
              <a:rPr lang="en-US" dirty="0" smtClean="0"/>
              <a:t>at least one field that uniquely identifies each record so that it can be retrieved, updated, and sorted.</a:t>
            </a:r>
          </a:p>
          <a:p>
            <a:r>
              <a:rPr lang="en-US" b="1" dirty="0" smtClean="0"/>
              <a:t>Secondary Key: </a:t>
            </a:r>
            <a:r>
              <a:rPr lang="en-US" dirty="0" smtClean="0"/>
              <a:t>is another field that has some identifying information, but typically does not uniquely identify the record.</a:t>
            </a:r>
          </a:p>
          <a:p>
            <a:r>
              <a:rPr lang="en-US" b="1" dirty="0" smtClean="0"/>
              <a:t>Foreign key: </a:t>
            </a:r>
            <a:r>
              <a:rPr lang="en-US" dirty="0" smtClean="0"/>
              <a:t>is a field (or group of fields) in one table that matches the primary key value in a another table. A foreign key is used to establish and enforce a link between two tables.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42</a:t>
            </a:fld>
            <a:endParaRPr lang="en-US"/>
          </a:p>
        </p:txBody>
      </p:sp>
    </p:spTree>
    <p:extLst>
      <p:ext uri="{BB962C8B-B14F-4D97-AF65-F5344CB8AC3E}">
        <p14:creationId xmlns:p14="http://schemas.microsoft.com/office/powerpoint/2010/main" val="6926665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Structured Query Language (SQL): </a:t>
            </a:r>
            <a:r>
              <a:rPr lang="en-US" dirty="0" smtClean="0"/>
              <a:t>the most popular query language used for interacting with a database. SQL allows people to perform complicated searches by using relatively simple statements </a:t>
            </a:r>
            <a:r>
              <a:rPr lang="en-US" sz="1200" b="0" i="0" u="none" strike="noStrike" kern="1200" baseline="0" dirty="0" smtClean="0">
                <a:solidFill>
                  <a:schemeClr val="tx1"/>
                </a:solidFill>
                <a:latin typeface="+mn-lt"/>
                <a:ea typeface="+mn-ea"/>
                <a:cs typeface="+mn-cs"/>
              </a:rPr>
              <a:t>or key words.</a:t>
            </a:r>
          </a:p>
          <a:p>
            <a:r>
              <a:rPr lang="en-US" sz="1200" b="1" i="0" u="none" strike="noStrike" kern="1200" baseline="0" dirty="0" smtClean="0">
                <a:solidFill>
                  <a:schemeClr val="tx1"/>
                </a:solidFill>
                <a:latin typeface="+mn-lt"/>
                <a:ea typeface="+mn-ea"/>
                <a:cs typeface="+mn-cs"/>
              </a:rPr>
              <a:t>Query By Example (QBE): </a:t>
            </a:r>
            <a:r>
              <a:rPr lang="en-US" sz="1200" b="0" i="0" u="none" strike="noStrike" kern="1200" baseline="0" dirty="0" smtClean="0">
                <a:solidFill>
                  <a:schemeClr val="tx1"/>
                </a:solidFill>
                <a:latin typeface="+mn-lt"/>
                <a:ea typeface="+mn-ea"/>
                <a:cs typeface="+mn-cs"/>
              </a:rPr>
              <a:t>the user fills out a grid or template—also known as a form—to construct a sample or a description of the data desired.</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43</a:t>
            </a:fld>
            <a:endParaRPr lang="en-US"/>
          </a:p>
        </p:txBody>
      </p:sp>
    </p:spTree>
    <p:extLst>
      <p:ext uri="{BB962C8B-B14F-4D97-AF65-F5344CB8AC3E}">
        <p14:creationId xmlns:p14="http://schemas.microsoft.com/office/powerpoint/2010/main" val="35185205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US" b="1" dirty="0" smtClean="0"/>
              <a:t>Entity–Relationship (ER) Modeling: </a:t>
            </a:r>
            <a:r>
              <a:rPr lang="en-US" dirty="0" smtClean="0"/>
              <a:t>A process by which designers plan and create databases using an entity–relationship diagram.</a:t>
            </a:r>
          </a:p>
          <a:p>
            <a:pPr marL="171450" indent="-171450">
              <a:buFont typeface="Arial" pitchFamily="34" charset="0"/>
              <a:buChar char="•"/>
            </a:pPr>
            <a:r>
              <a:rPr lang="en-US" b="1" dirty="0" smtClean="0"/>
              <a:t>ER Diagrams: </a:t>
            </a:r>
            <a:r>
              <a:rPr lang="en-US" dirty="0" smtClean="0"/>
              <a:t>consist of entities, attributes, and relationships. To properly identify entities, attributes, and relationships, database designers first identify the business rules for the particular data model.</a:t>
            </a:r>
          </a:p>
          <a:p>
            <a:pPr marL="171450" indent="-171450">
              <a:buFont typeface="Arial" pitchFamily="34" charset="0"/>
              <a:buChar char="•"/>
            </a:pPr>
            <a:r>
              <a:rPr lang="en-US" b="1" dirty="0" smtClean="0"/>
              <a:t>Business Rules: </a:t>
            </a:r>
            <a:r>
              <a:rPr lang="en-US" dirty="0" smtClean="0"/>
              <a:t>precise descriptions of policies, procedures, or principles in any organization that stores and uses data to generate information. Business rules are derived from a description of an organization’s operations, and help create and enforce business processes in that organization.</a:t>
            </a:r>
          </a:p>
          <a:p>
            <a:pPr marL="171450" indent="-171450">
              <a:buFont typeface="Arial" pitchFamily="34" charset="0"/>
              <a:buChar char="•"/>
            </a:pPr>
            <a:r>
              <a:rPr lang="en-US" b="1" dirty="0" smtClean="0"/>
              <a:t>Data Dictionary: </a:t>
            </a:r>
            <a:r>
              <a:rPr lang="en-US" dirty="0" smtClean="0"/>
              <a:t>provides information on each attribute, such as its name, if it is a key, part of a key, or a non-key attribute, the type of data expected (alphanumeric, numeric, dates, etc.), and valid values. Data dictionaries can also provide information on why the attribute is needed in the database; which business functions, applications, forms, and reports use the attribute; and how often the attribute should be updated.</a:t>
            </a:r>
          </a:p>
          <a:p>
            <a:pPr marL="171450" indent="-171450">
              <a:buFont typeface="Arial" pitchFamily="34" charset="0"/>
              <a:buChar char="•"/>
            </a:pPr>
            <a:r>
              <a:rPr lang="en-US" b="1" dirty="0" smtClean="0"/>
              <a:t>Relationships: </a:t>
            </a:r>
            <a:r>
              <a:rPr lang="en-US" dirty="0" smtClean="0"/>
              <a:t>illustrate an association between entities. </a:t>
            </a:r>
          </a:p>
          <a:p>
            <a:pPr marL="628650" lvl="1" indent="-171450">
              <a:buFont typeface="Arial" pitchFamily="34" charset="0"/>
              <a:buChar char="•"/>
            </a:pPr>
            <a:r>
              <a:rPr lang="en-US" b="1" dirty="0" smtClean="0"/>
              <a:t>Degree of a Relationship: </a:t>
            </a:r>
            <a:r>
              <a:rPr lang="en-US" dirty="0" smtClean="0"/>
              <a:t>indicates the number of entities associated with a relationship.</a:t>
            </a:r>
          </a:p>
          <a:p>
            <a:pPr marL="1085850" lvl="2" indent="-171450">
              <a:buFont typeface="Arial" pitchFamily="34" charset="0"/>
              <a:buChar char="•"/>
            </a:pPr>
            <a:r>
              <a:rPr lang="en-US" b="1" dirty="0" smtClean="0"/>
              <a:t>Unary Relationship: </a:t>
            </a:r>
            <a:r>
              <a:rPr lang="en-US" dirty="0" smtClean="0"/>
              <a:t>exists when an association is maintained within a single entity.</a:t>
            </a:r>
          </a:p>
          <a:p>
            <a:pPr marL="1085850" lvl="2" indent="-171450">
              <a:buFont typeface="Arial" pitchFamily="34" charset="0"/>
              <a:buChar char="•"/>
            </a:pPr>
            <a:r>
              <a:rPr lang="en-US" b="1" dirty="0" smtClean="0"/>
              <a:t>Binary Relationship: </a:t>
            </a:r>
            <a:r>
              <a:rPr lang="en-US" dirty="0" smtClean="0"/>
              <a:t>exists when two entities are associated.</a:t>
            </a:r>
          </a:p>
          <a:p>
            <a:pPr marL="1085850" lvl="2" indent="-171450">
              <a:buFont typeface="Arial" pitchFamily="34" charset="0"/>
              <a:buChar char="•"/>
            </a:pPr>
            <a:r>
              <a:rPr lang="en-US" b="1" dirty="0" smtClean="0"/>
              <a:t>Ternary Relationship: </a:t>
            </a:r>
            <a:r>
              <a:rPr lang="en-US" dirty="0" smtClean="0"/>
              <a:t>exists when three entities are associated.</a:t>
            </a:r>
          </a:p>
          <a:p>
            <a:pPr marL="171450" indent="-171450">
              <a:buFont typeface="Arial" pitchFamily="34" charset="0"/>
              <a:buChar char="•"/>
            </a:pPr>
            <a:r>
              <a:rPr lang="en-US" b="1" dirty="0" smtClean="0"/>
              <a:t>Cardinality: </a:t>
            </a:r>
            <a:r>
              <a:rPr lang="en-US" dirty="0" smtClean="0"/>
              <a:t>refers to the maximum number of times an instance of one entity can be associated with an instance in the related entity. Cardinality can be mandatory single, optional single, mandatory many, or optional many.</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44</a:t>
            </a:fld>
            <a:endParaRPr lang="en-US"/>
          </a:p>
        </p:txBody>
      </p:sp>
    </p:spTree>
    <p:extLst>
      <p:ext uri="{BB962C8B-B14F-4D97-AF65-F5344CB8AC3E}">
        <p14:creationId xmlns:p14="http://schemas.microsoft.com/office/powerpoint/2010/main" val="18481622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Normalization: </a:t>
            </a:r>
            <a:r>
              <a:rPr lang="en-US" dirty="0" smtClean="0"/>
              <a:t>is a method for analyzing and reducing a relational database to its most streamlined form to ensure minimum redundancy, maximum data integrity, and optimal processing performance.</a:t>
            </a:r>
          </a:p>
          <a:p>
            <a:r>
              <a:rPr lang="en-US" b="1" dirty="0" smtClean="0"/>
              <a:t>Functional Dependencies: </a:t>
            </a:r>
            <a:r>
              <a:rPr lang="en-US" dirty="0" smtClean="0"/>
              <a:t>a means of expressing that the value of one particular attribute is associated with a specific single value of another attribute. For example, for a Student Number 05345 at a university, there is exactly one Student Name, John C. Jones, associated with it. That is, Student Number is referred to as the determinant because its value determines the value of the other attribute. We can also say that Student Name is functionally dependent on Student Number.</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49</a:t>
            </a:fld>
            <a:endParaRPr lang="en-US"/>
          </a:p>
        </p:txBody>
      </p:sp>
    </p:spTree>
    <p:extLst>
      <p:ext uri="{BB962C8B-B14F-4D97-AF65-F5344CB8AC3E}">
        <p14:creationId xmlns:p14="http://schemas.microsoft.com/office/powerpoint/2010/main" val="26835254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Functional Dependencies: </a:t>
            </a:r>
            <a:r>
              <a:rPr lang="en-US" dirty="0" smtClean="0"/>
              <a:t>a means of expressing that the value of one particular attribute is associated with a specific single value of another attribute. For example, for a Student Number 05345 at a university, there is exactly one Student Name, John C. Jones, associated with it. That is, Student Number is referred to as the determinant because its value determines the value of the other attribute. We can also say that Student Name is functionally dependent on Student Number.</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50</a:t>
            </a:fld>
            <a:endParaRPr lang="en-US"/>
          </a:p>
        </p:txBody>
      </p:sp>
    </p:spTree>
    <p:extLst>
      <p:ext uri="{BB962C8B-B14F-4D97-AF65-F5344CB8AC3E}">
        <p14:creationId xmlns:p14="http://schemas.microsoft.com/office/powerpoint/2010/main" val="9195514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Functional Dependencies: </a:t>
            </a:r>
            <a:r>
              <a:rPr lang="en-US" dirty="0" smtClean="0"/>
              <a:t>a means of expressing that the value of one particular attribute is associated with a specific single value of another attribute. For example, for a Student Number 05345 at a university, there is exactly one Student Name, John C. Jones, associated with it. That is, Student Number is referred to as the determinant because its value determines the value of the other attribute. We can also say that Student Name is functionally dependent on Student Number.</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51</a:t>
            </a:fld>
            <a:endParaRPr lang="en-US"/>
          </a:p>
        </p:txBody>
      </p:sp>
    </p:spTree>
    <p:extLst>
      <p:ext uri="{BB962C8B-B14F-4D97-AF65-F5344CB8AC3E}">
        <p14:creationId xmlns:p14="http://schemas.microsoft.com/office/powerpoint/2010/main" val="28505795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Figure 5A.7 demonstrates the data in </a:t>
            </a:r>
            <a:r>
              <a:rPr lang="en-US" b="1" dirty="0" smtClean="0"/>
              <a:t>first normal form</a:t>
            </a:r>
            <a:r>
              <a:rPr lang="en-US" dirty="0" smtClean="0"/>
              <a:t>. The attributes under consideration are listed in one table and primary keys have been established. Our primary keys are Order Number, Customer ID, and Pizza Code. In </a:t>
            </a:r>
            <a:r>
              <a:rPr lang="en-US" b="1" dirty="0" smtClean="0"/>
              <a:t>first normal form</a:t>
            </a:r>
            <a:r>
              <a:rPr lang="en-US" dirty="0" smtClean="0"/>
              <a:t>, each ORDER has to repeat the order number, order date, customer first name, customer last name, customer address, and customer zip code. This data file contains repeating groups and describes multiple entities. That is, this relation has data redundancy, a lack of data integrity, and the flat file would be difficult to use in various applications that the pizza shop might need.</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52</a:t>
            </a:fld>
            <a:endParaRPr lang="en-US"/>
          </a:p>
        </p:txBody>
      </p:sp>
    </p:spTree>
    <p:extLst>
      <p:ext uri="{BB962C8B-B14F-4D97-AF65-F5344CB8AC3E}">
        <p14:creationId xmlns:p14="http://schemas.microsoft.com/office/powerpoint/2010/main" val="10973687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produce </a:t>
            </a:r>
            <a:r>
              <a:rPr lang="en-US" b="1" dirty="0" smtClean="0"/>
              <a:t>second normal form</a:t>
            </a:r>
            <a:r>
              <a:rPr lang="en-US" dirty="0" smtClean="0"/>
              <a:t>, we break Figure 5A.5 into smaller tables to eliminate some of its data redundancy. </a:t>
            </a:r>
            <a:r>
              <a:rPr lang="en-US" b="1" dirty="0" smtClean="0"/>
              <a:t>Second normal form </a:t>
            </a:r>
            <a:r>
              <a:rPr lang="en-US" dirty="0" smtClean="0"/>
              <a:t>does not allow </a:t>
            </a:r>
            <a:r>
              <a:rPr lang="en-US" b="1" i="1" u="none" dirty="0" smtClean="0"/>
              <a:t>partial functional dependencies</a:t>
            </a:r>
            <a:r>
              <a:rPr lang="en-US" dirty="0" smtClean="0"/>
              <a:t>. That is, in a table in </a:t>
            </a:r>
            <a:r>
              <a:rPr lang="en-US" b="1" dirty="0" smtClean="0"/>
              <a:t>second normal form</a:t>
            </a:r>
            <a:r>
              <a:rPr lang="en-US" dirty="0" smtClean="0"/>
              <a:t>, every non-key attribute must be functionally dependent on the entire </a:t>
            </a:r>
            <a:r>
              <a:rPr lang="en-US" b="1" i="1" dirty="0" smtClean="0"/>
              <a:t>primary key </a:t>
            </a:r>
            <a:r>
              <a:rPr lang="en-US" dirty="0" smtClean="0"/>
              <a:t>of that table. Figure 5A.8 shows the data from the pizza shop in second normal form.</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53</a:t>
            </a:fld>
            <a:endParaRPr lang="en-US"/>
          </a:p>
        </p:txBody>
      </p:sp>
    </p:spTree>
    <p:extLst>
      <p:ext uri="{BB962C8B-B14F-4D97-AF65-F5344CB8AC3E}">
        <p14:creationId xmlns:p14="http://schemas.microsoft.com/office/powerpoint/2010/main" val="16068056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a:t>
            </a:r>
            <a:r>
              <a:rPr lang="en-US" b="1" dirty="0" smtClean="0"/>
              <a:t>third normal form</a:t>
            </a:r>
            <a:r>
              <a:rPr lang="en-US" dirty="0" smtClean="0"/>
              <a:t>, non-key attributes are not allowed to define other non-key attributes. That is, </a:t>
            </a:r>
            <a:r>
              <a:rPr lang="en-US" b="1" dirty="0" smtClean="0"/>
              <a:t>third normal form </a:t>
            </a:r>
            <a:r>
              <a:rPr lang="en-US" dirty="0" smtClean="0"/>
              <a:t>does not allow </a:t>
            </a:r>
            <a:r>
              <a:rPr lang="en-US" b="1" i="1" dirty="0" smtClean="0"/>
              <a:t>transitive dependencies </a:t>
            </a:r>
            <a:r>
              <a:rPr lang="en-US" dirty="0" smtClean="0"/>
              <a:t>in which one non-key attribute is </a:t>
            </a:r>
            <a:r>
              <a:rPr lang="en-US" b="1" i="1" dirty="0" smtClean="0"/>
              <a:t>functionally dependent </a:t>
            </a:r>
            <a:r>
              <a:rPr lang="en-US" dirty="0" smtClean="0"/>
              <a:t>on another. In our example, customer information depends both on Customer ID and Order Number. Figure 5A.9 shows the data from the pizza shop in </a:t>
            </a:r>
            <a:r>
              <a:rPr lang="en-US" b="1" dirty="0" smtClean="0"/>
              <a:t>third normal form</a:t>
            </a:r>
            <a:r>
              <a:rPr lang="en-US" dirty="0" smtClean="0"/>
              <a:t>. </a:t>
            </a:r>
            <a:r>
              <a:rPr lang="en-US" b="1" dirty="0" smtClean="0"/>
              <a:t>Third normal form </a:t>
            </a:r>
            <a:r>
              <a:rPr lang="en-US" dirty="0" smtClean="0"/>
              <a:t>structure has these important points:</a:t>
            </a:r>
          </a:p>
          <a:p>
            <a:pPr marL="171450" indent="-171450">
              <a:buFont typeface="Arial" pitchFamily="34" charset="0"/>
              <a:buChar char="•"/>
            </a:pPr>
            <a:r>
              <a:rPr lang="en-US" i="1" dirty="0" smtClean="0"/>
              <a:t>It is completely free of data redundancy.</a:t>
            </a:r>
          </a:p>
          <a:p>
            <a:pPr marL="171450" indent="-171450">
              <a:buFont typeface="Arial" pitchFamily="34" charset="0"/>
              <a:buChar char="•"/>
            </a:pPr>
            <a:r>
              <a:rPr lang="en-US" i="1" dirty="0" smtClean="0"/>
              <a:t>All foreign keys appear where needed to link related tables.</a:t>
            </a:r>
            <a:endParaRPr lang="en-US" i="1" dirty="0"/>
          </a:p>
        </p:txBody>
      </p:sp>
      <p:sp>
        <p:nvSpPr>
          <p:cNvPr id="4" name="Slide Number Placeholder 3"/>
          <p:cNvSpPr>
            <a:spLocks noGrp="1"/>
          </p:cNvSpPr>
          <p:nvPr>
            <p:ph type="sldNum" sz="quarter" idx="10"/>
          </p:nvPr>
        </p:nvSpPr>
        <p:spPr/>
        <p:txBody>
          <a:bodyPr/>
          <a:lstStyle/>
          <a:p>
            <a:fld id="{2CF41C25-7A1F-47FB-B705-003A328B9163}" type="slidenum">
              <a:rPr lang="en-US" smtClean="0"/>
              <a:t>54</a:t>
            </a:fld>
            <a:endParaRPr lang="en-US"/>
          </a:p>
        </p:txBody>
      </p:sp>
    </p:spTree>
    <p:extLst>
      <p:ext uri="{BB962C8B-B14F-4D97-AF65-F5344CB8AC3E}">
        <p14:creationId xmlns:p14="http://schemas.microsoft.com/office/powerpoint/2010/main" val="25429683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t>
            </a:r>
            <a:r>
              <a:rPr lang="en-US" b="1" dirty="0" smtClean="0"/>
              <a:t>join operation </a:t>
            </a:r>
            <a:r>
              <a:rPr lang="en-US" dirty="0" smtClean="0"/>
              <a:t>combines records from two or more tables in a database to obtain information that is located in different tables. In our example, the </a:t>
            </a:r>
            <a:r>
              <a:rPr lang="en-US" b="1" dirty="0" smtClean="0"/>
              <a:t>join oper</a:t>
            </a:r>
            <a:r>
              <a:rPr lang="en-US" dirty="0" smtClean="0"/>
              <a:t>ation combines records from the four normalized tables to produce an ORDER. Here is how the join operation works:</a:t>
            </a:r>
          </a:p>
          <a:p>
            <a:endParaRPr lang="en-US" dirty="0" smtClean="0"/>
          </a:p>
          <a:p>
            <a:pPr marL="171450" indent="-171450">
              <a:buFont typeface="Arial" pitchFamily="34" charset="0"/>
              <a:buChar char="•"/>
            </a:pPr>
            <a:r>
              <a:rPr lang="en-US" dirty="0" smtClean="0"/>
              <a:t>The ORDER relation provides the Order Number (the primary key), Order Date, and Total Price.</a:t>
            </a:r>
          </a:p>
          <a:p>
            <a:pPr marL="171450" indent="-171450">
              <a:buFont typeface="Arial" pitchFamily="34" charset="0"/>
              <a:buChar char="•"/>
            </a:pPr>
            <a:r>
              <a:rPr lang="en-US" dirty="0" smtClean="0"/>
              <a:t>The primary key of the ORDER relation (Order Number) provides a link to the ORDER– PIZZA relation (the link numbered 1 in Figure 5A.5).</a:t>
            </a:r>
          </a:p>
          <a:p>
            <a:pPr marL="171450" indent="-171450">
              <a:buFont typeface="Arial" pitchFamily="34" charset="0"/>
              <a:buChar char="•"/>
            </a:pPr>
            <a:r>
              <a:rPr lang="en-US" dirty="0" smtClean="0"/>
              <a:t>The ORDER–PIZZA relation supplies the Quantity to ORDER.</a:t>
            </a:r>
          </a:p>
          <a:p>
            <a:pPr marL="171450" indent="-171450">
              <a:buFont typeface="Arial" pitchFamily="34" charset="0"/>
              <a:buChar char="•"/>
            </a:pPr>
            <a:r>
              <a:rPr lang="en-US" dirty="0" smtClean="0"/>
              <a:t>The primary key of the ORDER–PIZZA relation is a composite key that consists of Order Number and Pizza Code. Therefore, the Pizza Code component of the primary key provides a link to the PIZZA relation (the link numbered 2 in Figure 5A.10).</a:t>
            </a:r>
          </a:p>
          <a:p>
            <a:pPr marL="171450" indent="-171450">
              <a:buFont typeface="Arial" pitchFamily="34" charset="0"/>
              <a:buChar char="•"/>
            </a:pPr>
            <a:r>
              <a:rPr lang="en-US" dirty="0" smtClean="0"/>
              <a:t>The PIZZA relation supplies the Pizza Name and Price to ORDER.</a:t>
            </a:r>
          </a:p>
          <a:p>
            <a:pPr marL="171450" indent="-171450">
              <a:buFont typeface="Arial" pitchFamily="34" charset="0"/>
              <a:buChar char="•"/>
            </a:pPr>
            <a:r>
              <a:rPr lang="en-US" dirty="0" smtClean="0"/>
              <a:t>The Customer ID in ORDER (a foreign key) provides a link to the CUSTOMER relation (the link numbered 3 in Figure 5A.10).</a:t>
            </a:r>
          </a:p>
          <a:p>
            <a:pPr marL="171450" indent="-171450">
              <a:buFont typeface="Arial" pitchFamily="34" charset="0"/>
              <a:buChar char="•"/>
            </a:pPr>
            <a:r>
              <a:rPr lang="en-US" dirty="0" smtClean="0"/>
              <a:t>The CUSTOMER relation supplies the Customer </a:t>
            </a:r>
            <a:r>
              <a:rPr lang="en-US" dirty="0" err="1" smtClean="0"/>
              <a:t>FName</a:t>
            </a:r>
            <a:r>
              <a:rPr lang="en-US" dirty="0" smtClean="0"/>
              <a:t>, Customer </a:t>
            </a:r>
            <a:r>
              <a:rPr lang="en-US" dirty="0" err="1" smtClean="0"/>
              <a:t>LName</a:t>
            </a:r>
            <a:r>
              <a:rPr lang="en-US" dirty="0" smtClean="0"/>
              <a:t>, Customer Address, and Zip Code to ORDER.</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55</a:t>
            </a:fld>
            <a:endParaRPr lang="en-US"/>
          </a:p>
        </p:txBody>
      </p:sp>
    </p:spTree>
    <p:extLst>
      <p:ext uri="{BB962C8B-B14F-4D97-AF65-F5344CB8AC3E}">
        <p14:creationId xmlns:p14="http://schemas.microsoft.com/office/powerpoint/2010/main" val="15850384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Questions</a:t>
            </a:r>
          </a:p>
          <a:p>
            <a:pPr marL="228600" indent="-228600">
              <a:buFont typeface="+mj-lt"/>
              <a:buAutoNum type="arabicPeriod"/>
            </a:pPr>
            <a:r>
              <a:rPr lang="en-US" b="0" dirty="0" smtClean="0"/>
              <a:t>Do you feel that Flurry should be installed on your smartphone by various app makers without your consent? Why or why not? Support your answer.</a:t>
            </a:r>
          </a:p>
          <a:p>
            <a:pPr marL="228600" indent="-228600">
              <a:buFont typeface="+mj-lt"/>
              <a:buAutoNum type="arabicPeriod"/>
            </a:pPr>
            <a:r>
              <a:rPr lang="en-US" b="0" dirty="0" smtClean="0"/>
              <a:t>What problems would Flurry encounter if someone other than the smartphone’s owner uses the device? (Hint: Note how Flurry gathers data.)</a:t>
            </a:r>
          </a:p>
          <a:p>
            <a:pPr marL="228600" indent="-228600">
              <a:buFont typeface="+mj-lt"/>
              <a:buAutoNum type="arabicPeriod"/>
            </a:pPr>
            <a:r>
              <a:rPr lang="en-US" b="0" dirty="0" smtClean="0"/>
              <a:t>Can Flurry survive the privacy concerns that are being raised about its business model?</a:t>
            </a:r>
            <a:endParaRPr lang="en-US" b="0" dirty="0"/>
          </a:p>
        </p:txBody>
      </p:sp>
      <p:sp>
        <p:nvSpPr>
          <p:cNvPr id="4" name="Slide Number Placeholder 3"/>
          <p:cNvSpPr>
            <a:spLocks noGrp="1"/>
          </p:cNvSpPr>
          <p:nvPr>
            <p:ph type="sldNum" sz="quarter" idx="10"/>
          </p:nvPr>
        </p:nvSpPr>
        <p:spPr/>
        <p:txBody>
          <a:bodyPr/>
          <a:lstStyle/>
          <a:p>
            <a:fld id="{2CF41C25-7A1F-47FB-B705-003A328B9163}" type="slidenum">
              <a:rPr lang="en-US" smtClean="0"/>
              <a:t>56</a:t>
            </a:fld>
            <a:endParaRPr lang="en-US"/>
          </a:p>
        </p:txBody>
      </p:sp>
    </p:spTree>
    <p:extLst>
      <p:ext uri="{BB962C8B-B14F-4D97-AF65-F5344CB8AC3E}">
        <p14:creationId xmlns:p14="http://schemas.microsoft.com/office/powerpoint/2010/main" val="32483280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sp>
        <p:nvSpPr>
          <p:cNvPr id="11" name="Oval 10"/>
          <p:cNvSpPr/>
          <p:nvPr userDrawn="1"/>
        </p:nvSpPr>
        <p:spPr>
          <a:xfrm>
            <a:off x="5410200" y="1298787"/>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533400" y="3429000"/>
            <a:ext cx="8001000" cy="2819400"/>
          </a:xfrm>
        </p:spPr>
        <p:txBody>
          <a:bodyPr>
            <a:normAutofit/>
          </a:bodyPr>
          <a:lstStyle>
            <a:lvl1pPr marL="0" indent="0" algn="l">
              <a:spcBef>
                <a:spcPts val="600"/>
              </a:spcBef>
              <a:spcAft>
                <a:spcPts val="600"/>
              </a:spcAft>
              <a:buNone/>
              <a:defRPr sz="66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7" name="Rectangle 6"/>
          <p:cNvSpPr/>
          <p:nvPr userDrawn="1"/>
        </p:nvSpPr>
        <p:spPr>
          <a:xfrm>
            <a:off x="505326" y="457200"/>
            <a:ext cx="8153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400" y="1676400"/>
            <a:ext cx="4752474" cy="997374"/>
          </a:xfrm>
          <a:prstGeom prst="rect">
            <a:avLst/>
          </a:prstGeom>
        </p:spPr>
      </p:pic>
      <p:sp>
        <p:nvSpPr>
          <p:cNvPr id="13" name="Text Placeholder 12"/>
          <p:cNvSpPr>
            <a:spLocks noGrp="1"/>
          </p:cNvSpPr>
          <p:nvPr>
            <p:ph type="body" sz="quarter" idx="13" hasCustomPrompt="1"/>
          </p:nvPr>
        </p:nvSpPr>
        <p:spPr>
          <a:xfrm>
            <a:off x="5410200" y="1295400"/>
            <a:ext cx="1752600" cy="1752600"/>
          </a:xfrm>
        </p:spPr>
        <p:txBody>
          <a:bodyPr anchor="ctr" anchorCtr="0">
            <a:normAutofit/>
          </a:bodyPr>
          <a:lstStyle>
            <a:lvl1pPr marL="0" indent="0" algn="ctr">
              <a:buFontTx/>
              <a:buNone/>
              <a:defRPr sz="9600" b="1" i="0" baseline="0">
                <a:solidFill>
                  <a:schemeClr val="bg1"/>
                </a:solidFill>
                <a:effectLst>
                  <a:outerShdw blurRad="63500" sx="102000" sy="102000" algn="ctr" rotWithShape="0">
                    <a:prstClr val="black">
                      <a:alpha val="40000"/>
                    </a:prstClr>
                  </a:outerShdw>
                </a:effectLst>
                <a:latin typeface="Rockwell" pitchFamily="18" charset="0"/>
              </a:defRPr>
            </a:lvl1pPr>
          </a:lstStyle>
          <a:p>
            <a:pPr lvl="0"/>
            <a:r>
              <a:rPr lang="en-US" dirty="0" smtClean="0"/>
              <a:t>#</a:t>
            </a:r>
            <a:endParaRPr lang="en-US" dirty="0"/>
          </a:p>
        </p:txBody>
      </p:sp>
      <p:cxnSp>
        <p:nvCxnSpPr>
          <p:cNvPr id="16" name="Straight Connector 15"/>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0202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_Learning_Obj">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B5FD5D"/>
              </a:gs>
              <a:gs pos="77000">
                <a:srgbClr val="7CFF33"/>
              </a:gs>
              <a:gs pos="100000">
                <a:srgbClr val="69BE02"/>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accent3">
                  <a:lumMod val="75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83928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_Outline">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chemeClr val="tx2">
                  <a:lumMod val="20000"/>
                  <a:lumOff val="80000"/>
                </a:schemeClr>
              </a:gs>
              <a:gs pos="77000">
                <a:schemeClr val="tx2">
                  <a:lumMod val="40000"/>
                  <a:lumOff val="60000"/>
                </a:schemeClr>
              </a:gs>
              <a:gs pos="100000">
                <a:schemeClr val="tx2">
                  <a:lumMod val="60000"/>
                  <a:lumOff val="40000"/>
                </a:schemeClr>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tx2">
                  <a:lumMod val="60000"/>
                  <a:lumOff val="40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26086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_Web_Resources">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FEBB34"/>
              </a:gs>
              <a:gs pos="77000">
                <a:srgbClr val="FD9B0B"/>
              </a:gs>
              <a:gs pos="100000">
                <a:srgbClr val="F17901"/>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54134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h_WileyPLUS_Learning_Space">
    <p:spTree>
      <p:nvGrpSpPr>
        <p:cNvPr id="1" name=""/>
        <p:cNvGrpSpPr/>
        <p:nvPr/>
      </p:nvGrpSpPr>
      <p:grpSpPr>
        <a:xfrm>
          <a:off x="0" y="0"/>
          <a:ext cx="0" cy="0"/>
          <a:chOff x="0" y="0"/>
          <a:chExt cx="0" cy="0"/>
        </a:xfrm>
      </p:grpSpPr>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08561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pening Case">
    <p:spTree>
      <p:nvGrpSpPr>
        <p:cNvPr id="1" name=""/>
        <p:cNvGrpSpPr/>
        <p:nvPr/>
      </p:nvGrpSpPr>
      <p:grpSpPr>
        <a:xfrm>
          <a:off x="0" y="0"/>
          <a:ext cx="0" cy="0"/>
          <a:chOff x="0" y="0"/>
          <a:chExt cx="0" cy="0"/>
        </a:xfrm>
      </p:grpSpPr>
      <p:cxnSp>
        <p:nvCxnSpPr>
          <p:cNvPr id="8" name="Straight Connector 7"/>
          <p:cNvCxnSpPr/>
          <p:nvPr userDrawn="1"/>
        </p:nvCxnSpPr>
        <p:spPr>
          <a:xfrm>
            <a:off x="609600" y="6324600"/>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527482"/>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304800" y="533400"/>
            <a:ext cx="8534400" cy="1524000"/>
          </a:xfrm>
        </p:spPr>
        <p:txBody>
          <a:bodyPr/>
          <a:lstStyle>
            <a:lvl1pPr>
              <a:defRPr b="0" i="0" baseline="0">
                <a:effectLst>
                  <a:outerShdw blurRad="317500" dist="101600" dir="2700000" algn="tl" rotWithShape="0">
                    <a:schemeClr val="tx1">
                      <a:lumMod val="95000"/>
                      <a:lumOff val="5000"/>
                      <a:alpha val="65000"/>
                    </a:schemeClr>
                  </a:outerShdw>
                </a:effectLst>
                <a:latin typeface="Times New Roman" pitchFamily="18" charset="0"/>
              </a:defRPr>
            </a:lvl1pPr>
          </a:lstStyle>
          <a:p>
            <a:r>
              <a:rPr lang="en-US" dirty="0" smtClean="0"/>
              <a:t>Click to edit Opening Case title</a:t>
            </a:r>
            <a:endParaRPr lang="en-US" dirty="0"/>
          </a:p>
        </p:txBody>
      </p:sp>
      <p:sp>
        <p:nvSpPr>
          <p:cNvPr id="5" name="Slide Number Placeholder 4"/>
          <p:cNvSpPr>
            <a:spLocks noGrp="1"/>
          </p:cNvSpPr>
          <p:nvPr>
            <p:ph type="sldNum" sz="quarter" idx="12"/>
          </p:nvPr>
        </p:nvSpPr>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2286000"/>
            <a:ext cx="8229600" cy="3962400"/>
          </a:xfrm>
        </p:spPr>
        <p:txBody>
          <a:bodyPr/>
          <a:lstStyle>
            <a:lvl1pPr>
              <a:defRPr b="1" baseline="0">
                <a:latin typeface="Times New Roman" pitchFamily="18" charset="0"/>
              </a:defRPr>
            </a:lvl1pPr>
            <a:lvl2pPr>
              <a:defRPr baseline="0">
                <a:solidFill>
                  <a:schemeClr val="accent6">
                    <a:lumMod val="50000"/>
                  </a:schemeClr>
                </a:solidFill>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2" name="Straight Connector 11"/>
          <p:cNvCxnSpPr/>
          <p:nvPr userDrawn="1"/>
        </p:nvCxnSpPr>
        <p:spPr>
          <a:xfrm>
            <a:off x="914400" y="2209800"/>
            <a:ext cx="41148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6188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ts_about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rgbClr val="C00000"/>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5562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14" name="ClipArt Placeholder 13"/>
          <p:cNvSpPr>
            <a:spLocks noGrp="1"/>
          </p:cNvSpPr>
          <p:nvPr>
            <p:ph type="clipArt" sz="quarter" idx="14"/>
          </p:nvPr>
        </p:nvSpPr>
        <p:spPr>
          <a:xfrm>
            <a:off x="7315200" y="1143000"/>
            <a:ext cx="1219200" cy="1066800"/>
          </a:xfrm>
        </p:spPr>
        <p:txBody>
          <a:bodyPr/>
          <a:lstStyle/>
          <a:p>
            <a:endParaRPr lang="en-US" dirty="0"/>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213859488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ts_about_small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chemeClr val="accent1">
                  <a:lumMod val="40000"/>
                  <a:lumOff val="60000"/>
                </a:schemeClr>
              </a:gs>
              <a:gs pos="46000">
                <a:schemeClr val="accent1">
                  <a:lumMod val="92000"/>
                  <a:lumOff val="8000"/>
                </a:schemeClr>
              </a:gs>
              <a:gs pos="100000">
                <a:schemeClr val="accent1">
                  <a:lumMod val="50000"/>
                </a:schemeClr>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chemeClr val="accent1">
                    <a:lumMod val="7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6324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a:t>
            </a:r>
            <a:r>
              <a:rPr lang="en-US" sz="4800" baseline="0" dirty="0" smtClean="0">
                <a:solidFill>
                  <a:schemeClr val="accent1">
                    <a:lumMod val="75000"/>
                  </a:schemeClr>
                </a:solidFill>
                <a:effectLst>
                  <a:outerShdw blurRad="317500" dist="101600" dir="2700000" algn="tl" rotWithShape="0">
                    <a:prstClr val="black">
                      <a:alpha val="65000"/>
                    </a:prstClr>
                  </a:outerShdw>
                </a:effectLst>
                <a:latin typeface="Arial" pitchFamily="34" charset="0"/>
              </a:rPr>
              <a:t>[small] </a:t>
            </a:r>
            <a:r>
              <a:rPr lang="en-US" sz="4800" baseline="0" dirty="0" smtClean="0">
                <a:effectLst>
                  <a:outerShdw blurRad="317500" dist="101600" dir="2700000" algn="tl" rotWithShape="0">
                    <a:prstClr val="black">
                      <a:alpha val="65000"/>
                    </a:prstClr>
                  </a:outerShdw>
                </a:effectLst>
                <a:latin typeface="Arial" pitchFamily="34" charset="0"/>
              </a:rPr>
              <a:t>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196535836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ic Level2">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779232" y="762000"/>
            <a:ext cx="6831367" cy="1676400"/>
          </a:xfrm>
        </p:spPr>
        <p:txBody>
          <a:bodyPr>
            <a:normAutofit/>
          </a:bodyPr>
          <a:lstStyle>
            <a:lvl1pPr marL="0" indent="0" algn="l">
              <a:spcBef>
                <a:spcPts val="600"/>
              </a:spcBef>
              <a:spcAft>
                <a:spcPts val="600"/>
              </a:spcAft>
              <a:buNone/>
              <a:defRPr sz="48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userDrawn="1"/>
        </p:nvCxnSpPr>
        <p:spPr>
          <a:xfrm>
            <a:off x="0" y="527482"/>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4" hasCustomPrompt="1"/>
          </p:nvPr>
        </p:nvSpPr>
        <p:spPr>
          <a:xfrm>
            <a:off x="304800" y="457200"/>
            <a:ext cx="1752600" cy="1524000"/>
          </a:xfrm>
        </p:spPr>
        <p:txBody>
          <a:bodyPr>
            <a:noAutofit/>
          </a:bodyPr>
          <a:lstStyle>
            <a:lvl1pPr marL="0" indent="0">
              <a:buNone/>
              <a:defRPr sz="7200" baseline="0">
                <a:solidFill>
                  <a:schemeClr val="accent1">
                    <a:lumMod val="75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1752600" y="2438400"/>
            <a:ext cx="6858000" cy="3810000"/>
          </a:xfrm>
        </p:spPr>
        <p:txBody>
          <a:bodyPr/>
          <a:lstStyle>
            <a:lvl1pPr>
              <a:defRPr baseline="0">
                <a:solidFill>
                  <a:srgbClr val="69BE02"/>
                </a:solidFill>
                <a:latin typeface="Rockwell" pitchFamily="18" charset="0"/>
              </a:defRPr>
            </a:lvl1pPr>
            <a:lvl2pPr>
              <a:defRPr baseline="0">
                <a:solidFill>
                  <a:schemeClr val="tx1"/>
                </a:solidFill>
                <a:latin typeface="Times New Roman" pitchFamily="18" charset="0"/>
              </a:defRPr>
            </a:lvl2pPr>
            <a:lvl3pPr>
              <a:defRPr baseline="0">
                <a:solidFill>
                  <a:schemeClr val="tx1"/>
                </a:solidFill>
                <a:latin typeface="Times New Roman" pitchFamily="18" charset="0"/>
              </a:defRPr>
            </a:lvl3pPr>
            <a:lvl4pPr>
              <a:defRPr baseline="0">
                <a:solidFill>
                  <a:schemeClr val="tx1"/>
                </a:solidFill>
                <a:latin typeface="Times New Roman" pitchFamily="18" charset="0"/>
              </a:defRPr>
            </a:lvl4pPr>
            <a:lvl5pPr>
              <a:defRPr baseline="0">
                <a:solidFill>
                  <a:schemeClr val="tx1"/>
                </a:solidFill>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694564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Level3">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09600"/>
            <a:ext cx="8063871" cy="13716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20574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8153400" cy="40386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0459476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pic Level3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762000"/>
            <a:ext cx="8063871" cy="10668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8288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70460897"/>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vel3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139580638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ic Level4">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72864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ic Level5">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02170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opic Level4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447801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vel4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75282148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ic Level5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00918356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ic Level5_3 Column 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2590800" cy="609600"/>
          </a:xfrm>
        </p:spPr>
        <p:txBody>
          <a:bodyPr/>
          <a:lstStyle>
            <a:lvl1pPr marL="0" indent="0">
              <a:buNone/>
              <a:defRPr b="1" baseline="0">
                <a:latin typeface="Times New Roman" pitchFamily="18" charset="0"/>
              </a:defRPr>
            </a:lvl1pPr>
            <a:lvl2pPr>
              <a:defRPr b="1" baseline="0">
                <a:latin typeface="Times New Roman" pitchFamily="18" charset="0"/>
              </a:defRPr>
            </a:lvl2pPr>
            <a:lvl3pPr>
              <a:defRPr b="1" baseline="0">
                <a:latin typeface="Times New Roman" pitchFamily="18" charset="0"/>
              </a:defRPr>
            </a:lvl3pPr>
            <a:lvl4pPr>
              <a:defRPr b="1" baseline="0">
                <a:latin typeface="Times New Roman" pitchFamily="18" charset="0"/>
              </a:defRPr>
            </a:lvl4pPr>
            <a:lvl5pPr>
              <a:defRPr b="1" baseline="0">
                <a:latin typeface="Times New Roman" pitchFamily="18" charset="0"/>
              </a:defRPr>
            </a:lvl5pPr>
          </a:lstStyle>
          <a:p>
            <a:pPr lvl="0"/>
            <a:r>
              <a:rPr lang="en-US" dirty="0" smtClean="0"/>
              <a:t>Click to edit</a:t>
            </a:r>
            <a:endParaRPr lang="en-US" dirty="0"/>
          </a:p>
        </p:txBody>
      </p:sp>
      <p:sp>
        <p:nvSpPr>
          <p:cNvPr id="10" name="Content Placeholder 3"/>
          <p:cNvSpPr>
            <a:spLocks noGrp="1"/>
          </p:cNvSpPr>
          <p:nvPr>
            <p:ph sz="quarter" idx="16"/>
          </p:nvPr>
        </p:nvSpPr>
        <p:spPr>
          <a:xfrm>
            <a:off x="3276600"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a:t>
            </a:r>
            <a:endParaRPr lang="en-US" dirty="0"/>
          </a:p>
        </p:txBody>
      </p:sp>
      <p:sp>
        <p:nvSpPr>
          <p:cNvPr id="14" name="Content Placeholder 3"/>
          <p:cNvSpPr>
            <a:spLocks noGrp="1"/>
          </p:cNvSpPr>
          <p:nvPr>
            <p:ph sz="quarter" idx="17"/>
          </p:nvPr>
        </p:nvSpPr>
        <p:spPr>
          <a:xfrm>
            <a:off x="6029632"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a:t>
            </a:r>
            <a:endParaRPr lang="en-US" dirty="0"/>
          </a:p>
        </p:txBody>
      </p:sp>
      <p:sp>
        <p:nvSpPr>
          <p:cNvPr id="15" name="Content Placeholder 3"/>
          <p:cNvSpPr>
            <a:spLocks noGrp="1"/>
          </p:cNvSpPr>
          <p:nvPr>
            <p:ph sz="quarter" idx="18"/>
          </p:nvPr>
        </p:nvSpPr>
        <p:spPr>
          <a:xfrm>
            <a:off x="5334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3"/>
          <p:cNvSpPr>
            <a:spLocks noGrp="1"/>
          </p:cNvSpPr>
          <p:nvPr>
            <p:ph sz="quarter" idx="19"/>
          </p:nvPr>
        </p:nvSpPr>
        <p:spPr>
          <a:xfrm>
            <a:off x="32766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Content Placeholder 3"/>
          <p:cNvSpPr>
            <a:spLocks noGrp="1"/>
          </p:cNvSpPr>
          <p:nvPr>
            <p:ph sz="quarter" idx="20"/>
          </p:nvPr>
        </p:nvSpPr>
        <p:spPr>
          <a:xfrm>
            <a:off x="6029632"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96440903"/>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C692F6-6F2F-4CFD-A777-05649129AE6F}" type="datetimeFigureOut">
              <a:rPr lang="en-US" smtClean="0"/>
              <a:t>10/1/2015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227977588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6C692F6-6F2F-4CFD-A777-05649129AE6F}" type="datetimeFigureOut">
              <a:rPr lang="en-US" smtClean="0"/>
              <a:t>10/1/2015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3321283187"/>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6C692F6-6F2F-4CFD-A777-05649129AE6F}" type="datetimeFigureOut">
              <a:rPr lang="en-US" smtClean="0"/>
              <a:t>10/1/2015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1568323516"/>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full_slide_background">
    <p:spTree>
      <p:nvGrpSpPr>
        <p:cNvPr id="1" name=""/>
        <p:cNvGrpSpPr/>
        <p:nvPr/>
      </p:nvGrpSpPr>
      <p:grpSpPr>
        <a:xfrm>
          <a:off x="0" y="0"/>
          <a:ext cx="0" cy="0"/>
          <a:chOff x="0" y="0"/>
          <a:chExt cx="0" cy="0"/>
        </a:xfrm>
      </p:grpSpPr>
      <p:cxnSp>
        <p:nvCxnSpPr>
          <p:cNvPr id="2" name="Straight Connector 1"/>
          <p:cNvCxnSpPr/>
          <p:nvPr userDrawn="1"/>
        </p:nvCxnSpPr>
        <p:spPr>
          <a:xfrm>
            <a:off x="609600" y="6705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546728" y="609600"/>
            <a:ext cx="8063871" cy="685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4" name="Rectangle 3"/>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userDrawn="1"/>
        </p:nvCxnSpPr>
        <p:spPr>
          <a:xfrm>
            <a:off x="0" y="12954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7" name="Content Placeholder 3"/>
          <p:cNvSpPr>
            <a:spLocks noGrp="1"/>
          </p:cNvSpPr>
          <p:nvPr>
            <p:ph sz="quarter" idx="14"/>
          </p:nvPr>
        </p:nvSpPr>
        <p:spPr>
          <a:xfrm>
            <a:off x="533400" y="1447800"/>
            <a:ext cx="8153400" cy="51054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8645576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692F6-6F2F-4CFD-A777-05649129AE6F}" type="datetimeFigureOut">
              <a:rPr lang="en-US" smtClean="0"/>
              <a:t>10/1/2015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92DC9-9688-4E44-A90B-C333AD8FEA09}" type="slidenum">
              <a:rPr lang="en-US" smtClean="0"/>
              <a:t>‹#›</a:t>
            </a:fld>
            <a:endParaRPr lang="en-US"/>
          </a:p>
        </p:txBody>
      </p:sp>
    </p:spTree>
    <p:extLst>
      <p:ext uri="{BB962C8B-B14F-4D97-AF65-F5344CB8AC3E}">
        <p14:creationId xmlns:p14="http://schemas.microsoft.com/office/powerpoint/2010/main" val="2918641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75" r:id="rId5"/>
    <p:sldLayoutId id="2147483654" r:id="rId6"/>
    <p:sldLayoutId id="2147483662" r:id="rId7"/>
    <p:sldLayoutId id="2147483671" r:id="rId8"/>
    <p:sldLayoutId id="2147483663" r:id="rId9"/>
    <p:sldLayoutId id="2147483664" r:id="rId10"/>
    <p:sldLayoutId id="2147483665" r:id="rId11"/>
    <p:sldLayoutId id="2147483667" r:id="rId12"/>
    <p:sldLayoutId id="2147483668" r:id="rId13"/>
    <p:sldLayoutId id="2147483672" r:id="rId14"/>
    <p:sldLayoutId id="2147483669" r:id="rId15"/>
    <p:sldLayoutId id="2147483670" r:id="rId16"/>
    <p:sldLayoutId id="2147483673" r:id="rId17"/>
    <p:sldLayoutId id="2147483674" r:id="rId18"/>
    <p:sldLayoutId id="2147483651" r:id="rId19"/>
    <p:sldLayoutId id="2147483652" r:id="rId20"/>
    <p:sldLayoutId id="2147483653" r:id="rId21"/>
    <p:sldLayoutId id="2147483676" r:id="rId2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2.xml"/></Relationships>
</file>

<file path=ppt/slides/_rels/slide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2.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2.xml"/></Relationships>
</file>

<file path=ppt/slides/_rels/slide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22.xml"/></Relationships>
</file>

<file path=ppt/slides/_rels/slide5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22.xml"/></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22.xml"/></Relationships>
</file>

<file path=ppt/slides/_rels/slide5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2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Data and Knowledge Management</a:t>
            </a:r>
            <a:endParaRPr lang="en-US" dirty="0"/>
          </a:p>
        </p:txBody>
      </p:sp>
      <p:sp>
        <p:nvSpPr>
          <p:cNvPr id="3" name="Text Placeholder 2"/>
          <p:cNvSpPr>
            <a:spLocks noGrp="1"/>
          </p:cNvSpPr>
          <p:nvPr>
            <p:ph type="body" sz="quarter" idx="13"/>
          </p:nvPr>
        </p:nvSpPr>
        <p:spPr>
          <a:xfrm>
            <a:off x="5410200" y="1295400"/>
            <a:ext cx="1752600" cy="1752600"/>
          </a:xfrm>
        </p:spPr>
        <p:txBody>
          <a:bodyPr/>
          <a:lstStyle/>
          <a:p>
            <a:r>
              <a:rPr lang="en-US" dirty="0" smtClean="0"/>
              <a:t>5</a:t>
            </a:r>
            <a:endParaRPr lang="en-US" dirty="0"/>
          </a:p>
        </p:txBody>
      </p:sp>
    </p:spTree>
    <p:extLst>
      <p:ext uri="{BB962C8B-B14F-4D97-AF65-F5344CB8AC3E}">
        <p14:creationId xmlns:p14="http://schemas.microsoft.com/office/powerpoint/2010/main" val="37570257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dirty="0"/>
              <a:t>Discuss ways that common challenges in managing data can be addressed using data governance.</a:t>
            </a:r>
          </a:p>
          <a:p>
            <a:r>
              <a:rPr lang="en-US" dirty="0"/>
              <a:t>Discuss the advantages and disadvantages of relational databases.</a:t>
            </a:r>
          </a:p>
          <a:p>
            <a:r>
              <a:rPr lang="en-US" dirty="0"/>
              <a:t>Define Big Data, and discuss its basic characteristics.</a:t>
            </a:r>
          </a:p>
          <a:p>
            <a:r>
              <a:rPr lang="en-US" dirty="0"/>
              <a:t>Explain the elements necessary to successfully implement and maintain data warehouses.</a:t>
            </a:r>
          </a:p>
          <a:p>
            <a:r>
              <a:rPr lang="en-US" dirty="0"/>
              <a:t>Describe the benefits and challenges of implementing knowledge management systems in organizations.</a:t>
            </a:r>
          </a:p>
          <a:p>
            <a:r>
              <a:rPr lang="en-US" dirty="0"/>
              <a:t>Understand the processes of querying a relational database, entity-relationship modeling, and normalization and joins.</a:t>
            </a:r>
          </a:p>
        </p:txBody>
      </p:sp>
      <p:sp>
        <p:nvSpPr>
          <p:cNvPr id="4" name="Title 1"/>
          <p:cNvSpPr txBox="1">
            <a:spLocks/>
          </p:cNvSpPr>
          <p:nvPr/>
        </p:nvSpPr>
        <p:spPr>
          <a:xfrm>
            <a:off x="457200" y="533400"/>
            <a:ext cx="8229600" cy="1143000"/>
          </a:xfrm>
          <a:prstGeom prst="rect">
            <a:avLst/>
          </a:prstGeom>
        </p:spPr>
        <p:txBody>
          <a:bodyPr>
            <a:no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LEARNING OBJECTIVES]</a:t>
            </a:r>
            <a:endParaRPr lang="en-US" dirty="0"/>
          </a:p>
        </p:txBody>
      </p:sp>
    </p:spTree>
    <p:extLst>
      <p:ext uri="{BB962C8B-B14F-4D97-AF65-F5344CB8AC3E}">
        <p14:creationId xmlns:p14="http://schemas.microsoft.com/office/powerpoint/2010/main" val="42273789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Managing Data</a:t>
            </a:r>
          </a:p>
          <a:p>
            <a:r>
              <a:rPr lang="en-US" dirty="0" smtClean="0"/>
              <a:t>The </a:t>
            </a:r>
            <a:r>
              <a:rPr lang="en-US" dirty="0"/>
              <a:t>Database </a:t>
            </a:r>
            <a:r>
              <a:rPr lang="en-US" dirty="0" smtClean="0"/>
              <a:t>Approach</a:t>
            </a:r>
          </a:p>
          <a:p>
            <a:r>
              <a:rPr lang="en-US" dirty="0"/>
              <a:t>Big </a:t>
            </a:r>
            <a:r>
              <a:rPr lang="en-US" dirty="0" smtClean="0"/>
              <a:t>Data</a:t>
            </a:r>
          </a:p>
          <a:p>
            <a:r>
              <a:rPr lang="en-US" dirty="0"/>
              <a:t>Data Warehouses and Data </a:t>
            </a:r>
            <a:r>
              <a:rPr lang="en-US" dirty="0" smtClean="0"/>
              <a:t>Marts</a:t>
            </a:r>
            <a:endParaRPr lang="en-US" dirty="0"/>
          </a:p>
          <a:p>
            <a:r>
              <a:rPr lang="en-US" dirty="0" smtClean="0"/>
              <a:t>Knowledge Management</a:t>
            </a:r>
          </a:p>
          <a:p>
            <a:r>
              <a:rPr lang="en-US" dirty="0" smtClean="0"/>
              <a:t>Appendix: Fundamentals of Relational Database Operations</a:t>
            </a:r>
            <a:endParaRPr lang="en-US" dirty="0"/>
          </a:p>
        </p:txBody>
      </p:sp>
      <p:sp>
        <p:nvSpPr>
          <p:cNvPr id="4" name="Title 1"/>
          <p:cNvSpPr txBox="1">
            <a:spLocks/>
          </p:cNvSpPr>
          <p:nvPr/>
        </p:nvSpPr>
        <p:spPr>
          <a:xfrm>
            <a:off x="457200" y="533400"/>
            <a:ext cx="8229600" cy="1143000"/>
          </a:xfrm>
          <a:prstGeom prst="rect">
            <a:avLst/>
          </a:prstGeom>
        </p:spPr>
        <p:txBody>
          <a:bodyPr>
            <a:norm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CHAPTER OUTLINE ]</a:t>
            </a:r>
            <a:endParaRPr lang="en-US" dirty="0"/>
          </a:p>
        </p:txBody>
      </p:sp>
    </p:spTree>
    <p:extLst>
      <p:ext uri="{BB962C8B-B14F-4D97-AF65-F5344CB8AC3E}">
        <p14:creationId xmlns:p14="http://schemas.microsoft.com/office/powerpoint/2010/main" val="18765037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r>
              <a:rPr lang="en-US" dirty="0"/>
              <a:t>Student PowerPoints for note taking</a:t>
            </a:r>
          </a:p>
          <a:p>
            <a:r>
              <a:rPr lang="en-US" b="1" dirty="0" err="1" smtClean="0">
                <a:solidFill>
                  <a:srgbClr val="FD9B0B"/>
                </a:solidFill>
                <a:latin typeface="Tahoma" panose="020B0604030504040204" pitchFamily="34" charset="0"/>
                <a:ea typeface="Tahoma" panose="020B0604030504040204" pitchFamily="34" charset="0"/>
                <a:cs typeface="Tahoma" panose="020B0604030504040204" pitchFamily="34" charset="0"/>
              </a:rPr>
              <a:t>WileyPLUS</a:t>
            </a:r>
            <a:r>
              <a:rPr lang="en-US" b="1" dirty="0" smtClean="0">
                <a:solidFill>
                  <a:srgbClr val="FD9B0B"/>
                </a:solidFill>
                <a:latin typeface="Tahoma" panose="020B0604030504040204" pitchFamily="34" charset="0"/>
                <a:ea typeface="Tahoma" panose="020B0604030504040204" pitchFamily="34" charset="0"/>
                <a:cs typeface="Tahoma" panose="020B0604030504040204" pitchFamily="34" charset="0"/>
              </a:rPr>
              <a:t> Learning Space</a:t>
            </a:r>
          </a:p>
          <a:p>
            <a:pPr lvl="1"/>
            <a:r>
              <a:rPr lang="en-US" dirty="0"/>
              <a:t>E-Book</a:t>
            </a:r>
          </a:p>
          <a:p>
            <a:pPr lvl="1"/>
            <a:r>
              <a:rPr lang="en-US" dirty="0"/>
              <a:t>Author video lecture for each chapter section</a:t>
            </a:r>
          </a:p>
          <a:p>
            <a:pPr lvl="1"/>
            <a:r>
              <a:rPr lang="en-US" dirty="0"/>
              <a:t>Practice quizzes</a:t>
            </a:r>
          </a:p>
          <a:p>
            <a:pPr lvl="1"/>
            <a:r>
              <a:rPr lang="en-US" dirty="0"/>
              <a:t>Flash Cards for vocabulary review</a:t>
            </a:r>
          </a:p>
          <a:p>
            <a:pPr lvl="1"/>
            <a:r>
              <a:rPr lang="en-US" dirty="0"/>
              <a:t>Additional “What’s in IT for Me?” cases</a:t>
            </a:r>
          </a:p>
          <a:p>
            <a:pPr lvl="1"/>
            <a:r>
              <a:rPr lang="en-US" dirty="0"/>
              <a:t>Video interviews with managers</a:t>
            </a:r>
          </a:p>
          <a:p>
            <a:pPr lvl="1"/>
            <a:r>
              <a:rPr lang="en-US" dirty="0"/>
              <a:t>Lab Manuals - Microsoft Office 2010 &amp; </a:t>
            </a:r>
            <a:r>
              <a:rPr lang="en-US" dirty="0" smtClean="0"/>
              <a:t>2013</a:t>
            </a:r>
            <a:endParaRPr lang="en-US" dirty="0"/>
          </a:p>
        </p:txBody>
      </p:sp>
      <p:sp>
        <p:nvSpPr>
          <p:cNvPr id="6" name="Title 1"/>
          <p:cNvSpPr>
            <a:spLocks noGrp="1"/>
          </p:cNvSpPr>
          <p:nvPr>
            <p:ph type="title" idx="4294967295"/>
          </p:nvPr>
        </p:nvSpPr>
        <p:spPr>
          <a:xfrm>
            <a:off x="457200" y="350838"/>
            <a:ext cx="8229600" cy="1143000"/>
          </a:xfrm>
        </p:spPr>
        <p:txBody>
          <a:bodyPr>
            <a:normAutofit/>
          </a:bodyPr>
          <a:lstStyle>
            <a:lvl1pPr>
              <a:defRPr sz="5000" baseline="0">
                <a:latin typeface="Times New Roman" pitchFamily="18" charset="0"/>
              </a:defRPr>
            </a:lvl1pPr>
          </a:lstStyle>
          <a:p>
            <a:r>
              <a:rPr lang="en-US" dirty="0" smtClean="0"/>
              <a:t>[ WEB RESOURCES]</a:t>
            </a:r>
            <a:endParaRPr lang="en-US" dirty="0"/>
          </a:p>
        </p:txBody>
      </p:sp>
    </p:spTree>
    <p:extLst>
      <p:ext uri="{BB962C8B-B14F-4D97-AF65-F5344CB8AC3E}">
        <p14:creationId xmlns:p14="http://schemas.microsoft.com/office/powerpoint/2010/main" val="3027126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dirty="0">
                <a:solidFill>
                  <a:schemeClr val="accent6">
                    <a:lumMod val="50000"/>
                  </a:schemeClr>
                </a:solidFill>
              </a:rPr>
              <a:t>[ </a:t>
            </a:r>
            <a:r>
              <a:rPr lang="en-US" dirty="0">
                <a:solidFill>
                  <a:schemeClr val="accent1">
                    <a:lumMod val="75000"/>
                  </a:schemeClr>
                </a:solidFill>
              </a:rPr>
              <a:t>Opening Case </a:t>
            </a:r>
            <a:r>
              <a:rPr lang="en-US" dirty="0" smtClean="0"/>
              <a:t>Database Save the State of Washington Medicaid Dollars</a:t>
            </a:r>
            <a:r>
              <a:rPr lang="en-US" sz="5300" dirty="0" smtClean="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a:bodyPr>
          <a:lstStyle/>
          <a:p>
            <a:r>
              <a:rPr lang="en-US" dirty="0"/>
              <a:t>The </a:t>
            </a:r>
            <a:r>
              <a:rPr lang="en-US" dirty="0">
                <a:solidFill>
                  <a:schemeClr val="tx1">
                    <a:lumMod val="65000"/>
                    <a:lumOff val="35000"/>
                  </a:schemeClr>
                </a:solidFill>
              </a:rPr>
              <a:t>Problem</a:t>
            </a:r>
          </a:p>
          <a:p>
            <a:r>
              <a:rPr lang="en-US" dirty="0" smtClean="0"/>
              <a:t>The </a:t>
            </a:r>
            <a:r>
              <a:rPr lang="en-US" dirty="0">
                <a:solidFill>
                  <a:schemeClr val="tx1">
                    <a:lumMod val="65000"/>
                    <a:lumOff val="35000"/>
                  </a:schemeClr>
                </a:solidFill>
              </a:rPr>
              <a:t>Results</a:t>
            </a:r>
          </a:p>
          <a:p>
            <a:r>
              <a:rPr lang="en-US" dirty="0"/>
              <a:t>What We </a:t>
            </a:r>
            <a:r>
              <a:rPr lang="en-US" dirty="0">
                <a:solidFill>
                  <a:schemeClr val="tx1">
                    <a:lumMod val="65000"/>
                    <a:lumOff val="35000"/>
                  </a:schemeClr>
                </a:solidFill>
              </a:rPr>
              <a:t>Learned</a:t>
            </a:r>
            <a:r>
              <a:rPr lang="en-US" dirty="0"/>
              <a:t> From This Case</a:t>
            </a:r>
          </a:p>
          <a:p>
            <a:endParaRPr lang="en-US" dirty="0"/>
          </a:p>
        </p:txBody>
      </p:sp>
    </p:spTree>
    <p:extLst>
      <p:ext uri="{BB962C8B-B14F-4D97-AF65-F5344CB8AC3E}">
        <p14:creationId xmlns:p14="http://schemas.microsoft.com/office/powerpoint/2010/main" val="40223892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Managing Data</a:t>
            </a:r>
            <a:endParaRPr lang="en-US" dirty="0"/>
          </a:p>
        </p:txBody>
      </p:sp>
      <p:sp>
        <p:nvSpPr>
          <p:cNvPr id="3" name="Text Placeholder 2"/>
          <p:cNvSpPr>
            <a:spLocks noGrp="1"/>
          </p:cNvSpPr>
          <p:nvPr>
            <p:ph type="body" sz="quarter" idx="14"/>
          </p:nvPr>
        </p:nvSpPr>
        <p:spPr/>
        <p:txBody>
          <a:bodyPr/>
          <a:lstStyle/>
          <a:p>
            <a:r>
              <a:rPr lang="en-US" dirty="0" smtClean="0"/>
              <a:t>5.1</a:t>
            </a:r>
            <a:endParaRPr lang="en-US" dirty="0"/>
          </a:p>
        </p:txBody>
      </p:sp>
      <p:sp>
        <p:nvSpPr>
          <p:cNvPr id="4" name="Content Placeholder 3"/>
          <p:cNvSpPr>
            <a:spLocks noGrp="1"/>
          </p:cNvSpPr>
          <p:nvPr>
            <p:ph sz="quarter" idx="15"/>
          </p:nvPr>
        </p:nvSpPr>
        <p:spPr/>
        <p:txBody>
          <a:bodyPr/>
          <a:lstStyle/>
          <a:p>
            <a:r>
              <a:rPr lang="en-US" dirty="0" smtClean="0"/>
              <a:t>The Difficulties of Managing Data</a:t>
            </a:r>
          </a:p>
          <a:p>
            <a:r>
              <a:rPr lang="en-US" dirty="0" smtClean="0"/>
              <a:t>Data Governance</a:t>
            </a:r>
          </a:p>
          <a:p>
            <a:endParaRPr lang="en-US" dirty="0" smtClean="0"/>
          </a:p>
          <a:p>
            <a:endParaRPr lang="en-US" dirty="0"/>
          </a:p>
        </p:txBody>
      </p:sp>
    </p:spTree>
    <p:extLst>
      <p:ext uri="{BB962C8B-B14F-4D97-AF65-F5344CB8AC3E}">
        <p14:creationId xmlns:p14="http://schemas.microsoft.com/office/powerpoint/2010/main" val="47302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smtClean="0"/>
              <a:t>Difficulties in Managing Data</a:t>
            </a:r>
            <a:endParaRPr lang="en-US" dirty="0"/>
          </a:p>
        </p:txBody>
      </p:sp>
      <p:sp>
        <p:nvSpPr>
          <p:cNvPr id="3" name="Content Placeholder 2"/>
          <p:cNvSpPr>
            <a:spLocks noGrp="1"/>
          </p:cNvSpPr>
          <p:nvPr>
            <p:ph sz="quarter" idx="14"/>
          </p:nvPr>
        </p:nvSpPr>
        <p:spPr/>
        <p:txBody>
          <a:bodyPr>
            <a:normAutofit/>
          </a:bodyPr>
          <a:lstStyle/>
          <a:p>
            <a:r>
              <a:rPr lang="en-US" dirty="0"/>
              <a:t>D</a:t>
            </a:r>
            <a:r>
              <a:rPr lang="en-US" dirty="0" smtClean="0"/>
              <a:t>ata increases exponentially with time</a:t>
            </a:r>
          </a:p>
          <a:p>
            <a:r>
              <a:rPr lang="en-US" dirty="0" smtClean="0"/>
              <a:t>Multiple sources of data</a:t>
            </a:r>
          </a:p>
          <a:p>
            <a:r>
              <a:rPr lang="en-US" dirty="0" smtClean="0"/>
              <a:t>Data rot, or data degradation</a:t>
            </a:r>
          </a:p>
          <a:p>
            <a:r>
              <a:rPr lang="en-US" dirty="0" smtClean="0"/>
              <a:t>Data security, quality, and integrity</a:t>
            </a:r>
          </a:p>
          <a:p>
            <a:r>
              <a:rPr lang="en-US" dirty="0" smtClean="0"/>
              <a:t>Government Regulation</a:t>
            </a:r>
          </a:p>
          <a:p>
            <a:endParaRPr lang="en-US" dirty="0" smtClean="0"/>
          </a:p>
          <a:p>
            <a:endParaRPr lang="en-US" dirty="0" smtClean="0"/>
          </a:p>
          <a:p>
            <a:endParaRPr lang="en-US" dirty="0"/>
          </a:p>
        </p:txBody>
      </p:sp>
    </p:spTree>
    <p:extLst>
      <p:ext uri="{BB962C8B-B14F-4D97-AF65-F5344CB8AC3E}">
        <p14:creationId xmlns:p14="http://schemas.microsoft.com/office/powerpoint/2010/main" val="2921528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Multiple Sources of Data</a:t>
            </a:r>
            <a:endParaRPr lang="en-US" dirty="0"/>
          </a:p>
        </p:txBody>
      </p:sp>
      <p:sp>
        <p:nvSpPr>
          <p:cNvPr id="3" name="Text Placeholder 2"/>
          <p:cNvSpPr>
            <a:spLocks noGrp="1"/>
          </p:cNvSpPr>
          <p:nvPr>
            <p:ph type="body" sz="quarter" idx="13"/>
          </p:nvPr>
        </p:nvSpPr>
        <p:spPr/>
        <p:txBody>
          <a:bodyPr/>
          <a:lstStyle/>
          <a:p>
            <a:r>
              <a:rPr lang="en-US" dirty="0" smtClean="0"/>
              <a:t>Internal Sources</a:t>
            </a:r>
          </a:p>
          <a:p>
            <a:pPr lvl="1"/>
            <a:r>
              <a:rPr lang="en-US" dirty="0" smtClean="0"/>
              <a:t>Corporate databases, company documents</a:t>
            </a:r>
          </a:p>
          <a:p>
            <a:r>
              <a:rPr lang="en-US" dirty="0" smtClean="0"/>
              <a:t>Personal Sources</a:t>
            </a:r>
          </a:p>
          <a:p>
            <a:pPr lvl="1"/>
            <a:r>
              <a:rPr lang="en-US" dirty="0" smtClean="0"/>
              <a:t>Personal thoughts, opinions, experiences</a:t>
            </a:r>
          </a:p>
          <a:p>
            <a:r>
              <a:rPr lang="en-US" dirty="0" smtClean="0"/>
              <a:t>External Sources</a:t>
            </a:r>
          </a:p>
          <a:p>
            <a:pPr lvl="1"/>
            <a:r>
              <a:rPr lang="en-US" dirty="0" smtClean="0"/>
              <a:t>Commercial databases, government reports,</a:t>
            </a:r>
            <a:r>
              <a:rPr lang="en-US" dirty="0"/>
              <a:t> </a:t>
            </a:r>
            <a:r>
              <a:rPr lang="en-US" dirty="0" smtClean="0"/>
              <a:t>and corporate Web sites.</a:t>
            </a:r>
          </a:p>
        </p:txBody>
      </p:sp>
    </p:spTree>
    <p:extLst>
      <p:ext uri="{BB962C8B-B14F-4D97-AF65-F5344CB8AC3E}">
        <p14:creationId xmlns:p14="http://schemas.microsoft.com/office/powerpoint/2010/main" val="2841036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Data Governance</a:t>
            </a:r>
            <a:endParaRPr lang="en-US" dirty="0"/>
          </a:p>
        </p:txBody>
      </p:sp>
      <p:sp>
        <p:nvSpPr>
          <p:cNvPr id="3" name="Content Placeholder 2"/>
          <p:cNvSpPr>
            <a:spLocks noGrp="1"/>
          </p:cNvSpPr>
          <p:nvPr>
            <p:ph sz="quarter" idx="14"/>
          </p:nvPr>
        </p:nvSpPr>
        <p:spPr/>
        <p:txBody>
          <a:bodyPr/>
          <a:lstStyle/>
          <a:p>
            <a:r>
              <a:rPr lang="en-US" dirty="0" smtClean="0"/>
              <a:t>An approach to managing information across an entire organization.</a:t>
            </a:r>
          </a:p>
          <a:p>
            <a:r>
              <a:rPr lang="en-US" dirty="0" smtClean="0"/>
              <a:t>Master Data</a:t>
            </a:r>
          </a:p>
          <a:p>
            <a:r>
              <a:rPr lang="en-US" dirty="0" smtClean="0"/>
              <a:t>Master Data Management</a:t>
            </a:r>
          </a:p>
        </p:txBody>
      </p:sp>
    </p:spTree>
    <p:extLst>
      <p:ext uri="{BB962C8B-B14F-4D97-AF65-F5344CB8AC3E}">
        <p14:creationId xmlns:p14="http://schemas.microsoft.com/office/powerpoint/2010/main" val="1559289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The Database Approach</a:t>
            </a:r>
            <a:endParaRPr lang="en-US" dirty="0"/>
          </a:p>
        </p:txBody>
      </p:sp>
      <p:sp>
        <p:nvSpPr>
          <p:cNvPr id="3" name="Text Placeholder 2"/>
          <p:cNvSpPr>
            <a:spLocks noGrp="1"/>
          </p:cNvSpPr>
          <p:nvPr>
            <p:ph type="body" sz="quarter" idx="14"/>
          </p:nvPr>
        </p:nvSpPr>
        <p:spPr/>
        <p:txBody>
          <a:bodyPr/>
          <a:lstStyle/>
          <a:p>
            <a:r>
              <a:rPr lang="en-US" dirty="0" smtClean="0"/>
              <a:t>5.2</a:t>
            </a:r>
            <a:endParaRPr lang="en-US" dirty="0"/>
          </a:p>
        </p:txBody>
      </p:sp>
      <p:sp>
        <p:nvSpPr>
          <p:cNvPr id="4" name="Content Placeholder 3"/>
          <p:cNvSpPr>
            <a:spLocks noGrp="1"/>
          </p:cNvSpPr>
          <p:nvPr>
            <p:ph sz="quarter" idx="15"/>
          </p:nvPr>
        </p:nvSpPr>
        <p:spPr/>
        <p:txBody>
          <a:bodyPr/>
          <a:lstStyle/>
          <a:p>
            <a:r>
              <a:rPr lang="en-US" dirty="0" smtClean="0"/>
              <a:t>The Data Hierarchy</a:t>
            </a:r>
          </a:p>
          <a:p>
            <a:r>
              <a:rPr lang="en-US" dirty="0" smtClean="0"/>
              <a:t>The Relational Database Model</a:t>
            </a:r>
          </a:p>
          <a:p>
            <a:endParaRPr lang="en-US" dirty="0"/>
          </a:p>
        </p:txBody>
      </p:sp>
    </p:spTree>
    <p:extLst>
      <p:ext uri="{BB962C8B-B14F-4D97-AF65-F5344CB8AC3E}">
        <p14:creationId xmlns:p14="http://schemas.microsoft.com/office/powerpoint/2010/main" val="2677487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85000" lnSpcReduction="10000"/>
          </a:bodyPr>
          <a:lstStyle/>
          <a:p>
            <a:r>
              <a:rPr lang="en-US" dirty="0" smtClean="0"/>
              <a:t>Database Management Systems Minimize Three Main Problems</a:t>
            </a:r>
            <a:endParaRPr lang="en-US" dirty="0"/>
          </a:p>
        </p:txBody>
      </p:sp>
      <p:sp>
        <p:nvSpPr>
          <p:cNvPr id="4" name="Content Placeholder 3"/>
          <p:cNvSpPr>
            <a:spLocks noGrp="1"/>
          </p:cNvSpPr>
          <p:nvPr>
            <p:ph type="body" sz="quarter" idx="13"/>
          </p:nvPr>
        </p:nvSpPr>
        <p:spPr/>
        <p:txBody>
          <a:bodyPr/>
          <a:lstStyle/>
          <a:p>
            <a:pPr marL="0" indent="0">
              <a:buNone/>
            </a:pPr>
            <a:endParaRPr lang="en-US" dirty="0" smtClean="0"/>
          </a:p>
          <a:p>
            <a:r>
              <a:rPr lang="en-US" dirty="0" smtClean="0"/>
              <a:t>Data Redundancy</a:t>
            </a:r>
          </a:p>
          <a:p>
            <a:r>
              <a:rPr lang="en-US" dirty="0" smtClean="0"/>
              <a:t>Data Isolation</a:t>
            </a:r>
          </a:p>
          <a:p>
            <a:r>
              <a:rPr lang="en-US" dirty="0" smtClean="0"/>
              <a:t>Data Inconsistency</a:t>
            </a:r>
            <a:endParaRPr lang="en-US" dirty="0"/>
          </a:p>
        </p:txBody>
      </p:sp>
    </p:spTree>
    <p:extLst>
      <p:ext uri="{BB962C8B-B14F-4D97-AF65-F5344CB8AC3E}">
        <p14:creationId xmlns:p14="http://schemas.microsoft.com/office/powerpoint/2010/main" val="526231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85000" lnSpcReduction="10000"/>
          </a:bodyPr>
          <a:lstStyle/>
          <a:p>
            <a:r>
              <a:rPr lang="en-US" dirty="0"/>
              <a:t>Database Management Systems </a:t>
            </a:r>
            <a:r>
              <a:rPr lang="en-US" dirty="0" smtClean="0"/>
              <a:t>Maximize </a:t>
            </a:r>
            <a:r>
              <a:rPr lang="en-US" dirty="0"/>
              <a:t>Three </a:t>
            </a:r>
            <a:r>
              <a:rPr lang="en-US" dirty="0" smtClean="0"/>
              <a:t>Things</a:t>
            </a:r>
            <a:endParaRPr lang="en-US" dirty="0"/>
          </a:p>
        </p:txBody>
      </p:sp>
      <p:sp>
        <p:nvSpPr>
          <p:cNvPr id="4" name="Content Placeholder 3"/>
          <p:cNvSpPr>
            <a:spLocks noGrp="1"/>
          </p:cNvSpPr>
          <p:nvPr>
            <p:ph type="body" sz="quarter" idx="13"/>
          </p:nvPr>
        </p:nvSpPr>
        <p:spPr/>
        <p:txBody>
          <a:bodyPr/>
          <a:lstStyle/>
          <a:p>
            <a:pPr marL="0" indent="0">
              <a:buNone/>
            </a:pPr>
            <a:endParaRPr lang="en-US" dirty="0" smtClean="0"/>
          </a:p>
          <a:p>
            <a:r>
              <a:rPr lang="en-US" dirty="0" smtClean="0"/>
              <a:t>Data Security</a:t>
            </a:r>
          </a:p>
          <a:p>
            <a:r>
              <a:rPr lang="en-US" dirty="0" smtClean="0"/>
              <a:t>Data Integrity</a:t>
            </a:r>
          </a:p>
          <a:p>
            <a:r>
              <a:rPr lang="en-US" dirty="0" smtClean="0"/>
              <a:t>Data Independence</a:t>
            </a:r>
            <a:endParaRPr lang="en-US" dirty="0"/>
          </a:p>
        </p:txBody>
      </p:sp>
    </p:spTree>
    <p:extLst>
      <p:ext uri="{BB962C8B-B14F-4D97-AF65-F5344CB8AC3E}">
        <p14:creationId xmlns:p14="http://schemas.microsoft.com/office/powerpoint/2010/main" val="1619325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Google’s Knowledge Graph</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normAutofit/>
          </a:bodyPr>
          <a:lstStyle/>
          <a:p>
            <a:r>
              <a:rPr lang="en-US" dirty="0" smtClean="0"/>
              <a:t>5.1</a:t>
            </a:r>
            <a:endParaRPr lang="en-US" dirty="0"/>
          </a:p>
        </p:txBody>
      </p:sp>
    </p:spTree>
    <p:extLst>
      <p:ext uri="{BB962C8B-B14F-4D97-AF65-F5344CB8AC3E}">
        <p14:creationId xmlns:p14="http://schemas.microsoft.com/office/powerpoint/2010/main" val="238390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Data Hierarchy</a:t>
            </a:r>
            <a:endParaRPr lang="en-US" dirty="0"/>
          </a:p>
        </p:txBody>
      </p:sp>
      <p:sp>
        <p:nvSpPr>
          <p:cNvPr id="3" name="Content Placeholder 2"/>
          <p:cNvSpPr>
            <a:spLocks noGrp="1"/>
          </p:cNvSpPr>
          <p:nvPr>
            <p:ph sz="quarter" idx="14"/>
          </p:nvPr>
        </p:nvSpPr>
        <p:spPr/>
        <p:txBody>
          <a:bodyPr/>
          <a:lstStyle/>
          <a:p>
            <a:r>
              <a:rPr lang="en-US" dirty="0" smtClean="0"/>
              <a:t>Bit</a:t>
            </a:r>
          </a:p>
          <a:p>
            <a:r>
              <a:rPr lang="en-US" dirty="0" smtClean="0"/>
              <a:t>Byte</a:t>
            </a:r>
          </a:p>
          <a:p>
            <a:r>
              <a:rPr lang="en-US" dirty="0" smtClean="0"/>
              <a:t>Field</a:t>
            </a:r>
          </a:p>
          <a:p>
            <a:r>
              <a:rPr lang="en-US" dirty="0" smtClean="0"/>
              <a:t>Data File or Table</a:t>
            </a:r>
          </a:p>
          <a:p>
            <a:r>
              <a:rPr lang="en-US" dirty="0" smtClean="0"/>
              <a:t>Database</a:t>
            </a:r>
            <a:endParaRPr lang="en-US" dirty="0"/>
          </a:p>
        </p:txBody>
      </p:sp>
    </p:spTree>
    <p:extLst>
      <p:ext uri="{BB962C8B-B14F-4D97-AF65-F5344CB8AC3E}">
        <p14:creationId xmlns:p14="http://schemas.microsoft.com/office/powerpoint/2010/main" val="2377015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The Relational Database Model</a:t>
            </a:r>
            <a:endParaRPr lang="en-US" dirty="0"/>
          </a:p>
        </p:txBody>
      </p:sp>
      <p:sp>
        <p:nvSpPr>
          <p:cNvPr id="3" name="Content Placeholder 2"/>
          <p:cNvSpPr>
            <a:spLocks noGrp="1"/>
          </p:cNvSpPr>
          <p:nvPr>
            <p:ph sz="quarter" idx="14"/>
          </p:nvPr>
        </p:nvSpPr>
        <p:spPr/>
        <p:txBody>
          <a:bodyPr>
            <a:normAutofit lnSpcReduction="10000"/>
          </a:bodyPr>
          <a:lstStyle/>
          <a:p>
            <a:r>
              <a:rPr lang="en-US" dirty="0" smtClean="0"/>
              <a:t>Key Terms</a:t>
            </a:r>
          </a:p>
          <a:p>
            <a:pPr lvl="1"/>
            <a:r>
              <a:rPr lang="en-US" dirty="0" smtClean="0"/>
              <a:t>Database Management System</a:t>
            </a:r>
          </a:p>
          <a:p>
            <a:pPr lvl="1"/>
            <a:r>
              <a:rPr lang="en-US" dirty="0" smtClean="0"/>
              <a:t>Relational Database Model</a:t>
            </a:r>
          </a:p>
          <a:p>
            <a:pPr lvl="1"/>
            <a:r>
              <a:rPr lang="en-US" dirty="0" smtClean="0"/>
              <a:t>Entity</a:t>
            </a:r>
          </a:p>
          <a:p>
            <a:pPr lvl="1"/>
            <a:r>
              <a:rPr lang="en-US" dirty="0" smtClean="0"/>
              <a:t>Instance</a:t>
            </a:r>
          </a:p>
          <a:p>
            <a:pPr lvl="1"/>
            <a:r>
              <a:rPr lang="en-US" dirty="0" smtClean="0"/>
              <a:t>Attribute</a:t>
            </a:r>
          </a:p>
          <a:p>
            <a:pPr lvl="1"/>
            <a:r>
              <a:rPr lang="en-US" dirty="0" smtClean="0"/>
              <a:t>Primary Key</a:t>
            </a:r>
          </a:p>
          <a:p>
            <a:pPr lvl="1"/>
            <a:r>
              <a:rPr lang="en-US" dirty="0" smtClean="0"/>
              <a:t>Foreign or Secondary Keys</a:t>
            </a:r>
            <a:endParaRPr lang="en-US" dirty="0"/>
          </a:p>
        </p:txBody>
      </p:sp>
    </p:spTree>
    <p:extLst>
      <p:ext uri="{BB962C8B-B14F-4D97-AF65-F5344CB8AC3E}">
        <p14:creationId xmlns:p14="http://schemas.microsoft.com/office/powerpoint/2010/main" val="35772841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62500" lnSpcReduction="20000"/>
          </a:bodyPr>
          <a:lstStyle/>
          <a:p>
            <a:r>
              <a:rPr lang="en-US" b="1" dirty="0"/>
              <a:t>FIGURE 5.3 </a:t>
            </a:r>
            <a:r>
              <a:rPr lang="en-US" dirty="0"/>
              <a:t>Student database example</a:t>
            </a:r>
            <a:r>
              <a:rPr lang="en-US" dirty="0" smtClean="0"/>
              <a:t>.</a:t>
            </a:r>
            <a:endParaRPr lang="en-US" dirty="0"/>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066800" y="1447800"/>
            <a:ext cx="70866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9432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Big Data</a:t>
            </a:r>
            <a:endParaRPr lang="en-US" dirty="0"/>
          </a:p>
        </p:txBody>
      </p:sp>
      <p:sp>
        <p:nvSpPr>
          <p:cNvPr id="3" name="Text Placeholder 2"/>
          <p:cNvSpPr>
            <a:spLocks noGrp="1"/>
          </p:cNvSpPr>
          <p:nvPr>
            <p:ph type="body" sz="quarter" idx="14"/>
          </p:nvPr>
        </p:nvSpPr>
        <p:spPr/>
        <p:txBody>
          <a:bodyPr/>
          <a:lstStyle/>
          <a:p>
            <a:r>
              <a:rPr lang="en-US" dirty="0" smtClean="0"/>
              <a:t>5.3</a:t>
            </a:r>
            <a:endParaRPr lang="en-US" dirty="0"/>
          </a:p>
        </p:txBody>
      </p:sp>
      <p:sp>
        <p:nvSpPr>
          <p:cNvPr id="4" name="Content Placeholder 3"/>
          <p:cNvSpPr>
            <a:spLocks noGrp="1"/>
          </p:cNvSpPr>
          <p:nvPr>
            <p:ph sz="quarter" idx="15"/>
          </p:nvPr>
        </p:nvSpPr>
        <p:spPr/>
        <p:txBody>
          <a:bodyPr/>
          <a:lstStyle/>
          <a:p>
            <a:r>
              <a:rPr lang="en-US" dirty="0" smtClean="0"/>
              <a:t>Defining Big Data</a:t>
            </a:r>
          </a:p>
          <a:p>
            <a:r>
              <a:rPr lang="en-US" dirty="0" smtClean="0"/>
              <a:t>Characteristics of Big Data</a:t>
            </a:r>
          </a:p>
          <a:p>
            <a:r>
              <a:rPr lang="en-US" dirty="0" smtClean="0"/>
              <a:t>Managing Big Data</a:t>
            </a:r>
          </a:p>
          <a:p>
            <a:r>
              <a:rPr lang="en-US" dirty="0" smtClean="0"/>
              <a:t>Leveraging Big Data</a:t>
            </a:r>
          </a:p>
          <a:p>
            <a:endParaRPr lang="en-US" dirty="0"/>
          </a:p>
        </p:txBody>
      </p:sp>
    </p:spTree>
    <p:extLst>
      <p:ext uri="{BB962C8B-B14F-4D97-AF65-F5344CB8AC3E}">
        <p14:creationId xmlns:p14="http://schemas.microsoft.com/office/powerpoint/2010/main" val="3548627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Defining Big Data</a:t>
            </a:r>
            <a:endParaRPr lang="en-US" dirty="0"/>
          </a:p>
        </p:txBody>
      </p:sp>
      <p:sp>
        <p:nvSpPr>
          <p:cNvPr id="3" name="Content Placeholder 2"/>
          <p:cNvSpPr>
            <a:spLocks noGrp="1"/>
          </p:cNvSpPr>
          <p:nvPr>
            <p:ph sz="quarter" idx="14"/>
          </p:nvPr>
        </p:nvSpPr>
        <p:spPr/>
        <p:txBody>
          <a:bodyPr/>
          <a:lstStyle/>
          <a:p>
            <a:r>
              <a:rPr lang="en-US" dirty="0" smtClean="0"/>
              <a:t>Big data is difficult to define</a:t>
            </a:r>
          </a:p>
          <a:p>
            <a:r>
              <a:rPr lang="en-US" dirty="0" smtClean="0"/>
              <a:t>Two Descriptions of Big Data</a:t>
            </a:r>
          </a:p>
        </p:txBody>
      </p:sp>
    </p:spTree>
    <p:extLst>
      <p:ext uri="{BB962C8B-B14F-4D97-AF65-F5344CB8AC3E}">
        <p14:creationId xmlns:p14="http://schemas.microsoft.com/office/powerpoint/2010/main" val="24021453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From Gartner Research (Big Data Description 1 of 2)</a:t>
            </a:r>
            <a:endParaRPr lang="en-US" dirty="0"/>
          </a:p>
        </p:txBody>
      </p:sp>
      <p:sp>
        <p:nvSpPr>
          <p:cNvPr id="3" name="Text Placeholder 2"/>
          <p:cNvSpPr>
            <a:spLocks noGrp="1"/>
          </p:cNvSpPr>
          <p:nvPr>
            <p:ph type="body" sz="quarter" idx="13"/>
          </p:nvPr>
        </p:nvSpPr>
        <p:spPr/>
        <p:txBody>
          <a:bodyPr/>
          <a:lstStyle/>
          <a:p>
            <a:pPr marL="342900" lvl="1" indent="-342900">
              <a:buFont typeface="Arial" pitchFamily="34" charset="0"/>
              <a:buChar char="•"/>
            </a:pPr>
            <a:r>
              <a:rPr lang="en-US" dirty="0"/>
              <a:t>Diverse, high-volume, high-velocity information assets that require new forms of processing to enable enhanced decision making, insight discovery, and process optimization. (www.gartner.com)</a:t>
            </a:r>
          </a:p>
          <a:p>
            <a:endParaRPr lang="en-US" dirty="0"/>
          </a:p>
        </p:txBody>
      </p:sp>
    </p:spTree>
    <p:extLst>
      <p:ext uri="{BB962C8B-B14F-4D97-AF65-F5344CB8AC3E}">
        <p14:creationId xmlns:p14="http://schemas.microsoft.com/office/powerpoint/2010/main" val="7019552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From the Big Data Institute (Big Data Description 2 of 2)</a:t>
            </a:r>
            <a:endParaRPr lang="en-US" dirty="0"/>
          </a:p>
        </p:txBody>
      </p:sp>
      <p:sp>
        <p:nvSpPr>
          <p:cNvPr id="3" name="Text Placeholder 2"/>
          <p:cNvSpPr>
            <a:spLocks noGrp="1"/>
          </p:cNvSpPr>
          <p:nvPr>
            <p:ph type="body" sz="quarter" idx="13"/>
          </p:nvPr>
        </p:nvSpPr>
        <p:spPr/>
        <p:txBody>
          <a:bodyPr>
            <a:normAutofit fontScale="92500" lnSpcReduction="20000"/>
          </a:bodyPr>
          <a:lstStyle/>
          <a:p>
            <a:pPr marL="342900" lvl="1" indent="-342900">
              <a:buFont typeface="Arial" pitchFamily="34" charset="0"/>
              <a:buChar char="•"/>
            </a:pPr>
            <a:r>
              <a:rPr lang="en-US" dirty="0" smtClean="0"/>
              <a:t>Exhibit variety</a:t>
            </a:r>
          </a:p>
          <a:p>
            <a:pPr marL="342900" lvl="1" indent="-342900">
              <a:buFont typeface="Arial" pitchFamily="34" charset="0"/>
              <a:buChar char="•"/>
            </a:pPr>
            <a:r>
              <a:rPr lang="en-US" dirty="0" smtClean="0"/>
              <a:t>Includes structured, unstructured, and semi-structured data</a:t>
            </a:r>
          </a:p>
          <a:p>
            <a:pPr marL="342900" lvl="1" indent="-342900">
              <a:buFont typeface="Arial" pitchFamily="34" charset="0"/>
              <a:buChar char="•"/>
            </a:pPr>
            <a:r>
              <a:rPr lang="en-US" dirty="0" smtClean="0"/>
              <a:t>Are generated at high velocity with an uncertain pattern</a:t>
            </a:r>
          </a:p>
          <a:p>
            <a:pPr marL="342900" lvl="1" indent="-342900">
              <a:buFont typeface="Arial" pitchFamily="34" charset="0"/>
              <a:buChar char="•"/>
            </a:pPr>
            <a:r>
              <a:rPr lang="en-US" dirty="0" smtClean="0"/>
              <a:t>Do not fit neatly into traditional, structured, relational databases</a:t>
            </a:r>
          </a:p>
          <a:p>
            <a:pPr marL="342900" lvl="1" indent="-342900">
              <a:buFont typeface="Arial" pitchFamily="34" charset="0"/>
              <a:buChar char="•"/>
            </a:pPr>
            <a:r>
              <a:rPr lang="en-US" dirty="0" smtClean="0"/>
              <a:t>Can be captured, processed, transformed, and analyzed in a reasonable amount of time only by sophisticated information systems.</a:t>
            </a:r>
          </a:p>
          <a:p>
            <a:pPr marL="342900" lvl="1" indent="-342900">
              <a:buFont typeface="Arial" pitchFamily="34" charset="0"/>
              <a:buChar char="•"/>
            </a:pPr>
            <a:r>
              <a:rPr lang="en-US" dirty="0" smtClean="0"/>
              <a:t>(www.the-bigdatainstitute.com)</a:t>
            </a:r>
            <a:endParaRPr lang="en-US" dirty="0"/>
          </a:p>
          <a:p>
            <a:endParaRPr lang="en-US" dirty="0"/>
          </a:p>
        </p:txBody>
      </p:sp>
    </p:spTree>
    <p:extLst>
      <p:ext uri="{BB962C8B-B14F-4D97-AF65-F5344CB8AC3E}">
        <p14:creationId xmlns:p14="http://schemas.microsoft.com/office/powerpoint/2010/main" val="2139310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Defining Big Data </a:t>
            </a:r>
            <a:endParaRPr lang="en-US" dirty="0"/>
          </a:p>
        </p:txBody>
      </p:sp>
      <p:sp>
        <p:nvSpPr>
          <p:cNvPr id="3" name="Content Placeholder 2"/>
          <p:cNvSpPr>
            <a:spLocks noGrp="1"/>
          </p:cNvSpPr>
          <p:nvPr>
            <p:ph sz="quarter" idx="14"/>
          </p:nvPr>
        </p:nvSpPr>
        <p:spPr/>
        <p:txBody>
          <a:bodyPr/>
          <a:lstStyle/>
          <a:p>
            <a:r>
              <a:rPr lang="en-US" dirty="0" smtClean="0"/>
              <a:t>Big Data Generally Consist of:</a:t>
            </a:r>
          </a:p>
          <a:p>
            <a:pPr lvl="1"/>
            <a:r>
              <a:rPr lang="en-US" dirty="0" smtClean="0"/>
              <a:t>Traditional enterprise data</a:t>
            </a:r>
          </a:p>
          <a:p>
            <a:pPr lvl="1"/>
            <a:r>
              <a:rPr lang="en-US" dirty="0" smtClean="0"/>
              <a:t>Machine-generated/sensor data</a:t>
            </a:r>
          </a:p>
          <a:p>
            <a:pPr lvl="1"/>
            <a:r>
              <a:rPr lang="en-US" dirty="0" smtClean="0"/>
              <a:t>Social Data</a:t>
            </a:r>
          </a:p>
          <a:p>
            <a:pPr lvl="1"/>
            <a:r>
              <a:rPr lang="en-US" dirty="0" smtClean="0"/>
              <a:t>Images captured by billions of devices located around the world</a:t>
            </a:r>
          </a:p>
          <a:p>
            <a:pPr lvl="2"/>
            <a:r>
              <a:rPr lang="en-US" dirty="0" smtClean="0"/>
              <a:t>Digital cameras, camera phones, medical scanners, and security cameras</a:t>
            </a:r>
            <a:endParaRPr lang="en-US" dirty="0"/>
          </a:p>
        </p:txBody>
      </p:sp>
    </p:spTree>
    <p:extLst>
      <p:ext uri="{BB962C8B-B14F-4D97-AF65-F5344CB8AC3E}">
        <p14:creationId xmlns:p14="http://schemas.microsoft.com/office/powerpoint/2010/main" val="124755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Characteristics of Big Data</a:t>
            </a:r>
            <a:endParaRPr lang="en-US" dirty="0"/>
          </a:p>
        </p:txBody>
      </p:sp>
      <p:sp>
        <p:nvSpPr>
          <p:cNvPr id="3" name="Content Placeholder 2"/>
          <p:cNvSpPr>
            <a:spLocks noGrp="1"/>
          </p:cNvSpPr>
          <p:nvPr>
            <p:ph sz="quarter" idx="14"/>
          </p:nvPr>
        </p:nvSpPr>
        <p:spPr/>
        <p:txBody>
          <a:bodyPr/>
          <a:lstStyle/>
          <a:p>
            <a:r>
              <a:rPr lang="en-US" dirty="0" smtClean="0"/>
              <a:t>Volume</a:t>
            </a:r>
          </a:p>
          <a:p>
            <a:r>
              <a:rPr lang="en-US" dirty="0" smtClean="0"/>
              <a:t>Velocity</a:t>
            </a:r>
          </a:p>
          <a:p>
            <a:r>
              <a:rPr lang="en-US" dirty="0" smtClean="0"/>
              <a:t>Variety</a:t>
            </a:r>
            <a:endParaRPr lang="en-US" dirty="0"/>
          </a:p>
        </p:txBody>
      </p:sp>
    </p:spTree>
    <p:extLst>
      <p:ext uri="{BB962C8B-B14F-4D97-AF65-F5344CB8AC3E}">
        <p14:creationId xmlns:p14="http://schemas.microsoft.com/office/powerpoint/2010/main" val="34398664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Issues with Big Data</a:t>
            </a:r>
            <a:endParaRPr lang="en-US" dirty="0"/>
          </a:p>
        </p:txBody>
      </p:sp>
      <p:sp>
        <p:nvSpPr>
          <p:cNvPr id="3" name="Content Placeholder 2"/>
          <p:cNvSpPr>
            <a:spLocks noGrp="1"/>
          </p:cNvSpPr>
          <p:nvPr>
            <p:ph sz="quarter" idx="14"/>
          </p:nvPr>
        </p:nvSpPr>
        <p:spPr/>
        <p:txBody>
          <a:bodyPr/>
          <a:lstStyle/>
          <a:p>
            <a:r>
              <a:rPr lang="en-US" dirty="0"/>
              <a:t>Untrusted data sources</a:t>
            </a:r>
          </a:p>
          <a:p>
            <a:r>
              <a:rPr lang="en-US" dirty="0"/>
              <a:t>Big Data is dirty</a:t>
            </a:r>
          </a:p>
          <a:p>
            <a:r>
              <a:rPr lang="en-US" dirty="0"/>
              <a:t>Big Data changes, especially in data streams</a:t>
            </a:r>
          </a:p>
        </p:txBody>
      </p:sp>
    </p:spTree>
    <p:extLst>
      <p:ext uri="{BB962C8B-B14F-4D97-AF65-F5344CB8AC3E}">
        <p14:creationId xmlns:p14="http://schemas.microsoft.com/office/powerpoint/2010/main" val="33904365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Managing Big Data</a:t>
            </a:r>
            <a:endParaRPr lang="en-US" dirty="0"/>
          </a:p>
        </p:txBody>
      </p:sp>
      <p:sp>
        <p:nvSpPr>
          <p:cNvPr id="3" name="Content Placeholder 2"/>
          <p:cNvSpPr>
            <a:spLocks noGrp="1"/>
          </p:cNvSpPr>
          <p:nvPr>
            <p:ph sz="quarter" idx="14"/>
          </p:nvPr>
        </p:nvSpPr>
        <p:spPr/>
        <p:txBody>
          <a:bodyPr/>
          <a:lstStyle/>
          <a:p>
            <a:r>
              <a:rPr lang="en-US" dirty="0" smtClean="0"/>
              <a:t>When properly analyzed big data can reveal valuable patterns and information.</a:t>
            </a:r>
          </a:p>
          <a:p>
            <a:r>
              <a:rPr lang="en-US" dirty="0" smtClean="0"/>
              <a:t>Database environment</a:t>
            </a:r>
          </a:p>
          <a:p>
            <a:r>
              <a:rPr lang="en-US" dirty="0" smtClean="0"/>
              <a:t>Traditional relational databases versus </a:t>
            </a:r>
            <a:r>
              <a:rPr lang="en-US" dirty="0" err="1" smtClean="0"/>
              <a:t>NoSQL</a:t>
            </a:r>
            <a:r>
              <a:rPr lang="en-US" dirty="0" smtClean="0"/>
              <a:t> databases</a:t>
            </a:r>
          </a:p>
          <a:p>
            <a:r>
              <a:rPr lang="en-US" dirty="0" smtClean="0"/>
              <a:t>Open source solutions</a:t>
            </a:r>
            <a:endParaRPr lang="en-US" dirty="0"/>
          </a:p>
        </p:txBody>
      </p:sp>
    </p:spTree>
    <p:extLst>
      <p:ext uri="{BB962C8B-B14F-4D97-AF65-F5344CB8AC3E}">
        <p14:creationId xmlns:p14="http://schemas.microsoft.com/office/powerpoint/2010/main" val="37213267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The MetLife Wall</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normAutofit/>
          </a:bodyPr>
          <a:lstStyle/>
          <a:p>
            <a:r>
              <a:rPr lang="en-US" dirty="0" smtClean="0"/>
              <a:t>5.2</a:t>
            </a:r>
            <a:endParaRPr lang="en-US" dirty="0"/>
          </a:p>
        </p:txBody>
      </p:sp>
    </p:spTree>
    <p:extLst>
      <p:ext uri="{BB962C8B-B14F-4D97-AF65-F5344CB8AC3E}">
        <p14:creationId xmlns:p14="http://schemas.microsoft.com/office/powerpoint/2010/main" val="1255878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Putting Big Data to Use</a:t>
            </a:r>
            <a:endParaRPr lang="en-US" dirty="0"/>
          </a:p>
        </p:txBody>
      </p:sp>
      <p:sp>
        <p:nvSpPr>
          <p:cNvPr id="6" name="Content Placeholder 5"/>
          <p:cNvSpPr>
            <a:spLocks noGrp="1"/>
          </p:cNvSpPr>
          <p:nvPr>
            <p:ph sz="quarter" idx="14"/>
          </p:nvPr>
        </p:nvSpPr>
        <p:spPr/>
        <p:txBody>
          <a:bodyPr>
            <a:normAutofit/>
          </a:bodyPr>
          <a:lstStyle/>
          <a:p>
            <a:r>
              <a:rPr lang="en-US" dirty="0" smtClean="0"/>
              <a:t>Making Big Data Available</a:t>
            </a:r>
          </a:p>
          <a:p>
            <a:r>
              <a:rPr lang="en-US" dirty="0" smtClean="0"/>
              <a:t>Enabling Organizations to Conduct Experiments</a:t>
            </a:r>
          </a:p>
          <a:p>
            <a:r>
              <a:rPr lang="en-US" dirty="0" err="1" smtClean="0"/>
              <a:t>Microsegmentation</a:t>
            </a:r>
            <a:r>
              <a:rPr lang="en-US" dirty="0" smtClean="0"/>
              <a:t> of Customers</a:t>
            </a:r>
          </a:p>
          <a:p>
            <a:r>
              <a:rPr lang="en-US" dirty="0" smtClean="0"/>
              <a:t>Creating New Business Models</a:t>
            </a:r>
          </a:p>
          <a:p>
            <a:r>
              <a:rPr lang="en-US" dirty="0" smtClean="0"/>
              <a:t>Organizations Can Analyze Far More Data</a:t>
            </a:r>
            <a:endParaRPr lang="en-US" dirty="0"/>
          </a:p>
        </p:txBody>
      </p:sp>
    </p:spTree>
    <p:extLst>
      <p:ext uri="{BB962C8B-B14F-4D97-AF65-F5344CB8AC3E}">
        <p14:creationId xmlns:p14="http://schemas.microsoft.com/office/powerpoint/2010/main" val="20556538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85000" lnSpcReduction="10000"/>
          </a:bodyPr>
          <a:lstStyle/>
          <a:p>
            <a:r>
              <a:rPr lang="en-US" dirty="0" smtClean="0"/>
              <a:t>Big Data Used in the Functional Areas of the Organization</a:t>
            </a:r>
            <a:endParaRPr lang="en-US" dirty="0"/>
          </a:p>
        </p:txBody>
      </p:sp>
      <p:sp>
        <p:nvSpPr>
          <p:cNvPr id="6" name="Content Placeholder 5"/>
          <p:cNvSpPr>
            <a:spLocks noGrp="1"/>
          </p:cNvSpPr>
          <p:nvPr>
            <p:ph sz="quarter" idx="14"/>
          </p:nvPr>
        </p:nvSpPr>
        <p:spPr/>
        <p:txBody>
          <a:bodyPr>
            <a:normAutofit/>
          </a:bodyPr>
          <a:lstStyle/>
          <a:p>
            <a:r>
              <a:rPr lang="en-US" dirty="0" smtClean="0"/>
              <a:t>Human Resources</a:t>
            </a:r>
          </a:p>
          <a:p>
            <a:r>
              <a:rPr lang="en-US" dirty="0" smtClean="0"/>
              <a:t>Product Development</a:t>
            </a:r>
          </a:p>
          <a:p>
            <a:r>
              <a:rPr lang="en-US" dirty="0" smtClean="0"/>
              <a:t>Operations</a:t>
            </a:r>
          </a:p>
          <a:p>
            <a:r>
              <a:rPr lang="en-US" dirty="0" smtClean="0"/>
              <a:t>Marketing</a:t>
            </a:r>
          </a:p>
          <a:p>
            <a:r>
              <a:rPr lang="en-US" dirty="0" smtClean="0"/>
              <a:t>Government Operations</a:t>
            </a:r>
            <a:endParaRPr lang="en-US" dirty="0"/>
          </a:p>
        </p:txBody>
      </p:sp>
    </p:spTree>
    <p:extLst>
      <p:ext uri="{BB962C8B-B14F-4D97-AF65-F5344CB8AC3E}">
        <p14:creationId xmlns:p14="http://schemas.microsoft.com/office/powerpoint/2010/main" val="26067026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Data Warehouses and Data Marts</a:t>
            </a:r>
            <a:endParaRPr lang="en-US" dirty="0"/>
          </a:p>
        </p:txBody>
      </p:sp>
      <p:sp>
        <p:nvSpPr>
          <p:cNvPr id="3" name="Text Placeholder 2"/>
          <p:cNvSpPr>
            <a:spLocks noGrp="1"/>
          </p:cNvSpPr>
          <p:nvPr>
            <p:ph type="body" sz="quarter" idx="14"/>
          </p:nvPr>
        </p:nvSpPr>
        <p:spPr/>
        <p:txBody>
          <a:bodyPr/>
          <a:lstStyle/>
          <a:p>
            <a:r>
              <a:rPr lang="en-US" dirty="0" smtClean="0"/>
              <a:t>5.4</a:t>
            </a:r>
            <a:endParaRPr lang="en-US" dirty="0"/>
          </a:p>
        </p:txBody>
      </p:sp>
      <p:sp>
        <p:nvSpPr>
          <p:cNvPr id="4" name="Content Placeholder 3"/>
          <p:cNvSpPr>
            <a:spLocks noGrp="1"/>
          </p:cNvSpPr>
          <p:nvPr>
            <p:ph sz="quarter" idx="15"/>
          </p:nvPr>
        </p:nvSpPr>
        <p:spPr/>
        <p:txBody>
          <a:bodyPr/>
          <a:lstStyle/>
          <a:p>
            <a:r>
              <a:rPr lang="en-US" dirty="0" smtClean="0"/>
              <a:t>Describing Data Warehouses and Data Marts</a:t>
            </a:r>
          </a:p>
          <a:p>
            <a:r>
              <a:rPr lang="en-US" dirty="0" smtClean="0"/>
              <a:t>A Generic Data Warehouse Environment</a:t>
            </a:r>
          </a:p>
          <a:p>
            <a:endParaRPr lang="en-US" dirty="0"/>
          </a:p>
        </p:txBody>
      </p:sp>
    </p:spTree>
    <p:extLst>
      <p:ext uri="{BB962C8B-B14F-4D97-AF65-F5344CB8AC3E}">
        <p14:creationId xmlns:p14="http://schemas.microsoft.com/office/powerpoint/2010/main" val="16439397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92500" lnSpcReduction="10000"/>
          </a:bodyPr>
          <a:lstStyle/>
          <a:p>
            <a:r>
              <a:rPr lang="en-US" dirty="0" smtClean="0"/>
              <a:t>Describing Data Warehouses &amp; Data Marts</a:t>
            </a:r>
            <a:endParaRPr lang="en-US" dirty="0"/>
          </a:p>
        </p:txBody>
      </p:sp>
      <p:sp>
        <p:nvSpPr>
          <p:cNvPr id="6" name="Content Placeholder 5"/>
          <p:cNvSpPr>
            <a:spLocks noGrp="1"/>
          </p:cNvSpPr>
          <p:nvPr>
            <p:ph sz="quarter" idx="14"/>
          </p:nvPr>
        </p:nvSpPr>
        <p:spPr/>
        <p:txBody>
          <a:bodyPr>
            <a:normAutofit lnSpcReduction="10000"/>
          </a:bodyPr>
          <a:lstStyle/>
          <a:p>
            <a:r>
              <a:rPr lang="en-US" dirty="0" smtClean="0"/>
              <a:t>Data Warehouse</a:t>
            </a:r>
          </a:p>
          <a:p>
            <a:pPr lvl="1"/>
            <a:r>
              <a:rPr lang="en-US" dirty="0" smtClean="0"/>
              <a:t>A repository of historical data that are organized by subject to support decision makers in the organization</a:t>
            </a:r>
          </a:p>
          <a:p>
            <a:r>
              <a:rPr lang="en-US" dirty="0" smtClean="0"/>
              <a:t>Data Mart</a:t>
            </a:r>
          </a:p>
          <a:p>
            <a:pPr lvl="1"/>
            <a:r>
              <a:rPr lang="en-US" dirty="0" smtClean="0"/>
              <a:t>A low-cost, scaled-down version of a data warehouse designed for end-user needs in a strategic business unit (SBU) or individual department.</a:t>
            </a:r>
            <a:endParaRPr lang="en-US" dirty="0"/>
          </a:p>
        </p:txBody>
      </p:sp>
    </p:spTree>
    <p:extLst>
      <p:ext uri="{BB962C8B-B14F-4D97-AF65-F5344CB8AC3E}">
        <p14:creationId xmlns:p14="http://schemas.microsoft.com/office/powerpoint/2010/main" val="648067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62500" lnSpcReduction="20000"/>
          </a:bodyPr>
          <a:lstStyle/>
          <a:p>
            <a:r>
              <a:rPr lang="en-US" b="1" dirty="0"/>
              <a:t>FIGURE 5.4 </a:t>
            </a:r>
            <a:r>
              <a:rPr lang="en-US" dirty="0"/>
              <a:t>Data warehouse framework</a:t>
            </a:r>
            <a:r>
              <a:rPr lang="en-US" dirty="0" smtClean="0"/>
              <a:t>.</a:t>
            </a:r>
            <a:endParaRPr lang="en-US" dirty="0"/>
          </a:p>
        </p:txBody>
      </p:sp>
      <p:pic>
        <p:nvPicPr>
          <p:cNvPr id="7" name="Content Placeholder 6" descr="Chapter_04_illus4"/>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a:xfrm>
            <a:off x="366958" y="1565036"/>
            <a:ext cx="8548442" cy="4835764"/>
          </a:xfrm>
          <a:prstGeom prst="rect">
            <a:avLst/>
          </a:prstGeom>
        </p:spPr>
      </p:pic>
    </p:spTree>
    <p:extLst>
      <p:ext uri="{BB962C8B-B14F-4D97-AF65-F5344CB8AC3E}">
        <p14:creationId xmlns:p14="http://schemas.microsoft.com/office/powerpoint/2010/main" val="19794472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92500" lnSpcReduction="10000"/>
          </a:bodyPr>
          <a:lstStyle/>
          <a:p>
            <a:r>
              <a:rPr lang="en-US" dirty="0" smtClean="0"/>
              <a:t>Describing Data Warehouses &amp; Data Marts</a:t>
            </a:r>
            <a:endParaRPr lang="en-US" dirty="0"/>
          </a:p>
        </p:txBody>
      </p:sp>
      <p:sp>
        <p:nvSpPr>
          <p:cNvPr id="6" name="Content Placeholder 5"/>
          <p:cNvSpPr>
            <a:spLocks noGrp="1"/>
          </p:cNvSpPr>
          <p:nvPr>
            <p:ph sz="quarter" idx="14"/>
          </p:nvPr>
        </p:nvSpPr>
        <p:spPr/>
        <p:txBody>
          <a:bodyPr>
            <a:normAutofit lnSpcReduction="10000"/>
          </a:bodyPr>
          <a:lstStyle/>
          <a:p>
            <a:r>
              <a:rPr lang="en-US" dirty="0" smtClean="0"/>
              <a:t>Basic characteristics of data warehouses and data marts</a:t>
            </a:r>
          </a:p>
          <a:p>
            <a:pPr lvl="1"/>
            <a:r>
              <a:rPr lang="en-US" dirty="0" smtClean="0"/>
              <a:t>Organized by business dimension or subject</a:t>
            </a:r>
          </a:p>
          <a:p>
            <a:pPr lvl="1"/>
            <a:r>
              <a:rPr lang="en-US" dirty="0" smtClean="0"/>
              <a:t>Use online analytical processing (OLAP)</a:t>
            </a:r>
          </a:p>
          <a:p>
            <a:pPr lvl="1"/>
            <a:r>
              <a:rPr lang="en-US" dirty="0" smtClean="0"/>
              <a:t>Integrated</a:t>
            </a:r>
          </a:p>
          <a:p>
            <a:pPr lvl="1"/>
            <a:r>
              <a:rPr lang="en-US" dirty="0" smtClean="0"/>
              <a:t>Time variant</a:t>
            </a:r>
          </a:p>
          <a:p>
            <a:pPr lvl="1"/>
            <a:r>
              <a:rPr lang="en-US" dirty="0" smtClean="0"/>
              <a:t>Nonvolatile</a:t>
            </a:r>
          </a:p>
          <a:p>
            <a:pPr lvl="1"/>
            <a:r>
              <a:rPr lang="en-US" dirty="0" smtClean="0"/>
              <a:t>Multidimensional</a:t>
            </a:r>
            <a:endParaRPr lang="en-US" dirty="0"/>
          </a:p>
        </p:txBody>
      </p:sp>
    </p:spTree>
    <p:extLst>
      <p:ext uri="{BB962C8B-B14F-4D97-AF65-F5344CB8AC3E}">
        <p14:creationId xmlns:p14="http://schemas.microsoft.com/office/powerpoint/2010/main" val="41231559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A Generic Data Warehouse Environment</a:t>
            </a:r>
            <a:endParaRPr lang="en-US" dirty="0"/>
          </a:p>
        </p:txBody>
      </p:sp>
      <p:sp>
        <p:nvSpPr>
          <p:cNvPr id="3" name="Content Placeholder 2"/>
          <p:cNvSpPr>
            <a:spLocks noGrp="1"/>
          </p:cNvSpPr>
          <p:nvPr>
            <p:ph sz="quarter" idx="14"/>
          </p:nvPr>
        </p:nvSpPr>
        <p:spPr/>
        <p:txBody>
          <a:bodyPr>
            <a:normAutofit lnSpcReduction="10000"/>
          </a:bodyPr>
          <a:lstStyle/>
          <a:p>
            <a:r>
              <a:rPr lang="en-US" dirty="0" smtClean="0"/>
              <a:t>Source Systems</a:t>
            </a:r>
          </a:p>
          <a:p>
            <a:r>
              <a:rPr lang="en-US" dirty="0" smtClean="0"/>
              <a:t>Data Integration</a:t>
            </a:r>
          </a:p>
          <a:p>
            <a:r>
              <a:rPr lang="en-US" dirty="0" smtClean="0"/>
              <a:t>Storing the Data</a:t>
            </a:r>
          </a:p>
          <a:p>
            <a:r>
              <a:rPr lang="en-US" dirty="0" smtClean="0"/>
              <a:t>Metadata</a:t>
            </a:r>
          </a:p>
          <a:p>
            <a:r>
              <a:rPr lang="en-US" dirty="0" smtClean="0"/>
              <a:t>Data Quality</a:t>
            </a:r>
          </a:p>
          <a:p>
            <a:r>
              <a:rPr lang="en-US" dirty="0" smtClean="0"/>
              <a:t>Data Governance</a:t>
            </a:r>
          </a:p>
          <a:p>
            <a:r>
              <a:rPr lang="en-US" dirty="0" smtClean="0"/>
              <a:t>Users</a:t>
            </a:r>
            <a:endParaRPr lang="en-US" dirty="0"/>
          </a:p>
        </p:txBody>
      </p:sp>
    </p:spTree>
    <p:extLst>
      <p:ext uri="{BB962C8B-B14F-4D97-AF65-F5344CB8AC3E}">
        <p14:creationId xmlns:p14="http://schemas.microsoft.com/office/powerpoint/2010/main" val="16738083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lnSpcReduction="10000"/>
          </a:bodyPr>
          <a:lstStyle/>
          <a:p>
            <a:r>
              <a:rPr lang="en-US" dirty="0" smtClean="0"/>
              <a:t>Data Warehouse Gives </a:t>
            </a:r>
            <a:r>
              <a:rPr lang="en-US" dirty="0" err="1" smtClean="0"/>
              <a:t>Nordea</a:t>
            </a:r>
            <a:r>
              <a:rPr lang="en-US" dirty="0" smtClean="0"/>
              <a:t> Bank a Single Version of the Truth</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normAutofit/>
          </a:bodyPr>
          <a:lstStyle/>
          <a:p>
            <a:r>
              <a:rPr lang="en-US" dirty="0" smtClean="0"/>
              <a:t>5.3</a:t>
            </a:r>
            <a:endParaRPr lang="en-US" dirty="0"/>
          </a:p>
        </p:txBody>
      </p:sp>
    </p:spTree>
    <p:extLst>
      <p:ext uri="{BB962C8B-B14F-4D97-AF65-F5344CB8AC3E}">
        <p14:creationId xmlns:p14="http://schemas.microsoft.com/office/powerpoint/2010/main" val="12558784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ubtitle 9"/>
          <p:cNvSpPr>
            <a:spLocks noGrp="1"/>
          </p:cNvSpPr>
          <p:nvPr>
            <p:ph type="subTitle" idx="1"/>
          </p:nvPr>
        </p:nvSpPr>
        <p:spPr/>
        <p:txBody>
          <a:bodyPr>
            <a:normAutofit fontScale="77500" lnSpcReduction="20000"/>
          </a:bodyPr>
          <a:lstStyle/>
          <a:p>
            <a:r>
              <a:rPr lang="en-US" b="1" dirty="0"/>
              <a:t>FIGURE 5.5 </a:t>
            </a:r>
            <a:r>
              <a:rPr lang="en-US" dirty="0"/>
              <a:t>Relational databases</a:t>
            </a:r>
            <a:r>
              <a:rPr lang="en-US" dirty="0" smtClean="0"/>
              <a:t>.</a:t>
            </a:r>
            <a:endParaRPr lang="en-US" dirty="0"/>
          </a:p>
        </p:txBody>
      </p:sp>
      <p:pic>
        <p:nvPicPr>
          <p:cNvPr id="12"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2093053"/>
            <a:ext cx="8153400" cy="38148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284425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fontScale="92500" lnSpcReduction="20000"/>
          </a:bodyPr>
          <a:lstStyle/>
          <a:p>
            <a:r>
              <a:rPr lang="en-US" b="1" dirty="0"/>
              <a:t>FIGURE 5.6 </a:t>
            </a:r>
            <a:r>
              <a:rPr lang="en-US" dirty="0"/>
              <a:t>Data cube</a:t>
            </a:r>
            <a:r>
              <a:rPr lang="en-US" dirty="0" smtClean="0"/>
              <a:t>.</a:t>
            </a:r>
            <a:endParaRPr lang="en-US" dirty="0"/>
          </a:p>
        </p:txBody>
      </p:sp>
      <p:pic>
        <p:nvPicPr>
          <p:cNvPr id="5"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184919" y="1447800"/>
            <a:ext cx="6850361" cy="5105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99875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fontScale="47500" lnSpcReduction="20000"/>
          </a:bodyPr>
          <a:lstStyle/>
          <a:p>
            <a:r>
              <a:rPr lang="en-US" b="1" dirty="0"/>
              <a:t>FIGURE 5.7 </a:t>
            </a:r>
            <a:r>
              <a:rPr lang="en-US" dirty="0"/>
              <a:t>Equivalence between relational and multidimensional databases.</a:t>
            </a:r>
          </a:p>
        </p:txBody>
      </p:sp>
      <p:pic>
        <p:nvPicPr>
          <p:cNvPr id="5"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1576992"/>
            <a:ext cx="8153400" cy="48470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087340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Knowledge Management</a:t>
            </a:r>
            <a:endParaRPr lang="en-US" dirty="0"/>
          </a:p>
        </p:txBody>
      </p:sp>
      <p:sp>
        <p:nvSpPr>
          <p:cNvPr id="3" name="Text Placeholder 2"/>
          <p:cNvSpPr>
            <a:spLocks noGrp="1"/>
          </p:cNvSpPr>
          <p:nvPr>
            <p:ph type="body" sz="quarter" idx="14"/>
          </p:nvPr>
        </p:nvSpPr>
        <p:spPr/>
        <p:txBody>
          <a:bodyPr/>
          <a:lstStyle/>
          <a:p>
            <a:r>
              <a:rPr lang="en-US" dirty="0" smtClean="0"/>
              <a:t>5.5</a:t>
            </a:r>
            <a:endParaRPr lang="en-US" dirty="0"/>
          </a:p>
        </p:txBody>
      </p:sp>
      <p:sp>
        <p:nvSpPr>
          <p:cNvPr id="4" name="Content Placeholder 3"/>
          <p:cNvSpPr>
            <a:spLocks noGrp="1"/>
          </p:cNvSpPr>
          <p:nvPr>
            <p:ph sz="quarter" idx="15"/>
          </p:nvPr>
        </p:nvSpPr>
        <p:spPr/>
        <p:txBody>
          <a:bodyPr/>
          <a:lstStyle/>
          <a:p>
            <a:r>
              <a:rPr lang="en-US" dirty="0" smtClean="0"/>
              <a:t>Concepts and Definitions</a:t>
            </a:r>
          </a:p>
          <a:p>
            <a:r>
              <a:rPr lang="en-US" dirty="0" smtClean="0"/>
              <a:t>Knowledge Management Systems</a:t>
            </a:r>
          </a:p>
          <a:p>
            <a:r>
              <a:rPr lang="en-US" dirty="0" smtClean="0"/>
              <a:t>The KMS Cycle</a:t>
            </a:r>
          </a:p>
          <a:p>
            <a:endParaRPr lang="en-US" dirty="0"/>
          </a:p>
        </p:txBody>
      </p:sp>
    </p:spTree>
    <p:extLst>
      <p:ext uri="{BB962C8B-B14F-4D97-AF65-F5344CB8AC3E}">
        <p14:creationId xmlns:p14="http://schemas.microsoft.com/office/powerpoint/2010/main" val="1676760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Concepts &amp; Definitions</a:t>
            </a:r>
            <a:endParaRPr lang="en-US" dirty="0"/>
          </a:p>
        </p:txBody>
      </p:sp>
      <p:sp>
        <p:nvSpPr>
          <p:cNvPr id="3" name="Content Placeholder 2"/>
          <p:cNvSpPr>
            <a:spLocks noGrp="1"/>
          </p:cNvSpPr>
          <p:nvPr>
            <p:ph sz="quarter" idx="14"/>
          </p:nvPr>
        </p:nvSpPr>
        <p:spPr/>
        <p:txBody>
          <a:bodyPr>
            <a:normAutofit/>
          </a:bodyPr>
          <a:lstStyle/>
          <a:p>
            <a:r>
              <a:rPr lang="en-US" dirty="0" smtClean="0"/>
              <a:t>Knowledge Management (KM)</a:t>
            </a:r>
          </a:p>
          <a:p>
            <a:pPr lvl="1"/>
            <a:r>
              <a:rPr lang="en-US" dirty="0" smtClean="0"/>
              <a:t>A process that helps manipulate important knowledge that comprises part of the organization’s memory, usually in an unstructured format.</a:t>
            </a:r>
          </a:p>
          <a:p>
            <a:r>
              <a:rPr lang="en-US" dirty="0" smtClean="0"/>
              <a:t>Knowledge</a:t>
            </a:r>
          </a:p>
          <a:p>
            <a:r>
              <a:rPr lang="en-US" dirty="0" smtClean="0"/>
              <a:t>Explicit &amp; Tacit Knowledge</a:t>
            </a:r>
          </a:p>
        </p:txBody>
      </p:sp>
    </p:spTree>
    <p:extLst>
      <p:ext uri="{BB962C8B-B14F-4D97-AF65-F5344CB8AC3E}">
        <p14:creationId xmlns:p14="http://schemas.microsoft.com/office/powerpoint/2010/main" val="23194374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Knowledge Management Systems (KMS)</a:t>
            </a:r>
            <a:endParaRPr lang="en-US" dirty="0"/>
          </a:p>
        </p:txBody>
      </p:sp>
      <p:sp>
        <p:nvSpPr>
          <p:cNvPr id="3" name="Content Placeholder 2"/>
          <p:cNvSpPr>
            <a:spLocks noGrp="1"/>
          </p:cNvSpPr>
          <p:nvPr>
            <p:ph sz="quarter" idx="14"/>
          </p:nvPr>
        </p:nvSpPr>
        <p:spPr/>
        <p:txBody>
          <a:bodyPr/>
          <a:lstStyle/>
          <a:p>
            <a:r>
              <a:rPr lang="en-US" dirty="0" smtClean="0"/>
              <a:t>Refer to the use of modern information technologies – the Internet, intranet, extranets, databases – to systematize, enhance, and expedite </a:t>
            </a:r>
            <a:r>
              <a:rPr lang="en-US" dirty="0" err="1" smtClean="0"/>
              <a:t>intrafirm</a:t>
            </a:r>
            <a:r>
              <a:rPr lang="en-US" dirty="0" smtClean="0"/>
              <a:t> and </a:t>
            </a:r>
            <a:r>
              <a:rPr lang="en-US" dirty="0" err="1" smtClean="0"/>
              <a:t>interfirm</a:t>
            </a:r>
            <a:r>
              <a:rPr lang="en-US" dirty="0" smtClean="0"/>
              <a:t> knowledge management.</a:t>
            </a:r>
          </a:p>
          <a:p>
            <a:pPr lvl="1"/>
            <a:r>
              <a:rPr lang="en-US" dirty="0" smtClean="0"/>
              <a:t>Best practices</a:t>
            </a:r>
            <a:endParaRPr lang="en-US" dirty="0"/>
          </a:p>
        </p:txBody>
      </p:sp>
    </p:spTree>
    <p:extLst>
      <p:ext uri="{BB962C8B-B14F-4D97-AF65-F5344CB8AC3E}">
        <p14:creationId xmlns:p14="http://schemas.microsoft.com/office/powerpoint/2010/main" val="5819057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The KMS Cycle</a:t>
            </a:r>
            <a:endParaRPr lang="en-US" dirty="0"/>
          </a:p>
        </p:txBody>
      </p:sp>
      <p:sp>
        <p:nvSpPr>
          <p:cNvPr id="3" name="Content Placeholder 2"/>
          <p:cNvSpPr>
            <a:spLocks noGrp="1"/>
          </p:cNvSpPr>
          <p:nvPr>
            <p:ph sz="quarter" idx="14"/>
          </p:nvPr>
        </p:nvSpPr>
        <p:spPr/>
        <p:txBody>
          <a:bodyPr/>
          <a:lstStyle/>
          <a:p>
            <a:r>
              <a:rPr lang="en-US" dirty="0" smtClean="0"/>
              <a:t>Create Knowledge</a:t>
            </a:r>
          </a:p>
          <a:p>
            <a:r>
              <a:rPr lang="en-US" dirty="0" smtClean="0"/>
              <a:t>Capture Knowledge</a:t>
            </a:r>
          </a:p>
          <a:p>
            <a:r>
              <a:rPr lang="en-US" dirty="0" smtClean="0"/>
              <a:t>Refine Knowledge</a:t>
            </a:r>
          </a:p>
          <a:p>
            <a:r>
              <a:rPr lang="en-US" dirty="0" smtClean="0"/>
              <a:t>Store Knowledge</a:t>
            </a:r>
          </a:p>
          <a:p>
            <a:r>
              <a:rPr lang="en-US" dirty="0" smtClean="0"/>
              <a:t>Manage Knowledge</a:t>
            </a:r>
          </a:p>
          <a:p>
            <a:r>
              <a:rPr lang="en-US" dirty="0" smtClean="0"/>
              <a:t>Disseminate Knowledge</a:t>
            </a:r>
            <a:endParaRPr lang="en-US" dirty="0"/>
          </a:p>
        </p:txBody>
      </p:sp>
    </p:spTree>
    <p:extLst>
      <p:ext uri="{BB962C8B-B14F-4D97-AF65-F5344CB8AC3E}">
        <p14:creationId xmlns:p14="http://schemas.microsoft.com/office/powerpoint/2010/main" val="40887411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47500" lnSpcReduction="20000"/>
          </a:bodyPr>
          <a:lstStyle/>
          <a:p>
            <a:r>
              <a:rPr lang="en-US" b="1" dirty="0"/>
              <a:t>FIGURE 5.8 </a:t>
            </a:r>
            <a:r>
              <a:rPr lang="en-US" dirty="0"/>
              <a:t>The knowledge management system cycle</a:t>
            </a:r>
            <a:r>
              <a:rPr lang="en-US" dirty="0" smtClean="0"/>
              <a:t>.</a:t>
            </a:r>
            <a:endParaRPr lang="en-US" dirty="0"/>
          </a:p>
        </p:txBody>
      </p:sp>
      <p:pic>
        <p:nvPicPr>
          <p:cNvPr id="7" name="Content Placeholder 5" descr="Chapter_04_illus4"/>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a:xfrm>
            <a:off x="350080" y="2025631"/>
            <a:ext cx="8412920" cy="4070369"/>
          </a:xfrm>
          <a:prstGeom prst="rect">
            <a:avLst/>
          </a:prstGeom>
        </p:spPr>
      </p:pic>
    </p:spTree>
    <p:extLst>
      <p:ext uri="{BB962C8B-B14F-4D97-AF65-F5344CB8AC3E}">
        <p14:creationId xmlns:p14="http://schemas.microsoft.com/office/powerpoint/2010/main" val="28376517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85000" lnSpcReduction="10000"/>
          </a:bodyPr>
          <a:lstStyle/>
          <a:p>
            <a:r>
              <a:rPr lang="en-US" dirty="0" smtClean="0"/>
              <a:t>Appendix: Fundamentals of Relational Database Operations</a:t>
            </a:r>
            <a:endParaRPr lang="en-US" dirty="0"/>
          </a:p>
        </p:txBody>
      </p:sp>
      <p:sp>
        <p:nvSpPr>
          <p:cNvPr id="3" name="Text Placeholder 2"/>
          <p:cNvSpPr>
            <a:spLocks noGrp="1"/>
          </p:cNvSpPr>
          <p:nvPr>
            <p:ph type="body" sz="quarter" idx="14"/>
          </p:nvPr>
        </p:nvSpPr>
        <p:spPr/>
        <p:txBody>
          <a:bodyPr/>
          <a:lstStyle/>
          <a:p>
            <a:r>
              <a:rPr lang="en-US" dirty="0" smtClean="0"/>
              <a:t>5.6</a:t>
            </a:r>
            <a:endParaRPr lang="en-US" dirty="0"/>
          </a:p>
        </p:txBody>
      </p:sp>
      <p:sp>
        <p:nvSpPr>
          <p:cNvPr id="4" name="Content Placeholder 3"/>
          <p:cNvSpPr>
            <a:spLocks noGrp="1"/>
          </p:cNvSpPr>
          <p:nvPr>
            <p:ph sz="quarter" idx="15"/>
          </p:nvPr>
        </p:nvSpPr>
        <p:spPr/>
        <p:txBody>
          <a:bodyPr/>
          <a:lstStyle/>
          <a:p>
            <a:r>
              <a:rPr lang="en-US" dirty="0" smtClean="0"/>
              <a:t>Query Languages</a:t>
            </a:r>
          </a:p>
          <a:p>
            <a:r>
              <a:rPr lang="en-US" dirty="0" smtClean="0"/>
              <a:t>Entity Relationship Modeling</a:t>
            </a:r>
          </a:p>
          <a:p>
            <a:r>
              <a:rPr lang="en-US" dirty="0" smtClean="0"/>
              <a:t>Normalization and Joins</a:t>
            </a:r>
          </a:p>
        </p:txBody>
      </p:sp>
    </p:spTree>
    <p:extLst>
      <p:ext uri="{BB962C8B-B14F-4D97-AF65-F5344CB8AC3E}">
        <p14:creationId xmlns:p14="http://schemas.microsoft.com/office/powerpoint/2010/main" val="5581386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Query Languages</a:t>
            </a:r>
            <a:endParaRPr lang="en-US" dirty="0"/>
          </a:p>
        </p:txBody>
      </p:sp>
      <p:sp>
        <p:nvSpPr>
          <p:cNvPr id="3" name="Content Placeholder 2"/>
          <p:cNvSpPr>
            <a:spLocks noGrp="1"/>
          </p:cNvSpPr>
          <p:nvPr>
            <p:ph sz="quarter" idx="14"/>
          </p:nvPr>
        </p:nvSpPr>
        <p:spPr/>
        <p:txBody>
          <a:bodyPr/>
          <a:lstStyle/>
          <a:p>
            <a:r>
              <a:rPr lang="en-US" dirty="0" smtClean="0"/>
              <a:t>Structured Query Language (SQL)</a:t>
            </a:r>
          </a:p>
          <a:p>
            <a:r>
              <a:rPr lang="en-US" dirty="0" smtClean="0"/>
              <a:t>Query By Example (QBE)</a:t>
            </a:r>
          </a:p>
          <a:p>
            <a:endParaRPr lang="en-US" dirty="0"/>
          </a:p>
        </p:txBody>
      </p:sp>
    </p:spTree>
    <p:extLst>
      <p:ext uri="{BB962C8B-B14F-4D97-AF65-F5344CB8AC3E}">
        <p14:creationId xmlns:p14="http://schemas.microsoft.com/office/powerpoint/2010/main" val="11023188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smtClean="0"/>
              <a:t>Entity Relationship Modeling</a:t>
            </a:r>
            <a:endParaRPr lang="en-US" dirty="0"/>
          </a:p>
        </p:txBody>
      </p:sp>
      <p:sp>
        <p:nvSpPr>
          <p:cNvPr id="3" name="Content Placeholder 2"/>
          <p:cNvSpPr>
            <a:spLocks noGrp="1"/>
          </p:cNvSpPr>
          <p:nvPr>
            <p:ph sz="quarter" idx="14"/>
          </p:nvPr>
        </p:nvSpPr>
        <p:spPr/>
        <p:txBody>
          <a:bodyPr/>
          <a:lstStyle/>
          <a:p>
            <a:r>
              <a:rPr lang="en-US" dirty="0" smtClean="0"/>
              <a:t>Entity Relationship Diagram (ERD)</a:t>
            </a:r>
          </a:p>
          <a:p>
            <a:r>
              <a:rPr lang="en-US" dirty="0" smtClean="0"/>
              <a:t>Business Rules</a:t>
            </a:r>
          </a:p>
          <a:p>
            <a:r>
              <a:rPr lang="en-US" dirty="0" smtClean="0"/>
              <a:t>Data Dictionary</a:t>
            </a:r>
          </a:p>
          <a:p>
            <a:r>
              <a:rPr lang="en-US" dirty="0" smtClean="0"/>
              <a:t>Relationships</a:t>
            </a:r>
          </a:p>
          <a:p>
            <a:pPr lvl="1"/>
            <a:r>
              <a:rPr lang="en-US" dirty="0" smtClean="0"/>
              <a:t>Unary, Binary, Ternary</a:t>
            </a:r>
          </a:p>
          <a:p>
            <a:r>
              <a:rPr lang="en-US" dirty="0" smtClean="0"/>
              <a:t>Cardinality</a:t>
            </a:r>
          </a:p>
          <a:p>
            <a:pPr lvl="1"/>
            <a:r>
              <a:rPr lang="en-US" dirty="0" smtClean="0"/>
              <a:t>Connectivity</a:t>
            </a:r>
          </a:p>
          <a:p>
            <a:endParaRPr lang="en-US" dirty="0" smtClean="0"/>
          </a:p>
          <a:p>
            <a:endParaRPr lang="en-US" dirty="0"/>
          </a:p>
        </p:txBody>
      </p:sp>
    </p:spTree>
    <p:extLst>
      <p:ext uri="{BB962C8B-B14F-4D97-AF65-F5344CB8AC3E}">
        <p14:creationId xmlns:p14="http://schemas.microsoft.com/office/powerpoint/2010/main" val="21630066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77500" lnSpcReduction="20000"/>
          </a:bodyPr>
          <a:lstStyle/>
          <a:p>
            <a:r>
              <a:rPr lang="en-US" b="1" dirty="0" smtClean="0"/>
              <a:t>Figure 5A.1 </a:t>
            </a:r>
            <a:r>
              <a:rPr lang="en-US" dirty="0" smtClean="0"/>
              <a:t>Cardinality Symbols</a:t>
            </a:r>
            <a:endParaRPr lang="en-US" dirty="0"/>
          </a:p>
        </p:txBody>
      </p:sp>
      <p:pic>
        <p:nvPicPr>
          <p:cNvPr id="7" name="Picture 2"/>
          <p:cNvPicPr>
            <a:picLocks noGrp="1" noChangeAspect="1" noChangeArrowheads="1"/>
          </p:cNvPicPr>
          <p:nvPr>
            <p:ph sz="quarter" idx="14"/>
          </p:nvPr>
        </p:nvPicPr>
        <p:blipFill>
          <a:blip r:embed="rId2">
            <a:extLst>
              <a:ext uri="{28A0092B-C50C-407E-A947-70E740481C1C}">
                <a14:useLocalDpi xmlns:a14="http://schemas.microsoft.com/office/drawing/2010/main" val="0"/>
              </a:ext>
            </a:extLst>
          </a:blip>
          <a:srcRect/>
          <a:stretch>
            <a:fillRect/>
          </a:stretch>
        </p:blipFill>
        <p:spPr bwMode="auto">
          <a:xfrm>
            <a:off x="2542773" y="1447800"/>
            <a:ext cx="4134654"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40657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70000" lnSpcReduction="20000"/>
          </a:bodyPr>
          <a:lstStyle/>
          <a:p>
            <a:r>
              <a:rPr lang="en-US" b="1" dirty="0" smtClean="0"/>
              <a:t>Figure 5A.2 </a:t>
            </a:r>
            <a:r>
              <a:rPr lang="en-US" dirty="0" smtClean="0"/>
              <a:t>One-to-one Relationship</a:t>
            </a:r>
            <a:endParaRPr lang="en-US" dirty="0"/>
          </a:p>
        </p:txBody>
      </p:sp>
      <p:pic>
        <p:nvPicPr>
          <p:cNvPr id="5" name="Picture 2"/>
          <p:cNvPicPr>
            <a:picLocks noGrp="1" noChangeAspect="1" noChangeArrowheads="1"/>
          </p:cNvPicPr>
          <p:nvPr>
            <p:ph sz="quarter" idx="14"/>
          </p:nvPr>
        </p:nvPicPr>
        <p:blipFill>
          <a:blip r:embed="rId2">
            <a:extLst>
              <a:ext uri="{28A0092B-C50C-407E-A947-70E740481C1C}">
                <a14:useLocalDpi xmlns:a14="http://schemas.microsoft.com/office/drawing/2010/main" val="0"/>
              </a:ext>
            </a:extLst>
          </a:blip>
          <a:srcRect/>
          <a:stretch>
            <a:fillRect/>
          </a:stretch>
        </p:blipFill>
        <p:spPr bwMode="auto">
          <a:xfrm>
            <a:off x="533400" y="2310601"/>
            <a:ext cx="8153400" cy="3379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52359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70000" lnSpcReduction="20000"/>
          </a:bodyPr>
          <a:lstStyle/>
          <a:p>
            <a:r>
              <a:rPr lang="en-US" b="1" dirty="0"/>
              <a:t>Figure </a:t>
            </a:r>
            <a:r>
              <a:rPr lang="en-US" b="1" dirty="0" smtClean="0"/>
              <a:t>5A.3 </a:t>
            </a:r>
            <a:r>
              <a:rPr lang="en-US" dirty="0" smtClean="0"/>
              <a:t>One-to-Many Relationship</a:t>
            </a:r>
            <a:endParaRPr lang="en-US" dirty="0"/>
          </a:p>
        </p:txBody>
      </p:sp>
      <p:pic>
        <p:nvPicPr>
          <p:cNvPr id="5" name="Picture 2"/>
          <p:cNvPicPr>
            <a:picLocks noGrp="1" noChangeAspect="1" noChangeArrowheads="1"/>
          </p:cNvPicPr>
          <p:nvPr>
            <p:ph sz="quarter" idx="14"/>
          </p:nvPr>
        </p:nvPicPr>
        <p:blipFill>
          <a:blip r:embed="rId2">
            <a:extLst>
              <a:ext uri="{28A0092B-C50C-407E-A947-70E740481C1C}">
                <a14:useLocalDpi xmlns:a14="http://schemas.microsoft.com/office/drawing/2010/main" val="0"/>
              </a:ext>
            </a:extLst>
          </a:blip>
          <a:srcRect/>
          <a:stretch>
            <a:fillRect/>
          </a:stretch>
        </p:blipFill>
        <p:spPr bwMode="auto">
          <a:xfrm>
            <a:off x="533400" y="2097559"/>
            <a:ext cx="8153400" cy="380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515236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62500" lnSpcReduction="20000"/>
          </a:bodyPr>
          <a:lstStyle/>
          <a:p>
            <a:r>
              <a:rPr lang="en-US" b="1" dirty="0"/>
              <a:t>Figure </a:t>
            </a:r>
            <a:r>
              <a:rPr lang="en-US" b="1" dirty="0" smtClean="0"/>
              <a:t>5A.4 </a:t>
            </a:r>
            <a:r>
              <a:rPr lang="en-US" dirty="0" smtClean="0"/>
              <a:t>Many-to-Many Relationship</a:t>
            </a:r>
            <a:endParaRPr lang="en-US" dirty="0"/>
          </a:p>
        </p:txBody>
      </p:sp>
      <p:pic>
        <p:nvPicPr>
          <p:cNvPr id="5" name="Picture 2"/>
          <p:cNvPicPr>
            <a:picLocks noGrp="1" noChangeAspect="1" noChangeArrowheads="1"/>
          </p:cNvPicPr>
          <p:nvPr>
            <p:ph sz="quarter" idx="14"/>
          </p:nvPr>
        </p:nvPicPr>
        <p:blipFill>
          <a:blip r:embed="rId2">
            <a:extLst>
              <a:ext uri="{28A0092B-C50C-407E-A947-70E740481C1C}">
                <a14:useLocalDpi xmlns:a14="http://schemas.microsoft.com/office/drawing/2010/main" val="0"/>
              </a:ext>
            </a:extLst>
          </a:blip>
          <a:srcRect/>
          <a:stretch>
            <a:fillRect/>
          </a:stretch>
        </p:blipFill>
        <p:spPr bwMode="auto">
          <a:xfrm>
            <a:off x="533400" y="2671430"/>
            <a:ext cx="8153400" cy="2658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318936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Normalization and Joins</a:t>
            </a:r>
            <a:endParaRPr lang="en-US" dirty="0"/>
          </a:p>
        </p:txBody>
      </p:sp>
      <p:sp>
        <p:nvSpPr>
          <p:cNvPr id="3" name="Content Placeholder 2"/>
          <p:cNvSpPr>
            <a:spLocks noGrp="1"/>
          </p:cNvSpPr>
          <p:nvPr>
            <p:ph sz="quarter" idx="14"/>
          </p:nvPr>
        </p:nvSpPr>
        <p:spPr/>
        <p:txBody>
          <a:bodyPr/>
          <a:lstStyle/>
          <a:p>
            <a:r>
              <a:rPr lang="en-US" dirty="0" smtClean="0"/>
              <a:t>Normalization</a:t>
            </a:r>
          </a:p>
          <a:p>
            <a:r>
              <a:rPr lang="en-US" dirty="0" smtClean="0"/>
              <a:t>Functional Dependencies</a:t>
            </a:r>
          </a:p>
          <a:p>
            <a:pPr lvl="1"/>
            <a:r>
              <a:rPr lang="en-US" dirty="0" smtClean="0"/>
              <a:t>First Normal Form</a:t>
            </a:r>
          </a:p>
          <a:p>
            <a:pPr lvl="1"/>
            <a:r>
              <a:rPr lang="en-US" dirty="0" smtClean="0"/>
              <a:t>Second Normal Form</a:t>
            </a:r>
          </a:p>
          <a:p>
            <a:pPr lvl="1"/>
            <a:r>
              <a:rPr lang="en-US" dirty="0" smtClean="0"/>
              <a:t>Third Normal Form</a:t>
            </a:r>
          </a:p>
          <a:p>
            <a:endParaRPr lang="en-US" dirty="0" smtClean="0"/>
          </a:p>
          <a:p>
            <a:endParaRPr lang="en-US" dirty="0"/>
          </a:p>
        </p:txBody>
      </p:sp>
    </p:spTree>
    <p:extLst>
      <p:ext uri="{BB962C8B-B14F-4D97-AF65-F5344CB8AC3E}">
        <p14:creationId xmlns:p14="http://schemas.microsoft.com/office/powerpoint/2010/main" val="19374954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47500" lnSpcReduction="20000"/>
          </a:bodyPr>
          <a:lstStyle/>
          <a:p>
            <a:r>
              <a:rPr lang="en-US" b="1" dirty="0"/>
              <a:t>Figure </a:t>
            </a:r>
            <a:r>
              <a:rPr lang="en-US" b="1" dirty="0" smtClean="0"/>
              <a:t>5A.5 </a:t>
            </a:r>
            <a:r>
              <a:rPr lang="en-US" dirty="0" smtClean="0"/>
              <a:t>Raw Data Gathered from Orders at the Pizza Shop</a:t>
            </a:r>
            <a:endParaRPr lang="en-US" dirty="0"/>
          </a:p>
        </p:txBody>
      </p:sp>
      <p:pic>
        <p:nvPicPr>
          <p:cNvPr id="5"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2574337"/>
            <a:ext cx="8153400" cy="2852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993550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47500" lnSpcReduction="20000"/>
          </a:bodyPr>
          <a:lstStyle/>
          <a:p>
            <a:r>
              <a:rPr lang="en-US" b="1" dirty="0"/>
              <a:t>Figure </a:t>
            </a:r>
            <a:r>
              <a:rPr lang="en-US" b="1" dirty="0" smtClean="0"/>
              <a:t>5A.6 </a:t>
            </a:r>
            <a:r>
              <a:rPr lang="en-US" dirty="0" smtClean="0"/>
              <a:t>Functional Dependencies in Pizza Shop Example</a:t>
            </a:r>
            <a:endParaRPr lang="en-US" dirty="0"/>
          </a:p>
        </p:txBody>
      </p:sp>
      <p:pic>
        <p:nvPicPr>
          <p:cNvPr id="6"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184108" y="1447800"/>
            <a:ext cx="6851984"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90736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47500" lnSpcReduction="20000"/>
          </a:bodyPr>
          <a:lstStyle/>
          <a:p>
            <a:r>
              <a:rPr lang="en-US" b="1" dirty="0"/>
              <a:t>Figure </a:t>
            </a:r>
            <a:r>
              <a:rPr lang="en-US" b="1" dirty="0" smtClean="0"/>
              <a:t>5A.7 </a:t>
            </a:r>
            <a:r>
              <a:rPr lang="en-US" dirty="0" smtClean="0"/>
              <a:t>First Normal Form for Data from Pizza Shop</a:t>
            </a:r>
            <a:endParaRPr lang="en-US" dirty="0"/>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2539793"/>
            <a:ext cx="8153400" cy="2921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823038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47500" lnSpcReduction="20000"/>
          </a:bodyPr>
          <a:lstStyle/>
          <a:p>
            <a:r>
              <a:rPr lang="en-US" b="1" dirty="0"/>
              <a:t>Figure </a:t>
            </a:r>
            <a:r>
              <a:rPr lang="en-US" b="1" dirty="0" smtClean="0"/>
              <a:t>5A.8 </a:t>
            </a:r>
            <a:r>
              <a:rPr lang="en-US" dirty="0" smtClean="0"/>
              <a:t>Second Normal Form for Data from Pizza Shop</a:t>
            </a:r>
            <a:endParaRPr lang="en-US" dirty="0"/>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106562" y="1447800"/>
            <a:ext cx="7007075"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823038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47500" lnSpcReduction="20000"/>
          </a:bodyPr>
          <a:lstStyle/>
          <a:p>
            <a:r>
              <a:rPr lang="en-US" b="1" dirty="0"/>
              <a:t>Figure </a:t>
            </a:r>
            <a:r>
              <a:rPr lang="en-US" b="1" dirty="0" smtClean="0"/>
              <a:t>5A.9 </a:t>
            </a:r>
            <a:r>
              <a:rPr lang="en-US" dirty="0" smtClean="0"/>
              <a:t>Third Normal Form for Data from Pizza Shop</a:t>
            </a:r>
            <a:endParaRPr lang="en-US" dirty="0"/>
          </a:p>
        </p:txBody>
      </p:sp>
      <p:pic>
        <p:nvPicPr>
          <p:cNvPr id="6"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1453765"/>
            <a:ext cx="8153400" cy="5093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90736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47500" lnSpcReduction="20000"/>
          </a:bodyPr>
          <a:lstStyle/>
          <a:p>
            <a:r>
              <a:rPr lang="en-US" b="1" dirty="0"/>
              <a:t>Figure </a:t>
            </a:r>
            <a:r>
              <a:rPr lang="en-US" b="1" dirty="0" smtClean="0"/>
              <a:t>5A.10 </a:t>
            </a:r>
            <a:r>
              <a:rPr lang="en-US" dirty="0" smtClean="0"/>
              <a:t>The Join Process with the tables of third normal form to produce an order</a:t>
            </a:r>
            <a:endParaRPr lang="en-US" dirty="0"/>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2050656" y="1447800"/>
            <a:ext cx="5118888"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849934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dirty="0">
                <a:solidFill>
                  <a:schemeClr val="accent6">
                    <a:lumMod val="50000"/>
                  </a:schemeClr>
                </a:solidFill>
              </a:rPr>
              <a:t>[</a:t>
            </a:r>
            <a:r>
              <a:rPr lang="en-US" dirty="0"/>
              <a:t> </a:t>
            </a:r>
            <a:r>
              <a:rPr lang="en-US" dirty="0">
                <a:solidFill>
                  <a:schemeClr val="accent1">
                    <a:lumMod val="75000"/>
                  </a:schemeClr>
                </a:solidFill>
              </a:rPr>
              <a:t>Closing Case </a:t>
            </a:r>
            <a:r>
              <a:rPr lang="en-US" dirty="0" smtClean="0"/>
              <a:t>Flurry Gathers Data from Smartphone Users</a:t>
            </a:r>
            <a:r>
              <a:rPr lang="en-US" sz="5300" dirty="0" smtClean="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a:bodyPr>
          <a:lstStyle/>
          <a:p>
            <a:r>
              <a:rPr lang="en-US" dirty="0" smtClean="0"/>
              <a:t>The </a:t>
            </a:r>
            <a:r>
              <a:rPr lang="en-US" dirty="0" smtClean="0">
                <a:solidFill>
                  <a:schemeClr val="tx1">
                    <a:lumMod val="65000"/>
                    <a:lumOff val="35000"/>
                  </a:schemeClr>
                </a:solidFill>
              </a:rPr>
              <a:t>Business Problem</a:t>
            </a:r>
          </a:p>
          <a:p>
            <a:r>
              <a:rPr lang="en-US" dirty="0" smtClean="0"/>
              <a:t>The </a:t>
            </a:r>
            <a:r>
              <a:rPr lang="en-US" dirty="0" smtClean="0">
                <a:solidFill>
                  <a:schemeClr val="tx1">
                    <a:lumMod val="65000"/>
                    <a:lumOff val="35000"/>
                  </a:schemeClr>
                </a:solidFill>
              </a:rPr>
              <a:t>Solution</a:t>
            </a:r>
          </a:p>
          <a:p>
            <a:r>
              <a:rPr lang="en-US" dirty="0"/>
              <a:t>The </a:t>
            </a:r>
            <a:r>
              <a:rPr lang="en-US" dirty="0" smtClean="0">
                <a:solidFill>
                  <a:schemeClr val="tx1">
                    <a:lumMod val="65000"/>
                    <a:lumOff val="35000"/>
                  </a:schemeClr>
                </a:solidFill>
              </a:rPr>
              <a:t>Results</a:t>
            </a:r>
            <a:endParaRPr lang="en-US" dirty="0">
              <a:solidFill>
                <a:schemeClr val="tx1">
                  <a:lumMod val="65000"/>
                  <a:lumOff val="35000"/>
                </a:schemeClr>
              </a:solidFill>
            </a:endParaRPr>
          </a:p>
        </p:txBody>
      </p:sp>
    </p:spTree>
    <p:extLst>
      <p:ext uri="{BB962C8B-B14F-4D97-AF65-F5344CB8AC3E}">
        <p14:creationId xmlns:p14="http://schemas.microsoft.com/office/powerpoint/2010/main" val="4113457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16091</TotalTime>
  <Words>5358</Words>
  <Application>Microsoft Office PowerPoint</Application>
  <PresentationFormat>On-screen Show (4:3)</PresentationFormat>
  <Paragraphs>438</Paragraphs>
  <Slides>56</Slides>
  <Notes>37</Notes>
  <HiddenSlides>0</HiddenSlides>
  <MMClips>0</MMClips>
  <ScaleCrop>false</ScaleCrop>
  <HeadingPairs>
    <vt:vector size="4" baseType="variant">
      <vt:variant>
        <vt:lpstr>Theme</vt:lpstr>
      </vt:variant>
      <vt:variant>
        <vt:i4>1</vt:i4>
      </vt:variant>
      <vt:variant>
        <vt:lpstr>Slide Titles</vt:lpstr>
      </vt:variant>
      <vt:variant>
        <vt:i4>56</vt:i4>
      </vt:variant>
    </vt:vector>
  </HeadingPairs>
  <TitlesOfParts>
    <vt:vector size="57" baseType="lpstr">
      <vt:lpstr>Office Theme</vt:lpstr>
      <vt:lpstr>PowerPoint Presentation</vt:lpstr>
      <vt:lpstr>PowerPoint Presentation</vt:lpstr>
      <vt:lpstr>PowerPoint Presentation</vt:lpstr>
      <vt:lpstr>[ WEB RESOURCES]</vt:lpstr>
      <vt:lpstr>[ Opening Case Database Save the State of Washington Medicaid Dollars]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Closing Case Flurry Gathers Data from Smartphone Users]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Rainer_6e_Chapter5_Slides</dc:title>
  <dc:creator>John Kenneth Corley</dc:creator>
  <cp:lastModifiedBy>techsupport</cp:lastModifiedBy>
  <cp:revision>477</cp:revision>
  <dcterms:created xsi:type="dcterms:W3CDTF">2013-08-07T23:49:12Z</dcterms:created>
  <dcterms:modified xsi:type="dcterms:W3CDTF">2015-10-01T20:04:41Z</dcterms:modified>
</cp:coreProperties>
</file>