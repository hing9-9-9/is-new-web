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693" r:id="rId2"/>
    <p:sldId id="694" r:id="rId3"/>
    <p:sldId id="695" r:id="rId4"/>
    <p:sldId id="751" r:id="rId5"/>
    <p:sldId id="698" r:id="rId6"/>
    <p:sldId id="699" r:id="rId7"/>
    <p:sldId id="923" r:id="rId8"/>
    <p:sldId id="924" r:id="rId9"/>
    <p:sldId id="925" r:id="rId10"/>
    <p:sldId id="927" r:id="rId11"/>
    <p:sldId id="928" r:id="rId12"/>
    <p:sldId id="929" r:id="rId13"/>
    <p:sldId id="926" r:id="rId14"/>
    <p:sldId id="930" r:id="rId15"/>
    <p:sldId id="1164" r:id="rId16"/>
    <p:sldId id="1165" r:id="rId17"/>
    <p:sldId id="1166" r:id="rId18"/>
    <p:sldId id="1167" r:id="rId19"/>
    <p:sldId id="931" r:id="rId20"/>
    <p:sldId id="1060" r:id="rId21"/>
    <p:sldId id="932" r:id="rId22"/>
    <p:sldId id="1061" r:id="rId23"/>
    <p:sldId id="933" r:id="rId24"/>
    <p:sldId id="1062" r:id="rId25"/>
    <p:sldId id="1063" r:id="rId26"/>
    <p:sldId id="934" r:id="rId27"/>
    <p:sldId id="935" r:id="rId28"/>
    <p:sldId id="936" r:id="rId29"/>
    <p:sldId id="1168" r:id="rId30"/>
    <p:sldId id="1169" r:id="rId31"/>
    <p:sldId id="1170" r:id="rId32"/>
    <p:sldId id="937" r:id="rId33"/>
    <p:sldId id="1171" r:id="rId34"/>
    <p:sldId id="938" r:id="rId35"/>
    <p:sldId id="1088"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9B0B"/>
    <a:srgbClr val="F17901"/>
    <a:srgbClr val="69BE02"/>
    <a:srgbClr val="8E0000"/>
    <a:srgbClr val="B5FD5D"/>
    <a:srgbClr val="FEBB34"/>
    <a:srgbClr val="D5FEA4"/>
    <a:srgbClr val="7CFF33"/>
    <a:srgbClr val="75D402"/>
    <a:srgbClr val="74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77149" autoAdjust="0"/>
  </p:normalViewPr>
  <p:slideViewPr>
    <p:cSldViewPr>
      <p:cViewPr>
        <p:scale>
          <a:sx n="60" d="100"/>
          <a:sy n="60" d="100"/>
        </p:scale>
        <p:origin x="-2364" y="-7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EB6D6B-9C86-499A-A636-38829A5F60B2}" type="datetimeFigureOut">
              <a:rPr lang="en-US" smtClean="0"/>
              <a:t>10/1/2015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F41C25-7A1F-47FB-B705-003A328B9163}" type="slidenum">
              <a:rPr lang="en-US" smtClean="0"/>
              <a:t>‹#›</a:t>
            </a:fld>
            <a:endParaRPr lang="en-US"/>
          </a:p>
        </p:txBody>
      </p:sp>
    </p:spTree>
    <p:extLst>
      <p:ext uri="{BB962C8B-B14F-4D97-AF65-F5344CB8AC3E}">
        <p14:creationId xmlns:p14="http://schemas.microsoft.com/office/powerpoint/2010/main" val="4252309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Questions</a:t>
            </a:r>
          </a:p>
          <a:p>
            <a:pPr marL="228600" indent="-228600">
              <a:buFont typeface="+mj-lt"/>
              <a:buAutoNum type="arabicPeriod"/>
            </a:pPr>
            <a:r>
              <a:rPr lang="en-US" dirty="0" smtClean="0"/>
              <a:t>Why is an “</a:t>
            </a:r>
            <a:r>
              <a:rPr lang="en-US" dirty="0" err="1" smtClean="0"/>
              <a:t>omni</a:t>
            </a:r>
            <a:r>
              <a:rPr lang="en-US" dirty="0" smtClean="0"/>
              <a:t>-channel” strategy such an important component of retailers’ missions today?</a:t>
            </a:r>
          </a:p>
          <a:p>
            <a:pPr marL="228600" indent="-228600">
              <a:buFont typeface="+mj-lt"/>
              <a:buAutoNum type="arabicPeriod"/>
            </a:pPr>
            <a:r>
              <a:rPr lang="en-US" dirty="0" smtClean="0"/>
              <a:t>Describe the problems retailers face in implementing a ship-from-store strategy.</a:t>
            </a:r>
          </a:p>
          <a:p>
            <a:pPr marL="228600" indent="-228600">
              <a:buFont typeface="+mj-lt"/>
              <a:buAutoNum type="arabicPeriod"/>
            </a:pPr>
            <a:r>
              <a:rPr lang="en-US" dirty="0" smtClean="0"/>
              <a:t>Identify some strategies that Amazon could employ to counter the ship-from-store strategy from traditional bricks-and-mortar retailers.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a:t>
            </a:fld>
            <a:endParaRPr lang="en-US"/>
          </a:p>
        </p:txBody>
      </p:sp>
    </p:spTree>
    <p:extLst>
      <p:ext uri="{BB962C8B-B14F-4D97-AF65-F5344CB8AC3E}">
        <p14:creationId xmlns:p14="http://schemas.microsoft.com/office/powerpoint/2010/main" val="3205533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What are possible disadvantages of </a:t>
            </a:r>
            <a:r>
              <a:rPr lang="en-US" dirty="0" err="1" smtClean="0"/>
              <a:t>FlightCar’s</a:t>
            </a:r>
            <a:r>
              <a:rPr lang="en-US" dirty="0" smtClean="0"/>
              <a:t> business model for its customers? Provide </a:t>
            </a:r>
            <a:r>
              <a:rPr lang="en-US" dirty="0" err="1" smtClean="0"/>
              <a:t>specifi</a:t>
            </a:r>
            <a:r>
              <a:rPr lang="en-US" dirty="0" smtClean="0"/>
              <a:t> c examples to support your answer.</a:t>
            </a:r>
          </a:p>
          <a:p>
            <a:pPr marL="228600" indent="-228600">
              <a:buFont typeface="+mj-lt"/>
              <a:buAutoNum type="arabicPeriod"/>
            </a:pPr>
            <a:r>
              <a:rPr lang="en-US" dirty="0" smtClean="0"/>
              <a:t>Can </a:t>
            </a:r>
            <a:r>
              <a:rPr lang="en-US" dirty="0" err="1" smtClean="0"/>
              <a:t>FlightCar</a:t>
            </a:r>
            <a:r>
              <a:rPr lang="en-US" dirty="0" smtClean="0"/>
              <a:t> survive in its marketplace? Why or why not? Support your answer.</a:t>
            </a:r>
          </a:p>
          <a:p>
            <a:pPr marL="228600" indent="-228600">
              <a:buFont typeface="+mj-lt"/>
              <a:buAutoNum type="arabicPeriod"/>
            </a:pPr>
            <a:r>
              <a:rPr lang="en-US" dirty="0" smtClean="0"/>
              <a:t>Would you allow </a:t>
            </a:r>
            <a:r>
              <a:rPr lang="en-US" dirty="0" err="1" smtClean="0"/>
              <a:t>FlightCar</a:t>
            </a:r>
            <a:r>
              <a:rPr lang="en-US" dirty="0" smtClean="0"/>
              <a:t> to rent your car while you were traveling? Why or why not? Support your answer. Does your answer to this question have any bearing on your answer to Question 2?</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6</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Electronic Commerce (EC or e-commerce): </a:t>
            </a:r>
            <a:r>
              <a:rPr lang="en-US" dirty="0" smtClean="0"/>
              <a:t>the process of buying, selling, transferring, or exchanging products, services, or information via computer networks, including the Internet.</a:t>
            </a:r>
          </a:p>
          <a:p>
            <a:r>
              <a:rPr lang="en-US" b="1" dirty="0" smtClean="0"/>
              <a:t>Electronic Business (e-business): </a:t>
            </a:r>
            <a:r>
              <a:rPr lang="en-US" dirty="0" smtClean="0"/>
              <a:t>in addition to the buying and selling of goods and services, e-business (a broader concept) refers to servicing customers, collaborating with business partners, and performing electronic transactions within an organization.</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8</a:t>
            </a:fld>
            <a:endParaRPr lang="en-US"/>
          </a:p>
        </p:txBody>
      </p:sp>
    </p:spTree>
    <p:extLst>
      <p:ext uri="{BB962C8B-B14F-4D97-AF65-F5344CB8AC3E}">
        <p14:creationId xmlns:p14="http://schemas.microsoft.com/office/powerpoint/2010/main" val="3879796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Degree of Digitization: </a:t>
            </a:r>
            <a:r>
              <a:rPr lang="en-US" dirty="0" smtClean="0"/>
              <a:t>the extent to which the commerce has been transformed from physical to digital which can relate to both the product or service being sold and the delivery agent or intermediary. In other words, the product can be either physical or digital, and the delivery agent can also be either physical or digital.</a:t>
            </a:r>
          </a:p>
          <a:p>
            <a:r>
              <a:rPr lang="en-US" b="1" dirty="0" smtClean="0"/>
              <a:t>Brick-and-Mortar Organizations: </a:t>
            </a:r>
            <a:r>
              <a:rPr lang="en-US" dirty="0" smtClean="0"/>
              <a:t>organizations that exist as purely physical organizations.</a:t>
            </a:r>
          </a:p>
          <a:p>
            <a:r>
              <a:rPr lang="en-US" b="1" dirty="0" smtClean="0"/>
              <a:t>Virtual (or pure-play) Organizations: </a:t>
            </a:r>
            <a:r>
              <a:rPr lang="en-US" dirty="0" smtClean="0"/>
              <a:t>all dimensions of the organization are digital and they engage in pure electronic commerce only.</a:t>
            </a:r>
          </a:p>
          <a:p>
            <a:r>
              <a:rPr lang="en-US" b="1" dirty="0" smtClean="0"/>
              <a:t>Clicks-and-Mortar (or Clicks-and-Bricks): </a:t>
            </a:r>
            <a:r>
              <a:rPr lang="en-US" dirty="0" smtClean="0"/>
              <a:t>organizations that are partial electronic commerce (EC) combining both virtual and physical dimensions.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9</a:t>
            </a:fld>
            <a:endParaRPr lang="en-US"/>
          </a:p>
        </p:txBody>
      </p:sp>
    </p:spTree>
    <p:extLst>
      <p:ext uri="{BB962C8B-B14F-4D97-AF65-F5344CB8AC3E}">
        <p14:creationId xmlns:p14="http://schemas.microsoft.com/office/powerpoint/2010/main" val="13313161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Business-to-Consumer (B2C): </a:t>
            </a:r>
            <a:r>
              <a:rPr lang="en-US" dirty="0" smtClean="0"/>
              <a:t>the sellers are organizations, and the buyers are individuals.</a:t>
            </a:r>
          </a:p>
          <a:p>
            <a:r>
              <a:rPr lang="en-US" b="1" dirty="0" smtClean="0"/>
              <a:t>Business-to-Business (B2B): </a:t>
            </a:r>
            <a:r>
              <a:rPr lang="en-US" dirty="0" smtClean="0"/>
              <a:t>both the sellers and the buyers are business organizations. B2B comprises the vast majority of EC volume.</a:t>
            </a:r>
          </a:p>
          <a:p>
            <a:r>
              <a:rPr lang="en-US" b="1" dirty="0" smtClean="0"/>
              <a:t>Consumer-to-Consumer (C2C): </a:t>
            </a:r>
            <a:r>
              <a:rPr lang="en-US" dirty="0" smtClean="0"/>
              <a:t>an individual sells products or services to other individuals.</a:t>
            </a:r>
          </a:p>
          <a:p>
            <a:r>
              <a:rPr lang="en-US" b="1" dirty="0" smtClean="0"/>
              <a:t>Business-to-Employee (B2E): </a:t>
            </a:r>
            <a:r>
              <a:rPr lang="en-US" dirty="0" smtClean="0"/>
              <a:t>an organization uses EC internally to provide information and services to its employees.</a:t>
            </a:r>
          </a:p>
          <a:p>
            <a:r>
              <a:rPr lang="en-US" b="1" dirty="0" smtClean="0"/>
              <a:t>E-government: </a:t>
            </a:r>
            <a:r>
              <a:rPr lang="en-US" dirty="0" smtClean="0"/>
              <a:t>E-government is the use of Internet technology in general and e-commerce in particular to deliver information and public services to citizens.</a:t>
            </a:r>
          </a:p>
          <a:p>
            <a:r>
              <a:rPr lang="en-US" b="1" dirty="0" smtClean="0"/>
              <a:t>Government-to-Citizen (G2C): </a:t>
            </a:r>
            <a:r>
              <a:rPr lang="en-US" dirty="0" smtClean="0"/>
              <a:t>government to individual citizens.</a:t>
            </a:r>
          </a:p>
          <a:p>
            <a:r>
              <a:rPr lang="en-US" b="1" dirty="0" smtClean="0"/>
              <a:t>Government-to-Business (G2B): </a:t>
            </a:r>
            <a:r>
              <a:rPr lang="en-US" dirty="0" smtClean="0"/>
              <a:t>G2B EC is much like B2B EC, usually with an overlay of government procurement regulations.</a:t>
            </a:r>
          </a:p>
          <a:p>
            <a:r>
              <a:rPr lang="en-US" b="1" dirty="0" smtClean="0"/>
              <a:t>Mobile Commerce (m-commerce): </a:t>
            </a:r>
            <a:r>
              <a:rPr lang="en-US" dirty="0" smtClean="0"/>
              <a:t>e-commerce that is conducted entirely in a wireless environment.</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10</a:t>
            </a:fld>
            <a:endParaRPr lang="en-US"/>
          </a:p>
        </p:txBody>
      </p:sp>
    </p:spTree>
    <p:extLst>
      <p:ext uri="{BB962C8B-B14F-4D97-AF65-F5344CB8AC3E}">
        <p14:creationId xmlns:p14="http://schemas.microsoft.com/office/powerpoint/2010/main" val="1219012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Online direct marketing: </a:t>
            </a:r>
            <a:r>
              <a:rPr lang="en-US" dirty="0" smtClean="0"/>
              <a:t>Manufacturers or retailers sell directly to customers. Very efficient for digital products and services. Can allow for product or service customization (www.dell.com)</a:t>
            </a:r>
          </a:p>
          <a:p>
            <a:r>
              <a:rPr lang="en-US" b="1" dirty="0" smtClean="0"/>
              <a:t>Electronic tendering system: </a:t>
            </a:r>
            <a:r>
              <a:rPr lang="en-US" dirty="0" smtClean="0"/>
              <a:t>Businesses request quotes from suppliers. Uses B2B with a reverse auction mechanism</a:t>
            </a:r>
          </a:p>
          <a:p>
            <a:r>
              <a:rPr lang="en-US" b="1" dirty="0" smtClean="0"/>
              <a:t>Name-your-own-price: </a:t>
            </a:r>
            <a:r>
              <a:rPr lang="en-US" dirty="0" smtClean="0"/>
              <a:t>Customers decide how much they are willing to pay. An intermediary tries to match a provider (www.priceline.com)</a:t>
            </a:r>
          </a:p>
          <a:p>
            <a:r>
              <a:rPr lang="en-US" b="1" dirty="0" smtClean="0"/>
              <a:t>Find-the-best-price:  </a:t>
            </a:r>
            <a:r>
              <a:rPr lang="en-US" dirty="0" smtClean="0"/>
              <a:t>Customers specify a need; an intermediary compares providers and shows the lowest price. Customers must accept the offer in a short time, or they may lose the deal (www.hotwire.com)</a:t>
            </a:r>
          </a:p>
          <a:p>
            <a:r>
              <a:rPr lang="en-US" b="1" dirty="0" smtClean="0"/>
              <a:t>Affiliate marketing: </a:t>
            </a:r>
            <a:r>
              <a:rPr lang="en-US" dirty="0" smtClean="0"/>
              <a:t>Vendors ask partners to place logos (or banners) on partner’s site. If customers click on logo, go to vendor’s site, and make a purchase, then the vendor pays commissions to the partners</a:t>
            </a:r>
          </a:p>
          <a:p>
            <a:r>
              <a:rPr lang="en-US" b="1" dirty="0" smtClean="0"/>
              <a:t>Viral marketing: </a:t>
            </a:r>
            <a:r>
              <a:rPr lang="en-US" dirty="0" smtClean="0"/>
              <a:t>Recipients of your marketing notices send information about your product to their friends</a:t>
            </a:r>
          </a:p>
          <a:p>
            <a:r>
              <a:rPr lang="en-US" b="1" dirty="0" smtClean="0"/>
              <a:t>Group purchasing: </a:t>
            </a:r>
            <a:r>
              <a:rPr lang="en-US" dirty="0" smtClean="0"/>
              <a:t>(e-coops) Small buyers aggregate demand to create a large volume; the group then conducts tendering or negotiates a low price</a:t>
            </a:r>
          </a:p>
        </p:txBody>
      </p:sp>
      <p:sp>
        <p:nvSpPr>
          <p:cNvPr id="4" name="Slide Number Placeholder 3"/>
          <p:cNvSpPr>
            <a:spLocks noGrp="1"/>
          </p:cNvSpPr>
          <p:nvPr>
            <p:ph type="sldNum" sz="quarter" idx="10"/>
          </p:nvPr>
        </p:nvSpPr>
        <p:spPr/>
        <p:txBody>
          <a:bodyPr/>
          <a:lstStyle/>
          <a:p>
            <a:fld id="{2CF41C25-7A1F-47FB-B705-003A328B9163}" type="slidenum">
              <a:rPr lang="en-US" smtClean="0"/>
              <a:t>11</a:t>
            </a:fld>
            <a:endParaRPr lang="en-US"/>
          </a:p>
        </p:txBody>
      </p:sp>
    </p:spTree>
    <p:extLst>
      <p:ext uri="{BB962C8B-B14F-4D97-AF65-F5344CB8AC3E}">
        <p14:creationId xmlns:p14="http://schemas.microsoft.com/office/powerpoint/2010/main" val="13043494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Online auctions: </a:t>
            </a:r>
            <a:r>
              <a:rPr lang="en-US" dirty="0" smtClean="0"/>
              <a:t>Companies run auctions of various types on the Internet. Very popular in C2C, but gaining ground in other types of EC as well (www.ebay.com)</a:t>
            </a:r>
          </a:p>
          <a:p>
            <a:r>
              <a:rPr lang="en-US" b="1" dirty="0" smtClean="0"/>
              <a:t>Product customization: </a:t>
            </a:r>
            <a:r>
              <a:rPr lang="en-US" dirty="0" smtClean="0"/>
              <a:t>Customers use the Internet to self configure products or services. Sellers then price them and fulfill them quickly (build-to-order) (www.jaguar.com)</a:t>
            </a:r>
          </a:p>
          <a:p>
            <a:r>
              <a:rPr lang="en-US" b="1" dirty="0" smtClean="0"/>
              <a:t>Electronic marketplaces and exchanges: </a:t>
            </a:r>
            <a:r>
              <a:rPr lang="en-US" dirty="0" smtClean="0"/>
              <a:t>Transactions are conducted efficiently (more information to buyers and sellers, lower transaction costs) in electronic marketplaces (private or public)</a:t>
            </a:r>
          </a:p>
          <a:p>
            <a:r>
              <a:rPr lang="en-US" b="1" dirty="0" smtClean="0"/>
              <a:t>Bartering online: </a:t>
            </a:r>
            <a:r>
              <a:rPr lang="en-US" dirty="0" smtClean="0"/>
              <a:t>Intermediary administers online exchange of surplus products and/or company receives “points” for its contribution, which it can use to purchase other needed items (www.bbu.com)</a:t>
            </a:r>
          </a:p>
          <a:p>
            <a:r>
              <a:rPr lang="en-US" b="1" dirty="0" smtClean="0"/>
              <a:t>Deep discounters: </a:t>
            </a:r>
            <a:r>
              <a:rPr lang="en-US" dirty="0" smtClean="0"/>
              <a:t>Company offers deep price discounts. Appeals to customers who consider only price in their purchasing decisions (www.half.com)</a:t>
            </a:r>
          </a:p>
          <a:p>
            <a:r>
              <a:rPr lang="en-US" b="1" dirty="0" smtClean="0"/>
              <a:t>Membership: </a:t>
            </a:r>
            <a:r>
              <a:rPr lang="en-US" dirty="0" smtClean="0"/>
              <a:t>Only members can use the services provided, including access to certain information, conducting trades, etc. (www.egreetings.com)</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12</a:t>
            </a:fld>
            <a:endParaRPr lang="en-US"/>
          </a:p>
        </p:txBody>
      </p:sp>
    </p:spTree>
    <p:extLst>
      <p:ext uri="{BB962C8B-B14F-4D97-AF65-F5344CB8AC3E}">
        <p14:creationId xmlns:p14="http://schemas.microsoft.com/office/powerpoint/2010/main" val="17027354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Auction: </a:t>
            </a:r>
            <a:r>
              <a:rPr lang="en-US" dirty="0" smtClean="0"/>
              <a:t>a competitive buying and selling process in which prices are determined dynamically by competitive bidding.</a:t>
            </a:r>
          </a:p>
          <a:p>
            <a:r>
              <a:rPr lang="en-US" b="1" dirty="0" smtClean="0"/>
              <a:t>Forward Auctions: </a:t>
            </a:r>
            <a:r>
              <a:rPr lang="en-US" dirty="0" smtClean="0"/>
              <a:t>sellers solicit bids from many potential buyers and prices tend to increase over time.</a:t>
            </a:r>
          </a:p>
          <a:p>
            <a:r>
              <a:rPr lang="en-US" b="1" dirty="0" smtClean="0"/>
              <a:t>Reverse Auctions: </a:t>
            </a:r>
            <a:r>
              <a:rPr lang="en-US" dirty="0" smtClean="0"/>
              <a:t>one buyer, usually an organization, wants to purchase a product or a service and buyer posts a request for quotation (RFQ) on its Web site or on a third party site. Prices tend to decrease over time.</a:t>
            </a:r>
          </a:p>
          <a:p>
            <a:r>
              <a:rPr lang="en-US" b="1" dirty="0" smtClean="0"/>
              <a:t>Electronic Storefront: </a:t>
            </a:r>
            <a:r>
              <a:rPr lang="en-US" dirty="0" smtClean="0"/>
              <a:t>a Web site that represents a single store.</a:t>
            </a:r>
          </a:p>
          <a:p>
            <a:r>
              <a:rPr lang="en-US" b="1" dirty="0" smtClean="0"/>
              <a:t>Electronic Mall: </a:t>
            </a:r>
            <a:r>
              <a:rPr lang="en-US" dirty="0" smtClean="0"/>
              <a:t>(also known as a cybermall or an e-mall) a collection of individual shops consolidated under one Internet address and they are closely associated with B2C electronic commerce.</a:t>
            </a:r>
          </a:p>
          <a:p>
            <a:r>
              <a:rPr lang="en-US" b="1" dirty="0" smtClean="0"/>
              <a:t>Electronic Marketplace (e-marketplace): </a:t>
            </a:r>
            <a:r>
              <a:rPr lang="en-US" dirty="0" smtClean="0"/>
              <a:t>a central, virtual market space on the Web where many buyers and many sellers can conduct e-commerce and e-business activities.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13</a:t>
            </a:fld>
            <a:endParaRPr lang="en-US"/>
          </a:p>
        </p:txBody>
      </p:sp>
    </p:spTree>
    <p:extLst>
      <p:ext uri="{BB962C8B-B14F-4D97-AF65-F5344CB8AC3E}">
        <p14:creationId xmlns:p14="http://schemas.microsoft.com/office/powerpoint/2010/main" val="27761224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Electronic Payment Mechanisms: </a:t>
            </a:r>
            <a:r>
              <a:rPr lang="en-US" dirty="0" smtClean="0"/>
              <a:t>enable buyers to pay for goods and services electronically, rather than writing a check or using cash.</a:t>
            </a:r>
          </a:p>
          <a:p>
            <a:r>
              <a:rPr lang="en-US" b="1" dirty="0" smtClean="0"/>
              <a:t>Electronic Checks: </a:t>
            </a:r>
            <a:r>
              <a:rPr lang="en-US" dirty="0" smtClean="0"/>
              <a:t>(e-checks), which are used primarily in B2B, are similar to regular paper checks.</a:t>
            </a:r>
          </a:p>
          <a:p>
            <a:r>
              <a:rPr lang="en-US" b="1" dirty="0" smtClean="0"/>
              <a:t>Electronic Cards: </a:t>
            </a:r>
            <a:r>
              <a:rPr lang="en-US" dirty="0" smtClean="0"/>
              <a:t>There are a variety of electronic cards, and they are used for different purposes. The most common types are electronic credit cards, virtual credit cards, purchasing cards, stored-value money cards, and smart cards.</a:t>
            </a:r>
          </a:p>
          <a:p>
            <a:r>
              <a:rPr lang="en-US" b="1" dirty="0" smtClean="0"/>
              <a:t>Virtual Credit Cards: </a:t>
            </a:r>
            <a:r>
              <a:rPr lang="en-US" dirty="0" smtClean="0"/>
              <a:t>allow customers to shop online and can be used only once in order to thwart criminals by using a different, random card number every time you shop online.</a:t>
            </a:r>
          </a:p>
          <a:p>
            <a:r>
              <a:rPr lang="en-US" b="1" dirty="0" smtClean="0"/>
              <a:t>Purchasing Cards: </a:t>
            </a:r>
            <a:r>
              <a:rPr lang="en-US" dirty="0" smtClean="0"/>
              <a:t>are the B2B equivalent of electronic credit cards and in some countries, purchasing cards are the primary form of payment between companies.</a:t>
            </a:r>
          </a:p>
          <a:p>
            <a:r>
              <a:rPr lang="en-US" b="1" dirty="0" smtClean="0"/>
              <a:t>Stored-Value Money Cards: </a:t>
            </a:r>
            <a:r>
              <a:rPr lang="en-US" dirty="0" smtClean="0"/>
              <a:t>allow you to store a fixed amount of prepaid money and then spend it as necessary and each time you use the card, the amount is reduced by the amount you spent.</a:t>
            </a:r>
          </a:p>
          <a:p>
            <a:r>
              <a:rPr lang="en-US" b="1" dirty="0" smtClean="0"/>
              <a:t>Smart Cards: </a:t>
            </a:r>
            <a:r>
              <a:rPr lang="en-US" dirty="0" smtClean="0"/>
              <a:t>contain a chip that can store a considerable amount of information—more than 100 times the amount contained on a stored-value money card and are frequently multipurpose. That is, you can use them as a credit card, a debit card, a stored-value money card, or a loyalty card.</a:t>
            </a:r>
          </a:p>
          <a:p>
            <a:r>
              <a:rPr lang="en-US" b="1" dirty="0" smtClean="0"/>
              <a:t>Digital Wallet: </a:t>
            </a:r>
            <a:r>
              <a:rPr lang="en-US" dirty="0" smtClean="0"/>
              <a:t>an application used for making financial transactions. These apps can be on users’ desktops or on their smartphones.</a:t>
            </a:r>
          </a:p>
          <a:p>
            <a:r>
              <a:rPr lang="en-US" b="1" dirty="0" smtClean="0"/>
              <a:t>Person-to-Person Payments: </a:t>
            </a:r>
            <a:r>
              <a:rPr lang="en-US" dirty="0" smtClean="0"/>
              <a:t>enable two individuals, or an individual and a business, to transfer funds without using a credit card (e.g., PayPal).</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14</a:t>
            </a:fld>
            <a:endParaRPr lang="en-US"/>
          </a:p>
        </p:txBody>
      </p:sp>
    </p:spTree>
    <p:extLst>
      <p:ext uri="{BB962C8B-B14F-4D97-AF65-F5344CB8AC3E}">
        <p14:creationId xmlns:p14="http://schemas.microsoft.com/office/powerpoint/2010/main" val="10416506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7.1 </a:t>
            </a:r>
            <a:r>
              <a:rPr lang="en-US" dirty="0" smtClean="0"/>
              <a:t>How e-credit cards work. (The numbers 1–9 indicate the sequence of activities.)</a:t>
            </a:r>
          </a:p>
          <a:p>
            <a:endParaRPr lang="en-US" dirty="0" smtClean="0"/>
          </a:p>
          <a:p>
            <a:r>
              <a:rPr lang="en-US" dirty="0" smtClean="0"/>
              <a:t>• Step 1: When you purchase a book from Amazon, for example, your credit card information and purchase amount are encrypted in your browser. This procedure ensures the information is safe while it is “traveling” on the Internet to Amazon.</a:t>
            </a:r>
          </a:p>
          <a:p>
            <a:r>
              <a:rPr lang="en-US" dirty="0" smtClean="0"/>
              <a:t>• Step 2: When your information arrives at Amazon, it is not opened. Rather, it is transferred automatically (in encrypted form) to a clearinghouse, where it is decrypted for verification and authorization.</a:t>
            </a:r>
          </a:p>
          <a:p>
            <a:r>
              <a:rPr lang="en-US" dirty="0" smtClean="0"/>
              <a:t>• Step 3: The clearinghouse asks the bank that issued you your credit card (the card issuer bank) to verify your credit card information.</a:t>
            </a:r>
          </a:p>
          <a:p>
            <a:r>
              <a:rPr lang="en-US" dirty="0" smtClean="0"/>
              <a:t>• Step 4: Your card issuer bank verifies your credit card information and reports this to the clearinghouse.</a:t>
            </a:r>
          </a:p>
          <a:p>
            <a:r>
              <a:rPr lang="en-US" dirty="0" smtClean="0"/>
              <a:t>• Step 5: The clearinghouse reports the result of the verification of your credit card to Amazon.</a:t>
            </a:r>
          </a:p>
          <a:p>
            <a:r>
              <a:rPr lang="en-US" dirty="0" smtClean="0"/>
              <a:t>• Step 6: Amazon reports a successful purchase and amount to you.</a:t>
            </a:r>
          </a:p>
          <a:p>
            <a:r>
              <a:rPr lang="en-US" dirty="0" smtClean="0"/>
              <a:t>• Step 7: Your card issuer bank sends funds in the amount of the purchase to Amazon’s bank.</a:t>
            </a:r>
          </a:p>
          <a:p>
            <a:r>
              <a:rPr lang="en-US" dirty="0" smtClean="0"/>
              <a:t>• Step 8: Your card issuer bank notifies you (either electronically or in your monthly statement) of the debit on your credit card.</a:t>
            </a:r>
          </a:p>
          <a:p>
            <a:r>
              <a:rPr lang="en-US" dirty="0" smtClean="0"/>
              <a:t>• Step 9: Amazon’s bank notifies Amazon of the funds credited to its account.</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15</a:t>
            </a:fld>
            <a:endParaRPr lang="en-US"/>
          </a:p>
        </p:txBody>
      </p:sp>
    </p:spTree>
    <p:extLst>
      <p:ext uri="{BB962C8B-B14F-4D97-AF65-F5344CB8AC3E}">
        <p14:creationId xmlns:p14="http://schemas.microsoft.com/office/powerpoint/2010/main" val="1418844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r>
              <a:rPr lang="en-US" b="1" dirty="0" smtClean="0"/>
              <a:t>Organization Benefit: </a:t>
            </a:r>
            <a:r>
              <a:rPr lang="en-US" dirty="0" smtClean="0"/>
              <a:t>national and international markets more accessible by lowering the costs of processing, distributing, and retrieving information. </a:t>
            </a:r>
          </a:p>
          <a:p>
            <a:r>
              <a:rPr lang="en-US" b="1" dirty="0" smtClean="0"/>
              <a:t>Customer Benefit: </a:t>
            </a:r>
            <a:r>
              <a:rPr lang="en-US" dirty="0" smtClean="0"/>
              <a:t>by being able to access a vast number of products and services, around the clock. </a:t>
            </a:r>
          </a:p>
          <a:p>
            <a:r>
              <a:rPr lang="en-US" b="1" dirty="0" smtClean="0"/>
              <a:t>Benefit to Society: </a:t>
            </a:r>
            <a:r>
              <a:rPr lang="en-US" dirty="0" smtClean="0"/>
              <a:t>the ability to easily and conveniently deliver information, services, and products to people in cities, rural areas, and developing countries.</a:t>
            </a:r>
          </a:p>
          <a:p>
            <a:endParaRPr lang="en-US" dirty="0" smtClean="0"/>
          </a:p>
          <a:p>
            <a:pPr marL="0" indent="0">
              <a:buNone/>
            </a:pPr>
            <a:r>
              <a:rPr lang="en-US" b="1" dirty="0" smtClean="0"/>
              <a:t>Technological Limitations:</a:t>
            </a:r>
          </a:p>
          <a:p>
            <a:pPr marL="171450" indent="-171450">
              <a:buFont typeface="Arial" panose="020B0604020202020204" pitchFamily="34" charset="0"/>
              <a:buChar char="•"/>
            </a:pPr>
            <a:r>
              <a:rPr lang="en-US" dirty="0" smtClean="0"/>
              <a:t>Lack of universally accepted security standards</a:t>
            </a:r>
          </a:p>
          <a:p>
            <a:pPr marL="171450" indent="-171450">
              <a:buFont typeface="Arial" panose="020B0604020202020204" pitchFamily="34" charset="0"/>
              <a:buChar char="•"/>
            </a:pPr>
            <a:r>
              <a:rPr lang="en-US" dirty="0" smtClean="0"/>
              <a:t>In less-developed countries, telecommunications bandwidth often is insufficient, and accessing the Web is expensive.</a:t>
            </a:r>
          </a:p>
          <a:p>
            <a:endParaRPr lang="en-US" dirty="0" smtClean="0"/>
          </a:p>
          <a:p>
            <a:pPr marL="0" indent="0">
              <a:buNone/>
            </a:pPr>
            <a:r>
              <a:rPr lang="en-US" b="1" dirty="0" smtClean="0"/>
              <a:t>Non-technological Limitations of E-Commerce:</a:t>
            </a:r>
          </a:p>
          <a:p>
            <a:pPr marL="171450" indent="-171450">
              <a:buFont typeface="Arial" panose="020B0604020202020204" pitchFamily="34" charset="0"/>
              <a:buChar char="•"/>
            </a:pPr>
            <a:r>
              <a:rPr lang="en-US" dirty="0" smtClean="0"/>
              <a:t>Perceptions that EC is insecure</a:t>
            </a:r>
          </a:p>
          <a:p>
            <a:pPr marL="171450" indent="-171450">
              <a:buFont typeface="Arial" panose="020B0604020202020204" pitchFamily="34" charset="0"/>
              <a:buChar char="•"/>
            </a:pPr>
            <a:r>
              <a:rPr lang="en-US" dirty="0" smtClean="0"/>
              <a:t>EC has unresolved legal issues</a:t>
            </a:r>
          </a:p>
          <a:p>
            <a:pPr marL="171450" indent="-171450">
              <a:buFont typeface="Arial" panose="020B0604020202020204" pitchFamily="34" charset="0"/>
              <a:buChar char="•"/>
            </a:pPr>
            <a:r>
              <a:rPr lang="en-US" dirty="0" smtClean="0"/>
              <a:t>EC lacks a critical mass of sellers and buyers.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19</a:t>
            </a:fld>
            <a:endParaRPr lang="en-US"/>
          </a:p>
        </p:txBody>
      </p:sp>
    </p:spTree>
    <p:extLst>
      <p:ext uri="{BB962C8B-B14F-4D97-AF65-F5344CB8AC3E}">
        <p14:creationId xmlns:p14="http://schemas.microsoft.com/office/powerpoint/2010/main" val="9305269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Describe how the Young Village Officials’ Farm and </a:t>
            </a:r>
            <a:r>
              <a:rPr lang="en-US" dirty="0" err="1" smtClean="0"/>
              <a:t>Jumia</a:t>
            </a:r>
            <a:r>
              <a:rPr lang="en-US" dirty="0" smtClean="0"/>
              <a:t> are trying to overcome the limitations of electronic commerce. Provide specific examples to support your answer.</a:t>
            </a:r>
          </a:p>
          <a:p>
            <a:pPr marL="228600" indent="-228600">
              <a:buFont typeface="+mj-lt"/>
              <a:buAutoNum type="arabicPeriod"/>
            </a:pPr>
            <a:r>
              <a:rPr lang="en-US" dirty="0" smtClean="0"/>
              <a:t>What are the advantages of electronic commerce to rural farmers in China (above and beyond increased income)?</a:t>
            </a:r>
          </a:p>
          <a:p>
            <a:pPr marL="228600" indent="-228600">
              <a:buFont typeface="+mj-lt"/>
              <a:buAutoNum type="arabicPeriod"/>
            </a:pPr>
            <a:r>
              <a:rPr lang="en-US" dirty="0" smtClean="0"/>
              <a:t>What are the advantages of electronic commerce to the people of Nigeria?</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20</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Electronic Storefront: </a:t>
            </a:r>
            <a:r>
              <a:rPr lang="en-US" dirty="0" smtClean="0"/>
              <a:t>a Web site that represents a single store.</a:t>
            </a:r>
          </a:p>
          <a:p>
            <a:r>
              <a:rPr lang="en-US" b="1" dirty="0" smtClean="0"/>
              <a:t>Electronic Mall: </a:t>
            </a:r>
            <a:r>
              <a:rPr lang="en-US" dirty="0" smtClean="0"/>
              <a:t>(also known as a cybermall or an e-mall) a collection of individual shops grouped under a single Internet address.</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Online Advertising: </a:t>
            </a:r>
            <a:r>
              <a:rPr lang="en-US" dirty="0" smtClean="0"/>
              <a:t>the practice of using the Internet and WWW to disseminate information in an attempt to influence a buyer–seller transaction through the direct response approach which personalizes advertising and marketing making the advertising process media rich, dynamic, and interactive. </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21</a:t>
            </a:fld>
            <a:endParaRPr lang="en-US"/>
          </a:p>
        </p:txBody>
      </p:sp>
    </p:spTree>
    <p:extLst>
      <p:ext uri="{BB962C8B-B14F-4D97-AF65-F5344CB8AC3E}">
        <p14:creationId xmlns:p14="http://schemas.microsoft.com/office/powerpoint/2010/main" val="40469988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Describe the advantages that </a:t>
            </a:r>
            <a:r>
              <a:rPr lang="en-US" dirty="0" err="1" smtClean="0"/>
              <a:t>Swipely</a:t>
            </a:r>
            <a:r>
              <a:rPr lang="en-US" dirty="0" smtClean="0"/>
              <a:t> offers merchants that help it maintain a competitive advantage in the marketplace.</a:t>
            </a:r>
          </a:p>
          <a:p>
            <a:pPr marL="228600" indent="-228600">
              <a:buFont typeface="+mj-lt"/>
              <a:buAutoNum type="arabicPeriod"/>
            </a:pPr>
            <a:r>
              <a:rPr lang="en-US" dirty="0" smtClean="0"/>
              <a:t>Refer back to Chapter 2. Does </a:t>
            </a:r>
            <a:r>
              <a:rPr lang="en-US" dirty="0" err="1" smtClean="0"/>
              <a:t>Swipely</a:t>
            </a:r>
            <a:r>
              <a:rPr lang="en-US" dirty="0" smtClean="0"/>
              <a:t> function as a strategic information system for a merchant? Why or why not?</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22</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Disintermediation: </a:t>
            </a:r>
            <a:r>
              <a:rPr lang="en-US" dirty="0" smtClean="0"/>
              <a:t>a process whereby intermediaries are eliminated.</a:t>
            </a:r>
          </a:p>
          <a:p>
            <a:r>
              <a:rPr lang="en-US" b="1" dirty="0" smtClean="0"/>
              <a:t>Intermediaries (or middlemen) Have Two Functions: </a:t>
            </a:r>
          </a:p>
          <a:p>
            <a:pPr marL="171450" indent="-171450">
              <a:buFont typeface="Arial" panose="020B0604020202020204" pitchFamily="34" charset="0"/>
              <a:buChar char="•"/>
            </a:pPr>
            <a:r>
              <a:rPr lang="en-US" dirty="0" smtClean="0"/>
              <a:t>they provide information, and this function can be fully automated and most likely will be assumed by e-marketplaces and portals that provide information for free.</a:t>
            </a:r>
          </a:p>
          <a:p>
            <a:pPr marL="171450" indent="-171450">
              <a:buFont typeface="Arial" panose="020B0604020202020204" pitchFamily="34" charset="0"/>
              <a:buChar char="•"/>
            </a:pPr>
            <a:r>
              <a:rPr lang="en-US" dirty="0" smtClean="0"/>
              <a:t>they perform value-added services such as consulting.</a:t>
            </a:r>
          </a:p>
          <a:p>
            <a:r>
              <a:rPr lang="en-US" b="1" dirty="0" err="1" smtClean="0"/>
              <a:t>Cyberbanking</a:t>
            </a:r>
            <a:r>
              <a:rPr lang="en-US" b="1" dirty="0" smtClean="0"/>
              <a:t> (or Electronic Banking): </a:t>
            </a:r>
            <a:r>
              <a:rPr lang="en-US" dirty="0" smtClean="0"/>
              <a:t>involves conducting various banking activities from home, at a place of business, or on the road instead of at a physical bank location. It include capabilities ranging from paying bills to applying for a loan.</a:t>
            </a:r>
          </a:p>
          <a:p>
            <a:r>
              <a:rPr lang="en-US" b="1" dirty="0" smtClean="0"/>
              <a:t>Online Securities Trading: </a:t>
            </a:r>
            <a:r>
              <a:rPr lang="en-US" dirty="0" smtClean="0"/>
              <a:t>the use of computers to trade stocks, bonds, and other financial instruments. (e.g., E*Trade, Ameritrade, etc.) which is cheaper than a full-service or discount broker.</a:t>
            </a:r>
          </a:p>
          <a:p>
            <a:r>
              <a:rPr lang="en-US" b="1" dirty="0" smtClean="0"/>
              <a:t>Online Job Market: </a:t>
            </a:r>
            <a:r>
              <a:rPr lang="en-US" dirty="0" smtClean="0"/>
              <a:t>Companies and government agencies advertise available positions, accept resumes, and take applications via the Internet while job seekers use the online job market to reply online to employment ads, to place resumes on various sites, and to use recruiting firms (e.g., www.monster.com, www.simplyhired.com, www.linkedin.com, and www.truecareers.com).</a:t>
            </a:r>
          </a:p>
          <a:p>
            <a:r>
              <a:rPr lang="en-US" b="1" dirty="0" smtClean="0"/>
              <a:t>Travel Services: </a:t>
            </a:r>
            <a:r>
              <a:rPr lang="en-US" dirty="0" smtClean="0"/>
              <a:t>use of the Internet and WWW to plan, explore, and arrange almost any trip economically allowing customers to purchase airline tickets, reserve hotel rooms, and rent cars.</a:t>
            </a:r>
          </a:p>
          <a:p>
            <a:r>
              <a:rPr lang="en-US" b="1" dirty="0" smtClean="0"/>
              <a:t>Online Advertising: </a:t>
            </a:r>
            <a:r>
              <a:rPr lang="en-US" dirty="0" smtClean="0"/>
              <a:t>the practice of using the Internet and WWW to disseminate information in an attempt to influence a buyer–seller transaction through the direct response approach which personalizes advertising and marketing making the advertising process media rich, dynamic, and interactive.</a:t>
            </a:r>
          </a:p>
        </p:txBody>
      </p:sp>
      <p:sp>
        <p:nvSpPr>
          <p:cNvPr id="4" name="Slide Number Placeholder 3"/>
          <p:cNvSpPr>
            <a:spLocks noGrp="1"/>
          </p:cNvSpPr>
          <p:nvPr>
            <p:ph type="sldNum" sz="quarter" idx="10"/>
          </p:nvPr>
        </p:nvSpPr>
        <p:spPr/>
        <p:txBody>
          <a:bodyPr/>
          <a:lstStyle/>
          <a:p>
            <a:fld id="{2CF41C25-7A1F-47FB-B705-003A328B9163}" type="slidenum">
              <a:rPr lang="en-US" smtClean="0"/>
              <a:t>23</a:t>
            </a:fld>
            <a:endParaRPr lang="en-US"/>
          </a:p>
        </p:txBody>
      </p:sp>
    </p:spTree>
    <p:extLst>
      <p:ext uri="{BB962C8B-B14F-4D97-AF65-F5344CB8AC3E}">
        <p14:creationId xmlns:p14="http://schemas.microsoft.com/office/powerpoint/2010/main" val="14925023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Describe how disintermediation works in this case. Provide an example to support your answer.</a:t>
            </a:r>
          </a:p>
          <a:p>
            <a:pPr marL="228600" indent="-228600">
              <a:buFont typeface="+mj-lt"/>
              <a:buAutoNum type="arabicPeriod"/>
            </a:pPr>
            <a:r>
              <a:rPr lang="en-US" dirty="0" smtClean="0"/>
              <a:t>Why is it so important for different functional areas in an organization to work together in designing an organizational Web site?</a:t>
            </a:r>
          </a:p>
          <a:p>
            <a:pPr marL="228600" indent="-228600">
              <a:buFont typeface="+mj-lt"/>
              <a:buAutoNum type="arabicPeriod"/>
            </a:pPr>
            <a:r>
              <a:rPr lang="en-US" dirty="0" smtClean="0"/>
              <a:t>Referencing Question 2, discuss the implications of this statement: “Regardless of your major, an understanding of information technology will be of value to you.”</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24</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Would you be willing to bank with an Internet bank? Why or why not?</a:t>
            </a:r>
          </a:p>
          <a:p>
            <a:pPr marL="228600" indent="-228600">
              <a:buFont typeface="+mj-lt"/>
              <a:buAutoNum type="arabicPeriod"/>
            </a:pPr>
            <a:r>
              <a:rPr lang="en-US" dirty="0" smtClean="0"/>
              <a:t>What are the disadvantages of Simple’s banking model? Provide examples to support your answer.</a:t>
            </a:r>
          </a:p>
          <a:p>
            <a:pPr marL="228600" indent="-228600">
              <a:buFont typeface="+mj-lt"/>
              <a:buAutoNum type="arabicPeriod"/>
            </a:pPr>
            <a:r>
              <a:rPr lang="en-US" dirty="0" smtClean="0"/>
              <a:t>Check on the status of Simple today. Now, answer the “five serious questions” listed in the case regarding BBVA Compass Bank’s purchase of Simple in 2014.</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25</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Banner Ads: </a:t>
            </a:r>
            <a:r>
              <a:rPr lang="en-US" dirty="0" smtClean="0"/>
              <a:t>electronic billboards containing a short text, graphics, video clips, or sound to promote a product or a vendor.</a:t>
            </a:r>
          </a:p>
          <a:p>
            <a:endParaRPr lang="en-US" dirty="0" smtClean="0"/>
          </a:p>
          <a:p>
            <a:r>
              <a:rPr lang="en-US" b="1" dirty="0" smtClean="0"/>
              <a:t>Characteristics of Banner Ads:</a:t>
            </a:r>
          </a:p>
          <a:p>
            <a:pPr marL="228600" indent="-228600">
              <a:buFont typeface="+mj-lt"/>
              <a:buAutoNum type="arabicPeriod"/>
            </a:pPr>
            <a:r>
              <a:rPr lang="en-US" dirty="0" smtClean="0"/>
              <a:t>the most common form of advertising on the Internet</a:t>
            </a:r>
          </a:p>
          <a:p>
            <a:pPr marL="228600" indent="-228600">
              <a:buFont typeface="+mj-lt"/>
              <a:buAutoNum type="arabicPeriod"/>
            </a:pPr>
            <a:r>
              <a:rPr lang="en-US" dirty="0" smtClean="0"/>
              <a:t>customized to a target audience</a:t>
            </a:r>
          </a:p>
          <a:p>
            <a:pPr marL="228600" indent="-228600">
              <a:buFont typeface="+mj-lt"/>
              <a:buAutoNum type="arabicPeriod"/>
            </a:pPr>
            <a:r>
              <a:rPr lang="en-US" dirty="0" smtClean="0"/>
              <a:t>convey only limited information because of their small size</a:t>
            </a:r>
          </a:p>
          <a:p>
            <a:pPr marL="228600" indent="-228600">
              <a:buFont typeface="+mj-lt"/>
              <a:buAutoNum type="arabicPeriod"/>
            </a:pPr>
            <a:r>
              <a:rPr lang="en-US" dirty="0" smtClean="0"/>
              <a:t>many viewers simply ignore them</a:t>
            </a:r>
          </a:p>
          <a:p>
            <a:endParaRPr lang="en-US" dirty="0" smtClean="0"/>
          </a:p>
          <a:p>
            <a:r>
              <a:rPr lang="en-US" b="1" dirty="0" smtClean="0"/>
              <a:t>Pop-Up Ad: </a:t>
            </a:r>
            <a:r>
              <a:rPr lang="en-US" dirty="0" smtClean="0"/>
              <a:t>an Internet ad that appears in front of the current browser window.</a:t>
            </a:r>
          </a:p>
          <a:p>
            <a:r>
              <a:rPr lang="en-US" b="1" dirty="0" smtClean="0"/>
              <a:t>Pop-Under Ad: </a:t>
            </a:r>
            <a:r>
              <a:rPr lang="en-US" dirty="0" smtClean="0"/>
              <a:t>an Internet ad appears underneath the active window; when users close the active window, they see the ad.</a:t>
            </a:r>
          </a:p>
          <a:p>
            <a:r>
              <a:rPr lang="en-US" b="1" dirty="0" smtClean="0"/>
              <a:t>Spam: </a:t>
            </a:r>
            <a:r>
              <a:rPr lang="en-US" dirty="0" smtClean="0"/>
              <a:t>indiscriminate distribution of electronic ads without the permission of the receiver.</a:t>
            </a:r>
          </a:p>
          <a:p>
            <a:r>
              <a:rPr lang="en-US" b="1" dirty="0" smtClean="0"/>
              <a:t>Permission Marketing: </a:t>
            </a:r>
            <a:r>
              <a:rPr lang="en-US" dirty="0" smtClean="0"/>
              <a:t>asks consumers to give their permission to voluntarily accept online advertising and e-mail.</a:t>
            </a:r>
          </a:p>
          <a:p>
            <a:r>
              <a:rPr lang="en-US" b="1" dirty="0" smtClean="0"/>
              <a:t>Viral Marketing: </a:t>
            </a:r>
            <a:r>
              <a:rPr lang="en-US" dirty="0" smtClean="0"/>
              <a:t>online word-of-mouth marketing including messages forwarded to friends, family members, and other acquaintances suggesting they “check this out" which enables companies to build brand awareness at a minimal cost without having to spam millions of uninterested users.</a:t>
            </a:r>
          </a:p>
        </p:txBody>
      </p:sp>
      <p:sp>
        <p:nvSpPr>
          <p:cNvPr id="4" name="Slide Number Placeholder 3"/>
          <p:cNvSpPr>
            <a:spLocks noGrp="1"/>
          </p:cNvSpPr>
          <p:nvPr>
            <p:ph type="sldNum" sz="quarter" idx="10"/>
          </p:nvPr>
        </p:nvSpPr>
        <p:spPr/>
        <p:txBody>
          <a:bodyPr/>
          <a:lstStyle/>
          <a:p>
            <a:fld id="{2CF41C25-7A1F-47FB-B705-003A328B9163}" type="slidenum">
              <a:rPr lang="en-US" smtClean="0"/>
              <a:t>26</a:t>
            </a:fld>
            <a:endParaRPr lang="en-US"/>
          </a:p>
        </p:txBody>
      </p:sp>
    </p:spTree>
    <p:extLst>
      <p:ext uri="{BB962C8B-B14F-4D97-AF65-F5344CB8AC3E}">
        <p14:creationId xmlns:p14="http://schemas.microsoft.com/office/powerpoint/2010/main" val="24752029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Two Most Significant E-Tailing Issues:</a:t>
            </a:r>
          </a:p>
          <a:p>
            <a:pPr marL="228600" indent="-228600">
              <a:buFont typeface="+mj-lt"/>
              <a:buAutoNum type="arabicPeriod"/>
            </a:pPr>
            <a:r>
              <a:rPr lang="en-US" dirty="0" smtClean="0"/>
              <a:t>Channel Conflict</a:t>
            </a:r>
          </a:p>
          <a:p>
            <a:pPr marL="228600" indent="-228600">
              <a:buFont typeface="+mj-lt"/>
              <a:buAutoNum type="arabicPeriod"/>
            </a:pPr>
            <a:r>
              <a:rPr lang="en-US" dirty="0" smtClean="0"/>
              <a:t>Fulfillment</a:t>
            </a:r>
          </a:p>
          <a:p>
            <a:endParaRPr lang="en-US" dirty="0" smtClean="0"/>
          </a:p>
          <a:p>
            <a:r>
              <a:rPr lang="en-US" b="1" dirty="0" smtClean="0"/>
              <a:t>Channel Conflict: </a:t>
            </a:r>
            <a:r>
              <a:rPr lang="en-US" dirty="0" smtClean="0"/>
              <a:t>a situation in which clicks-and-mortar companies face a conflict with their regular distributors when they begin selling directly to customers online. These conflicts can arise in areas such as pricing, resource allocation (e.g., how much money to spend on advertising).</a:t>
            </a:r>
          </a:p>
          <a:p>
            <a:r>
              <a:rPr lang="en-US" b="1" dirty="0" err="1" smtClean="0"/>
              <a:t>Multichanneling</a:t>
            </a:r>
            <a:r>
              <a:rPr lang="en-US" b="1" dirty="0" smtClean="0"/>
              <a:t> (or </a:t>
            </a:r>
            <a:r>
              <a:rPr lang="en-US" b="1" dirty="0" err="1" smtClean="0"/>
              <a:t>omni</a:t>
            </a:r>
            <a:r>
              <a:rPr lang="en-US" b="1" dirty="0" smtClean="0"/>
              <a:t>-channeling): </a:t>
            </a:r>
            <a:r>
              <a:rPr lang="en-US" dirty="0" smtClean="0"/>
              <a:t>a process in which companies integrate their online and offline channels creating the opportunity for '</a:t>
            </a:r>
            <a:r>
              <a:rPr lang="en-US" dirty="0" err="1" smtClean="0"/>
              <a:t>showrooming</a:t>
            </a:r>
            <a:r>
              <a:rPr lang="en-US" dirty="0" smtClean="0"/>
              <a:t>.'</a:t>
            </a:r>
          </a:p>
          <a:p>
            <a:r>
              <a:rPr lang="en-US" b="1" dirty="0" err="1" smtClean="0"/>
              <a:t>Showrooming</a:t>
            </a:r>
            <a:r>
              <a:rPr lang="en-US" b="1" dirty="0" smtClean="0"/>
              <a:t>: </a:t>
            </a:r>
            <a:r>
              <a:rPr lang="en-US" dirty="0" smtClean="0"/>
              <a:t>occurs when shoppers visit a brick-and-mortar store to examine a product in person then conduct research about the product on their smartphones. In these situations customers often purchase the product from the Web site of a competitor of the store they are visiting.</a:t>
            </a:r>
          </a:p>
          <a:p>
            <a:r>
              <a:rPr lang="en-US" b="1" dirty="0" smtClean="0"/>
              <a:t>Order Fulfillment: </a:t>
            </a:r>
            <a:r>
              <a:rPr lang="en-US" dirty="0" smtClean="0"/>
              <a:t>when a company sells directly to customers, it is involved in various order-fulfillment activities including: quickly finding the products to be shipped; packing orders; arranging for the packages to be delivered speedily to the customer’s door; collect the money from each customer; handle the return of unwanted or defective products.</a:t>
            </a:r>
          </a:p>
        </p:txBody>
      </p:sp>
      <p:sp>
        <p:nvSpPr>
          <p:cNvPr id="4" name="Slide Number Placeholder 3"/>
          <p:cNvSpPr>
            <a:spLocks noGrp="1"/>
          </p:cNvSpPr>
          <p:nvPr>
            <p:ph type="sldNum" sz="quarter" idx="10"/>
          </p:nvPr>
        </p:nvSpPr>
        <p:spPr/>
        <p:txBody>
          <a:bodyPr/>
          <a:lstStyle/>
          <a:p>
            <a:fld id="{2CF41C25-7A1F-47FB-B705-003A328B9163}" type="slidenum">
              <a:rPr lang="en-US" smtClean="0"/>
              <a:t>27</a:t>
            </a:fld>
            <a:endParaRPr lang="en-US"/>
          </a:p>
        </p:txBody>
      </p:sp>
    </p:spTree>
    <p:extLst>
      <p:ext uri="{BB962C8B-B14F-4D97-AF65-F5344CB8AC3E}">
        <p14:creationId xmlns:p14="http://schemas.microsoft.com/office/powerpoint/2010/main" val="38083980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Sell-Side Marketplace Model: </a:t>
            </a:r>
            <a:r>
              <a:rPr lang="en-US" dirty="0" smtClean="0"/>
              <a:t>organizations attempt to sell their products or services to other organizations electronically from their own private e-marketplace Web site and/or from a third-party Web site. In the B2B sell-side marketplace the buyer is an organization.</a:t>
            </a:r>
          </a:p>
          <a:p>
            <a:r>
              <a:rPr lang="en-US" b="1" dirty="0" smtClean="0"/>
              <a:t>Key Mechanisms in the Sell-Side Marketplace Model:</a:t>
            </a:r>
          </a:p>
          <a:p>
            <a:pPr marL="171450" indent="-171450">
              <a:buFont typeface="Arial" panose="020B0604020202020204" pitchFamily="34" charset="0"/>
              <a:buChar char="•"/>
            </a:pPr>
            <a:r>
              <a:rPr lang="en-US" dirty="0" smtClean="0"/>
              <a:t>Forward auctions</a:t>
            </a:r>
          </a:p>
          <a:p>
            <a:pPr marL="171450" indent="-171450">
              <a:buFont typeface="Arial" panose="020B0604020202020204" pitchFamily="34" charset="0"/>
              <a:buChar char="•"/>
            </a:pPr>
            <a:r>
              <a:rPr lang="en-US" dirty="0" smtClean="0"/>
              <a:t>Electronic catalogs customized for each large buyer</a:t>
            </a:r>
          </a:p>
          <a:p>
            <a:pPr marL="171450" indent="-171450">
              <a:buFont typeface="Arial" panose="020B0604020202020204" pitchFamily="34" charset="0"/>
              <a:buChar char="•"/>
            </a:pPr>
            <a:r>
              <a:rPr lang="en-US" dirty="0" smtClean="0"/>
              <a:t>Third-Party Auction Sites (e.g., eBay)</a:t>
            </a:r>
          </a:p>
          <a:p>
            <a:endParaRPr lang="en-US" dirty="0" smtClean="0"/>
          </a:p>
          <a:p>
            <a:r>
              <a:rPr lang="en-US" b="1" dirty="0" smtClean="0"/>
              <a:t>Buy-Side Marketplaces Model: </a:t>
            </a:r>
            <a:r>
              <a:rPr lang="en-US" dirty="0" smtClean="0"/>
              <a:t>a model in which organizations attempt to procure needed products or services from other organizations electronically. Procurement is the overarching function that describes the activities and processes to acquire goods and services.</a:t>
            </a:r>
          </a:p>
          <a:p>
            <a:r>
              <a:rPr lang="en-US" b="1" dirty="0" smtClean="0"/>
              <a:t>Buy-Side Marketplaces Model: </a:t>
            </a:r>
            <a:r>
              <a:rPr lang="en-US" dirty="0" smtClean="0"/>
              <a:t>a model in which organizations attempt to procure needed products or services from other organizations electronically. Procurement is the overarching function that describes the activities and processes to acquire goods and services.</a:t>
            </a:r>
          </a:p>
          <a:p>
            <a:pPr lvl="1"/>
            <a:r>
              <a:rPr lang="en-US" b="1" dirty="0" smtClean="0"/>
              <a:t>Procurement: </a:t>
            </a:r>
            <a:r>
              <a:rPr lang="en-US" dirty="0" smtClean="0"/>
              <a:t>involves the activities necessary to establish requirements, sourcing activities such as market research and vendor evaluation, and negotiation of contracts.</a:t>
            </a:r>
          </a:p>
          <a:p>
            <a:pPr lvl="1"/>
            <a:r>
              <a:rPr lang="en-US" b="1" dirty="0" smtClean="0"/>
              <a:t>Purchasing: </a:t>
            </a:r>
            <a:r>
              <a:rPr lang="en-US" dirty="0" smtClean="0"/>
              <a:t>the process of ordering and receiving goods and services and it is a subset of the procurement process.</a:t>
            </a:r>
          </a:p>
          <a:p>
            <a:pPr lvl="1"/>
            <a:r>
              <a:rPr lang="en-US" b="1" dirty="0" smtClean="0"/>
              <a:t>Reverse Auction: </a:t>
            </a:r>
            <a:r>
              <a:rPr lang="en-US" dirty="0" smtClean="0"/>
              <a:t>A major method of procuring goods and services in the buy-side model is the reverse auction.</a:t>
            </a:r>
          </a:p>
          <a:p>
            <a:pPr lvl="1"/>
            <a:r>
              <a:rPr lang="en-US" b="1" dirty="0" smtClean="0"/>
              <a:t>E-procurement: </a:t>
            </a:r>
            <a:r>
              <a:rPr lang="en-US" dirty="0" smtClean="0"/>
              <a:t>uses reverse auctions, particularly group purchasing.</a:t>
            </a:r>
          </a:p>
          <a:p>
            <a:pPr lvl="1"/>
            <a:r>
              <a:rPr lang="en-US" b="1" dirty="0" smtClean="0"/>
              <a:t>Group Purchasing: </a:t>
            </a:r>
            <a:r>
              <a:rPr lang="en-US" dirty="0" smtClean="0"/>
              <a:t>multiple buyers combine their orders so that they constitute a large volume and therefore attract more seller attention and when buyers place their combined orders on a reverse auction, they can negotiate a volume discount.</a:t>
            </a:r>
          </a:p>
          <a:p>
            <a:pPr lvl="1"/>
            <a:endParaRPr lang="en-US" dirty="0" smtClean="0"/>
          </a:p>
          <a:p>
            <a:r>
              <a:rPr lang="en-US" b="1" dirty="0" smtClean="0"/>
              <a:t>Private Exchanges: </a:t>
            </a:r>
            <a:r>
              <a:rPr lang="en-US" dirty="0" smtClean="0"/>
              <a:t>have one buyer and many sellers.</a:t>
            </a:r>
          </a:p>
          <a:p>
            <a:r>
              <a:rPr lang="en-US" b="1" dirty="0" smtClean="0"/>
              <a:t>Public Exchanges: </a:t>
            </a:r>
            <a:r>
              <a:rPr lang="en-US" dirty="0" smtClean="0"/>
              <a:t>Electronic marketplaces that are independently owned by a third party, and they connect many sellers with many buyers which are open to all business organizations and frequently owned and operated by a third party.</a:t>
            </a:r>
          </a:p>
          <a:p>
            <a:r>
              <a:rPr lang="en-US" b="1" dirty="0" smtClean="0"/>
              <a:t>Electronic Exchanges: </a:t>
            </a:r>
            <a:r>
              <a:rPr lang="en-US" dirty="0" smtClean="0"/>
              <a:t>deal in both direct and indirect materials.</a:t>
            </a:r>
          </a:p>
          <a:p>
            <a:r>
              <a:rPr lang="en-US" b="1" dirty="0" smtClean="0"/>
              <a:t>Direct Materials: </a:t>
            </a:r>
            <a:r>
              <a:rPr lang="en-US" dirty="0" smtClean="0"/>
              <a:t>inputs to the manufacturing process, such as safety glass used in automobile windshields and windows.</a:t>
            </a:r>
          </a:p>
          <a:p>
            <a:r>
              <a:rPr lang="en-US" b="1" dirty="0" smtClean="0"/>
              <a:t>Indirect Materials: </a:t>
            </a:r>
            <a:r>
              <a:rPr lang="en-US" dirty="0" smtClean="0"/>
              <a:t>those items, such as office supplies, that are needed for maintenance, operations, and repairs (MRO).</a:t>
            </a:r>
          </a:p>
          <a:p>
            <a:endParaRPr lang="en-US" dirty="0" smtClean="0"/>
          </a:p>
          <a:p>
            <a:r>
              <a:rPr lang="en-US" b="1" dirty="0" smtClean="0"/>
              <a:t>Three Basic Types of Public Exchanges:</a:t>
            </a:r>
          </a:p>
          <a:p>
            <a:r>
              <a:rPr lang="en-US" b="1" i="1" dirty="0" smtClean="0"/>
              <a:t>Vertical Exchanges: </a:t>
            </a:r>
            <a:r>
              <a:rPr lang="en-US" dirty="0" smtClean="0"/>
              <a:t>connect buyers and sellers in a given industry. </a:t>
            </a:r>
          </a:p>
          <a:p>
            <a:r>
              <a:rPr lang="en-US" b="1" i="1" dirty="0" smtClean="0"/>
              <a:t>Horizontal Exchanges: </a:t>
            </a:r>
            <a:r>
              <a:rPr lang="en-US" dirty="0" smtClean="0"/>
              <a:t>connect buyers and sellers across many industries.</a:t>
            </a:r>
          </a:p>
          <a:p>
            <a:r>
              <a:rPr lang="en-US" b="1" i="1" dirty="0" smtClean="0"/>
              <a:t>Functional Exchanges: </a:t>
            </a:r>
            <a:r>
              <a:rPr lang="en-US" dirty="0" smtClean="0"/>
              <a:t>needed services such as temporary help/labor or extra office space are traded on an “as-needed” basis.</a:t>
            </a:r>
          </a:p>
          <a:p>
            <a:pPr lvl="0"/>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28</a:t>
            </a:fld>
            <a:endParaRPr lang="en-US"/>
          </a:p>
        </p:txBody>
      </p:sp>
    </p:spTree>
    <p:extLst>
      <p:ext uri="{BB962C8B-B14F-4D97-AF65-F5344CB8AC3E}">
        <p14:creationId xmlns:p14="http://schemas.microsoft.com/office/powerpoint/2010/main" val="8521210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Sell-Side Marketplace Model: </a:t>
            </a:r>
            <a:r>
              <a:rPr lang="en-US" dirty="0" smtClean="0"/>
              <a:t>organizations attempt to sell their products or services to other organizations electronically from their own private e-marketplace Web site and/or from a third-party Web site. In the B2B sell-side marketplace the buyer is an organization.</a:t>
            </a:r>
          </a:p>
          <a:p>
            <a:r>
              <a:rPr lang="en-US" b="1" dirty="0" smtClean="0"/>
              <a:t>Key Mechanisms in the Sell-Side Marketplace Model:</a:t>
            </a:r>
          </a:p>
          <a:p>
            <a:pPr marL="171450" indent="-171450">
              <a:buFont typeface="Arial" panose="020B0604020202020204" pitchFamily="34" charset="0"/>
              <a:buChar char="•"/>
            </a:pPr>
            <a:r>
              <a:rPr lang="en-US" dirty="0" smtClean="0"/>
              <a:t>Forward auctions</a:t>
            </a:r>
          </a:p>
          <a:p>
            <a:pPr marL="171450" indent="-171450">
              <a:buFont typeface="Arial" panose="020B0604020202020204" pitchFamily="34" charset="0"/>
              <a:buChar char="•"/>
            </a:pPr>
            <a:r>
              <a:rPr lang="en-US" dirty="0" smtClean="0"/>
              <a:t>Electronic catalogs customized for each large buyer</a:t>
            </a:r>
          </a:p>
          <a:p>
            <a:pPr marL="171450" indent="-171450">
              <a:buFont typeface="Arial" panose="020B0604020202020204" pitchFamily="34" charset="0"/>
              <a:buChar char="•"/>
            </a:pPr>
            <a:r>
              <a:rPr lang="en-US" dirty="0" smtClean="0"/>
              <a:t>Third-Party Auction Sites (e.g., eBay)</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29</a:t>
            </a:fld>
            <a:endParaRPr lang="en-US"/>
          </a:p>
        </p:txBody>
      </p:sp>
    </p:spTree>
    <p:extLst>
      <p:ext uri="{BB962C8B-B14F-4D97-AF65-F5344CB8AC3E}">
        <p14:creationId xmlns:p14="http://schemas.microsoft.com/office/powerpoint/2010/main" val="39580857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Buy-Side Marketplaces Model: </a:t>
            </a:r>
            <a:r>
              <a:rPr lang="en-US" dirty="0" smtClean="0"/>
              <a:t>a model in which organizations attempt to procure needed products or services from other organizations electronically. Procurement is the overarching function that describes the activities and processes to acquire goods and services.</a:t>
            </a:r>
          </a:p>
          <a:p>
            <a:pPr lvl="1"/>
            <a:r>
              <a:rPr lang="en-US" b="1" dirty="0" smtClean="0"/>
              <a:t>Procurement: </a:t>
            </a:r>
            <a:r>
              <a:rPr lang="en-US" dirty="0" smtClean="0"/>
              <a:t>involves the activities necessary to establish requirements, sourcing activities such as market research and vendor evaluation, and negotiation of contracts.</a:t>
            </a:r>
          </a:p>
          <a:p>
            <a:pPr lvl="1"/>
            <a:r>
              <a:rPr lang="en-US" b="1" dirty="0" smtClean="0"/>
              <a:t>Purchasing: </a:t>
            </a:r>
            <a:r>
              <a:rPr lang="en-US" dirty="0" smtClean="0"/>
              <a:t>the process of ordering and receiving goods and services and it is a subset of the procurement process.</a:t>
            </a:r>
          </a:p>
          <a:p>
            <a:pPr lvl="1"/>
            <a:r>
              <a:rPr lang="en-US" b="1" dirty="0" smtClean="0"/>
              <a:t>Reverse Auction: </a:t>
            </a:r>
            <a:r>
              <a:rPr lang="en-US" dirty="0" smtClean="0"/>
              <a:t>A major method of procuring goods and services in the buy-side model is the reverse auction.</a:t>
            </a:r>
          </a:p>
          <a:p>
            <a:pPr lvl="1"/>
            <a:r>
              <a:rPr lang="en-US" b="1" dirty="0" smtClean="0"/>
              <a:t>E-procurement: </a:t>
            </a:r>
            <a:r>
              <a:rPr lang="en-US" dirty="0" smtClean="0"/>
              <a:t>uses reverse auctions, particularly group purchasing.</a:t>
            </a:r>
          </a:p>
          <a:p>
            <a:pPr lvl="1"/>
            <a:r>
              <a:rPr lang="en-US" b="1" dirty="0" smtClean="0"/>
              <a:t>Group Purchasing: </a:t>
            </a:r>
            <a:r>
              <a:rPr lang="en-US" dirty="0" smtClean="0"/>
              <a:t>multiple buyers combine their orders so that they constitute a large volume and therefore attract more seller attention and when buyers place their combined orders on a reverse auction, they can negotiate a volume discount.</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30</a:t>
            </a:fld>
            <a:endParaRPr lang="en-US"/>
          </a:p>
        </p:txBody>
      </p:sp>
    </p:spTree>
    <p:extLst>
      <p:ext uri="{BB962C8B-B14F-4D97-AF65-F5344CB8AC3E}">
        <p14:creationId xmlns:p14="http://schemas.microsoft.com/office/powerpoint/2010/main" val="30053600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Three Basic Types of Public Exchanges:</a:t>
            </a:r>
          </a:p>
          <a:p>
            <a:r>
              <a:rPr lang="en-US" b="1" i="1" dirty="0" smtClean="0"/>
              <a:t>Vertical Exchanges: </a:t>
            </a:r>
            <a:r>
              <a:rPr lang="en-US" dirty="0" smtClean="0"/>
              <a:t>connect buyers and sellers in a given industry. </a:t>
            </a:r>
          </a:p>
          <a:p>
            <a:r>
              <a:rPr lang="en-US" b="1" i="1" dirty="0" smtClean="0"/>
              <a:t>Horizontal Exchanges: </a:t>
            </a:r>
            <a:r>
              <a:rPr lang="en-US" dirty="0" smtClean="0"/>
              <a:t>connect buyers and sellers across many industries.</a:t>
            </a:r>
          </a:p>
          <a:p>
            <a:r>
              <a:rPr lang="en-US" b="1" i="1" dirty="0" smtClean="0"/>
              <a:t>Functional Exchanges: </a:t>
            </a:r>
            <a:r>
              <a:rPr lang="en-US" dirty="0" smtClean="0"/>
              <a:t>needed services such as temporary help/labor or extra office space are traded on an “as-needed” basis.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31</a:t>
            </a:fld>
            <a:endParaRPr lang="en-US"/>
          </a:p>
        </p:txBody>
      </p:sp>
    </p:spTree>
    <p:extLst>
      <p:ext uri="{BB962C8B-B14F-4D97-AF65-F5344CB8AC3E}">
        <p14:creationId xmlns:p14="http://schemas.microsoft.com/office/powerpoint/2010/main" val="13883797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Threats to Privacy:</a:t>
            </a:r>
          </a:p>
          <a:p>
            <a:pPr marL="171450" indent="-171450">
              <a:buFont typeface="Arial" panose="020B0604020202020204" pitchFamily="34" charset="0"/>
              <a:buChar char="•"/>
            </a:pPr>
            <a:r>
              <a:rPr lang="en-US" dirty="0" smtClean="0"/>
              <a:t>Business makes it easier to store and transfer personal information</a:t>
            </a:r>
          </a:p>
          <a:p>
            <a:pPr marL="171450" indent="-171450">
              <a:buFont typeface="Arial" panose="020B0604020202020204" pitchFamily="34" charset="0"/>
              <a:buChar char="•"/>
            </a:pPr>
            <a:r>
              <a:rPr lang="en-US" dirty="0" smtClean="0"/>
              <a:t>To protect the buyers’ identities businesses must frequently use encryption to provide this protection</a:t>
            </a:r>
          </a:p>
          <a:p>
            <a:pPr marL="171450" indent="-171450">
              <a:buFont typeface="Arial" panose="020B0604020202020204" pitchFamily="34" charset="0"/>
              <a:buChar char="•"/>
            </a:pPr>
            <a:r>
              <a:rPr lang="en-US" dirty="0" smtClean="0"/>
              <a:t>Tracking: individuals’ activities on the Internet can be tracked by cookies that store a user's browsing history on their PC’s hard drive</a:t>
            </a:r>
          </a:p>
          <a:p>
            <a:pPr marL="171450" indent="-171450">
              <a:buFont typeface="Arial" panose="020B0604020202020204" pitchFamily="34" charset="0"/>
              <a:buChar char="•"/>
            </a:pPr>
            <a:r>
              <a:rPr lang="en-US" dirty="0" smtClean="0"/>
              <a:t>Antivirus software packages must routinely search for potentially harmful cookies.</a:t>
            </a:r>
          </a:p>
          <a:p>
            <a:endParaRPr lang="en-US" dirty="0" smtClean="0"/>
          </a:p>
          <a:p>
            <a:r>
              <a:rPr lang="en-US" b="1" dirty="0" smtClean="0"/>
              <a:t>The use of EC may eliminate the need for some of a company’s employees, as well as brokers and agents.</a:t>
            </a:r>
          </a:p>
          <a:p>
            <a:pPr marL="171450" indent="-171450">
              <a:buFont typeface="Arial" panose="020B0604020202020204" pitchFamily="34" charset="0"/>
              <a:buChar char="•"/>
            </a:pPr>
            <a:r>
              <a:rPr lang="en-US" dirty="0" smtClean="0"/>
              <a:t>How should the company handle the layoffs?</a:t>
            </a:r>
          </a:p>
          <a:p>
            <a:pPr marL="171450" indent="-171450">
              <a:buFont typeface="Arial" panose="020B0604020202020204" pitchFamily="34" charset="0"/>
              <a:buChar char="•"/>
            </a:pPr>
            <a:r>
              <a:rPr lang="en-US" dirty="0" smtClean="0"/>
              <a:t>Should companies be required to retrain employees for new positions?</a:t>
            </a:r>
          </a:p>
          <a:p>
            <a:pPr marL="171450" indent="-171450">
              <a:buFont typeface="Arial" panose="020B0604020202020204" pitchFamily="34" charset="0"/>
              <a:buChar char="•"/>
            </a:pPr>
            <a:r>
              <a:rPr lang="en-US" dirty="0" smtClean="0"/>
              <a:t>Should the company compensate or otherwise assist the displaced workers?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33</a:t>
            </a:fld>
            <a:endParaRPr lang="en-US"/>
          </a:p>
        </p:txBody>
      </p:sp>
    </p:spTree>
    <p:extLst>
      <p:ext uri="{BB962C8B-B14F-4D97-AF65-F5344CB8AC3E}">
        <p14:creationId xmlns:p14="http://schemas.microsoft.com/office/powerpoint/2010/main" val="13863198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Domain Names: </a:t>
            </a:r>
            <a:r>
              <a:rPr lang="en-US" dirty="0" smtClean="0"/>
              <a:t>considered legal when the person or business who owns the name has operated a legitimate business under that name for some time.</a:t>
            </a:r>
          </a:p>
          <a:p>
            <a:r>
              <a:rPr lang="en-US" b="1" dirty="0" smtClean="0"/>
              <a:t>Cybersquatting: </a:t>
            </a:r>
            <a:r>
              <a:rPr lang="en-US" dirty="0" smtClean="0"/>
              <a:t>the practice of registering or using domain names for the purpose of profiting from the goodwill or the trademark that belongs to someone else. The Anti-Cybersquatting Consumer Protection Act (1999) permits trademark owners in the United States to sue for damages in such cases.</a:t>
            </a:r>
          </a:p>
          <a:p>
            <a:r>
              <a:rPr lang="en-US" b="1" dirty="0" smtClean="0"/>
              <a:t>Domain Tasting: </a:t>
            </a:r>
            <a:r>
              <a:rPr lang="en-US" dirty="0" smtClean="0"/>
              <a:t>lets registrars profit from the complex money trail of pay-per-click advertising. companies register domain names that are very similar to their competitors’ domain names in order to generate traffic from people who misspell Web addresses. Domain tasters exploit this policy by claiming Internet domains for five days at no cost.</a:t>
            </a:r>
          </a:p>
          <a:p>
            <a:r>
              <a:rPr lang="en-US" dirty="0" smtClean="0"/>
              <a:t>-----------</a:t>
            </a:r>
          </a:p>
          <a:p>
            <a:r>
              <a:rPr lang="en-US" b="1" dirty="0" smtClean="0"/>
              <a:t>Taxes and Other Fees:</a:t>
            </a:r>
          </a:p>
          <a:p>
            <a:r>
              <a:rPr lang="en-US" dirty="0" smtClean="0"/>
              <a:t>Federal, state, and local authorities are now scrambling to create some type of taxation policy for e-business within their jurisdictions.</a:t>
            </a:r>
          </a:p>
          <a:p>
            <a:r>
              <a:rPr lang="en-US" dirty="0" smtClean="0"/>
              <a:t>Based on location, should electronic businesses pay business license taxes, franchise fees, gross receipts taxes, excise taxes, privilege taxes, and utility taxes?</a:t>
            </a:r>
          </a:p>
          <a:p>
            <a:r>
              <a:rPr lang="en-US" dirty="0" smtClean="0"/>
              <a:t>How should tax collection be controlled?</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Copyright: </a:t>
            </a:r>
            <a:r>
              <a:rPr lang="en-US" dirty="0" smtClean="0"/>
              <a:t>intellectual property is protected by copyright laws and cannot be used freely which is difficult to enforce online.</a:t>
            </a:r>
          </a:p>
        </p:txBody>
      </p:sp>
      <p:sp>
        <p:nvSpPr>
          <p:cNvPr id="4" name="Slide Number Placeholder 3"/>
          <p:cNvSpPr>
            <a:spLocks noGrp="1"/>
          </p:cNvSpPr>
          <p:nvPr>
            <p:ph type="sldNum" sz="quarter" idx="10"/>
          </p:nvPr>
        </p:nvSpPr>
        <p:spPr/>
        <p:txBody>
          <a:bodyPr/>
          <a:lstStyle/>
          <a:p>
            <a:fld id="{2CF41C25-7A1F-47FB-B705-003A328B9163}" type="slidenum">
              <a:rPr lang="en-US" smtClean="0"/>
              <a:t>34</a:t>
            </a:fld>
            <a:endParaRPr lang="en-US"/>
          </a:p>
        </p:txBody>
      </p:sp>
    </p:spTree>
    <p:extLst>
      <p:ext uri="{BB962C8B-B14F-4D97-AF65-F5344CB8AC3E}">
        <p14:creationId xmlns:p14="http://schemas.microsoft.com/office/powerpoint/2010/main" val="37621411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Questions</a:t>
            </a:r>
          </a:p>
          <a:p>
            <a:pPr marL="228600" indent="-228600">
              <a:buFont typeface="+mj-lt"/>
              <a:buAutoNum type="arabicPeriod"/>
            </a:pPr>
            <a:r>
              <a:rPr lang="en-US" b="0" dirty="0" smtClean="0"/>
              <a:t>Discuss how taxi companies could combat </a:t>
            </a:r>
            <a:r>
              <a:rPr lang="en-US" b="0" dirty="0" err="1" smtClean="0"/>
              <a:t>Uber</a:t>
            </a:r>
            <a:r>
              <a:rPr lang="en-US" b="0" dirty="0" smtClean="0"/>
              <a:t>, </a:t>
            </a:r>
            <a:r>
              <a:rPr lang="en-US" b="0" dirty="0" err="1" smtClean="0"/>
              <a:t>Lyft</a:t>
            </a:r>
            <a:r>
              <a:rPr lang="en-US" b="0" dirty="0" smtClean="0"/>
              <a:t>, and </a:t>
            </a:r>
            <a:r>
              <a:rPr lang="en-US" b="0" dirty="0" err="1" smtClean="0"/>
              <a:t>SideCar</a:t>
            </a:r>
            <a:r>
              <a:rPr lang="en-US" b="0" dirty="0" smtClean="0"/>
              <a:t>. (Hint: Why couldn’t taxi companies deploy similar types of information technology?)</a:t>
            </a:r>
          </a:p>
          <a:p>
            <a:pPr marL="228600" indent="-228600">
              <a:buFont typeface="+mj-lt"/>
              <a:buAutoNum type="arabicPeriod"/>
            </a:pPr>
            <a:r>
              <a:rPr lang="en-US" b="0" dirty="0" smtClean="0"/>
              <a:t>Describe the disadvantages of </a:t>
            </a:r>
            <a:r>
              <a:rPr lang="en-US" b="0" dirty="0" err="1" smtClean="0"/>
              <a:t>Uber’s</a:t>
            </a:r>
            <a:r>
              <a:rPr lang="en-US" b="0" dirty="0" smtClean="0"/>
              <a:t> business model. Provide </a:t>
            </a:r>
            <a:r>
              <a:rPr lang="en-US" b="0" dirty="0" err="1" smtClean="0"/>
              <a:t>specifi</a:t>
            </a:r>
            <a:r>
              <a:rPr lang="en-US" b="0" dirty="0" smtClean="0"/>
              <a:t> c examples to support your answer.</a:t>
            </a:r>
            <a:endParaRPr lang="en-US" b="0" dirty="0"/>
          </a:p>
        </p:txBody>
      </p:sp>
      <p:sp>
        <p:nvSpPr>
          <p:cNvPr id="4" name="Slide Number Placeholder 3"/>
          <p:cNvSpPr>
            <a:spLocks noGrp="1"/>
          </p:cNvSpPr>
          <p:nvPr>
            <p:ph type="sldNum" sz="quarter" idx="10"/>
          </p:nvPr>
        </p:nvSpPr>
        <p:spPr/>
        <p:txBody>
          <a:bodyPr/>
          <a:lstStyle/>
          <a:p>
            <a:fld id="{2CF41C25-7A1F-47FB-B705-003A328B9163}" type="slidenum">
              <a:rPr lang="en-US" smtClean="0"/>
              <a:t>35</a:t>
            </a:fld>
            <a:endParaRPr lang="en-US"/>
          </a:p>
        </p:txBody>
      </p:sp>
    </p:spTree>
    <p:extLst>
      <p:ext uri="{BB962C8B-B14F-4D97-AF65-F5344CB8AC3E}">
        <p14:creationId xmlns:p14="http://schemas.microsoft.com/office/powerpoint/2010/main" val="32483280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sp>
        <p:nvSpPr>
          <p:cNvPr id="11" name="Oval 10"/>
          <p:cNvSpPr/>
          <p:nvPr userDrawn="1"/>
        </p:nvSpPr>
        <p:spPr>
          <a:xfrm>
            <a:off x="5410200" y="1298787"/>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533400" y="3429000"/>
            <a:ext cx="8001000" cy="2819400"/>
          </a:xfrm>
        </p:spPr>
        <p:txBody>
          <a:bodyPr>
            <a:normAutofit/>
          </a:bodyPr>
          <a:lstStyle>
            <a:lvl1pPr marL="0" indent="0" algn="l">
              <a:spcBef>
                <a:spcPts val="600"/>
              </a:spcBef>
              <a:spcAft>
                <a:spcPts val="600"/>
              </a:spcAft>
              <a:buNone/>
              <a:defRPr sz="66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7" name="Rectangle 6"/>
          <p:cNvSpPr/>
          <p:nvPr userDrawn="1"/>
        </p:nvSpPr>
        <p:spPr>
          <a:xfrm>
            <a:off x="505326" y="457200"/>
            <a:ext cx="8153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3400" y="1676400"/>
            <a:ext cx="4752474" cy="997374"/>
          </a:xfrm>
          <a:prstGeom prst="rect">
            <a:avLst/>
          </a:prstGeom>
        </p:spPr>
      </p:pic>
      <p:sp>
        <p:nvSpPr>
          <p:cNvPr id="13" name="Text Placeholder 12"/>
          <p:cNvSpPr>
            <a:spLocks noGrp="1"/>
          </p:cNvSpPr>
          <p:nvPr>
            <p:ph type="body" sz="quarter" idx="13" hasCustomPrompt="1"/>
          </p:nvPr>
        </p:nvSpPr>
        <p:spPr>
          <a:xfrm>
            <a:off x="5410200" y="1295400"/>
            <a:ext cx="1752600" cy="1752600"/>
          </a:xfrm>
        </p:spPr>
        <p:txBody>
          <a:bodyPr anchor="ctr" anchorCtr="0">
            <a:normAutofit/>
          </a:bodyPr>
          <a:lstStyle>
            <a:lvl1pPr marL="0" indent="0" algn="ctr">
              <a:buFontTx/>
              <a:buNone/>
              <a:defRPr sz="9600" b="1" i="0" baseline="0">
                <a:solidFill>
                  <a:schemeClr val="bg1"/>
                </a:solidFill>
                <a:effectLst>
                  <a:outerShdw blurRad="63500" sx="102000" sy="102000" algn="ctr" rotWithShape="0">
                    <a:prstClr val="black">
                      <a:alpha val="40000"/>
                    </a:prstClr>
                  </a:outerShdw>
                </a:effectLst>
                <a:latin typeface="Rockwell" pitchFamily="18" charset="0"/>
              </a:defRPr>
            </a:lvl1pPr>
          </a:lstStyle>
          <a:p>
            <a:pPr lvl="0"/>
            <a:r>
              <a:rPr lang="en-US" dirty="0" smtClean="0"/>
              <a:t>#</a:t>
            </a:r>
            <a:endParaRPr lang="en-US" dirty="0"/>
          </a:p>
        </p:txBody>
      </p:sp>
      <p:cxnSp>
        <p:nvCxnSpPr>
          <p:cNvPr id="16" name="Straight Connector 15"/>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20202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_Learning_Obj">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B5FD5D"/>
              </a:gs>
              <a:gs pos="77000">
                <a:srgbClr val="7CFF33"/>
              </a:gs>
              <a:gs pos="100000">
                <a:srgbClr val="69BE02"/>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accent3">
                  <a:lumMod val="75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83928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_Outline">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chemeClr val="tx2">
                  <a:lumMod val="20000"/>
                  <a:lumOff val="80000"/>
                </a:schemeClr>
              </a:gs>
              <a:gs pos="77000">
                <a:schemeClr val="tx2">
                  <a:lumMod val="40000"/>
                  <a:lumOff val="60000"/>
                </a:schemeClr>
              </a:gs>
              <a:gs pos="100000">
                <a:schemeClr val="tx2">
                  <a:lumMod val="60000"/>
                  <a:lumOff val="40000"/>
                </a:schemeClr>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tx2">
                  <a:lumMod val="60000"/>
                  <a:lumOff val="40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26086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_Web_Resources">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FEBB34"/>
              </a:gs>
              <a:gs pos="77000">
                <a:srgbClr val="FD9B0B"/>
              </a:gs>
              <a:gs pos="100000">
                <a:srgbClr val="F17901"/>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254134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h_WileyPLUS_Learning_Space">
    <p:spTree>
      <p:nvGrpSpPr>
        <p:cNvPr id="1" name=""/>
        <p:cNvGrpSpPr/>
        <p:nvPr/>
      </p:nvGrpSpPr>
      <p:grpSpPr>
        <a:xfrm>
          <a:off x="0" y="0"/>
          <a:ext cx="0" cy="0"/>
          <a:chOff x="0" y="0"/>
          <a:chExt cx="0" cy="0"/>
        </a:xfrm>
      </p:grpSpPr>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408561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pening Case">
    <p:spTree>
      <p:nvGrpSpPr>
        <p:cNvPr id="1" name=""/>
        <p:cNvGrpSpPr/>
        <p:nvPr/>
      </p:nvGrpSpPr>
      <p:grpSpPr>
        <a:xfrm>
          <a:off x="0" y="0"/>
          <a:ext cx="0" cy="0"/>
          <a:chOff x="0" y="0"/>
          <a:chExt cx="0" cy="0"/>
        </a:xfrm>
      </p:grpSpPr>
      <p:cxnSp>
        <p:nvCxnSpPr>
          <p:cNvPr id="8" name="Straight Connector 7"/>
          <p:cNvCxnSpPr/>
          <p:nvPr userDrawn="1"/>
        </p:nvCxnSpPr>
        <p:spPr>
          <a:xfrm>
            <a:off x="609600" y="6324600"/>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527482"/>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304800" y="533400"/>
            <a:ext cx="8534400" cy="1524000"/>
          </a:xfrm>
        </p:spPr>
        <p:txBody>
          <a:bodyPr/>
          <a:lstStyle>
            <a:lvl1pPr>
              <a:defRPr b="0" i="0" baseline="0">
                <a:effectLst>
                  <a:outerShdw blurRad="317500" dist="101600" dir="2700000" algn="tl" rotWithShape="0">
                    <a:schemeClr val="tx1">
                      <a:lumMod val="95000"/>
                      <a:lumOff val="5000"/>
                      <a:alpha val="65000"/>
                    </a:schemeClr>
                  </a:outerShdw>
                </a:effectLst>
                <a:latin typeface="Times New Roman" pitchFamily="18" charset="0"/>
              </a:defRPr>
            </a:lvl1pPr>
          </a:lstStyle>
          <a:p>
            <a:r>
              <a:rPr lang="en-US" dirty="0" smtClean="0"/>
              <a:t>Click to edit Opening Case title</a:t>
            </a:r>
            <a:endParaRPr lang="en-US" dirty="0"/>
          </a:p>
        </p:txBody>
      </p:sp>
      <p:sp>
        <p:nvSpPr>
          <p:cNvPr id="5" name="Slide Number Placeholder 4"/>
          <p:cNvSpPr>
            <a:spLocks noGrp="1"/>
          </p:cNvSpPr>
          <p:nvPr>
            <p:ph type="sldNum" sz="quarter" idx="12"/>
          </p:nvPr>
        </p:nvSpPr>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2286000"/>
            <a:ext cx="8229600" cy="3962400"/>
          </a:xfrm>
        </p:spPr>
        <p:txBody>
          <a:bodyPr/>
          <a:lstStyle>
            <a:lvl1pPr>
              <a:defRPr b="1" baseline="0">
                <a:latin typeface="Times New Roman" pitchFamily="18" charset="0"/>
              </a:defRPr>
            </a:lvl1pPr>
            <a:lvl2pPr>
              <a:defRPr baseline="0">
                <a:solidFill>
                  <a:schemeClr val="accent6">
                    <a:lumMod val="50000"/>
                  </a:schemeClr>
                </a:solidFill>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2" name="Straight Connector 11"/>
          <p:cNvCxnSpPr/>
          <p:nvPr userDrawn="1"/>
        </p:nvCxnSpPr>
        <p:spPr>
          <a:xfrm>
            <a:off x="914400" y="2209800"/>
            <a:ext cx="41148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6188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ts_about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rgbClr val="C00000"/>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5562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14" name="ClipArt Placeholder 13"/>
          <p:cNvSpPr>
            <a:spLocks noGrp="1"/>
          </p:cNvSpPr>
          <p:nvPr>
            <p:ph type="clipArt" sz="quarter" idx="14"/>
          </p:nvPr>
        </p:nvSpPr>
        <p:spPr>
          <a:xfrm>
            <a:off x="7315200" y="1143000"/>
            <a:ext cx="1219200" cy="1066800"/>
          </a:xfrm>
        </p:spPr>
        <p:txBody>
          <a:bodyPr/>
          <a:lstStyle/>
          <a:p>
            <a:endParaRPr lang="en-US" dirty="0"/>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213859488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ts_about_small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chemeClr val="accent1">
                  <a:lumMod val="40000"/>
                  <a:lumOff val="60000"/>
                </a:schemeClr>
              </a:gs>
              <a:gs pos="46000">
                <a:schemeClr val="accent1">
                  <a:lumMod val="92000"/>
                  <a:lumOff val="8000"/>
                </a:schemeClr>
              </a:gs>
              <a:gs pos="100000">
                <a:schemeClr val="accent1">
                  <a:lumMod val="50000"/>
                </a:schemeClr>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chemeClr val="accent1">
                    <a:lumMod val="7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6324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a:t>
            </a:r>
            <a:r>
              <a:rPr lang="en-US" sz="4800" baseline="0" dirty="0" smtClean="0">
                <a:solidFill>
                  <a:schemeClr val="accent1">
                    <a:lumMod val="75000"/>
                  </a:schemeClr>
                </a:solidFill>
                <a:effectLst>
                  <a:outerShdw blurRad="317500" dist="101600" dir="2700000" algn="tl" rotWithShape="0">
                    <a:prstClr val="black">
                      <a:alpha val="65000"/>
                    </a:prstClr>
                  </a:outerShdw>
                </a:effectLst>
                <a:latin typeface="Arial" pitchFamily="34" charset="0"/>
              </a:rPr>
              <a:t>[small] </a:t>
            </a:r>
            <a:r>
              <a:rPr lang="en-US" sz="4800" baseline="0" dirty="0" smtClean="0">
                <a:effectLst>
                  <a:outerShdw blurRad="317500" dist="101600" dir="2700000" algn="tl" rotWithShape="0">
                    <a:prstClr val="black">
                      <a:alpha val="65000"/>
                    </a:prstClr>
                  </a:outerShdw>
                </a:effectLst>
                <a:latin typeface="Arial" pitchFamily="34" charset="0"/>
              </a:rPr>
              <a:t>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196535836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opic Level2">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779232" y="762000"/>
            <a:ext cx="6831367" cy="1676400"/>
          </a:xfrm>
        </p:spPr>
        <p:txBody>
          <a:bodyPr>
            <a:normAutofit/>
          </a:bodyPr>
          <a:lstStyle>
            <a:lvl1pPr marL="0" indent="0" algn="l">
              <a:spcBef>
                <a:spcPts val="600"/>
              </a:spcBef>
              <a:spcAft>
                <a:spcPts val="600"/>
              </a:spcAft>
              <a:buNone/>
              <a:defRPr sz="48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userDrawn="1"/>
        </p:nvCxnSpPr>
        <p:spPr>
          <a:xfrm>
            <a:off x="0" y="527482"/>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9"/>
          <p:cNvSpPr>
            <a:spLocks noGrp="1"/>
          </p:cNvSpPr>
          <p:nvPr>
            <p:ph type="body" sz="quarter" idx="14" hasCustomPrompt="1"/>
          </p:nvPr>
        </p:nvSpPr>
        <p:spPr>
          <a:xfrm>
            <a:off x="304800" y="457200"/>
            <a:ext cx="1752600" cy="1524000"/>
          </a:xfrm>
        </p:spPr>
        <p:txBody>
          <a:bodyPr>
            <a:noAutofit/>
          </a:bodyPr>
          <a:lstStyle>
            <a:lvl1pPr marL="0" indent="0">
              <a:buNone/>
              <a:defRPr sz="7200" baseline="0">
                <a:solidFill>
                  <a:schemeClr val="accent1">
                    <a:lumMod val="75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1752600" y="2438400"/>
            <a:ext cx="6858000" cy="3810000"/>
          </a:xfrm>
        </p:spPr>
        <p:txBody>
          <a:bodyPr/>
          <a:lstStyle>
            <a:lvl1pPr>
              <a:defRPr baseline="0">
                <a:solidFill>
                  <a:srgbClr val="69BE02"/>
                </a:solidFill>
                <a:latin typeface="Rockwell" pitchFamily="18" charset="0"/>
              </a:defRPr>
            </a:lvl1pPr>
            <a:lvl2pPr>
              <a:defRPr baseline="0">
                <a:solidFill>
                  <a:schemeClr val="tx1"/>
                </a:solidFill>
                <a:latin typeface="Times New Roman" pitchFamily="18" charset="0"/>
              </a:defRPr>
            </a:lvl2pPr>
            <a:lvl3pPr>
              <a:defRPr baseline="0">
                <a:solidFill>
                  <a:schemeClr val="tx1"/>
                </a:solidFill>
                <a:latin typeface="Times New Roman" pitchFamily="18" charset="0"/>
              </a:defRPr>
            </a:lvl3pPr>
            <a:lvl4pPr>
              <a:defRPr baseline="0">
                <a:solidFill>
                  <a:schemeClr val="tx1"/>
                </a:solidFill>
                <a:latin typeface="Times New Roman" pitchFamily="18" charset="0"/>
              </a:defRPr>
            </a:lvl4pPr>
            <a:lvl5pPr>
              <a:defRPr baseline="0">
                <a:solidFill>
                  <a:schemeClr val="tx1"/>
                </a:solidFill>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6694564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ic Level3">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09600"/>
            <a:ext cx="8063871" cy="13716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20574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8153400" cy="40386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0459476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pic Level3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762000"/>
            <a:ext cx="8063871" cy="10668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8288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70460897"/>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vel3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139580638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ic Level4">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72864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ic Level5">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021700"/>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opic Level4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447801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vel4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752821483"/>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pic Level5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00918356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ic Level5_3 Column 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2590800" cy="609600"/>
          </a:xfrm>
        </p:spPr>
        <p:txBody>
          <a:bodyPr/>
          <a:lstStyle>
            <a:lvl1pPr marL="0" indent="0">
              <a:buNone/>
              <a:defRPr b="1" baseline="0">
                <a:latin typeface="Times New Roman" pitchFamily="18" charset="0"/>
              </a:defRPr>
            </a:lvl1pPr>
            <a:lvl2pPr>
              <a:defRPr b="1" baseline="0">
                <a:latin typeface="Times New Roman" pitchFamily="18" charset="0"/>
              </a:defRPr>
            </a:lvl2pPr>
            <a:lvl3pPr>
              <a:defRPr b="1" baseline="0">
                <a:latin typeface="Times New Roman" pitchFamily="18" charset="0"/>
              </a:defRPr>
            </a:lvl3pPr>
            <a:lvl4pPr>
              <a:defRPr b="1" baseline="0">
                <a:latin typeface="Times New Roman" pitchFamily="18" charset="0"/>
              </a:defRPr>
            </a:lvl4pPr>
            <a:lvl5pPr>
              <a:defRPr b="1" baseline="0">
                <a:latin typeface="Times New Roman" pitchFamily="18" charset="0"/>
              </a:defRPr>
            </a:lvl5pPr>
          </a:lstStyle>
          <a:p>
            <a:pPr lvl="0"/>
            <a:r>
              <a:rPr lang="en-US" dirty="0" smtClean="0"/>
              <a:t>Click to edit</a:t>
            </a:r>
            <a:endParaRPr lang="en-US" dirty="0"/>
          </a:p>
        </p:txBody>
      </p:sp>
      <p:sp>
        <p:nvSpPr>
          <p:cNvPr id="10" name="Content Placeholder 3"/>
          <p:cNvSpPr>
            <a:spLocks noGrp="1"/>
          </p:cNvSpPr>
          <p:nvPr>
            <p:ph sz="quarter" idx="16"/>
          </p:nvPr>
        </p:nvSpPr>
        <p:spPr>
          <a:xfrm>
            <a:off x="3276600"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a:t>
            </a:r>
            <a:endParaRPr lang="en-US" dirty="0"/>
          </a:p>
        </p:txBody>
      </p:sp>
      <p:sp>
        <p:nvSpPr>
          <p:cNvPr id="14" name="Content Placeholder 3"/>
          <p:cNvSpPr>
            <a:spLocks noGrp="1"/>
          </p:cNvSpPr>
          <p:nvPr>
            <p:ph sz="quarter" idx="17"/>
          </p:nvPr>
        </p:nvSpPr>
        <p:spPr>
          <a:xfrm>
            <a:off x="6029632"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a:t>
            </a:r>
            <a:endParaRPr lang="en-US" dirty="0"/>
          </a:p>
        </p:txBody>
      </p:sp>
      <p:sp>
        <p:nvSpPr>
          <p:cNvPr id="15" name="Content Placeholder 3"/>
          <p:cNvSpPr>
            <a:spLocks noGrp="1"/>
          </p:cNvSpPr>
          <p:nvPr>
            <p:ph sz="quarter" idx="18"/>
          </p:nvPr>
        </p:nvSpPr>
        <p:spPr>
          <a:xfrm>
            <a:off x="5334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Content Placeholder 3"/>
          <p:cNvSpPr>
            <a:spLocks noGrp="1"/>
          </p:cNvSpPr>
          <p:nvPr>
            <p:ph sz="quarter" idx="19"/>
          </p:nvPr>
        </p:nvSpPr>
        <p:spPr>
          <a:xfrm>
            <a:off x="32766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7" name="Content Placeholder 3"/>
          <p:cNvSpPr>
            <a:spLocks noGrp="1"/>
          </p:cNvSpPr>
          <p:nvPr>
            <p:ph sz="quarter" idx="20"/>
          </p:nvPr>
        </p:nvSpPr>
        <p:spPr>
          <a:xfrm>
            <a:off x="6029632"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96440903"/>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C692F6-6F2F-4CFD-A777-05649129AE6F}" type="datetimeFigureOut">
              <a:rPr lang="en-US" smtClean="0"/>
              <a:t>10/1/2015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227977588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6C692F6-6F2F-4CFD-A777-05649129AE6F}" type="datetimeFigureOut">
              <a:rPr lang="en-US" smtClean="0"/>
              <a:t>10/1/2015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3321283187"/>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6C692F6-6F2F-4CFD-A777-05649129AE6F}" type="datetimeFigureOut">
              <a:rPr lang="en-US" smtClean="0"/>
              <a:t>10/1/2015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1568323516"/>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full_slide_background">
    <p:spTree>
      <p:nvGrpSpPr>
        <p:cNvPr id="1" name=""/>
        <p:cNvGrpSpPr/>
        <p:nvPr/>
      </p:nvGrpSpPr>
      <p:grpSpPr>
        <a:xfrm>
          <a:off x="0" y="0"/>
          <a:ext cx="0" cy="0"/>
          <a:chOff x="0" y="0"/>
          <a:chExt cx="0" cy="0"/>
        </a:xfrm>
      </p:grpSpPr>
      <p:cxnSp>
        <p:nvCxnSpPr>
          <p:cNvPr id="2" name="Straight Connector 1"/>
          <p:cNvCxnSpPr/>
          <p:nvPr userDrawn="1"/>
        </p:nvCxnSpPr>
        <p:spPr>
          <a:xfrm>
            <a:off x="609600" y="6705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hasCustomPrompt="1"/>
          </p:nvPr>
        </p:nvSpPr>
        <p:spPr>
          <a:xfrm>
            <a:off x="546728" y="609600"/>
            <a:ext cx="8063871" cy="685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4" name="Rectangle 3"/>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userDrawn="1"/>
        </p:nvCxnSpPr>
        <p:spPr>
          <a:xfrm>
            <a:off x="0" y="12954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7" name="Content Placeholder 3"/>
          <p:cNvSpPr>
            <a:spLocks noGrp="1"/>
          </p:cNvSpPr>
          <p:nvPr>
            <p:ph sz="quarter" idx="14"/>
          </p:nvPr>
        </p:nvSpPr>
        <p:spPr>
          <a:xfrm>
            <a:off x="533400" y="1447800"/>
            <a:ext cx="8153400" cy="51054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8645576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692F6-6F2F-4CFD-A777-05649129AE6F}" type="datetimeFigureOut">
              <a:rPr lang="en-US" smtClean="0"/>
              <a:t>10/1/2015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392DC9-9688-4E44-A90B-C333AD8FEA09}" type="slidenum">
              <a:rPr lang="en-US" smtClean="0"/>
              <a:t>‹#›</a:t>
            </a:fld>
            <a:endParaRPr lang="en-US"/>
          </a:p>
        </p:txBody>
      </p:sp>
    </p:spTree>
    <p:extLst>
      <p:ext uri="{BB962C8B-B14F-4D97-AF65-F5344CB8AC3E}">
        <p14:creationId xmlns:p14="http://schemas.microsoft.com/office/powerpoint/2010/main" val="2918641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75" r:id="rId5"/>
    <p:sldLayoutId id="2147483654" r:id="rId6"/>
    <p:sldLayoutId id="2147483662" r:id="rId7"/>
    <p:sldLayoutId id="2147483671" r:id="rId8"/>
    <p:sldLayoutId id="2147483663" r:id="rId9"/>
    <p:sldLayoutId id="2147483664" r:id="rId10"/>
    <p:sldLayoutId id="2147483665" r:id="rId11"/>
    <p:sldLayoutId id="2147483667" r:id="rId12"/>
    <p:sldLayoutId id="2147483668" r:id="rId13"/>
    <p:sldLayoutId id="2147483672" r:id="rId14"/>
    <p:sldLayoutId id="2147483669" r:id="rId15"/>
    <p:sldLayoutId id="2147483670" r:id="rId16"/>
    <p:sldLayoutId id="2147483673" r:id="rId17"/>
    <p:sldLayoutId id="2147483674" r:id="rId18"/>
    <p:sldLayoutId id="2147483651" r:id="rId19"/>
    <p:sldLayoutId id="2147483652" r:id="rId20"/>
    <p:sldLayoutId id="2147483653" r:id="rId21"/>
    <p:sldLayoutId id="2147483676" r:id="rId2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E-Business and </a:t>
            </a:r>
            <a:br>
              <a:rPr lang="en-US" dirty="0" smtClean="0"/>
            </a:br>
            <a:r>
              <a:rPr lang="en-US" dirty="0" smtClean="0"/>
              <a:t>E-Commerce</a:t>
            </a:r>
            <a:endParaRPr lang="en-US" dirty="0"/>
          </a:p>
        </p:txBody>
      </p:sp>
      <p:sp>
        <p:nvSpPr>
          <p:cNvPr id="3" name="Text Placeholder 2"/>
          <p:cNvSpPr>
            <a:spLocks noGrp="1"/>
          </p:cNvSpPr>
          <p:nvPr>
            <p:ph type="body" sz="quarter" idx="13"/>
          </p:nvPr>
        </p:nvSpPr>
        <p:spPr>
          <a:xfrm>
            <a:off x="5410200" y="1295400"/>
            <a:ext cx="1752600" cy="1752600"/>
          </a:xfrm>
        </p:spPr>
        <p:txBody>
          <a:bodyPr/>
          <a:lstStyle/>
          <a:p>
            <a:r>
              <a:rPr lang="en-US" dirty="0" smtClean="0"/>
              <a:t>7</a:t>
            </a:r>
            <a:endParaRPr lang="en-US" dirty="0"/>
          </a:p>
        </p:txBody>
      </p:sp>
    </p:spTree>
    <p:extLst>
      <p:ext uri="{BB962C8B-B14F-4D97-AF65-F5344CB8AC3E}">
        <p14:creationId xmlns:p14="http://schemas.microsoft.com/office/powerpoint/2010/main" val="37570257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Describe the six common types of electronic commerce.</a:t>
            </a:r>
          </a:p>
          <a:p>
            <a:r>
              <a:rPr lang="en-US" dirty="0"/>
              <a:t>Describe the various online services of business-to-consumer (B2C) commerce, providing specific examples of each.</a:t>
            </a:r>
          </a:p>
          <a:p>
            <a:r>
              <a:rPr lang="en-US" dirty="0"/>
              <a:t>Describe the three business models for business-to-business electronic commerce.</a:t>
            </a:r>
          </a:p>
          <a:p>
            <a:r>
              <a:rPr lang="en-US" dirty="0"/>
              <a:t>Identify the ethical and legal issues related to electronic commerce, providing examples.</a:t>
            </a:r>
          </a:p>
        </p:txBody>
      </p:sp>
      <p:sp>
        <p:nvSpPr>
          <p:cNvPr id="4" name="Title 1"/>
          <p:cNvSpPr txBox="1">
            <a:spLocks/>
          </p:cNvSpPr>
          <p:nvPr/>
        </p:nvSpPr>
        <p:spPr>
          <a:xfrm>
            <a:off x="457200" y="533400"/>
            <a:ext cx="8229600" cy="1143000"/>
          </a:xfrm>
          <a:prstGeom prst="rect">
            <a:avLst/>
          </a:prstGeom>
        </p:spPr>
        <p:txBody>
          <a:bodyPr>
            <a:no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LEARNING OBJECTIVES]</a:t>
            </a:r>
            <a:endParaRPr lang="en-US" dirty="0"/>
          </a:p>
        </p:txBody>
      </p:sp>
    </p:spTree>
    <p:extLst>
      <p:ext uri="{BB962C8B-B14F-4D97-AF65-F5344CB8AC3E}">
        <p14:creationId xmlns:p14="http://schemas.microsoft.com/office/powerpoint/2010/main" val="42273789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Overview of E-Business and E-Commerce</a:t>
            </a:r>
          </a:p>
          <a:p>
            <a:r>
              <a:rPr lang="en-US" dirty="0"/>
              <a:t>Business-to-Consumer (B2C) Electronic Commerce</a:t>
            </a:r>
          </a:p>
          <a:p>
            <a:r>
              <a:rPr lang="en-US" dirty="0"/>
              <a:t>Business-to-Business (B2B) Electronic Commerce</a:t>
            </a:r>
          </a:p>
          <a:p>
            <a:r>
              <a:rPr lang="en-US" dirty="0"/>
              <a:t>Ethical and Legal Issues in E-Business</a:t>
            </a:r>
          </a:p>
        </p:txBody>
      </p:sp>
      <p:sp>
        <p:nvSpPr>
          <p:cNvPr id="4" name="Title 1"/>
          <p:cNvSpPr txBox="1">
            <a:spLocks/>
          </p:cNvSpPr>
          <p:nvPr/>
        </p:nvSpPr>
        <p:spPr>
          <a:xfrm>
            <a:off x="457200" y="533400"/>
            <a:ext cx="8229600" cy="1143000"/>
          </a:xfrm>
          <a:prstGeom prst="rect">
            <a:avLst/>
          </a:prstGeom>
        </p:spPr>
        <p:txBody>
          <a:bodyPr>
            <a:norm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CHAPTER OUTLINE ]</a:t>
            </a:r>
            <a:endParaRPr lang="en-US" dirty="0"/>
          </a:p>
        </p:txBody>
      </p:sp>
    </p:spTree>
    <p:extLst>
      <p:ext uri="{BB962C8B-B14F-4D97-AF65-F5344CB8AC3E}">
        <p14:creationId xmlns:p14="http://schemas.microsoft.com/office/powerpoint/2010/main" val="18765037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10000"/>
          </a:bodyPr>
          <a:lstStyle/>
          <a:p>
            <a:r>
              <a:rPr lang="en-US" dirty="0"/>
              <a:t>Student PowerPoints for note taking</a:t>
            </a:r>
          </a:p>
          <a:p>
            <a:r>
              <a:rPr lang="en-US" b="1" dirty="0" err="1" smtClean="0">
                <a:solidFill>
                  <a:srgbClr val="FD9B0B"/>
                </a:solidFill>
                <a:latin typeface="Tahoma" panose="020B0604030504040204" pitchFamily="34" charset="0"/>
                <a:ea typeface="Tahoma" panose="020B0604030504040204" pitchFamily="34" charset="0"/>
                <a:cs typeface="Tahoma" panose="020B0604030504040204" pitchFamily="34" charset="0"/>
              </a:rPr>
              <a:t>WileyPLUS</a:t>
            </a:r>
            <a:r>
              <a:rPr lang="en-US" b="1" dirty="0" smtClean="0">
                <a:solidFill>
                  <a:srgbClr val="FD9B0B"/>
                </a:solidFill>
                <a:latin typeface="Tahoma" panose="020B0604030504040204" pitchFamily="34" charset="0"/>
                <a:ea typeface="Tahoma" panose="020B0604030504040204" pitchFamily="34" charset="0"/>
                <a:cs typeface="Tahoma" panose="020B0604030504040204" pitchFamily="34" charset="0"/>
              </a:rPr>
              <a:t> Learning Space</a:t>
            </a:r>
          </a:p>
          <a:p>
            <a:pPr lvl="1"/>
            <a:r>
              <a:rPr lang="en-US" dirty="0"/>
              <a:t>E-Book</a:t>
            </a:r>
          </a:p>
          <a:p>
            <a:pPr lvl="1"/>
            <a:r>
              <a:rPr lang="en-US" dirty="0"/>
              <a:t>Author video lecture for each chapter section</a:t>
            </a:r>
          </a:p>
          <a:p>
            <a:pPr lvl="1"/>
            <a:r>
              <a:rPr lang="en-US" dirty="0"/>
              <a:t>Practice quizzes</a:t>
            </a:r>
          </a:p>
          <a:p>
            <a:pPr lvl="1"/>
            <a:r>
              <a:rPr lang="en-US" dirty="0"/>
              <a:t>Flash Cards for vocabulary review</a:t>
            </a:r>
          </a:p>
          <a:p>
            <a:pPr lvl="1"/>
            <a:r>
              <a:rPr lang="en-US" dirty="0"/>
              <a:t>Additional “What’s in IT for Me?” cases</a:t>
            </a:r>
          </a:p>
          <a:p>
            <a:pPr lvl="1"/>
            <a:r>
              <a:rPr lang="en-US" dirty="0"/>
              <a:t>Video interviews with managers</a:t>
            </a:r>
          </a:p>
          <a:p>
            <a:pPr lvl="1"/>
            <a:r>
              <a:rPr lang="en-US" dirty="0"/>
              <a:t>Lab Manuals - Microsoft Office 2010 &amp; </a:t>
            </a:r>
            <a:r>
              <a:rPr lang="en-US" dirty="0" smtClean="0"/>
              <a:t>2013</a:t>
            </a:r>
            <a:endParaRPr lang="en-US" dirty="0"/>
          </a:p>
        </p:txBody>
      </p:sp>
      <p:sp>
        <p:nvSpPr>
          <p:cNvPr id="6" name="Title 1"/>
          <p:cNvSpPr>
            <a:spLocks noGrp="1"/>
          </p:cNvSpPr>
          <p:nvPr>
            <p:ph type="title" idx="4294967295"/>
          </p:nvPr>
        </p:nvSpPr>
        <p:spPr>
          <a:xfrm>
            <a:off x="457200" y="350838"/>
            <a:ext cx="8229600" cy="1143000"/>
          </a:xfrm>
        </p:spPr>
        <p:txBody>
          <a:bodyPr>
            <a:normAutofit/>
          </a:bodyPr>
          <a:lstStyle>
            <a:lvl1pPr>
              <a:defRPr sz="5000" baseline="0">
                <a:latin typeface="Times New Roman" pitchFamily="18" charset="0"/>
              </a:defRPr>
            </a:lvl1pPr>
          </a:lstStyle>
          <a:p>
            <a:r>
              <a:rPr lang="en-US" dirty="0" smtClean="0"/>
              <a:t>[ WEB RESOURCES]</a:t>
            </a:r>
            <a:endParaRPr lang="en-US" dirty="0"/>
          </a:p>
        </p:txBody>
      </p:sp>
    </p:spTree>
    <p:extLst>
      <p:ext uri="{BB962C8B-B14F-4D97-AF65-F5344CB8AC3E}">
        <p14:creationId xmlns:p14="http://schemas.microsoft.com/office/powerpoint/2010/main" val="3027126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dirty="0">
                <a:solidFill>
                  <a:schemeClr val="accent6">
                    <a:lumMod val="50000"/>
                  </a:schemeClr>
                </a:solidFill>
              </a:rPr>
              <a:t>[ </a:t>
            </a:r>
            <a:r>
              <a:rPr lang="en-US" dirty="0">
                <a:solidFill>
                  <a:schemeClr val="accent1">
                    <a:lumMod val="75000"/>
                  </a:schemeClr>
                </a:solidFill>
              </a:rPr>
              <a:t>Opening Case </a:t>
            </a:r>
            <a:r>
              <a:rPr lang="en-US" dirty="0" smtClean="0"/>
              <a:t>The Omni Channel Strategy to Compete with Amazon</a:t>
            </a:r>
            <a:r>
              <a:rPr lang="en-US" sz="5300" dirty="0" smtClean="0">
                <a:solidFill>
                  <a:schemeClr val="accent6">
                    <a:lumMod val="50000"/>
                  </a:schemeClr>
                </a:solidFill>
              </a:rPr>
              <a:t>]</a:t>
            </a:r>
            <a:endParaRPr lang="en-US" dirty="0"/>
          </a:p>
        </p:txBody>
      </p:sp>
      <p:sp>
        <p:nvSpPr>
          <p:cNvPr id="3" name="Text Placeholder 2"/>
          <p:cNvSpPr>
            <a:spLocks noGrp="1"/>
          </p:cNvSpPr>
          <p:nvPr>
            <p:ph type="body" sz="quarter" idx="13"/>
          </p:nvPr>
        </p:nvSpPr>
        <p:spPr/>
        <p:txBody>
          <a:bodyPr>
            <a:normAutofit/>
          </a:bodyPr>
          <a:lstStyle/>
          <a:p>
            <a:r>
              <a:rPr lang="en-US" dirty="0"/>
              <a:t>The </a:t>
            </a:r>
            <a:r>
              <a:rPr lang="en-US" dirty="0">
                <a:solidFill>
                  <a:schemeClr val="tx1">
                    <a:lumMod val="65000"/>
                    <a:lumOff val="35000"/>
                  </a:schemeClr>
                </a:solidFill>
              </a:rPr>
              <a:t>B</a:t>
            </a:r>
            <a:r>
              <a:rPr lang="en-US" dirty="0" smtClean="0">
                <a:solidFill>
                  <a:schemeClr val="tx1">
                    <a:lumMod val="65000"/>
                    <a:lumOff val="35000"/>
                  </a:schemeClr>
                </a:solidFill>
              </a:rPr>
              <a:t>usiness Problem</a:t>
            </a:r>
            <a:endParaRPr lang="en-US" dirty="0">
              <a:solidFill>
                <a:schemeClr val="tx1">
                  <a:lumMod val="65000"/>
                  <a:lumOff val="35000"/>
                </a:schemeClr>
              </a:solidFill>
            </a:endParaRPr>
          </a:p>
          <a:p>
            <a:r>
              <a:rPr lang="en-US" dirty="0" smtClean="0"/>
              <a:t>The </a:t>
            </a:r>
            <a:r>
              <a:rPr lang="en-US" dirty="0">
                <a:solidFill>
                  <a:schemeClr val="tx1">
                    <a:lumMod val="65000"/>
                    <a:lumOff val="35000"/>
                  </a:schemeClr>
                </a:solidFill>
              </a:rPr>
              <a:t>Solution</a:t>
            </a:r>
          </a:p>
          <a:p>
            <a:r>
              <a:rPr lang="en-US" dirty="0"/>
              <a:t>The </a:t>
            </a:r>
            <a:r>
              <a:rPr lang="en-US" dirty="0">
                <a:solidFill>
                  <a:schemeClr val="tx1">
                    <a:lumMod val="65000"/>
                    <a:lumOff val="35000"/>
                  </a:schemeClr>
                </a:solidFill>
              </a:rPr>
              <a:t>Results</a:t>
            </a:r>
          </a:p>
          <a:p>
            <a:endParaRPr lang="en-US" dirty="0"/>
          </a:p>
        </p:txBody>
      </p:sp>
    </p:spTree>
    <p:extLst>
      <p:ext uri="{BB962C8B-B14F-4D97-AF65-F5344CB8AC3E}">
        <p14:creationId xmlns:p14="http://schemas.microsoft.com/office/powerpoint/2010/main" val="40223892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err="1" smtClean="0"/>
              <a:t>FlightCar</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7.1</a:t>
            </a:r>
            <a:endParaRPr lang="en-US" dirty="0"/>
          </a:p>
        </p:txBody>
      </p:sp>
    </p:spTree>
    <p:extLst>
      <p:ext uri="{BB962C8B-B14F-4D97-AF65-F5344CB8AC3E}">
        <p14:creationId xmlns:p14="http://schemas.microsoft.com/office/powerpoint/2010/main" val="238390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Overview of E-Business and E-Commerce</a:t>
            </a:r>
            <a:endParaRPr lang="en-US" dirty="0"/>
          </a:p>
        </p:txBody>
      </p:sp>
      <p:sp>
        <p:nvSpPr>
          <p:cNvPr id="3" name="Text Placeholder 2"/>
          <p:cNvSpPr>
            <a:spLocks noGrp="1"/>
          </p:cNvSpPr>
          <p:nvPr>
            <p:ph type="body" sz="quarter" idx="14"/>
          </p:nvPr>
        </p:nvSpPr>
        <p:spPr/>
        <p:txBody>
          <a:bodyPr/>
          <a:lstStyle/>
          <a:p>
            <a:r>
              <a:rPr lang="en-US" dirty="0" smtClean="0"/>
              <a:t>7.1</a:t>
            </a:r>
            <a:endParaRPr lang="en-US" dirty="0"/>
          </a:p>
        </p:txBody>
      </p:sp>
      <p:sp>
        <p:nvSpPr>
          <p:cNvPr id="4" name="Content Placeholder 3"/>
          <p:cNvSpPr>
            <a:spLocks noGrp="1"/>
          </p:cNvSpPr>
          <p:nvPr>
            <p:ph sz="quarter" idx="15"/>
          </p:nvPr>
        </p:nvSpPr>
        <p:spPr/>
        <p:txBody>
          <a:bodyPr/>
          <a:lstStyle/>
          <a:p>
            <a:r>
              <a:rPr lang="en-US" dirty="0" smtClean="0"/>
              <a:t>Definitions and Concepts</a:t>
            </a:r>
          </a:p>
          <a:p>
            <a:r>
              <a:rPr lang="en-US" dirty="0" smtClean="0"/>
              <a:t>Types of E-Commerce</a:t>
            </a:r>
          </a:p>
          <a:p>
            <a:r>
              <a:rPr lang="en-US" dirty="0" smtClean="0"/>
              <a:t>Major E-Commerce Mechanisms</a:t>
            </a:r>
          </a:p>
          <a:p>
            <a:r>
              <a:rPr lang="en-US" dirty="0" smtClean="0"/>
              <a:t>Electronic Payment Mechanisms</a:t>
            </a:r>
          </a:p>
          <a:p>
            <a:r>
              <a:rPr lang="en-US" dirty="0" smtClean="0"/>
              <a:t>Benefits and Limitations of E-Commerce</a:t>
            </a:r>
          </a:p>
          <a:p>
            <a:endParaRPr lang="en-US" dirty="0"/>
          </a:p>
        </p:txBody>
      </p:sp>
    </p:spTree>
    <p:extLst>
      <p:ext uri="{BB962C8B-B14F-4D97-AF65-F5344CB8AC3E}">
        <p14:creationId xmlns:p14="http://schemas.microsoft.com/office/powerpoint/2010/main" val="2491502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Definitions and Concepts</a:t>
            </a:r>
            <a:endParaRPr lang="en-US" dirty="0"/>
          </a:p>
        </p:txBody>
      </p:sp>
      <p:sp>
        <p:nvSpPr>
          <p:cNvPr id="3" name="Content Placeholder 2"/>
          <p:cNvSpPr>
            <a:spLocks noGrp="1"/>
          </p:cNvSpPr>
          <p:nvPr>
            <p:ph sz="quarter" idx="14"/>
          </p:nvPr>
        </p:nvSpPr>
        <p:spPr/>
        <p:txBody>
          <a:bodyPr>
            <a:normAutofit lnSpcReduction="10000"/>
          </a:bodyPr>
          <a:lstStyle/>
          <a:p>
            <a:r>
              <a:rPr lang="en-US" dirty="0" smtClean="0"/>
              <a:t>Electronic Commerce</a:t>
            </a:r>
          </a:p>
          <a:p>
            <a:pPr lvl="1"/>
            <a:r>
              <a:rPr lang="en-US" dirty="0" smtClean="0"/>
              <a:t>The process of buying, selling, transferring, or exchanging products, services, or information via computer networks, including the Internet.</a:t>
            </a:r>
          </a:p>
          <a:p>
            <a:r>
              <a:rPr lang="en-US" dirty="0" smtClean="0"/>
              <a:t>Electronic Business (e-business)</a:t>
            </a:r>
          </a:p>
          <a:p>
            <a:pPr lvl="1"/>
            <a:r>
              <a:rPr lang="en-US" dirty="0" smtClean="0"/>
              <a:t>A much broader concept than e-commerce</a:t>
            </a:r>
          </a:p>
          <a:p>
            <a:pPr lvl="1"/>
            <a:r>
              <a:rPr lang="en-US" dirty="0" smtClean="0"/>
              <a:t>Servicing customers, collaborating with business partners, and performing electronic transactions within an organization</a:t>
            </a:r>
          </a:p>
        </p:txBody>
      </p:sp>
    </p:spTree>
    <p:extLst>
      <p:ext uri="{BB962C8B-B14F-4D97-AF65-F5344CB8AC3E}">
        <p14:creationId xmlns:p14="http://schemas.microsoft.com/office/powerpoint/2010/main" val="1927800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Definitions and Concepts (</a:t>
            </a:r>
            <a:r>
              <a:rPr lang="en-US" dirty="0" err="1" smtClean="0"/>
              <a:t>Con’t</a:t>
            </a:r>
            <a:r>
              <a:rPr lang="en-US" dirty="0" smtClean="0"/>
              <a:t>)</a:t>
            </a:r>
            <a:endParaRPr lang="en-US" dirty="0"/>
          </a:p>
        </p:txBody>
      </p:sp>
      <p:sp>
        <p:nvSpPr>
          <p:cNvPr id="3" name="Content Placeholder 2"/>
          <p:cNvSpPr>
            <a:spLocks noGrp="1"/>
          </p:cNvSpPr>
          <p:nvPr>
            <p:ph sz="quarter" idx="14"/>
          </p:nvPr>
        </p:nvSpPr>
        <p:spPr/>
        <p:txBody>
          <a:bodyPr>
            <a:normAutofit/>
          </a:bodyPr>
          <a:lstStyle/>
          <a:p>
            <a:r>
              <a:rPr lang="en-US" dirty="0" smtClean="0"/>
              <a:t>Degree of digitization</a:t>
            </a:r>
          </a:p>
          <a:p>
            <a:r>
              <a:rPr lang="en-US" dirty="0" smtClean="0"/>
              <a:t>Brick-and-Mortar organizations</a:t>
            </a:r>
          </a:p>
          <a:p>
            <a:r>
              <a:rPr lang="en-US" dirty="0" smtClean="0"/>
              <a:t>Virtual Organizations</a:t>
            </a:r>
          </a:p>
          <a:p>
            <a:r>
              <a:rPr lang="en-US" dirty="0" smtClean="0"/>
              <a:t>Clicks-and-Mortar Organizations</a:t>
            </a:r>
          </a:p>
        </p:txBody>
      </p:sp>
    </p:spTree>
    <p:extLst>
      <p:ext uri="{BB962C8B-B14F-4D97-AF65-F5344CB8AC3E}">
        <p14:creationId xmlns:p14="http://schemas.microsoft.com/office/powerpoint/2010/main" val="156197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Types of E-Commerce</a:t>
            </a:r>
            <a:endParaRPr lang="en-US" dirty="0"/>
          </a:p>
        </p:txBody>
      </p:sp>
      <p:sp>
        <p:nvSpPr>
          <p:cNvPr id="3" name="Content Placeholder 2"/>
          <p:cNvSpPr>
            <a:spLocks noGrp="1"/>
          </p:cNvSpPr>
          <p:nvPr>
            <p:ph sz="quarter" idx="14"/>
          </p:nvPr>
        </p:nvSpPr>
        <p:spPr/>
        <p:txBody>
          <a:bodyPr/>
          <a:lstStyle/>
          <a:p>
            <a:r>
              <a:rPr lang="en-US" dirty="0" smtClean="0"/>
              <a:t>Business-to-consumer (B2C)</a:t>
            </a:r>
          </a:p>
          <a:p>
            <a:r>
              <a:rPr lang="en-US" dirty="0" smtClean="0"/>
              <a:t>Business-to-business (B2B)</a:t>
            </a:r>
          </a:p>
          <a:p>
            <a:r>
              <a:rPr lang="en-US" dirty="0" smtClean="0"/>
              <a:t>Consumer-to-consumer (C2C)</a:t>
            </a:r>
          </a:p>
          <a:p>
            <a:r>
              <a:rPr lang="en-US" dirty="0" smtClean="0"/>
              <a:t>Business-to-employee (B2E)</a:t>
            </a:r>
          </a:p>
          <a:p>
            <a:r>
              <a:rPr lang="en-US" dirty="0" smtClean="0"/>
              <a:t>E-Government</a:t>
            </a:r>
          </a:p>
          <a:p>
            <a:r>
              <a:rPr lang="en-US" dirty="0" smtClean="0"/>
              <a:t>Mobile commerce (M-commerce)</a:t>
            </a:r>
          </a:p>
          <a:p>
            <a:endParaRPr lang="en-US" dirty="0"/>
          </a:p>
        </p:txBody>
      </p:sp>
    </p:spTree>
    <p:extLst>
      <p:ext uri="{BB962C8B-B14F-4D97-AF65-F5344CB8AC3E}">
        <p14:creationId xmlns:p14="http://schemas.microsoft.com/office/powerpoint/2010/main" val="3372030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E-Commerce Business Models</a:t>
            </a:r>
            <a:endParaRPr lang="en-US" dirty="0"/>
          </a:p>
        </p:txBody>
      </p:sp>
      <p:sp>
        <p:nvSpPr>
          <p:cNvPr id="3" name="Text Placeholder 2"/>
          <p:cNvSpPr>
            <a:spLocks noGrp="1"/>
          </p:cNvSpPr>
          <p:nvPr>
            <p:ph type="body" sz="quarter" idx="13"/>
          </p:nvPr>
        </p:nvSpPr>
        <p:spPr/>
        <p:txBody>
          <a:bodyPr>
            <a:normAutofit lnSpcReduction="10000"/>
          </a:bodyPr>
          <a:lstStyle/>
          <a:p>
            <a:r>
              <a:rPr lang="en-US" dirty="0" smtClean="0"/>
              <a:t>Online direct marketing</a:t>
            </a:r>
          </a:p>
          <a:p>
            <a:r>
              <a:rPr lang="en-US" dirty="0" smtClean="0"/>
              <a:t>Electronic tendering system</a:t>
            </a:r>
          </a:p>
          <a:p>
            <a:r>
              <a:rPr lang="en-US" dirty="0" smtClean="0"/>
              <a:t>Name-your-own-price</a:t>
            </a:r>
          </a:p>
          <a:p>
            <a:r>
              <a:rPr lang="en-US" dirty="0" smtClean="0"/>
              <a:t>Find-the-best-price</a:t>
            </a:r>
          </a:p>
          <a:p>
            <a:r>
              <a:rPr lang="en-US" dirty="0" smtClean="0"/>
              <a:t>Affiliate marketing</a:t>
            </a:r>
          </a:p>
          <a:p>
            <a:r>
              <a:rPr lang="en-US" dirty="0" smtClean="0"/>
              <a:t>Viral marketing</a:t>
            </a:r>
          </a:p>
          <a:p>
            <a:r>
              <a:rPr lang="en-US" dirty="0" smtClean="0"/>
              <a:t>Group purchasing (e-coops)</a:t>
            </a:r>
          </a:p>
          <a:p>
            <a:endParaRPr lang="en-US" dirty="0" smtClean="0"/>
          </a:p>
        </p:txBody>
      </p:sp>
    </p:spTree>
    <p:extLst>
      <p:ext uri="{BB962C8B-B14F-4D97-AF65-F5344CB8AC3E}">
        <p14:creationId xmlns:p14="http://schemas.microsoft.com/office/powerpoint/2010/main" val="2164887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E-Commerce Business Models (Continued)</a:t>
            </a:r>
            <a:endParaRPr lang="en-US" dirty="0"/>
          </a:p>
        </p:txBody>
      </p:sp>
      <p:sp>
        <p:nvSpPr>
          <p:cNvPr id="3" name="Text Placeholder 2"/>
          <p:cNvSpPr>
            <a:spLocks noGrp="1"/>
          </p:cNvSpPr>
          <p:nvPr>
            <p:ph type="body" sz="quarter" idx="13"/>
          </p:nvPr>
        </p:nvSpPr>
        <p:spPr/>
        <p:txBody>
          <a:bodyPr>
            <a:normAutofit/>
          </a:bodyPr>
          <a:lstStyle/>
          <a:p>
            <a:r>
              <a:rPr lang="en-US" dirty="0" smtClean="0"/>
              <a:t>Online Auctions</a:t>
            </a:r>
          </a:p>
          <a:p>
            <a:r>
              <a:rPr lang="en-US" dirty="0" smtClean="0"/>
              <a:t>Product customization</a:t>
            </a:r>
          </a:p>
          <a:p>
            <a:r>
              <a:rPr lang="en-US" dirty="0" smtClean="0"/>
              <a:t>Electronic marketplaces</a:t>
            </a:r>
          </a:p>
          <a:p>
            <a:r>
              <a:rPr lang="en-US" dirty="0" smtClean="0"/>
              <a:t>Bartering online</a:t>
            </a:r>
          </a:p>
          <a:p>
            <a:r>
              <a:rPr lang="en-US" dirty="0" smtClean="0"/>
              <a:t>Deep discounters</a:t>
            </a:r>
          </a:p>
          <a:p>
            <a:r>
              <a:rPr lang="en-US" dirty="0" smtClean="0"/>
              <a:t>Membership</a:t>
            </a:r>
            <a:endParaRPr lang="en-US" dirty="0"/>
          </a:p>
        </p:txBody>
      </p:sp>
    </p:spTree>
    <p:extLst>
      <p:ext uri="{BB962C8B-B14F-4D97-AF65-F5344CB8AC3E}">
        <p14:creationId xmlns:p14="http://schemas.microsoft.com/office/powerpoint/2010/main" val="1229965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Major E-Commerce Mechanisms</a:t>
            </a:r>
            <a:endParaRPr lang="en-US" dirty="0"/>
          </a:p>
        </p:txBody>
      </p:sp>
      <p:sp>
        <p:nvSpPr>
          <p:cNvPr id="3" name="Content Placeholder 2"/>
          <p:cNvSpPr>
            <a:spLocks noGrp="1"/>
          </p:cNvSpPr>
          <p:nvPr>
            <p:ph sz="quarter" idx="14"/>
          </p:nvPr>
        </p:nvSpPr>
        <p:spPr/>
        <p:txBody>
          <a:bodyPr/>
          <a:lstStyle/>
          <a:p>
            <a:r>
              <a:rPr lang="en-US" dirty="0" smtClean="0"/>
              <a:t>Electronic catalogs</a:t>
            </a:r>
          </a:p>
          <a:p>
            <a:r>
              <a:rPr lang="en-US" dirty="0" smtClean="0"/>
              <a:t>Electronic auctions</a:t>
            </a:r>
          </a:p>
          <a:p>
            <a:r>
              <a:rPr lang="en-US" dirty="0" smtClean="0"/>
              <a:t>E-storefronts</a:t>
            </a:r>
          </a:p>
          <a:p>
            <a:r>
              <a:rPr lang="en-US" dirty="0" smtClean="0"/>
              <a:t>E-malls</a:t>
            </a:r>
          </a:p>
          <a:p>
            <a:r>
              <a:rPr lang="en-US" dirty="0" smtClean="0"/>
              <a:t>E-marketplaces</a:t>
            </a:r>
          </a:p>
        </p:txBody>
      </p:sp>
    </p:spTree>
    <p:extLst>
      <p:ext uri="{BB962C8B-B14F-4D97-AF65-F5344CB8AC3E}">
        <p14:creationId xmlns:p14="http://schemas.microsoft.com/office/powerpoint/2010/main" val="3476956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Electronic Payment Mechanisms</a:t>
            </a:r>
            <a:endParaRPr lang="en-US" dirty="0"/>
          </a:p>
        </p:txBody>
      </p:sp>
      <p:sp>
        <p:nvSpPr>
          <p:cNvPr id="3" name="Content Placeholder 2"/>
          <p:cNvSpPr>
            <a:spLocks noGrp="1"/>
          </p:cNvSpPr>
          <p:nvPr>
            <p:ph sz="quarter" idx="14"/>
          </p:nvPr>
        </p:nvSpPr>
        <p:spPr/>
        <p:txBody>
          <a:bodyPr>
            <a:normAutofit fontScale="92500" lnSpcReduction="20000"/>
          </a:bodyPr>
          <a:lstStyle/>
          <a:p>
            <a:r>
              <a:rPr lang="en-US" dirty="0" smtClean="0"/>
              <a:t>Electronic Checks (e-checks)</a:t>
            </a:r>
          </a:p>
          <a:p>
            <a:r>
              <a:rPr lang="en-US" dirty="0" smtClean="0"/>
              <a:t>Electronic Cards</a:t>
            </a:r>
          </a:p>
          <a:p>
            <a:pPr lvl="1"/>
            <a:r>
              <a:rPr lang="en-US" dirty="0" smtClean="0"/>
              <a:t>Electronic credit cards</a:t>
            </a:r>
          </a:p>
          <a:p>
            <a:pPr lvl="1"/>
            <a:r>
              <a:rPr lang="en-US" dirty="0" smtClean="0"/>
              <a:t>Virtual credit cards</a:t>
            </a:r>
          </a:p>
          <a:p>
            <a:pPr lvl="1"/>
            <a:r>
              <a:rPr lang="en-US" dirty="0" smtClean="0"/>
              <a:t>Purchasing cards</a:t>
            </a:r>
          </a:p>
          <a:p>
            <a:pPr lvl="1"/>
            <a:r>
              <a:rPr lang="en-US" dirty="0" smtClean="0"/>
              <a:t>Stored-value money cards</a:t>
            </a:r>
          </a:p>
          <a:p>
            <a:pPr lvl="1"/>
            <a:r>
              <a:rPr lang="en-US" dirty="0" smtClean="0"/>
              <a:t>Smart cards</a:t>
            </a:r>
          </a:p>
          <a:p>
            <a:r>
              <a:rPr lang="en-US" dirty="0" smtClean="0"/>
              <a:t>Digital Wallets</a:t>
            </a:r>
          </a:p>
          <a:p>
            <a:r>
              <a:rPr lang="en-US" dirty="0" smtClean="0"/>
              <a:t>Person-to-Person Payments</a:t>
            </a:r>
          </a:p>
          <a:p>
            <a:endParaRPr lang="en-US" dirty="0"/>
          </a:p>
        </p:txBody>
      </p:sp>
    </p:spTree>
    <p:extLst>
      <p:ext uri="{BB962C8B-B14F-4D97-AF65-F5344CB8AC3E}">
        <p14:creationId xmlns:p14="http://schemas.microsoft.com/office/powerpoint/2010/main" val="3372137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77500" lnSpcReduction="20000"/>
          </a:bodyPr>
          <a:lstStyle/>
          <a:p>
            <a:r>
              <a:rPr lang="en-US" dirty="0" smtClean="0"/>
              <a:t>Figure 7.1 How e-credit cards work.</a:t>
            </a:r>
            <a:endParaRPr lang="en-US" dirty="0"/>
          </a:p>
        </p:txBody>
      </p:sp>
      <p:pic>
        <p:nvPicPr>
          <p:cNvPr id="7"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770414" y="1447800"/>
            <a:ext cx="7679372"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27486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62500" lnSpcReduction="20000"/>
          </a:bodyPr>
          <a:lstStyle/>
          <a:p>
            <a:r>
              <a:rPr lang="en-US" b="1" dirty="0" smtClean="0"/>
              <a:t>Figure 7.2 </a:t>
            </a:r>
            <a:r>
              <a:rPr lang="en-US" dirty="0" smtClean="0"/>
              <a:t>Example of a purchasing card.</a:t>
            </a:r>
            <a:endParaRPr lang="en-US" dirty="0"/>
          </a:p>
        </p:txBody>
      </p:sp>
      <p:pic>
        <p:nvPicPr>
          <p:cNvPr id="5" name="Picture 2"/>
          <p:cNvPicPr>
            <a:picLocks noGrp="1" noChangeAspect="1" noChangeArrowheads="1"/>
          </p:cNvPicPr>
          <p:nvPr>
            <p:ph sz="quarter" idx="14"/>
          </p:nvPr>
        </p:nvPicPr>
        <p:blipFill>
          <a:blip r:embed="rId2">
            <a:extLst>
              <a:ext uri="{28A0092B-C50C-407E-A947-70E740481C1C}">
                <a14:useLocalDpi xmlns:a14="http://schemas.microsoft.com/office/drawing/2010/main" val="0"/>
              </a:ext>
            </a:extLst>
          </a:blip>
          <a:srcRect/>
          <a:stretch>
            <a:fillRect/>
          </a:stretch>
        </p:blipFill>
        <p:spPr bwMode="auto">
          <a:xfrm>
            <a:off x="1207937" y="1447800"/>
            <a:ext cx="6804325"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6878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62500" lnSpcReduction="20000"/>
          </a:bodyPr>
          <a:lstStyle/>
          <a:p>
            <a:r>
              <a:rPr lang="en-US" b="1" dirty="0" smtClean="0"/>
              <a:t>Figure 7.3 </a:t>
            </a:r>
            <a:r>
              <a:rPr lang="en-US" dirty="0" smtClean="0"/>
              <a:t>The New York City Metro Card</a:t>
            </a:r>
            <a:endParaRPr lang="en-US" dirty="0"/>
          </a:p>
        </p:txBody>
      </p:sp>
      <p:pic>
        <p:nvPicPr>
          <p:cNvPr id="5" name="Picture 2"/>
          <p:cNvPicPr>
            <a:picLocks noGrp="1" noChangeAspect="1" noChangeArrowheads="1"/>
          </p:cNvPicPr>
          <p:nvPr>
            <p:ph sz="quarter" idx="14"/>
          </p:nvPr>
        </p:nvPicPr>
        <p:blipFill>
          <a:blip r:embed="rId2">
            <a:extLst>
              <a:ext uri="{28A0092B-C50C-407E-A947-70E740481C1C}">
                <a14:useLocalDpi xmlns:a14="http://schemas.microsoft.com/office/drawing/2010/main" val="0"/>
              </a:ext>
            </a:extLst>
          </a:blip>
          <a:srcRect/>
          <a:stretch>
            <a:fillRect/>
          </a:stretch>
        </p:blipFill>
        <p:spPr bwMode="auto">
          <a:xfrm>
            <a:off x="871537" y="1452562"/>
            <a:ext cx="7477125" cy="509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8321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47500" lnSpcReduction="20000"/>
          </a:bodyPr>
          <a:lstStyle/>
          <a:p>
            <a:r>
              <a:rPr lang="en-US" b="1" dirty="0" smtClean="0"/>
              <a:t>Figure 7.4 </a:t>
            </a:r>
            <a:r>
              <a:rPr lang="en-US" dirty="0" smtClean="0"/>
              <a:t>Smart cards are frequently multipurpose.</a:t>
            </a:r>
            <a:endParaRPr lang="en-US" dirty="0"/>
          </a:p>
        </p:txBody>
      </p:sp>
      <p:pic>
        <p:nvPicPr>
          <p:cNvPr id="5" name="Picture 2"/>
          <p:cNvPicPr>
            <a:picLocks noGrp="1" noChangeAspect="1" noChangeArrowheads="1"/>
          </p:cNvPicPr>
          <p:nvPr>
            <p:ph sz="quarter" idx="14"/>
          </p:nvPr>
        </p:nvPicPr>
        <p:blipFill>
          <a:blip r:embed="rId2">
            <a:extLst>
              <a:ext uri="{28A0092B-C50C-407E-A947-70E740481C1C}">
                <a14:useLocalDpi xmlns:a14="http://schemas.microsoft.com/office/drawing/2010/main" val="0"/>
              </a:ext>
            </a:extLst>
          </a:blip>
          <a:srcRect/>
          <a:stretch>
            <a:fillRect/>
          </a:stretch>
        </p:blipFill>
        <p:spPr bwMode="auto">
          <a:xfrm>
            <a:off x="1087285" y="1447800"/>
            <a:ext cx="704563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281051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457200" y="533400"/>
            <a:ext cx="8229600" cy="1143000"/>
          </a:xfrm>
        </p:spPr>
        <p:txBody>
          <a:bodyPr>
            <a:normAutofit fontScale="85000" lnSpcReduction="20000"/>
          </a:bodyPr>
          <a:lstStyle/>
          <a:p>
            <a:r>
              <a:rPr lang="en-US" dirty="0" smtClean="0"/>
              <a:t>Benefits &amp; Limitations </a:t>
            </a:r>
            <a:br>
              <a:rPr lang="en-US" dirty="0" smtClean="0"/>
            </a:br>
            <a:r>
              <a:rPr lang="en-US" dirty="0" smtClean="0"/>
              <a:t>of E-Commerce</a:t>
            </a:r>
            <a:endParaRPr lang="en-US" dirty="0"/>
          </a:p>
        </p:txBody>
      </p:sp>
      <p:sp>
        <p:nvSpPr>
          <p:cNvPr id="3" name="Content Placeholder 2"/>
          <p:cNvSpPr>
            <a:spLocks noGrp="1"/>
          </p:cNvSpPr>
          <p:nvPr>
            <p:ph sz="quarter" idx="14"/>
          </p:nvPr>
        </p:nvSpPr>
        <p:spPr/>
        <p:txBody>
          <a:bodyPr>
            <a:normAutofit fontScale="70000" lnSpcReduction="20000"/>
          </a:bodyPr>
          <a:lstStyle/>
          <a:p>
            <a:r>
              <a:rPr lang="en-US" dirty="0" smtClean="0"/>
              <a:t>National and International markets are more Accessible</a:t>
            </a:r>
          </a:p>
          <a:p>
            <a:r>
              <a:rPr lang="en-US" dirty="0" smtClean="0"/>
              <a:t>Lowers costs of processing, distributing, and retrieving information</a:t>
            </a:r>
          </a:p>
          <a:p>
            <a:r>
              <a:rPr lang="en-US" dirty="0" smtClean="0"/>
              <a:t>Provides access to a vast number of products and services 24/7</a:t>
            </a:r>
          </a:p>
          <a:p>
            <a:r>
              <a:rPr lang="en-US" dirty="0" smtClean="0"/>
              <a:t>Deliver information, services, and products to people in cities, rural areas, and developing countries</a:t>
            </a:r>
            <a:endParaRPr lang="en-US" dirty="0"/>
          </a:p>
        </p:txBody>
      </p:sp>
      <p:sp>
        <p:nvSpPr>
          <p:cNvPr id="4" name="Content Placeholder 3"/>
          <p:cNvSpPr>
            <a:spLocks noGrp="1"/>
          </p:cNvSpPr>
          <p:nvPr>
            <p:ph sz="quarter" idx="15"/>
          </p:nvPr>
        </p:nvSpPr>
        <p:spPr/>
        <p:txBody>
          <a:bodyPr>
            <a:normAutofit fontScale="70000" lnSpcReduction="20000"/>
          </a:bodyPr>
          <a:lstStyle/>
          <a:p>
            <a:r>
              <a:rPr lang="en-US" dirty="0" smtClean="0"/>
              <a:t>Lack of universally accepted security standards</a:t>
            </a:r>
          </a:p>
          <a:p>
            <a:r>
              <a:rPr lang="en-US" dirty="0" smtClean="0"/>
              <a:t>In less-developed countries telecommunications bandwidth is often insufficient, and Web access is expensive</a:t>
            </a:r>
          </a:p>
          <a:p>
            <a:r>
              <a:rPr lang="en-US" dirty="0" smtClean="0"/>
              <a:t>Perceptions that e-commerce is insecure</a:t>
            </a:r>
          </a:p>
          <a:p>
            <a:r>
              <a:rPr lang="en-US" dirty="0" smtClean="0"/>
              <a:t>Unresolved legal issues</a:t>
            </a:r>
          </a:p>
          <a:p>
            <a:r>
              <a:rPr lang="en-US" dirty="0" smtClean="0"/>
              <a:t>Lacks a critical mass of buyers and sellers</a:t>
            </a:r>
            <a:endParaRPr lang="en-US" dirty="0"/>
          </a:p>
        </p:txBody>
      </p:sp>
      <p:sp>
        <p:nvSpPr>
          <p:cNvPr id="5" name="Text Placeholder 4"/>
          <p:cNvSpPr>
            <a:spLocks noGrp="1"/>
          </p:cNvSpPr>
          <p:nvPr>
            <p:ph type="body" idx="16"/>
          </p:nvPr>
        </p:nvSpPr>
        <p:spPr/>
        <p:txBody>
          <a:bodyPr/>
          <a:lstStyle/>
          <a:p>
            <a:r>
              <a:rPr lang="en-US" dirty="0" smtClean="0"/>
              <a:t>Benefits</a:t>
            </a:r>
            <a:endParaRPr lang="en-US" dirty="0"/>
          </a:p>
        </p:txBody>
      </p:sp>
      <p:sp>
        <p:nvSpPr>
          <p:cNvPr id="6" name="Text Placeholder 5"/>
          <p:cNvSpPr>
            <a:spLocks noGrp="1"/>
          </p:cNvSpPr>
          <p:nvPr>
            <p:ph type="body" sz="quarter" idx="3"/>
          </p:nvPr>
        </p:nvSpPr>
        <p:spPr/>
        <p:txBody>
          <a:bodyPr/>
          <a:lstStyle/>
          <a:p>
            <a:r>
              <a:rPr lang="en-US" dirty="0" smtClean="0"/>
              <a:t>Limitations</a:t>
            </a:r>
            <a:endParaRPr lang="en-US" dirty="0"/>
          </a:p>
        </p:txBody>
      </p:sp>
    </p:spTree>
    <p:extLst>
      <p:ext uri="{BB962C8B-B14F-4D97-AF65-F5344CB8AC3E}">
        <p14:creationId xmlns:p14="http://schemas.microsoft.com/office/powerpoint/2010/main" val="1630013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92500"/>
          </a:bodyPr>
          <a:lstStyle/>
          <a:p>
            <a:r>
              <a:rPr lang="en-US" dirty="0" smtClean="0"/>
              <a:t>Overcoming the Limitations of Electronic Commerce in the Developing World</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7.2</a:t>
            </a:r>
            <a:endParaRPr lang="en-US" dirty="0"/>
          </a:p>
        </p:txBody>
      </p:sp>
    </p:spTree>
    <p:extLst>
      <p:ext uri="{BB962C8B-B14F-4D97-AF65-F5344CB8AC3E}">
        <p14:creationId xmlns:p14="http://schemas.microsoft.com/office/powerpoint/2010/main" val="37814983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a:bodyPr>
          <a:lstStyle/>
          <a:p>
            <a:r>
              <a:rPr lang="en-US" dirty="0" smtClean="0"/>
              <a:t>Business-to-Consumer (B2C) Electronic Commerce</a:t>
            </a:r>
            <a:endParaRPr lang="en-US" dirty="0"/>
          </a:p>
        </p:txBody>
      </p:sp>
      <p:sp>
        <p:nvSpPr>
          <p:cNvPr id="3" name="Text Placeholder 2"/>
          <p:cNvSpPr>
            <a:spLocks noGrp="1"/>
          </p:cNvSpPr>
          <p:nvPr>
            <p:ph type="body" sz="quarter" idx="14"/>
          </p:nvPr>
        </p:nvSpPr>
        <p:spPr/>
        <p:txBody>
          <a:bodyPr/>
          <a:lstStyle/>
          <a:p>
            <a:r>
              <a:rPr lang="en-US" dirty="0" smtClean="0"/>
              <a:t>7.2</a:t>
            </a:r>
            <a:endParaRPr lang="en-US" dirty="0"/>
          </a:p>
        </p:txBody>
      </p:sp>
      <p:sp>
        <p:nvSpPr>
          <p:cNvPr id="4" name="Content Placeholder 3"/>
          <p:cNvSpPr>
            <a:spLocks noGrp="1"/>
          </p:cNvSpPr>
          <p:nvPr>
            <p:ph sz="quarter" idx="15"/>
          </p:nvPr>
        </p:nvSpPr>
        <p:spPr/>
        <p:txBody>
          <a:bodyPr>
            <a:normAutofit/>
          </a:bodyPr>
          <a:lstStyle/>
          <a:p>
            <a:r>
              <a:rPr lang="en-US" dirty="0" smtClean="0"/>
              <a:t>Electronic Storefronts and Malls</a:t>
            </a:r>
          </a:p>
          <a:p>
            <a:r>
              <a:rPr lang="en-US" dirty="0" smtClean="0"/>
              <a:t>Online Service Industries</a:t>
            </a:r>
          </a:p>
          <a:p>
            <a:r>
              <a:rPr lang="en-US" dirty="0" smtClean="0"/>
              <a:t>Issues in E-Tailing</a:t>
            </a:r>
          </a:p>
        </p:txBody>
      </p:sp>
    </p:spTree>
    <p:extLst>
      <p:ext uri="{BB962C8B-B14F-4D97-AF65-F5344CB8AC3E}">
        <p14:creationId xmlns:p14="http://schemas.microsoft.com/office/powerpoint/2010/main" val="2661467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err="1" smtClean="0"/>
              <a:t>Swipely</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7.3</a:t>
            </a:r>
            <a:endParaRPr lang="en-US" dirty="0"/>
          </a:p>
        </p:txBody>
      </p:sp>
    </p:spTree>
    <p:extLst>
      <p:ext uri="{BB962C8B-B14F-4D97-AF65-F5344CB8AC3E}">
        <p14:creationId xmlns:p14="http://schemas.microsoft.com/office/powerpoint/2010/main" val="37814983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Online Services Industry</a:t>
            </a:r>
            <a:endParaRPr lang="en-US" dirty="0"/>
          </a:p>
        </p:txBody>
      </p:sp>
      <p:sp>
        <p:nvSpPr>
          <p:cNvPr id="3" name="Content Placeholder 2"/>
          <p:cNvSpPr>
            <a:spLocks noGrp="1"/>
          </p:cNvSpPr>
          <p:nvPr>
            <p:ph sz="quarter" idx="14"/>
          </p:nvPr>
        </p:nvSpPr>
        <p:spPr/>
        <p:txBody>
          <a:bodyPr>
            <a:normAutofit lnSpcReduction="10000"/>
          </a:bodyPr>
          <a:lstStyle/>
          <a:p>
            <a:r>
              <a:rPr lang="en-US" dirty="0"/>
              <a:t>Disintermediation</a:t>
            </a:r>
          </a:p>
          <a:p>
            <a:r>
              <a:rPr lang="en-US" dirty="0" err="1"/>
              <a:t>Cyberbanking</a:t>
            </a:r>
            <a:endParaRPr lang="en-US" dirty="0"/>
          </a:p>
          <a:p>
            <a:r>
              <a:rPr lang="en-US" dirty="0"/>
              <a:t>Online Securities Trading</a:t>
            </a:r>
          </a:p>
          <a:p>
            <a:r>
              <a:rPr lang="en-US" dirty="0"/>
              <a:t>The Online Job Market</a:t>
            </a:r>
          </a:p>
          <a:p>
            <a:r>
              <a:rPr lang="en-US" dirty="0"/>
              <a:t>Travel Services</a:t>
            </a:r>
          </a:p>
          <a:p>
            <a:r>
              <a:rPr lang="en-US" dirty="0"/>
              <a:t>Online Advertising</a:t>
            </a:r>
          </a:p>
          <a:p>
            <a:r>
              <a:rPr lang="en-US" dirty="0"/>
              <a:t>Advertising </a:t>
            </a:r>
            <a:r>
              <a:rPr lang="en-US" dirty="0" smtClean="0"/>
              <a:t>Methods</a:t>
            </a:r>
            <a:endParaRPr lang="en-US" dirty="0"/>
          </a:p>
        </p:txBody>
      </p:sp>
    </p:spTree>
    <p:extLst>
      <p:ext uri="{BB962C8B-B14F-4D97-AF65-F5344CB8AC3E}">
        <p14:creationId xmlns:p14="http://schemas.microsoft.com/office/powerpoint/2010/main" val="14162747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Penske Used Trucks</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7.4</a:t>
            </a:r>
            <a:endParaRPr lang="en-US" dirty="0"/>
          </a:p>
        </p:txBody>
      </p:sp>
    </p:spTree>
    <p:extLst>
      <p:ext uri="{BB962C8B-B14F-4D97-AF65-F5344CB8AC3E}">
        <p14:creationId xmlns:p14="http://schemas.microsoft.com/office/powerpoint/2010/main" val="37814983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Can Simple Disrupt Traditional Banking?</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7.5</a:t>
            </a:r>
            <a:endParaRPr lang="en-US" dirty="0"/>
          </a:p>
        </p:txBody>
      </p:sp>
    </p:spTree>
    <p:extLst>
      <p:ext uri="{BB962C8B-B14F-4D97-AF65-F5344CB8AC3E}">
        <p14:creationId xmlns:p14="http://schemas.microsoft.com/office/powerpoint/2010/main" val="37814983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Advertising Methods</a:t>
            </a:r>
            <a:endParaRPr lang="en-US" dirty="0"/>
          </a:p>
        </p:txBody>
      </p:sp>
      <p:sp>
        <p:nvSpPr>
          <p:cNvPr id="3" name="Text Placeholder 2"/>
          <p:cNvSpPr>
            <a:spLocks noGrp="1"/>
          </p:cNvSpPr>
          <p:nvPr>
            <p:ph type="body" sz="quarter" idx="13"/>
          </p:nvPr>
        </p:nvSpPr>
        <p:spPr/>
        <p:txBody>
          <a:bodyPr/>
          <a:lstStyle/>
          <a:p>
            <a:r>
              <a:rPr lang="en-US" dirty="0"/>
              <a:t>Banners</a:t>
            </a:r>
          </a:p>
          <a:p>
            <a:r>
              <a:rPr lang="en-US" dirty="0"/>
              <a:t>Pop-up Ad</a:t>
            </a:r>
          </a:p>
          <a:p>
            <a:r>
              <a:rPr lang="en-US" dirty="0"/>
              <a:t>Pop-under Ad</a:t>
            </a:r>
          </a:p>
          <a:p>
            <a:r>
              <a:rPr lang="en-US" dirty="0"/>
              <a:t>Spamming</a:t>
            </a:r>
          </a:p>
          <a:p>
            <a:r>
              <a:rPr lang="en-US" dirty="0"/>
              <a:t>Permission Marketing</a:t>
            </a:r>
          </a:p>
          <a:p>
            <a:r>
              <a:rPr lang="en-US" dirty="0"/>
              <a:t>Viral </a:t>
            </a:r>
            <a:r>
              <a:rPr lang="en-US" dirty="0" smtClean="0"/>
              <a:t>Marketing</a:t>
            </a:r>
            <a:endParaRPr lang="en-US" dirty="0"/>
          </a:p>
        </p:txBody>
      </p:sp>
    </p:spTree>
    <p:extLst>
      <p:ext uri="{BB962C8B-B14F-4D97-AF65-F5344CB8AC3E}">
        <p14:creationId xmlns:p14="http://schemas.microsoft.com/office/powerpoint/2010/main" val="21446669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Issues in E-Tailing</a:t>
            </a:r>
            <a:endParaRPr lang="en-US" dirty="0"/>
          </a:p>
        </p:txBody>
      </p:sp>
      <p:sp>
        <p:nvSpPr>
          <p:cNvPr id="3" name="Content Placeholder 2"/>
          <p:cNvSpPr>
            <a:spLocks noGrp="1"/>
          </p:cNvSpPr>
          <p:nvPr>
            <p:ph sz="quarter" idx="14"/>
          </p:nvPr>
        </p:nvSpPr>
        <p:spPr/>
        <p:txBody>
          <a:bodyPr/>
          <a:lstStyle/>
          <a:p>
            <a:r>
              <a:rPr lang="en-US" dirty="0"/>
              <a:t>Channel Conflict</a:t>
            </a:r>
          </a:p>
          <a:p>
            <a:r>
              <a:rPr lang="en-US" dirty="0" err="1"/>
              <a:t>Multichanneling</a:t>
            </a:r>
            <a:endParaRPr lang="en-US" dirty="0"/>
          </a:p>
          <a:p>
            <a:r>
              <a:rPr lang="en-US" dirty="0"/>
              <a:t>Order </a:t>
            </a:r>
            <a:r>
              <a:rPr lang="en-US" dirty="0" smtClean="0"/>
              <a:t>Fulfillment</a:t>
            </a:r>
            <a:endParaRPr lang="en-US" dirty="0"/>
          </a:p>
          <a:p>
            <a:endParaRPr lang="en-US" dirty="0"/>
          </a:p>
        </p:txBody>
      </p:sp>
    </p:spTree>
    <p:extLst>
      <p:ext uri="{BB962C8B-B14F-4D97-AF65-F5344CB8AC3E}">
        <p14:creationId xmlns:p14="http://schemas.microsoft.com/office/powerpoint/2010/main" val="26535532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a:bodyPr>
          <a:lstStyle/>
          <a:p>
            <a:r>
              <a:rPr lang="en-US" dirty="0" smtClean="0"/>
              <a:t>Business-to-Business (B2B) Electronic Commerce</a:t>
            </a:r>
            <a:endParaRPr lang="en-US" dirty="0"/>
          </a:p>
        </p:txBody>
      </p:sp>
      <p:sp>
        <p:nvSpPr>
          <p:cNvPr id="3" name="Text Placeholder 2"/>
          <p:cNvSpPr>
            <a:spLocks noGrp="1"/>
          </p:cNvSpPr>
          <p:nvPr>
            <p:ph type="body" sz="quarter" idx="14"/>
          </p:nvPr>
        </p:nvSpPr>
        <p:spPr/>
        <p:txBody>
          <a:bodyPr/>
          <a:lstStyle/>
          <a:p>
            <a:r>
              <a:rPr lang="en-US" dirty="0" smtClean="0"/>
              <a:t>7.3</a:t>
            </a:r>
            <a:endParaRPr lang="en-US" dirty="0"/>
          </a:p>
        </p:txBody>
      </p:sp>
      <p:sp>
        <p:nvSpPr>
          <p:cNvPr id="4" name="Content Placeholder 3"/>
          <p:cNvSpPr>
            <a:spLocks noGrp="1"/>
          </p:cNvSpPr>
          <p:nvPr>
            <p:ph sz="quarter" idx="15"/>
          </p:nvPr>
        </p:nvSpPr>
        <p:spPr/>
        <p:txBody>
          <a:bodyPr/>
          <a:lstStyle/>
          <a:p>
            <a:r>
              <a:rPr lang="en-US" dirty="0" smtClean="0"/>
              <a:t>Sell-Side Marketplaces</a:t>
            </a:r>
          </a:p>
          <a:p>
            <a:r>
              <a:rPr lang="en-US" dirty="0" smtClean="0"/>
              <a:t>Buy-Side Marketplaces</a:t>
            </a:r>
          </a:p>
          <a:p>
            <a:r>
              <a:rPr lang="en-US" dirty="0" smtClean="0"/>
              <a:t>Electronic Exchanges</a:t>
            </a:r>
          </a:p>
          <a:p>
            <a:endParaRPr lang="en-US" dirty="0"/>
          </a:p>
        </p:txBody>
      </p:sp>
    </p:spTree>
    <p:extLst>
      <p:ext uri="{BB962C8B-B14F-4D97-AF65-F5344CB8AC3E}">
        <p14:creationId xmlns:p14="http://schemas.microsoft.com/office/powerpoint/2010/main" val="9050816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Sell-Side Marketplace</a:t>
            </a:r>
            <a:endParaRPr lang="en-US" dirty="0"/>
          </a:p>
        </p:txBody>
      </p:sp>
      <p:sp>
        <p:nvSpPr>
          <p:cNvPr id="6" name="Content Placeholder 5"/>
          <p:cNvSpPr>
            <a:spLocks noGrp="1"/>
          </p:cNvSpPr>
          <p:nvPr>
            <p:ph sz="quarter" idx="14"/>
          </p:nvPr>
        </p:nvSpPr>
        <p:spPr/>
        <p:txBody>
          <a:bodyPr/>
          <a:lstStyle/>
          <a:p>
            <a:r>
              <a:rPr lang="en-US" dirty="0" smtClean="0"/>
              <a:t>Key Mechanisms for Sell-Side Marketplace</a:t>
            </a:r>
          </a:p>
          <a:p>
            <a:pPr lvl="1"/>
            <a:r>
              <a:rPr lang="en-US" dirty="0" smtClean="0"/>
              <a:t>Forward Auctions</a:t>
            </a:r>
          </a:p>
          <a:p>
            <a:pPr lvl="1"/>
            <a:r>
              <a:rPr lang="en-US" dirty="0" smtClean="0"/>
              <a:t>Electronic Catalogs</a:t>
            </a:r>
          </a:p>
          <a:p>
            <a:pPr lvl="1"/>
            <a:r>
              <a:rPr lang="en-US" dirty="0" smtClean="0"/>
              <a:t>Third Party Auction Sites</a:t>
            </a:r>
            <a:endParaRPr lang="en-US" dirty="0"/>
          </a:p>
        </p:txBody>
      </p:sp>
    </p:spTree>
    <p:extLst>
      <p:ext uri="{BB962C8B-B14F-4D97-AF65-F5344CB8AC3E}">
        <p14:creationId xmlns:p14="http://schemas.microsoft.com/office/powerpoint/2010/main" val="36784532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Buy-Side Marketplace</a:t>
            </a:r>
            <a:endParaRPr lang="en-US" dirty="0"/>
          </a:p>
        </p:txBody>
      </p:sp>
      <p:sp>
        <p:nvSpPr>
          <p:cNvPr id="3" name="Content Placeholder 2"/>
          <p:cNvSpPr>
            <a:spLocks noGrp="1"/>
          </p:cNvSpPr>
          <p:nvPr>
            <p:ph sz="quarter" idx="14"/>
          </p:nvPr>
        </p:nvSpPr>
        <p:spPr/>
        <p:txBody>
          <a:bodyPr>
            <a:normAutofit/>
          </a:bodyPr>
          <a:lstStyle/>
          <a:p>
            <a:r>
              <a:rPr lang="en-US" b="1" dirty="0"/>
              <a:t>Buy-Side Marketplaces </a:t>
            </a:r>
            <a:r>
              <a:rPr lang="en-US" b="1" dirty="0" smtClean="0"/>
              <a:t>Model</a:t>
            </a:r>
          </a:p>
          <a:p>
            <a:pPr lvl="1"/>
            <a:r>
              <a:rPr lang="en-US" b="1" dirty="0" smtClean="0"/>
              <a:t>Procurement</a:t>
            </a:r>
          </a:p>
          <a:p>
            <a:pPr lvl="1"/>
            <a:r>
              <a:rPr lang="en-US" b="1" dirty="0" smtClean="0"/>
              <a:t>Purchasing</a:t>
            </a:r>
          </a:p>
          <a:p>
            <a:pPr lvl="1"/>
            <a:r>
              <a:rPr lang="en-US" b="1" dirty="0" smtClean="0"/>
              <a:t>Reverse Auction</a:t>
            </a:r>
          </a:p>
          <a:p>
            <a:pPr lvl="1"/>
            <a:r>
              <a:rPr lang="en-US" b="1" dirty="0" smtClean="0"/>
              <a:t>E-procurement</a:t>
            </a:r>
          </a:p>
          <a:p>
            <a:pPr lvl="1"/>
            <a:r>
              <a:rPr lang="en-US" b="1" dirty="0" smtClean="0"/>
              <a:t>Group Purchasing</a:t>
            </a:r>
          </a:p>
        </p:txBody>
      </p:sp>
    </p:spTree>
    <p:extLst>
      <p:ext uri="{BB962C8B-B14F-4D97-AF65-F5344CB8AC3E}">
        <p14:creationId xmlns:p14="http://schemas.microsoft.com/office/powerpoint/2010/main" val="26968695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Electronic Exchanges</a:t>
            </a:r>
            <a:endParaRPr lang="en-US" dirty="0"/>
          </a:p>
        </p:txBody>
      </p:sp>
      <p:sp>
        <p:nvSpPr>
          <p:cNvPr id="3" name="Content Placeholder 2"/>
          <p:cNvSpPr>
            <a:spLocks noGrp="1"/>
          </p:cNvSpPr>
          <p:nvPr>
            <p:ph sz="quarter" idx="14"/>
          </p:nvPr>
        </p:nvSpPr>
        <p:spPr/>
        <p:txBody>
          <a:bodyPr>
            <a:normAutofit/>
          </a:bodyPr>
          <a:lstStyle/>
          <a:p>
            <a:r>
              <a:rPr lang="en-US" b="1" dirty="0"/>
              <a:t>Three Basic Types of Public Exchanges:</a:t>
            </a:r>
          </a:p>
          <a:p>
            <a:pPr lvl="1"/>
            <a:r>
              <a:rPr lang="en-US" b="1" dirty="0" smtClean="0"/>
              <a:t>Vertical Exchanges</a:t>
            </a:r>
          </a:p>
          <a:p>
            <a:pPr lvl="1"/>
            <a:r>
              <a:rPr lang="en-US" b="1" dirty="0" smtClean="0"/>
              <a:t>Horizontal Exchanges</a:t>
            </a:r>
          </a:p>
          <a:p>
            <a:pPr lvl="1"/>
            <a:r>
              <a:rPr lang="en-US" b="1" dirty="0" smtClean="0"/>
              <a:t>Functional Exchanges</a:t>
            </a:r>
          </a:p>
        </p:txBody>
      </p:sp>
    </p:spTree>
    <p:extLst>
      <p:ext uri="{BB962C8B-B14F-4D97-AF65-F5344CB8AC3E}">
        <p14:creationId xmlns:p14="http://schemas.microsoft.com/office/powerpoint/2010/main" val="19821709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Ethical and Legal Issues in E-Business</a:t>
            </a:r>
            <a:endParaRPr lang="en-US" dirty="0"/>
          </a:p>
        </p:txBody>
      </p:sp>
      <p:sp>
        <p:nvSpPr>
          <p:cNvPr id="3" name="Text Placeholder 2"/>
          <p:cNvSpPr>
            <a:spLocks noGrp="1"/>
          </p:cNvSpPr>
          <p:nvPr>
            <p:ph type="body" sz="quarter" idx="14"/>
          </p:nvPr>
        </p:nvSpPr>
        <p:spPr/>
        <p:txBody>
          <a:bodyPr/>
          <a:lstStyle/>
          <a:p>
            <a:r>
              <a:rPr lang="en-US" dirty="0" smtClean="0"/>
              <a:t>7.4</a:t>
            </a:r>
            <a:endParaRPr lang="en-US" dirty="0"/>
          </a:p>
        </p:txBody>
      </p:sp>
      <p:sp>
        <p:nvSpPr>
          <p:cNvPr id="4" name="Content Placeholder 3"/>
          <p:cNvSpPr>
            <a:spLocks noGrp="1"/>
          </p:cNvSpPr>
          <p:nvPr>
            <p:ph sz="quarter" idx="15"/>
          </p:nvPr>
        </p:nvSpPr>
        <p:spPr/>
        <p:txBody>
          <a:bodyPr/>
          <a:lstStyle/>
          <a:p>
            <a:r>
              <a:rPr lang="en-US" dirty="0" smtClean="0"/>
              <a:t>Ethical Issues</a:t>
            </a:r>
          </a:p>
          <a:p>
            <a:r>
              <a:rPr lang="en-US" dirty="0" smtClean="0"/>
              <a:t>Legal and Ethical Issues Specific to E-Commerce</a:t>
            </a:r>
          </a:p>
          <a:p>
            <a:endParaRPr lang="en-US" dirty="0"/>
          </a:p>
        </p:txBody>
      </p:sp>
    </p:spTree>
    <p:extLst>
      <p:ext uri="{BB962C8B-B14F-4D97-AF65-F5344CB8AC3E}">
        <p14:creationId xmlns:p14="http://schemas.microsoft.com/office/powerpoint/2010/main" val="13339011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Ethical Issues</a:t>
            </a:r>
            <a:endParaRPr lang="en-US" dirty="0"/>
          </a:p>
        </p:txBody>
      </p:sp>
      <p:sp>
        <p:nvSpPr>
          <p:cNvPr id="3" name="Content Placeholder 2"/>
          <p:cNvSpPr>
            <a:spLocks noGrp="1"/>
          </p:cNvSpPr>
          <p:nvPr>
            <p:ph sz="quarter" idx="14"/>
          </p:nvPr>
        </p:nvSpPr>
        <p:spPr/>
        <p:txBody>
          <a:bodyPr/>
          <a:lstStyle/>
          <a:p>
            <a:r>
              <a:rPr lang="en-US" dirty="0" smtClean="0"/>
              <a:t>Threats to Privacy</a:t>
            </a:r>
          </a:p>
          <a:p>
            <a:r>
              <a:rPr lang="en-US" dirty="0" smtClean="0"/>
              <a:t>Potential Job Loss</a:t>
            </a:r>
          </a:p>
          <a:p>
            <a:endParaRPr lang="en-US" dirty="0"/>
          </a:p>
        </p:txBody>
      </p:sp>
    </p:spTree>
    <p:extLst>
      <p:ext uri="{BB962C8B-B14F-4D97-AF65-F5344CB8AC3E}">
        <p14:creationId xmlns:p14="http://schemas.microsoft.com/office/powerpoint/2010/main" val="19618923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Legal and Ethical Issues Specific to E-Commerce</a:t>
            </a:r>
            <a:endParaRPr lang="en-US" dirty="0"/>
          </a:p>
        </p:txBody>
      </p:sp>
      <p:sp>
        <p:nvSpPr>
          <p:cNvPr id="3" name="Content Placeholder 2"/>
          <p:cNvSpPr>
            <a:spLocks noGrp="1"/>
          </p:cNvSpPr>
          <p:nvPr>
            <p:ph sz="quarter" idx="14"/>
          </p:nvPr>
        </p:nvSpPr>
        <p:spPr/>
        <p:txBody>
          <a:bodyPr/>
          <a:lstStyle/>
          <a:p>
            <a:r>
              <a:rPr lang="en-US" dirty="0" smtClean="0"/>
              <a:t>Fraud on the Internet</a:t>
            </a:r>
          </a:p>
          <a:p>
            <a:r>
              <a:rPr lang="en-US" dirty="0" smtClean="0"/>
              <a:t>Domain Names</a:t>
            </a:r>
          </a:p>
          <a:p>
            <a:r>
              <a:rPr lang="en-US" dirty="0" smtClean="0"/>
              <a:t>Cybersquatting</a:t>
            </a:r>
          </a:p>
          <a:p>
            <a:r>
              <a:rPr lang="en-US" dirty="0" smtClean="0"/>
              <a:t>Taxes and Other Fees</a:t>
            </a:r>
          </a:p>
          <a:p>
            <a:r>
              <a:rPr lang="en-US" dirty="0" smtClean="0"/>
              <a:t>Copyright</a:t>
            </a:r>
          </a:p>
          <a:p>
            <a:endParaRPr lang="en-US" dirty="0"/>
          </a:p>
        </p:txBody>
      </p:sp>
    </p:spTree>
    <p:extLst>
      <p:ext uri="{BB962C8B-B14F-4D97-AF65-F5344CB8AC3E}">
        <p14:creationId xmlns:p14="http://schemas.microsoft.com/office/powerpoint/2010/main" val="11911654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dirty="0">
                <a:solidFill>
                  <a:schemeClr val="accent6">
                    <a:lumMod val="50000"/>
                  </a:schemeClr>
                </a:solidFill>
              </a:rPr>
              <a:t>[</a:t>
            </a:r>
            <a:r>
              <a:rPr lang="en-US" dirty="0"/>
              <a:t> </a:t>
            </a:r>
            <a:r>
              <a:rPr lang="en-US" dirty="0">
                <a:solidFill>
                  <a:schemeClr val="accent1">
                    <a:lumMod val="75000"/>
                  </a:schemeClr>
                </a:solidFill>
              </a:rPr>
              <a:t>Closing Case </a:t>
            </a:r>
            <a:r>
              <a:rPr lang="en-US" dirty="0" err="1" smtClean="0"/>
              <a:t>Uber</a:t>
            </a:r>
            <a:r>
              <a:rPr lang="en-US" dirty="0" smtClean="0"/>
              <a:t>: Disrupting the Taxi Industry</a:t>
            </a:r>
            <a:r>
              <a:rPr lang="en-US" sz="5300" dirty="0" smtClean="0">
                <a:solidFill>
                  <a:schemeClr val="accent6">
                    <a:lumMod val="50000"/>
                  </a:schemeClr>
                </a:solidFill>
              </a:rPr>
              <a:t>]</a:t>
            </a:r>
            <a:endParaRPr lang="en-US" dirty="0"/>
          </a:p>
        </p:txBody>
      </p:sp>
      <p:sp>
        <p:nvSpPr>
          <p:cNvPr id="3" name="Text Placeholder 2"/>
          <p:cNvSpPr>
            <a:spLocks noGrp="1"/>
          </p:cNvSpPr>
          <p:nvPr>
            <p:ph type="body" sz="quarter" idx="13"/>
          </p:nvPr>
        </p:nvSpPr>
        <p:spPr/>
        <p:txBody>
          <a:bodyPr>
            <a:normAutofit/>
          </a:bodyPr>
          <a:lstStyle/>
          <a:p>
            <a:r>
              <a:rPr lang="en-US" dirty="0" smtClean="0"/>
              <a:t>The </a:t>
            </a:r>
            <a:r>
              <a:rPr lang="en-US" dirty="0" smtClean="0">
                <a:solidFill>
                  <a:schemeClr val="tx1">
                    <a:lumMod val="65000"/>
                    <a:lumOff val="35000"/>
                  </a:schemeClr>
                </a:solidFill>
              </a:rPr>
              <a:t>Business Problem</a:t>
            </a:r>
          </a:p>
          <a:p>
            <a:r>
              <a:rPr lang="en-US" dirty="0" smtClean="0"/>
              <a:t>A </a:t>
            </a:r>
            <a:r>
              <a:rPr lang="en-US" dirty="0" smtClean="0">
                <a:solidFill>
                  <a:schemeClr val="tx1">
                    <a:lumMod val="65000"/>
                    <a:lumOff val="35000"/>
                  </a:schemeClr>
                </a:solidFill>
              </a:rPr>
              <a:t>Possible Solution</a:t>
            </a:r>
          </a:p>
          <a:p>
            <a:r>
              <a:rPr lang="en-US" dirty="0" smtClean="0"/>
              <a:t>How </a:t>
            </a:r>
            <a:r>
              <a:rPr lang="en-US" dirty="0" err="1" smtClean="0"/>
              <a:t>Uber</a:t>
            </a:r>
            <a:r>
              <a:rPr lang="en-US" dirty="0" smtClean="0"/>
              <a:t> Works</a:t>
            </a:r>
          </a:p>
          <a:p>
            <a:r>
              <a:rPr lang="en-US" dirty="0" smtClean="0"/>
              <a:t>Battles with the Establishment</a:t>
            </a:r>
            <a:endParaRPr lang="en-US" dirty="0" smtClean="0">
              <a:solidFill>
                <a:schemeClr val="tx1">
                  <a:lumMod val="65000"/>
                  <a:lumOff val="35000"/>
                </a:schemeClr>
              </a:solidFill>
            </a:endParaRPr>
          </a:p>
          <a:p>
            <a:r>
              <a:rPr lang="en-US" dirty="0"/>
              <a:t>The </a:t>
            </a:r>
            <a:r>
              <a:rPr lang="en-US" dirty="0" smtClean="0">
                <a:solidFill>
                  <a:schemeClr val="tx1">
                    <a:lumMod val="65000"/>
                    <a:lumOff val="35000"/>
                  </a:schemeClr>
                </a:solidFill>
              </a:rPr>
              <a:t>Results</a:t>
            </a:r>
            <a:endParaRPr lang="en-US" dirty="0">
              <a:solidFill>
                <a:schemeClr val="tx1">
                  <a:lumMod val="65000"/>
                  <a:lumOff val="35000"/>
                </a:schemeClr>
              </a:solidFill>
            </a:endParaRPr>
          </a:p>
        </p:txBody>
      </p:sp>
    </p:spTree>
    <p:extLst>
      <p:ext uri="{BB962C8B-B14F-4D97-AF65-F5344CB8AC3E}">
        <p14:creationId xmlns:p14="http://schemas.microsoft.com/office/powerpoint/2010/main" val="41134578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16193</TotalTime>
  <Words>4326</Words>
  <Application>Microsoft Office PowerPoint</Application>
  <PresentationFormat>On-screen Show (4:3)</PresentationFormat>
  <Paragraphs>379</Paragraphs>
  <Slides>35</Slides>
  <Notes>26</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PowerPoint Presentation</vt:lpstr>
      <vt:lpstr>PowerPoint Presentation</vt:lpstr>
      <vt:lpstr>PowerPoint Presentation</vt:lpstr>
      <vt:lpstr>[ WEB RESOURCES]</vt:lpstr>
      <vt:lpstr>[ Opening Case The Omni Channel Strategy to Compete with Amazon]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Closing Case Uber: Disrupting the Taxi Industry]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Rainer_6e_Chapter7_Slides</dc:title>
  <dc:creator>John Kenneth Corley</dc:creator>
  <cp:lastModifiedBy>techsupport</cp:lastModifiedBy>
  <cp:revision>491</cp:revision>
  <dcterms:created xsi:type="dcterms:W3CDTF">2013-08-07T23:49:12Z</dcterms:created>
  <dcterms:modified xsi:type="dcterms:W3CDTF">2015-10-01T20:05:15Z</dcterms:modified>
</cp:coreProperties>
</file>