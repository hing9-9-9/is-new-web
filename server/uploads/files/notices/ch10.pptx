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707" r:id="rId2"/>
    <p:sldId id="708" r:id="rId3"/>
    <p:sldId id="709" r:id="rId4"/>
    <p:sldId id="754" r:id="rId5"/>
    <p:sldId id="712" r:id="rId6"/>
    <p:sldId id="963" r:id="rId7"/>
    <p:sldId id="964" r:id="rId8"/>
    <p:sldId id="1178" r:id="rId9"/>
    <p:sldId id="965" r:id="rId10"/>
    <p:sldId id="966" r:id="rId11"/>
    <p:sldId id="967" r:id="rId12"/>
    <p:sldId id="968" r:id="rId13"/>
    <p:sldId id="969" r:id="rId14"/>
    <p:sldId id="970" r:id="rId15"/>
    <p:sldId id="713" r:id="rId16"/>
    <p:sldId id="971" r:id="rId17"/>
    <p:sldId id="1179" r:id="rId18"/>
    <p:sldId id="972" r:id="rId19"/>
    <p:sldId id="1068" r:id="rId20"/>
    <p:sldId id="1181" r:id="rId21"/>
    <p:sldId id="1182" r:id="rId22"/>
    <p:sldId id="1180" r:id="rId23"/>
    <p:sldId id="973" r:id="rId24"/>
    <p:sldId id="974" r:id="rId25"/>
    <p:sldId id="975" r:id="rId26"/>
    <p:sldId id="976" r:id="rId27"/>
    <p:sldId id="977" r:id="rId28"/>
    <p:sldId id="978" r:id="rId29"/>
    <p:sldId id="979" r:id="rId30"/>
    <p:sldId id="980" r:id="rId31"/>
    <p:sldId id="981" r:id="rId32"/>
    <p:sldId id="982" r:id="rId33"/>
    <p:sldId id="1183" r:id="rId34"/>
    <p:sldId id="1184" r:id="rId35"/>
    <p:sldId id="1185" r:id="rId36"/>
    <p:sldId id="984" r:id="rId37"/>
    <p:sldId id="1186" r:id="rId38"/>
    <p:sldId id="985" r:id="rId39"/>
    <p:sldId id="1091"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dirty="0" smtClean="0"/>
              <a:t>Take the “pros” side, and discuss GM’s insourcing strategy.</a:t>
            </a:r>
          </a:p>
          <a:p>
            <a:pPr marL="228600" indent="-228600">
              <a:buFont typeface="+mj-lt"/>
              <a:buAutoNum type="arabicPeriod"/>
            </a:pPr>
            <a:r>
              <a:rPr lang="en-US" dirty="0" smtClean="0"/>
              <a:t>Take the “cons” side, and discuss GM’s insourcing strategy.</a:t>
            </a:r>
          </a:p>
          <a:p>
            <a:pPr marL="228600" indent="-228600">
              <a:buFont typeface="+mj-lt"/>
              <a:buAutoNum type="arabicPeriod"/>
            </a:pPr>
            <a:r>
              <a:rPr lang="en-US" dirty="0" smtClean="0"/>
              <a:t>Discuss the ways in which information technology can help GM prevent safety problems such as the 2014 recall.</a:t>
            </a:r>
          </a:p>
          <a:p>
            <a:pPr marL="228600" indent="-228600">
              <a:buFont typeface="+mj-lt"/>
              <a:buAutoNum type="arabicPeriod"/>
            </a:pPr>
            <a:r>
              <a:rPr lang="en-US" dirty="0" smtClean="0"/>
              <a:t>Explain how GM’s insourcing strategy relates to the topic of this chapter.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3112644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Transaction: </a:t>
            </a:r>
            <a:r>
              <a:rPr lang="en-US" dirty="0" smtClean="0"/>
              <a:t>any business event that generates data worthy of being captured and stored in a database (e.g., product manufactured, a service sold, a person hired, and a payroll check generated)</a:t>
            </a:r>
          </a:p>
          <a:p>
            <a:r>
              <a:rPr lang="en-US" b="1" dirty="0" smtClean="0"/>
              <a:t>Transaction Processing System (TPS): </a:t>
            </a:r>
            <a:r>
              <a:rPr lang="en-US" dirty="0" smtClean="0"/>
              <a:t>supports the monitoring, collection, storage, and processing of data from the organization’s basic business transactions, each of which generates and collects data continuously, in real time.</a:t>
            </a:r>
          </a:p>
          <a:p>
            <a:r>
              <a:rPr lang="en-US" b="1" dirty="0" smtClean="0"/>
              <a:t>Source Data Automation: </a:t>
            </a:r>
            <a:r>
              <a:rPr lang="en-US" dirty="0" smtClean="0"/>
              <a:t>a process in which organizations try to automate the TPS data entry as much as possible because of the large volume involved.</a:t>
            </a:r>
          </a:p>
          <a:p>
            <a:r>
              <a:rPr lang="en-US" b="1" dirty="0" smtClean="0"/>
              <a:t>Batch Processing: </a:t>
            </a:r>
            <a:r>
              <a:rPr lang="en-US" dirty="0" smtClean="0"/>
              <a:t>the firm collects data from transactions as they occur, placing them in groups or batches then prepares and processes the batches periodically.</a:t>
            </a:r>
          </a:p>
          <a:p>
            <a:r>
              <a:rPr lang="en-US" b="1" dirty="0" smtClean="0"/>
              <a:t>Online Transaction Processing (OLTP): </a:t>
            </a:r>
            <a:r>
              <a:rPr lang="en-US" dirty="0" smtClean="0"/>
              <a:t>business transactions are processed online as soon as they occur and system performs these tasks in real time by means of online technologies.</a:t>
            </a:r>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673874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10.1 </a:t>
            </a:r>
            <a:r>
              <a:rPr lang="en-US" sz="1200" b="0" i="0" u="none" strike="noStrike" kern="1200" baseline="0" dirty="0" smtClean="0">
                <a:solidFill>
                  <a:schemeClr val="tx1"/>
                </a:solidFill>
                <a:latin typeface="+mn-lt"/>
                <a:ea typeface="+mn-ea"/>
                <a:cs typeface="+mn-cs"/>
              </a:rPr>
              <a:t>How transaction processing systems manage data</a:t>
            </a:r>
            <a:r>
              <a:rPr lang="en-US" sz="1200" b="1" i="0" u="none" strike="noStrike" kern="1200" baseline="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2116730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Financial Planning and Budgeting: </a:t>
            </a:r>
            <a:r>
              <a:rPr lang="en-US" dirty="0" smtClean="0"/>
              <a:t>Appropriate management of financial assets and is an important part of managerial planning for both acquiring and utilizing resources.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Managing Financial Transactions: </a:t>
            </a:r>
            <a:r>
              <a:rPr lang="en-US" dirty="0" smtClean="0"/>
              <a:t>accounting/finance software packages that are integrated with other functional areas (e.g., Peachtree  offers a sales ledger, a purchase ledger, a cash book, sales order processing, invoicing, stock control, a fixed assets register, etc.). Organizations, business processes, and business activities operate with, and manage, financial transactions.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Investment Management: </a:t>
            </a:r>
            <a:r>
              <a:rPr lang="en-US" dirty="0" smtClean="0"/>
              <a:t>Systems for managing organization investments in in stocks, bonds, real estate, and other assets that are subject to complex regulations and tax laws, which vary from one location to another.</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Control and Auditing: </a:t>
            </a:r>
            <a:r>
              <a:rPr lang="en-US" dirty="0" smtClean="0"/>
              <a:t>effectively control their finances and financial statements. Let us examine some of the most common forms of financial control.</a:t>
            </a:r>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3376435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Financial Planning and Budgeting: </a:t>
            </a:r>
            <a:r>
              <a:rPr lang="en-US" dirty="0" smtClean="0"/>
              <a:t>Appropriate management of financial assets and is an important part of managerial planning for both acquiring and utilizing resources.</a:t>
            </a:r>
          </a:p>
          <a:p>
            <a:r>
              <a:rPr lang="en-US" b="1" dirty="0" smtClean="0"/>
              <a:t>Financial and Economic Forecasting: </a:t>
            </a:r>
            <a:r>
              <a:rPr lang="en-US" dirty="0" smtClean="0"/>
              <a:t>Knowledge about the availability and cost of money a key ingredient for successful financial planning including flow projections which inform organizations what funds they need, when they need them, and how they will acquire them.</a:t>
            </a:r>
          </a:p>
          <a:p>
            <a:r>
              <a:rPr lang="en-US" b="1" dirty="0" smtClean="0"/>
              <a:t>Budgeting: </a:t>
            </a:r>
            <a:r>
              <a:rPr lang="en-US" dirty="0" smtClean="0"/>
              <a:t>allocates the organization’s financial resources among participants and activities allowing management to distribute resources in the way that best supports the organization’s mission and goals.</a:t>
            </a:r>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2269667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Managing Financial Transactions: </a:t>
            </a:r>
            <a:r>
              <a:rPr lang="en-US" dirty="0" smtClean="0"/>
              <a:t>accounting/finance software packages that are integrated with other functional areas (e.g., Peachtree  offers a sales ledger, a purchase ledger, a cash book, sales order processing, invoicing, stock control, a fixed assets register, etc.). Organizations, business processes, and business activities operate with, and manage, financial transactions.</a:t>
            </a:r>
          </a:p>
          <a:p>
            <a:r>
              <a:rPr lang="en-US" b="1" dirty="0" smtClean="0"/>
              <a:t>Global stock exchanges: </a:t>
            </a:r>
            <a:r>
              <a:rPr lang="en-US" dirty="0" smtClean="0"/>
              <a:t>Financial markets operate in global, 24/7/365, distributed electronic stock exchanges that use the Internet both to buy and sell stocks and to broadcast real-time stock prices</a:t>
            </a:r>
          </a:p>
          <a:p>
            <a:r>
              <a:rPr lang="en-US" b="1" dirty="0" smtClean="0"/>
              <a:t>Managing multiple currencies: </a:t>
            </a:r>
            <a:r>
              <a:rPr lang="en-US" dirty="0" smtClean="0"/>
              <a:t>Financial and accounting systems utilize financial data from different countries to convert currencies (with conversion ratios that constantly flux) in seconds.</a:t>
            </a:r>
          </a:p>
          <a:p>
            <a:r>
              <a:rPr lang="en-US" b="1" dirty="0" smtClean="0"/>
              <a:t>Virtual close: </a:t>
            </a:r>
            <a:r>
              <a:rPr lang="en-US" dirty="0" smtClean="0"/>
              <a:t>the ability the books quickly at any time, on very short notice (rather than quarterly) which provides almost real-time information on the organization’s financial health.</a:t>
            </a:r>
          </a:p>
          <a:p>
            <a:r>
              <a:rPr lang="en-US" b="1" dirty="0" smtClean="0"/>
              <a:t>Expense management automation (EMA): </a:t>
            </a:r>
            <a:r>
              <a:rPr lang="en-US" dirty="0" smtClean="0"/>
              <a:t>systems that automate the data entry and processing of travel and entertainment expenses through Web-based applications that enable companies to quickly and consistently collect expense information, enforce company policies and contracts, and reduce unplanned purchases as well as airline and hotel expenses.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2757563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Control and Auditing: </a:t>
            </a:r>
            <a:r>
              <a:rPr lang="en-US" dirty="0" smtClean="0"/>
              <a:t>effectively control their finances and financial statements. Let us examine some of the most common forms of financial control.</a:t>
            </a:r>
          </a:p>
          <a:p>
            <a:r>
              <a:rPr lang="en-US" b="1" dirty="0" smtClean="0"/>
              <a:t>Budgetary control: </a:t>
            </a:r>
            <a:r>
              <a:rPr lang="en-US" dirty="0" smtClean="0"/>
              <a:t>managers at various levels monitor departmental expenditures and compare them against the budget and the operational progress of corporate plans.</a:t>
            </a:r>
          </a:p>
          <a:p>
            <a:r>
              <a:rPr lang="en-US" b="1" dirty="0" smtClean="0"/>
              <a:t>Auditing: </a:t>
            </a:r>
            <a:r>
              <a:rPr lang="en-US" dirty="0" smtClean="0"/>
              <a:t>monitoring how the organization’s monies are being spent and assessing the organization’s financial health.</a:t>
            </a:r>
          </a:p>
          <a:p>
            <a:r>
              <a:rPr lang="en-US" b="1" dirty="0" smtClean="0"/>
              <a:t>Financial ratio analysis: </a:t>
            </a:r>
            <a:r>
              <a:rPr lang="en-US" dirty="0" smtClean="0"/>
              <a:t>monitoring the company’s financial health by assessing a set of fi </a:t>
            </a:r>
            <a:r>
              <a:rPr lang="en-US" dirty="0" err="1" smtClean="0"/>
              <a:t>nancial</a:t>
            </a:r>
            <a:r>
              <a:rPr lang="en-US" dirty="0" smtClean="0"/>
              <a:t> ratios including liquidity ratios (the availability of cash to pay debt), activity ratios (how quickly a firm converts noncash assets to cash assets), debt ratios (measure </a:t>
            </a:r>
            <a:r>
              <a:rPr lang="en-US" dirty="0" err="1" smtClean="0"/>
              <a:t>thefi</a:t>
            </a:r>
            <a:r>
              <a:rPr lang="en-US" dirty="0" smtClean="0"/>
              <a:t> </a:t>
            </a:r>
            <a:r>
              <a:rPr lang="en-US" dirty="0" err="1" smtClean="0"/>
              <a:t>rm’s</a:t>
            </a:r>
            <a:r>
              <a:rPr lang="en-US" dirty="0" smtClean="0"/>
              <a:t> ability to repay long-term debt), and profitability ratios (measure the fi </a:t>
            </a:r>
            <a:r>
              <a:rPr lang="en-US" dirty="0" err="1" smtClean="0"/>
              <a:t>rm’s</a:t>
            </a:r>
            <a:r>
              <a:rPr lang="en-US" dirty="0" smtClean="0"/>
              <a:t> use of its assets and control of its expenses to generate an acceptable rate of return).</a:t>
            </a:r>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2453815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Why are yield management systems so important to the producers of Broadway shows? Hint: What is the value of an unsold seat once the curtain goes up?</a:t>
            </a:r>
          </a:p>
          <a:p>
            <a:pPr marL="228600" indent="-228600">
              <a:buFont typeface="+mj-lt"/>
              <a:buAutoNum type="arabicPeriod"/>
            </a:pPr>
            <a:r>
              <a:rPr lang="en-US" dirty="0" smtClean="0"/>
              <a:t>Describe potential disadvantages of Disney’s yield management system.</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Recruitment: </a:t>
            </a:r>
            <a:r>
              <a:rPr lang="en-US" dirty="0" smtClean="0"/>
              <a:t>systems that assist human resource personnel in finding potential employees, evaluating them, and deciding which ones to hire.</a:t>
            </a:r>
          </a:p>
          <a:p>
            <a:r>
              <a:rPr lang="en-US" b="1" dirty="0" smtClean="0"/>
              <a:t>Human Resources Development: </a:t>
            </a:r>
            <a:r>
              <a:rPr lang="en-US" dirty="0" smtClean="0"/>
              <a:t>IS that assist human resource personnel in helping new hires become part of the corporate human resources pool through evaluation and development.</a:t>
            </a:r>
          </a:p>
          <a:p>
            <a:r>
              <a:rPr lang="en-US" b="1" dirty="0" smtClean="0"/>
              <a:t>Human Resources Planning and Management: </a:t>
            </a:r>
            <a:r>
              <a:rPr lang="en-US" dirty="0" smtClean="0"/>
              <a:t>Managing human resources in large organizations requires extensive planning and detailed strategy.</a:t>
            </a:r>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678788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10.2 </a:t>
            </a:r>
            <a:r>
              <a:rPr lang="en-US" dirty="0" smtClean="0"/>
              <a:t>Examples of information systems supporting the functional areas.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2312549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Enterprise Resource Planning (ERP) Systems: </a:t>
            </a:r>
            <a:r>
              <a:rPr lang="en-US" dirty="0" smtClean="0"/>
              <a:t>systems designed to correct a lack of communication among the functional area IS and they adopt a business process view of the overall organization to integrate the planning, management, and use of all of an organization’s resources, employing a common software platform and database.</a:t>
            </a:r>
          </a:p>
          <a:p>
            <a:r>
              <a:rPr lang="en-US" b="1" dirty="0" smtClean="0"/>
              <a:t>ERP II Systems: </a:t>
            </a:r>
            <a:r>
              <a:rPr lang="en-US" dirty="0" err="1" smtClean="0"/>
              <a:t>interorganizational</a:t>
            </a:r>
            <a:r>
              <a:rPr lang="en-US" dirty="0" smtClean="0"/>
              <a:t> ERP systems that provide Web-enabled links among a company’s key business systems—such as inventory and production—and its customers, suppliers, distributors, and other relevant parties.</a:t>
            </a:r>
          </a:p>
          <a:p>
            <a:r>
              <a:rPr lang="en-US" b="1" dirty="0" smtClean="0"/>
              <a:t>Enterprise Application Integration (EAI) System: </a:t>
            </a:r>
            <a:r>
              <a:rPr lang="en-US" dirty="0" smtClean="0"/>
              <a:t>integrates existing systems by providing software, called middleware, that connects multiple applications allowing existing applications to communicate and share data.</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18</a:t>
            </a:fld>
            <a:endParaRPr lang="en-US"/>
          </a:p>
        </p:txBody>
      </p:sp>
    </p:spTree>
    <p:extLst>
      <p:ext uri="{BB962C8B-B14F-4D97-AF65-F5344CB8AC3E}">
        <p14:creationId xmlns:p14="http://schemas.microsoft.com/office/powerpoint/2010/main" val="1028033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Discuss the reasons why financial reports must be timely.</a:t>
            </a:r>
          </a:p>
          <a:p>
            <a:pPr marL="228600" indent="-228600">
              <a:buFont typeface="+mj-lt"/>
              <a:buAutoNum type="arabicPeriod"/>
            </a:pPr>
            <a:r>
              <a:rPr lang="en-US" dirty="0" smtClean="0"/>
              <a:t>Explain how the SAP solution enabled the GEA Group to produce their financial reports in an efficient, timely manner.</a:t>
            </a:r>
          </a:p>
          <a:p>
            <a:pPr marL="228600" indent="-228600">
              <a:buFont typeface="+mj-lt"/>
              <a:buAutoNum type="arabicPeriod"/>
            </a:pPr>
            <a:r>
              <a:rPr lang="en-US" dirty="0" smtClean="0"/>
              <a:t>What are the advantages of the SAP solution to the GEA Group?</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b="1" dirty="0" smtClean="0"/>
              <a:t>FIGURE 10.3 </a:t>
            </a:r>
            <a:r>
              <a:rPr lang="nl-NL" dirty="0" smtClean="0"/>
              <a:t>ERP II system.</a:t>
            </a:r>
          </a:p>
          <a:p>
            <a:endParaRPr lang="nl-NL" dirty="0" smtClean="0"/>
          </a:p>
          <a:p>
            <a:r>
              <a:rPr lang="en-US" b="1" u="sng" dirty="0" smtClean="0"/>
              <a:t>Core ERP Modules</a:t>
            </a:r>
          </a:p>
          <a:p>
            <a:pPr marL="171450" indent="-171450">
              <a:buFont typeface="Arial" pitchFamily="34" charset="0"/>
              <a:buChar char="•"/>
            </a:pPr>
            <a:r>
              <a:rPr lang="en-US" b="1" i="1" dirty="0" smtClean="0"/>
              <a:t>Financial Management: </a:t>
            </a:r>
            <a:r>
              <a:rPr lang="en-US" dirty="0" smtClean="0"/>
              <a:t>These modules support accounting, financial reporting, performance management, and corporate governance. They manage accounting data and financial processes such as general ledger, accounts payable, accounts receivable, fixed assets, cash management and forecasting, product-cost accounting, cost-center accounting, asset accounting, tax accounting, credit management, budgeting, and asset management.</a:t>
            </a:r>
          </a:p>
          <a:p>
            <a:pPr marL="171450" indent="-171450">
              <a:buFont typeface="Arial" pitchFamily="34" charset="0"/>
              <a:buChar char="•"/>
            </a:pPr>
            <a:r>
              <a:rPr lang="en-US" b="1" i="1" dirty="0" smtClean="0"/>
              <a:t>Operations Management: </a:t>
            </a:r>
            <a:r>
              <a:rPr lang="en-US" dirty="0" smtClean="0"/>
              <a:t>These modules manage the various aspects of production planning and execution such as demand forecasting, procurement, inventory management, materials purchasing, shipping, production planning, production scheduling, materials requirements planning, quality control, distribution, transportation, and plant and equipment maintenance.</a:t>
            </a:r>
          </a:p>
          <a:p>
            <a:pPr marL="171450" indent="-171450">
              <a:buFont typeface="Arial" pitchFamily="34" charset="0"/>
              <a:buChar char="•"/>
            </a:pPr>
            <a:r>
              <a:rPr lang="en-US" b="1" i="1" dirty="0" smtClean="0"/>
              <a:t>Human Resource Management: </a:t>
            </a:r>
            <a:r>
              <a:rPr lang="en-US" dirty="0" smtClean="0"/>
              <a:t>These modules support personnel administration (including workforce planning, employee recruitment, assignment tracking, personnel planning and development, and performance management and reviews), time accounting, payroll, compensation, benefits accounting, and regulatory requirements.</a:t>
            </a:r>
          </a:p>
          <a:p>
            <a:pPr marL="171450" indent="-171450">
              <a:buFont typeface="Arial" pitchFamily="34" charset="0"/>
              <a:buChar char="•"/>
            </a:pPr>
            <a:endParaRPr lang="en-US" dirty="0" smtClean="0"/>
          </a:p>
          <a:p>
            <a:pPr marL="0" indent="0">
              <a:buFont typeface="Arial" pitchFamily="34" charset="0"/>
              <a:buNone/>
            </a:pPr>
            <a:r>
              <a:rPr lang="en-US" b="1" u="sng" dirty="0" smtClean="0"/>
              <a:t>Extended ERP Modules</a:t>
            </a:r>
          </a:p>
          <a:p>
            <a:pPr marL="0" indent="0">
              <a:buFont typeface="Arial" pitchFamily="34" charset="0"/>
              <a:buNone/>
            </a:pPr>
            <a:r>
              <a:rPr lang="en-US" b="1" i="1" dirty="0" smtClean="0"/>
              <a:t>Customer Relationship Management: </a:t>
            </a:r>
            <a:r>
              <a:rPr lang="en-US" dirty="0" smtClean="0"/>
              <a:t>(Discussed in detail in Chapter 11.) These modules support all aspects of a customer’s relationship with the organization. They help the organization to increase customer loyalty and retention, and thus improve its profitability. They also provide an integrated view of customer data and interactions, helping organizations to be more responsive to customer needs.</a:t>
            </a:r>
          </a:p>
          <a:p>
            <a:pPr marL="0" indent="0">
              <a:buFont typeface="Arial" pitchFamily="34" charset="0"/>
              <a:buNone/>
            </a:pPr>
            <a:r>
              <a:rPr lang="en-US" b="1" i="1" dirty="0" smtClean="0"/>
              <a:t>Supply Chain Management: </a:t>
            </a:r>
            <a:r>
              <a:rPr lang="en-US" dirty="0" smtClean="0"/>
              <a:t>(Discussed in detail in Chapter 11.) These modules manage the information </a:t>
            </a:r>
            <a:r>
              <a:rPr lang="en-US" dirty="0" err="1" smtClean="0"/>
              <a:t>fl</a:t>
            </a:r>
            <a:r>
              <a:rPr lang="en-US" dirty="0" smtClean="0"/>
              <a:t> </a:t>
            </a:r>
            <a:r>
              <a:rPr lang="en-US" dirty="0" err="1" smtClean="0"/>
              <a:t>ows</a:t>
            </a:r>
            <a:r>
              <a:rPr lang="en-US" dirty="0" smtClean="0"/>
              <a:t> between and among stages in a supply chain to maximize supply chain efficiency and effectiveness. They help organizations plan, schedule, control, and optimize the supply chain from the acquisition of raw materials to the receipt of finished goods by customers.</a:t>
            </a:r>
          </a:p>
          <a:p>
            <a:pPr marL="0" indent="0">
              <a:buFont typeface="Arial" pitchFamily="34" charset="0"/>
              <a:buNone/>
            </a:pPr>
            <a:r>
              <a:rPr lang="en-US" b="1" i="1" dirty="0" smtClean="0"/>
              <a:t>Business Intelligence: </a:t>
            </a:r>
            <a:r>
              <a:rPr lang="en-US" dirty="0" smtClean="0"/>
              <a:t>(Discussed in detail in Chapter 12.) These modules collect information used throughout the organization, organize it, and apply analytical tools to assist managers with decision making.</a:t>
            </a:r>
          </a:p>
          <a:p>
            <a:pPr marL="0" indent="0">
              <a:buFont typeface="Arial" pitchFamily="34" charset="0"/>
              <a:buNone/>
            </a:pPr>
            <a:r>
              <a:rPr lang="en-US" b="1" i="1" dirty="0" smtClean="0"/>
              <a:t>E-Business: </a:t>
            </a:r>
            <a:r>
              <a:rPr lang="en-US" dirty="0" smtClean="0"/>
              <a:t>(Discussed in detail in Chapter 7.) Customers and suppliers demand access to ERP information including order status, inventory levels, and invoice reconciliation. Furthermore, they want this information in a simplified format that can be accessed via the Web. As a result, these modules provide two channels of access into ERP system information—one channel for customers (B2C) and one for suppliers and partners (B2B).</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20</a:t>
            </a:fld>
            <a:endParaRPr lang="en-US"/>
          </a:p>
        </p:txBody>
      </p:sp>
    </p:spTree>
    <p:extLst>
      <p:ext uri="{BB962C8B-B14F-4D97-AF65-F5344CB8AC3E}">
        <p14:creationId xmlns:p14="http://schemas.microsoft.com/office/powerpoint/2010/main" val="3600013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r>
              <a:rPr lang="en-US" b="1" u="sng" dirty="0" smtClean="0"/>
              <a:t>Extended ERP Modules</a:t>
            </a:r>
          </a:p>
          <a:p>
            <a:pPr marL="0" indent="0">
              <a:buFont typeface="Arial" pitchFamily="34" charset="0"/>
              <a:buNone/>
            </a:pPr>
            <a:r>
              <a:rPr lang="en-US" b="1" i="1" dirty="0" smtClean="0"/>
              <a:t>Customer Relationship Management: </a:t>
            </a:r>
            <a:r>
              <a:rPr lang="en-US" dirty="0" smtClean="0"/>
              <a:t>(Discussed in detail in Chapter 11.) These modules support all aspects of a customer’s relationship with the organization. They help the organization to increase customer loyalty and retention, and thus improve its profitability. They also provide an integrated view of customer data and interactions, helping organizations to be more responsive to customer needs.</a:t>
            </a:r>
          </a:p>
          <a:p>
            <a:pPr marL="0" indent="0">
              <a:buFont typeface="Arial" pitchFamily="34" charset="0"/>
              <a:buNone/>
            </a:pPr>
            <a:r>
              <a:rPr lang="en-US" b="1" i="1" dirty="0" smtClean="0"/>
              <a:t>Supply Chain Management: </a:t>
            </a:r>
            <a:r>
              <a:rPr lang="en-US" dirty="0" smtClean="0"/>
              <a:t>(Discussed in detail in Chapter 11.) These modules manage the information </a:t>
            </a:r>
            <a:r>
              <a:rPr lang="en-US" dirty="0" err="1" smtClean="0"/>
              <a:t>fl</a:t>
            </a:r>
            <a:r>
              <a:rPr lang="en-US" dirty="0" smtClean="0"/>
              <a:t> </a:t>
            </a:r>
            <a:r>
              <a:rPr lang="en-US" dirty="0" err="1" smtClean="0"/>
              <a:t>ows</a:t>
            </a:r>
            <a:r>
              <a:rPr lang="en-US" dirty="0" smtClean="0"/>
              <a:t> between and among stages in a supply chain to maximize supply chain efficiency and effectiveness. They help organizations plan, schedule, control, and optimize the supply chain from the acquisition of raw materials to the receipt of finished goods by customers.</a:t>
            </a:r>
          </a:p>
          <a:p>
            <a:pPr marL="0" indent="0">
              <a:buFont typeface="Arial" pitchFamily="34" charset="0"/>
              <a:buNone/>
            </a:pPr>
            <a:r>
              <a:rPr lang="en-US" b="1" i="1" dirty="0" smtClean="0"/>
              <a:t>Business Intelligence: </a:t>
            </a:r>
            <a:r>
              <a:rPr lang="en-US" dirty="0" smtClean="0"/>
              <a:t>(Discussed in detail in Chapter 12.) These modules collect information used throughout the organization, organize it, and apply analytical tools to assist managers with decision making.</a:t>
            </a:r>
          </a:p>
          <a:p>
            <a:pPr marL="0" indent="0">
              <a:buFont typeface="Arial" pitchFamily="34" charset="0"/>
              <a:buNone/>
            </a:pPr>
            <a:r>
              <a:rPr lang="en-US" b="1" i="1" dirty="0" smtClean="0"/>
              <a:t>E-Business: </a:t>
            </a:r>
            <a:r>
              <a:rPr lang="en-US" dirty="0" smtClean="0"/>
              <a:t>(Discussed in detail in Chapter 7.) Customers and suppliers demand access to ERP information including order status, inventory levels, and invoice reconciliation. Furthermore, they want this information in a simplified format that can be accessed via the Web. As a result, these modules provide two channels of access into ERP system information—one channel for customers (B2C) and one for suppliers and partners (B2B).</a:t>
            </a:r>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2274172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b="1" dirty="0" smtClean="0"/>
              <a:t>FIGURE 10.3 </a:t>
            </a:r>
            <a:r>
              <a:rPr lang="nl-NL" dirty="0" smtClean="0"/>
              <a:t>ERP II system.</a:t>
            </a:r>
          </a:p>
          <a:p>
            <a:endParaRPr lang="nl-NL" dirty="0" smtClean="0"/>
          </a:p>
          <a:p>
            <a:r>
              <a:rPr lang="en-US" b="1" u="sng" dirty="0" smtClean="0"/>
              <a:t>Core ERP Modules</a:t>
            </a:r>
          </a:p>
          <a:p>
            <a:pPr marL="171450" indent="-171450">
              <a:buFont typeface="Arial" pitchFamily="34" charset="0"/>
              <a:buChar char="•"/>
            </a:pPr>
            <a:r>
              <a:rPr lang="en-US" b="1" i="1" dirty="0" smtClean="0"/>
              <a:t>Financial Management: </a:t>
            </a:r>
            <a:r>
              <a:rPr lang="en-US" dirty="0" smtClean="0"/>
              <a:t>These modules support accounting, financial reporting, performance management, and corporate governance. They manage accounting data and financial processes such as general ledger, accounts payable, accounts receivable, fixed assets, cash management and forecasting, product-cost accounting, cost-center accounting, asset accounting, tax accounting, credit management, budgeting, and asset management.</a:t>
            </a:r>
          </a:p>
          <a:p>
            <a:pPr marL="171450" indent="-171450">
              <a:buFont typeface="Arial" pitchFamily="34" charset="0"/>
              <a:buChar char="•"/>
            </a:pPr>
            <a:r>
              <a:rPr lang="en-US" b="1" i="1" dirty="0" smtClean="0"/>
              <a:t>Operations Management: </a:t>
            </a:r>
            <a:r>
              <a:rPr lang="en-US" dirty="0" smtClean="0"/>
              <a:t>These modules manage the various aspects of production planning and execution such as demand forecasting, procurement, inventory management, materials purchasing, shipping, production planning, production scheduling, materials requirements planning, quality control, distribution, transportation, and plant and equipment maintenance.</a:t>
            </a:r>
          </a:p>
          <a:p>
            <a:pPr marL="171450" indent="-171450">
              <a:buFont typeface="Arial" pitchFamily="34" charset="0"/>
              <a:buChar char="•"/>
            </a:pPr>
            <a:r>
              <a:rPr lang="en-US" b="1" i="1" dirty="0" smtClean="0"/>
              <a:t>Human Resource Management: </a:t>
            </a:r>
            <a:r>
              <a:rPr lang="en-US" dirty="0" smtClean="0"/>
              <a:t>These modules support personnel administration (including workforce planning, employee recruitment, assignment tracking, personnel planning and development, and performance management and reviews), time accounting, payroll, compensation, benefits accounting, and regulatory requirements.</a:t>
            </a:r>
          </a:p>
          <a:p>
            <a:pPr marL="171450" indent="-171450">
              <a:buFont typeface="Arial" pitchFamily="34" charset="0"/>
              <a:buChar char="•"/>
            </a:pPr>
            <a:endParaRPr lang="en-US" dirty="0" smtClean="0"/>
          </a:p>
          <a:p>
            <a:pPr marL="0" indent="0">
              <a:buFont typeface="Arial" pitchFamily="34" charset="0"/>
              <a:buNone/>
            </a:pPr>
            <a:r>
              <a:rPr lang="en-US" b="1" u="sng" dirty="0" smtClean="0"/>
              <a:t>Extended ERP Modules</a:t>
            </a:r>
          </a:p>
          <a:p>
            <a:pPr marL="0" indent="0">
              <a:buFont typeface="Arial" pitchFamily="34" charset="0"/>
              <a:buNone/>
            </a:pPr>
            <a:r>
              <a:rPr lang="en-US" b="1" i="1" dirty="0" smtClean="0"/>
              <a:t>Customer Relationship Management: </a:t>
            </a:r>
            <a:r>
              <a:rPr lang="en-US" dirty="0" smtClean="0"/>
              <a:t>(Discussed in detail in Chapter 11.) These modules support all aspects of a customer’s relationship with the organization. They help the organization to increase customer loyalty and retention, and thus improve its profitability. They also provide an integrated view of customer data and interactions, helping organizations to be more responsive to customer needs.</a:t>
            </a:r>
          </a:p>
          <a:p>
            <a:pPr marL="0" indent="0">
              <a:buFont typeface="Arial" pitchFamily="34" charset="0"/>
              <a:buNone/>
            </a:pPr>
            <a:r>
              <a:rPr lang="en-US" b="1" i="1" dirty="0" smtClean="0"/>
              <a:t>Supply Chain Management: </a:t>
            </a:r>
            <a:r>
              <a:rPr lang="en-US" dirty="0" smtClean="0"/>
              <a:t>(Discussed in detail in Chapter 11.) These modules manage the information </a:t>
            </a:r>
            <a:r>
              <a:rPr lang="en-US" dirty="0" err="1" smtClean="0"/>
              <a:t>fl</a:t>
            </a:r>
            <a:r>
              <a:rPr lang="en-US" dirty="0" smtClean="0"/>
              <a:t> </a:t>
            </a:r>
            <a:r>
              <a:rPr lang="en-US" dirty="0" err="1" smtClean="0"/>
              <a:t>ows</a:t>
            </a:r>
            <a:r>
              <a:rPr lang="en-US" dirty="0" smtClean="0"/>
              <a:t> between and among stages in a supply chain to maximize supply chain efficiency and effectiveness. They help organizations plan, schedule, control, and optimize the supply chain from the acquisition of raw materials to the receipt of finished goods by customers.</a:t>
            </a:r>
          </a:p>
          <a:p>
            <a:pPr marL="0" indent="0">
              <a:buFont typeface="Arial" pitchFamily="34" charset="0"/>
              <a:buNone/>
            </a:pPr>
            <a:r>
              <a:rPr lang="en-US" b="1" i="1" dirty="0" smtClean="0"/>
              <a:t>Business Intelligence: </a:t>
            </a:r>
            <a:r>
              <a:rPr lang="en-US" dirty="0" smtClean="0"/>
              <a:t>(Discussed in detail in Chapter 12.) These modules collect information used throughout the organization, organize it, and apply analytical tools to assist managers with decision making.</a:t>
            </a:r>
          </a:p>
          <a:p>
            <a:pPr marL="0" indent="0">
              <a:buFont typeface="Arial" pitchFamily="34" charset="0"/>
              <a:buNone/>
            </a:pPr>
            <a:r>
              <a:rPr lang="en-US" b="1" i="1" dirty="0" smtClean="0"/>
              <a:t>E-Business: </a:t>
            </a:r>
            <a:r>
              <a:rPr lang="en-US" dirty="0" smtClean="0"/>
              <a:t>(Discussed in detail in Chapter 7.) Customers and suppliers demand access to ERP information including order status, inventory levels, and invoice reconciliation. Furthermore, they want this information in a simplified format that can be accessed via the Web. As a result, these modules provide two channels of access into ERP system information—one channel for customers (B2C) and one for suppliers and partners (B2B).</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3508566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Organizational Flexibility and Agility: </a:t>
            </a:r>
            <a:r>
              <a:rPr lang="en-US" dirty="0" smtClean="0"/>
              <a:t>ERP systems break down many former departmental and functional silos of business processes, information systems, and information resources making organizations more flexible, agile, and adaptive.</a:t>
            </a:r>
          </a:p>
          <a:p>
            <a:r>
              <a:rPr lang="en-US" b="1" dirty="0" smtClean="0"/>
              <a:t>Decision Support: </a:t>
            </a:r>
            <a:r>
              <a:rPr lang="en-US" dirty="0" smtClean="0"/>
              <a:t>provide essential information on business performance across functional areas which significantly improves managers’ ability to make better, more timely decisions.</a:t>
            </a:r>
          </a:p>
          <a:p>
            <a:r>
              <a:rPr lang="en-US" b="1" dirty="0" smtClean="0"/>
              <a:t>Quality and Efficiency: </a:t>
            </a:r>
            <a:r>
              <a:rPr lang="en-US" dirty="0" smtClean="0"/>
              <a:t>ERP systems integrate and improve an organization’s business processes, generating </a:t>
            </a:r>
            <a:r>
              <a:rPr lang="en-US" dirty="0" err="1" smtClean="0"/>
              <a:t>signifi</a:t>
            </a:r>
            <a:r>
              <a:rPr lang="en-US" dirty="0" smtClean="0"/>
              <a:t> cant improvements in the quality of production, distribution, and customer service.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7621653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Business Processes Predefined by Best Practices: </a:t>
            </a:r>
            <a:r>
              <a:rPr lang="en-US" dirty="0" smtClean="0"/>
              <a:t>may require companies need to change their existing business processes to fit the predefined business processes incorporated into the ERP software.</a:t>
            </a:r>
          </a:p>
          <a:p>
            <a:r>
              <a:rPr lang="en-US" b="1" dirty="0" smtClean="0"/>
              <a:t>Difficult to Implement: </a:t>
            </a:r>
            <a:r>
              <a:rPr lang="en-US" dirty="0" smtClean="0"/>
              <a:t>ERP systems can be extremely complex, expensive, and time consuming to implement.</a:t>
            </a:r>
          </a:p>
          <a:p>
            <a:r>
              <a:rPr lang="en-US" b="1" dirty="0" smtClean="0"/>
              <a:t>Potential for Failure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2878013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Vanilla Approach: </a:t>
            </a:r>
            <a:r>
              <a:rPr lang="en-US" dirty="0" smtClean="0"/>
              <a:t>a company implements a standard ERP package, using the package’s built-in configuration options.</a:t>
            </a:r>
          </a:p>
          <a:p>
            <a:r>
              <a:rPr lang="en-US" b="1" dirty="0" smtClean="0"/>
              <a:t>Custom Approach:</a:t>
            </a:r>
            <a:r>
              <a:rPr lang="en-US" dirty="0" smtClean="0"/>
              <a:t> a company implements a more customized ERP system by developing new ERP functions designed specifically for that firm.</a:t>
            </a:r>
          </a:p>
          <a:p>
            <a:r>
              <a:rPr lang="en-US" b="1" dirty="0" smtClean="0"/>
              <a:t>Best of Breed Approach: </a:t>
            </a:r>
            <a:r>
              <a:rPr lang="en-US" dirty="0" smtClean="0"/>
              <a:t>combines the benefits of the vanilla and customized systems while avoiding the extensive costs and risks associated with complete customization.</a:t>
            </a:r>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1544756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15470516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Procurement Process: </a:t>
            </a:r>
            <a:r>
              <a:rPr lang="en-US" dirty="0" smtClean="0"/>
              <a:t>originates when a company needs to acquire goods or services from external sources, and it concludes when the company receives and pays for them.</a:t>
            </a:r>
          </a:p>
          <a:p>
            <a:r>
              <a:rPr lang="en-US" b="1" dirty="0" smtClean="0"/>
              <a:t>Order Fulfillment Process: </a:t>
            </a:r>
            <a:r>
              <a:rPr lang="en-US" dirty="0" smtClean="0"/>
              <a:t>(order-to-cash process) process in which the company sells goods to a customer originating when the company receives a customer order, and concluding when the company receives a payment from the customer.</a:t>
            </a:r>
          </a:p>
          <a:p>
            <a:r>
              <a:rPr lang="en-US" b="1" dirty="0" smtClean="0"/>
              <a:t>Production Process: </a:t>
            </a:r>
            <a:r>
              <a:rPr lang="en-US" dirty="0" smtClean="0"/>
              <a:t>occurring only in companies that produce physical goods, this process follows one of two strategies: make-to-stock and make-to-order.</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19684688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Procurement Process: </a:t>
            </a:r>
            <a:r>
              <a:rPr lang="en-US" dirty="0" smtClean="0"/>
              <a:t>originates when a company needs to acquire goods or services from external sources, and it concludes when the company receives and pays for them.</a:t>
            </a:r>
          </a:p>
          <a:p>
            <a:r>
              <a:rPr lang="en-US" b="1" dirty="0" smtClean="0"/>
              <a:t>Order Fulfillment Process: </a:t>
            </a:r>
            <a:r>
              <a:rPr lang="en-US" dirty="0" smtClean="0"/>
              <a:t>(order-to-cash process) process in which the company sells goods to a customer originating when the company receives a customer order, and concluding when the company receives a payment from the customer.</a:t>
            </a:r>
          </a:p>
          <a:p>
            <a:r>
              <a:rPr lang="en-US" b="1" dirty="0" smtClean="0"/>
              <a:t>Production Process: </a:t>
            </a:r>
            <a:r>
              <a:rPr lang="en-US" dirty="0" smtClean="0"/>
              <a:t>occurring only in companies that produce physical goods, this process follows one of two strategies: make-to-stock and make-to-order.</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6645484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FIGURE 10.4 Departments and documents flow in the procurement process.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33</a:t>
            </a:fld>
            <a:endParaRPr lang="en-US"/>
          </a:p>
        </p:txBody>
      </p:sp>
    </p:spTree>
    <p:extLst>
      <p:ext uri="{BB962C8B-B14F-4D97-AF65-F5344CB8AC3E}">
        <p14:creationId xmlns:p14="http://schemas.microsoft.com/office/powerpoint/2010/main" val="3968088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10.5 </a:t>
            </a:r>
            <a:r>
              <a:rPr lang="en-US" dirty="0" smtClean="0"/>
              <a:t>Departments and documents flow in the fulfillment process.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21658190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10.6 </a:t>
            </a:r>
            <a:r>
              <a:rPr lang="en-US" dirty="0" smtClean="0"/>
              <a:t>Departments and documents flow in the production process.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35</a:t>
            </a:fld>
            <a:endParaRPr lang="en-US"/>
          </a:p>
        </p:txBody>
      </p:sp>
    </p:spTree>
    <p:extLst>
      <p:ext uri="{BB962C8B-B14F-4D97-AF65-F5344CB8AC3E}">
        <p14:creationId xmlns:p14="http://schemas.microsoft.com/office/powerpoint/2010/main" val="3185875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10.7 </a:t>
            </a:r>
            <a:r>
              <a:rPr lang="en-US" dirty="0" smtClean="0"/>
              <a:t>Integrated processes with ERP systems.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37</a:t>
            </a:fld>
            <a:endParaRPr lang="en-US"/>
          </a:p>
        </p:txBody>
      </p:sp>
    </p:spTree>
    <p:extLst>
      <p:ext uri="{BB962C8B-B14F-4D97-AF65-F5344CB8AC3E}">
        <p14:creationId xmlns:p14="http://schemas.microsoft.com/office/powerpoint/2010/main" val="18366492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b="0" dirty="0" smtClean="0"/>
              <a:t>Describe why many passengers still experience long delays when the weather disrupts </a:t>
            </a:r>
            <a:r>
              <a:rPr lang="en-US" b="0" dirty="0" err="1" smtClean="0"/>
              <a:t>fl</a:t>
            </a:r>
            <a:r>
              <a:rPr lang="en-US" b="0" dirty="0" smtClean="0"/>
              <a:t> </a:t>
            </a:r>
            <a:r>
              <a:rPr lang="en-US" b="0" dirty="0" err="1" smtClean="0"/>
              <a:t>ight</a:t>
            </a:r>
            <a:r>
              <a:rPr lang="en-US" b="0" dirty="0" smtClean="0"/>
              <a:t> operations.</a:t>
            </a:r>
          </a:p>
          <a:p>
            <a:pPr marL="228600" indent="-228600">
              <a:buFont typeface="+mj-lt"/>
              <a:buAutoNum type="arabicPeriod"/>
            </a:pPr>
            <a:r>
              <a:rPr lang="en-US" b="0" dirty="0" smtClean="0"/>
              <a:t>Refer to Chapter 2. Do you consider the airlines’ automated booking software to be a strategic information system? Why or why not?</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39</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533400" y="3429000"/>
            <a:ext cx="8229600" cy="2819400"/>
          </a:xfrm>
        </p:spPr>
        <p:txBody>
          <a:bodyPr>
            <a:normAutofit/>
          </a:bodyPr>
          <a:lstStyle/>
          <a:p>
            <a:r>
              <a:rPr lang="en-US" dirty="0" smtClean="0"/>
              <a:t>Information Systems within the Organization</a:t>
            </a:r>
            <a:endParaRPr lang="en-US" dirty="0"/>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10</a:t>
            </a:r>
            <a:endParaRPr lang="en-US" dirty="0"/>
          </a:p>
        </p:txBody>
      </p:sp>
    </p:spTree>
    <p:extLst>
      <p:ext uri="{BB962C8B-B14F-4D97-AF65-F5344CB8AC3E}">
        <p14:creationId xmlns:p14="http://schemas.microsoft.com/office/powerpoint/2010/main" val="375702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Explain the purpose of transaction processing systems.</a:t>
            </a:r>
          </a:p>
          <a:p>
            <a:r>
              <a:rPr lang="en-US" dirty="0"/>
              <a:t>Explain the types of support information systems can provide for each functional area of the organization.</a:t>
            </a:r>
          </a:p>
          <a:p>
            <a:r>
              <a:rPr lang="en-US" dirty="0"/>
              <a:t>Identify advantages and drawbacks to businesses implementing an enterprise resource planning system.</a:t>
            </a:r>
          </a:p>
          <a:p>
            <a:r>
              <a:rPr lang="en-US" dirty="0"/>
              <a:t>Describe the three main business processes supported by ERP systems</a:t>
            </a:r>
            <a:r>
              <a:rPr lang="en-US" dirty="0" smtClean="0"/>
              <a:t>.</a:t>
            </a:r>
            <a:endParaRPr lang="en-US" dirty="0"/>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227378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Transaction Processing Systems</a:t>
            </a:r>
          </a:p>
          <a:p>
            <a:r>
              <a:rPr lang="en-US" dirty="0"/>
              <a:t>Functional Area Information Systems</a:t>
            </a:r>
          </a:p>
          <a:p>
            <a:r>
              <a:rPr lang="en-US" dirty="0"/>
              <a:t>Enterprise Resource Planning (ERP) Systems</a:t>
            </a:r>
          </a:p>
          <a:p>
            <a:r>
              <a:rPr lang="en-US" dirty="0"/>
              <a:t>ERP Support for Business </a:t>
            </a:r>
            <a:r>
              <a:rPr lang="en-US" dirty="0" smtClean="0"/>
              <a:t>Processes</a:t>
            </a:r>
            <a:endParaRPr lang="en-US" dirty="0"/>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187650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02712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 </a:t>
            </a:r>
            <a:r>
              <a:rPr lang="en-US" dirty="0">
                <a:solidFill>
                  <a:schemeClr val="accent1">
                    <a:lumMod val="75000"/>
                  </a:schemeClr>
                </a:solidFill>
              </a:rPr>
              <a:t>Opening Case </a:t>
            </a:r>
            <a:r>
              <a:rPr lang="en-US" dirty="0" smtClean="0"/>
              <a:t>General Motors Transforms Its IT Strategy</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a:t>The </a:t>
            </a:r>
            <a:r>
              <a:rPr lang="en-US" dirty="0">
                <a:solidFill>
                  <a:schemeClr val="tx1">
                    <a:lumMod val="65000"/>
                    <a:lumOff val="35000"/>
                  </a:schemeClr>
                </a:solidFill>
              </a:rPr>
              <a:t>Business Problem</a:t>
            </a:r>
          </a:p>
          <a:p>
            <a:r>
              <a:rPr lang="en-US" dirty="0"/>
              <a:t>The </a:t>
            </a:r>
            <a:r>
              <a:rPr lang="en-US" dirty="0">
                <a:solidFill>
                  <a:schemeClr val="tx1">
                    <a:lumMod val="65000"/>
                    <a:lumOff val="35000"/>
                  </a:schemeClr>
                </a:solidFill>
              </a:rPr>
              <a:t>IT Solution</a:t>
            </a:r>
          </a:p>
          <a:p>
            <a:r>
              <a:rPr lang="en-US" dirty="0"/>
              <a:t>The </a:t>
            </a:r>
            <a:r>
              <a:rPr lang="en-US" dirty="0">
                <a:solidFill>
                  <a:schemeClr val="tx1">
                    <a:lumMod val="65000"/>
                    <a:lumOff val="35000"/>
                  </a:schemeClr>
                </a:solidFill>
              </a:rPr>
              <a:t>Results</a:t>
            </a:r>
          </a:p>
          <a:p>
            <a:endParaRPr lang="en-US" dirty="0"/>
          </a:p>
        </p:txBody>
      </p:sp>
    </p:spTree>
    <p:extLst>
      <p:ext uri="{BB962C8B-B14F-4D97-AF65-F5344CB8AC3E}">
        <p14:creationId xmlns:p14="http://schemas.microsoft.com/office/powerpoint/2010/main" val="4022389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Transaction Processing Systems (TPS)</a:t>
            </a:r>
            <a:endParaRPr lang="en-US" dirty="0"/>
          </a:p>
        </p:txBody>
      </p:sp>
      <p:sp>
        <p:nvSpPr>
          <p:cNvPr id="3" name="Text Placeholder 2"/>
          <p:cNvSpPr>
            <a:spLocks noGrp="1"/>
          </p:cNvSpPr>
          <p:nvPr>
            <p:ph type="body" sz="quarter" idx="14"/>
          </p:nvPr>
        </p:nvSpPr>
        <p:spPr>
          <a:xfrm>
            <a:off x="0" y="457200"/>
            <a:ext cx="2057400" cy="1524000"/>
          </a:xfrm>
        </p:spPr>
        <p:txBody>
          <a:bodyPr/>
          <a:lstStyle/>
          <a:p>
            <a:r>
              <a:rPr lang="en-US" dirty="0" smtClean="0"/>
              <a:t>10.1</a:t>
            </a:r>
            <a:endParaRPr lang="en-US" dirty="0"/>
          </a:p>
        </p:txBody>
      </p:sp>
      <p:sp>
        <p:nvSpPr>
          <p:cNvPr id="4" name="Content Placeholder 3"/>
          <p:cNvSpPr>
            <a:spLocks noGrp="1"/>
          </p:cNvSpPr>
          <p:nvPr>
            <p:ph sz="quarter" idx="15"/>
          </p:nvPr>
        </p:nvSpPr>
        <p:spPr/>
        <p:txBody>
          <a:bodyPr>
            <a:normAutofit/>
          </a:bodyPr>
          <a:lstStyle/>
          <a:p>
            <a:r>
              <a:rPr lang="en-US" dirty="0" smtClean="0"/>
              <a:t>Transaction</a:t>
            </a:r>
          </a:p>
          <a:p>
            <a:r>
              <a:rPr lang="en-US" dirty="0" smtClean="0"/>
              <a:t>Transaction Processing System (TPS)</a:t>
            </a:r>
          </a:p>
          <a:p>
            <a:r>
              <a:rPr lang="en-US" dirty="0" smtClean="0"/>
              <a:t>Online Transaction Processing (OLTP)</a:t>
            </a:r>
          </a:p>
        </p:txBody>
      </p:sp>
    </p:spTree>
    <p:extLst>
      <p:ext uri="{BB962C8B-B14F-4D97-AF65-F5344CB8AC3E}">
        <p14:creationId xmlns:p14="http://schemas.microsoft.com/office/powerpoint/2010/main" val="4053466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Transaction Processing Systems (TPS)</a:t>
            </a:r>
            <a:endParaRPr lang="en-US" dirty="0"/>
          </a:p>
        </p:txBody>
      </p:sp>
      <p:sp>
        <p:nvSpPr>
          <p:cNvPr id="4" name="Content Placeholder 3"/>
          <p:cNvSpPr>
            <a:spLocks noGrp="1"/>
          </p:cNvSpPr>
          <p:nvPr>
            <p:ph sz="quarter" idx="14"/>
          </p:nvPr>
        </p:nvSpPr>
        <p:spPr/>
        <p:txBody>
          <a:bodyPr>
            <a:normAutofit fontScale="92500" lnSpcReduction="10000"/>
          </a:bodyPr>
          <a:lstStyle/>
          <a:p>
            <a:r>
              <a:rPr lang="en-US" dirty="0" smtClean="0"/>
              <a:t>Transaction Processing System (TPS)</a:t>
            </a:r>
          </a:p>
          <a:p>
            <a:pPr lvl="1"/>
            <a:r>
              <a:rPr lang="en-US" dirty="0" smtClean="0"/>
              <a:t>Continuous ‘real-time’ data collection</a:t>
            </a:r>
          </a:p>
          <a:p>
            <a:pPr lvl="1"/>
            <a:r>
              <a:rPr lang="en-US" dirty="0" smtClean="0"/>
              <a:t>Efficiently handle high volumes of data and large variations in those volumes</a:t>
            </a:r>
          </a:p>
          <a:p>
            <a:pPr lvl="1"/>
            <a:r>
              <a:rPr lang="en-US" dirty="0" smtClean="0"/>
              <a:t>Avoid errors and downtime</a:t>
            </a:r>
          </a:p>
          <a:p>
            <a:pPr lvl="1"/>
            <a:r>
              <a:rPr lang="en-US" dirty="0" smtClean="0"/>
              <a:t>Record results accurately and securely</a:t>
            </a:r>
          </a:p>
          <a:p>
            <a:pPr lvl="1"/>
            <a:r>
              <a:rPr lang="en-US" dirty="0" smtClean="0"/>
              <a:t>Maintain privacy and security</a:t>
            </a:r>
            <a:endParaRPr lang="en-US" dirty="0"/>
          </a:p>
          <a:p>
            <a:pPr lvl="1"/>
            <a:r>
              <a:rPr lang="en-US" dirty="0" smtClean="0"/>
              <a:t>Source data automation</a:t>
            </a:r>
          </a:p>
          <a:p>
            <a:pPr lvl="1"/>
            <a:r>
              <a:rPr lang="en-US" dirty="0" smtClean="0"/>
              <a:t>Batch processing</a:t>
            </a:r>
          </a:p>
        </p:txBody>
      </p:sp>
    </p:spTree>
    <p:extLst>
      <p:ext uri="{BB962C8B-B14F-4D97-AF65-F5344CB8AC3E}">
        <p14:creationId xmlns:p14="http://schemas.microsoft.com/office/powerpoint/2010/main" val="4197032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10.1 </a:t>
            </a:r>
            <a:r>
              <a:rPr lang="en-US" dirty="0"/>
              <a:t>How transaction processing systems manage data.</a:t>
            </a:r>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583972"/>
            <a:ext cx="8153400" cy="2833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6940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Functional Area Information Systems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10.2</a:t>
            </a:r>
            <a:endParaRPr lang="en-US" dirty="0"/>
          </a:p>
        </p:txBody>
      </p:sp>
      <p:sp>
        <p:nvSpPr>
          <p:cNvPr id="4" name="Content Placeholder 3"/>
          <p:cNvSpPr>
            <a:spLocks noGrp="1"/>
          </p:cNvSpPr>
          <p:nvPr>
            <p:ph sz="quarter" idx="15"/>
          </p:nvPr>
        </p:nvSpPr>
        <p:spPr/>
        <p:txBody>
          <a:bodyPr>
            <a:normAutofit fontScale="92500" lnSpcReduction="10000"/>
          </a:bodyPr>
          <a:lstStyle/>
          <a:p>
            <a:r>
              <a:rPr lang="en-US" dirty="0" smtClean="0"/>
              <a:t>Information Systems for Accounting and Finance</a:t>
            </a:r>
          </a:p>
          <a:p>
            <a:r>
              <a:rPr lang="en-US" dirty="0" smtClean="0"/>
              <a:t>Information Systems for Marketing</a:t>
            </a:r>
          </a:p>
          <a:p>
            <a:r>
              <a:rPr lang="en-US" dirty="0" smtClean="0"/>
              <a:t>Information Systems for Production/Operations Management</a:t>
            </a:r>
          </a:p>
          <a:p>
            <a:r>
              <a:rPr lang="en-US" dirty="0" smtClean="0"/>
              <a:t>Information Systems for Human Resource Management</a:t>
            </a:r>
          </a:p>
        </p:txBody>
      </p:sp>
    </p:spTree>
    <p:extLst>
      <p:ext uri="{BB962C8B-B14F-4D97-AF65-F5344CB8AC3E}">
        <p14:creationId xmlns:p14="http://schemas.microsoft.com/office/powerpoint/2010/main" val="954687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Information Systems for Accounting and Finance</a:t>
            </a:r>
            <a:endParaRPr lang="en-US" dirty="0"/>
          </a:p>
        </p:txBody>
      </p:sp>
      <p:sp>
        <p:nvSpPr>
          <p:cNvPr id="4" name="Content Placeholder 3"/>
          <p:cNvSpPr>
            <a:spLocks noGrp="1"/>
          </p:cNvSpPr>
          <p:nvPr>
            <p:ph sz="quarter" idx="14"/>
          </p:nvPr>
        </p:nvSpPr>
        <p:spPr/>
        <p:txBody>
          <a:bodyPr>
            <a:normAutofit/>
          </a:bodyPr>
          <a:lstStyle/>
          <a:p>
            <a:r>
              <a:rPr lang="en-US" dirty="0" smtClean="0"/>
              <a:t>Financial Planning and Budgeting</a:t>
            </a:r>
          </a:p>
          <a:p>
            <a:r>
              <a:rPr lang="en-US" dirty="0" smtClean="0"/>
              <a:t>Managing Financial Transactions</a:t>
            </a:r>
          </a:p>
          <a:p>
            <a:r>
              <a:rPr lang="en-US" dirty="0" smtClean="0"/>
              <a:t>Investment Management</a:t>
            </a:r>
          </a:p>
          <a:p>
            <a:r>
              <a:rPr lang="en-US" dirty="0" smtClean="0"/>
              <a:t>Control and Auditing</a:t>
            </a:r>
          </a:p>
        </p:txBody>
      </p:sp>
    </p:spTree>
    <p:extLst>
      <p:ext uri="{BB962C8B-B14F-4D97-AF65-F5344CB8AC3E}">
        <p14:creationId xmlns:p14="http://schemas.microsoft.com/office/powerpoint/2010/main" val="2718145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Financial Planning and Budgeting</a:t>
            </a:r>
            <a:endParaRPr lang="en-US" dirty="0"/>
          </a:p>
        </p:txBody>
      </p:sp>
      <p:sp>
        <p:nvSpPr>
          <p:cNvPr id="4" name="Content Placeholder 3"/>
          <p:cNvSpPr>
            <a:spLocks noGrp="1"/>
          </p:cNvSpPr>
          <p:nvPr>
            <p:ph type="body" sz="quarter" idx="13"/>
          </p:nvPr>
        </p:nvSpPr>
        <p:spPr/>
        <p:txBody>
          <a:bodyPr>
            <a:normAutofit/>
          </a:bodyPr>
          <a:lstStyle/>
          <a:p>
            <a:r>
              <a:rPr lang="en-US" dirty="0" smtClean="0"/>
              <a:t>Financial Planning and Budgeting</a:t>
            </a:r>
          </a:p>
          <a:p>
            <a:pPr lvl="1"/>
            <a:r>
              <a:rPr lang="en-US" dirty="0" smtClean="0"/>
              <a:t>Financial and economic forecasting</a:t>
            </a:r>
          </a:p>
          <a:p>
            <a:pPr lvl="1"/>
            <a:r>
              <a:rPr lang="en-US" dirty="0" smtClean="0"/>
              <a:t>Budgeting</a:t>
            </a:r>
          </a:p>
        </p:txBody>
      </p:sp>
    </p:spTree>
    <p:extLst>
      <p:ext uri="{BB962C8B-B14F-4D97-AF65-F5344CB8AC3E}">
        <p14:creationId xmlns:p14="http://schemas.microsoft.com/office/powerpoint/2010/main" val="3442442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Managing Financial Transactions</a:t>
            </a:r>
            <a:endParaRPr lang="en-US" dirty="0"/>
          </a:p>
        </p:txBody>
      </p:sp>
      <p:sp>
        <p:nvSpPr>
          <p:cNvPr id="4" name="Content Placeholder 3"/>
          <p:cNvSpPr>
            <a:spLocks noGrp="1"/>
          </p:cNvSpPr>
          <p:nvPr>
            <p:ph type="body" sz="quarter" idx="13"/>
          </p:nvPr>
        </p:nvSpPr>
        <p:spPr/>
        <p:txBody>
          <a:bodyPr>
            <a:normAutofit/>
          </a:bodyPr>
          <a:lstStyle/>
          <a:p>
            <a:r>
              <a:rPr lang="en-US" dirty="0" smtClean="0"/>
              <a:t>Managing Financial Transactions</a:t>
            </a:r>
          </a:p>
          <a:p>
            <a:pPr lvl="1"/>
            <a:r>
              <a:rPr lang="en-US" dirty="0" smtClean="0"/>
              <a:t>Global stock exchanges</a:t>
            </a:r>
          </a:p>
          <a:p>
            <a:pPr lvl="1"/>
            <a:r>
              <a:rPr lang="en-US" dirty="0" smtClean="0"/>
              <a:t>Managing multiple currencies</a:t>
            </a:r>
          </a:p>
          <a:p>
            <a:pPr lvl="1"/>
            <a:r>
              <a:rPr lang="en-US" dirty="0" smtClean="0"/>
              <a:t>Virtual close</a:t>
            </a:r>
          </a:p>
          <a:p>
            <a:pPr lvl="1"/>
            <a:r>
              <a:rPr lang="en-US" dirty="0" smtClean="0"/>
              <a:t>Expense management automation (EMA)</a:t>
            </a:r>
          </a:p>
        </p:txBody>
      </p:sp>
    </p:spTree>
    <p:extLst>
      <p:ext uri="{BB962C8B-B14F-4D97-AF65-F5344CB8AC3E}">
        <p14:creationId xmlns:p14="http://schemas.microsoft.com/office/powerpoint/2010/main" val="3452939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Control and Auditing</a:t>
            </a:r>
            <a:endParaRPr lang="en-US" dirty="0"/>
          </a:p>
        </p:txBody>
      </p:sp>
      <p:sp>
        <p:nvSpPr>
          <p:cNvPr id="4" name="Content Placeholder 3"/>
          <p:cNvSpPr>
            <a:spLocks noGrp="1"/>
          </p:cNvSpPr>
          <p:nvPr>
            <p:ph type="body" sz="quarter" idx="13"/>
          </p:nvPr>
        </p:nvSpPr>
        <p:spPr/>
        <p:txBody>
          <a:bodyPr>
            <a:normAutofit/>
          </a:bodyPr>
          <a:lstStyle/>
          <a:p>
            <a:r>
              <a:rPr lang="en-US" dirty="0" smtClean="0"/>
              <a:t>Control and Auditing</a:t>
            </a:r>
          </a:p>
          <a:p>
            <a:pPr lvl="1"/>
            <a:r>
              <a:rPr lang="en-US" dirty="0" smtClean="0"/>
              <a:t>Budgetary control</a:t>
            </a:r>
          </a:p>
          <a:p>
            <a:pPr lvl="1"/>
            <a:r>
              <a:rPr lang="en-US" dirty="0" smtClean="0"/>
              <a:t>Auditing</a:t>
            </a:r>
          </a:p>
          <a:p>
            <a:pPr lvl="2"/>
            <a:r>
              <a:rPr lang="en-US" dirty="0" smtClean="0"/>
              <a:t>Two basic purposes of Audits</a:t>
            </a:r>
          </a:p>
          <a:p>
            <a:pPr lvl="3"/>
            <a:r>
              <a:rPr lang="en-US" dirty="0" smtClean="0"/>
              <a:t>Monitor how the organization’s monies are being spent</a:t>
            </a:r>
          </a:p>
          <a:p>
            <a:pPr lvl="3"/>
            <a:r>
              <a:rPr lang="en-US" dirty="0" smtClean="0"/>
              <a:t>Access the organization’s financial health</a:t>
            </a:r>
          </a:p>
          <a:p>
            <a:pPr lvl="1"/>
            <a:r>
              <a:rPr lang="en-US" dirty="0" smtClean="0"/>
              <a:t>Financial ratio analysis</a:t>
            </a:r>
          </a:p>
        </p:txBody>
      </p:sp>
    </p:spTree>
    <p:extLst>
      <p:ext uri="{BB962C8B-B14F-4D97-AF65-F5344CB8AC3E}">
        <p14:creationId xmlns:p14="http://schemas.microsoft.com/office/powerpoint/2010/main" val="2568227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7500" lnSpcReduction="20000"/>
          </a:bodyPr>
          <a:lstStyle/>
          <a:p>
            <a:r>
              <a:rPr lang="en-US" dirty="0" smtClean="0"/>
              <a:t>Information Systems for Production/ Operations Management</a:t>
            </a:r>
            <a:endParaRPr lang="en-US" dirty="0"/>
          </a:p>
        </p:txBody>
      </p:sp>
      <p:sp>
        <p:nvSpPr>
          <p:cNvPr id="4" name="Content Placeholder 3"/>
          <p:cNvSpPr>
            <a:spLocks noGrp="1"/>
          </p:cNvSpPr>
          <p:nvPr>
            <p:ph sz="quarter" idx="14"/>
          </p:nvPr>
        </p:nvSpPr>
        <p:spPr/>
        <p:txBody>
          <a:bodyPr>
            <a:normAutofit/>
          </a:bodyPr>
          <a:lstStyle/>
          <a:p>
            <a:r>
              <a:rPr lang="en-US" dirty="0" smtClean="0"/>
              <a:t>In-House Logistics and </a:t>
            </a:r>
            <a:br>
              <a:rPr lang="en-US" dirty="0" smtClean="0"/>
            </a:br>
            <a:r>
              <a:rPr lang="en-US" dirty="0" smtClean="0"/>
              <a:t>Materials Management</a:t>
            </a:r>
          </a:p>
          <a:p>
            <a:r>
              <a:rPr lang="en-US" dirty="0" smtClean="0"/>
              <a:t>Inventory Management</a:t>
            </a:r>
          </a:p>
          <a:p>
            <a:r>
              <a:rPr lang="en-US" dirty="0" smtClean="0"/>
              <a:t>Quality Control</a:t>
            </a:r>
          </a:p>
          <a:p>
            <a:r>
              <a:rPr lang="en-US" dirty="0" smtClean="0"/>
              <a:t>Planning Production and Operations</a:t>
            </a:r>
          </a:p>
          <a:p>
            <a:r>
              <a:rPr lang="en-US" dirty="0" smtClean="0"/>
              <a:t>Computer-Integrated Manufacturing</a:t>
            </a:r>
          </a:p>
          <a:p>
            <a:r>
              <a:rPr lang="en-US" dirty="0" smtClean="0"/>
              <a:t>Product Life Cycle Management</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9800" y="1757362"/>
            <a:ext cx="2675289" cy="1976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0552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The Lion King Roars Back</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10.1</a:t>
            </a:r>
            <a:endParaRPr lang="en-US" dirty="0"/>
          </a:p>
        </p:txBody>
      </p:sp>
    </p:spTree>
    <p:extLst>
      <p:ext uri="{BB962C8B-B14F-4D97-AF65-F5344CB8AC3E}">
        <p14:creationId xmlns:p14="http://schemas.microsoft.com/office/powerpoint/2010/main" val="238390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Information Systems for Human Resource Management</a:t>
            </a:r>
            <a:endParaRPr lang="en-US" dirty="0"/>
          </a:p>
        </p:txBody>
      </p:sp>
      <p:sp>
        <p:nvSpPr>
          <p:cNvPr id="4" name="Content Placeholder 3"/>
          <p:cNvSpPr>
            <a:spLocks noGrp="1"/>
          </p:cNvSpPr>
          <p:nvPr>
            <p:ph sz="quarter" idx="14"/>
          </p:nvPr>
        </p:nvSpPr>
        <p:spPr/>
        <p:txBody>
          <a:bodyPr>
            <a:normAutofit/>
          </a:bodyPr>
          <a:lstStyle/>
          <a:p>
            <a:r>
              <a:rPr lang="en-US" dirty="0" smtClean="0"/>
              <a:t>Recruitment</a:t>
            </a:r>
          </a:p>
          <a:p>
            <a:r>
              <a:rPr lang="en-US" dirty="0" smtClean="0"/>
              <a:t>Human Resources Development</a:t>
            </a:r>
          </a:p>
          <a:p>
            <a:r>
              <a:rPr lang="en-US" dirty="0" smtClean="0"/>
              <a:t>Human Resources Planning and Management</a:t>
            </a:r>
          </a:p>
          <a:p>
            <a:pPr lvl="1"/>
            <a:r>
              <a:rPr lang="en-US" dirty="0" smtClean="0"/>
              <a:t>Payroll and employees’ records</a:t>
            </a:r>
          </a:p>
          <a:p>
            <a:pPr lvl="1"/>
            <a:r>
              <a:rPr lang="en-US" dirty="0" smtClean="0"/>
              <a:t>Benefits administration</a:t>
            </a:r>
          </a:p>
          <a:p>
            <a:pPr lvl="1"/>
            <a:r>
              <a:rPr lang="en-US" dirty="0" smtClean="0"/>
              <a:t>Employee relationship management</a:t>
            </a:r>
          </a:p>
          <a:p>
            <a:pPr lvl="2"/>
            <a:endParaRPr lang="en-US" dirty="0"/>
          </a:p>
        </p:txBody>
      </p:sp>
    </p:spTree>
    <p:extLst>
      <p:ext uri="{BB962C8B-B14F-4D97-AF65-F5344CB8AC3E}">
        <p14:creationId xmlns:p14="http://schemas.microsoft.com/office/powerpoint/2010/main" val="311331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10.2 </a:t>
            </a:r>
            <a:r>
              <a:rPr lang="en-US" dirty="0"/>
              <a:t>Examples of information systems supporting the functional areas.</a:t>
            </a:r>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998549"/>
            <a:ext cx="8153400" cy="4003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1502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Enterprise Resource Planning (ERP) Systems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10.3</a:t>
            </a:r>
            <a:endParaRPr lang="en-US" dirty="0"/>
          </a:p>
        </p:txBody>
      </p:sp>
      <p:sp>
        <p:nvSpPr>
          <p:cNvPr id="4" name="Content Placeholder 3"/>
          <p:cNvSpPr>
            <a:spLocks noGrp="1"/>
          </p:cNvSpPr>
          <p:nvPr>
            <p:ph sz="quarter" idx="15"/>
          </p:nvPr>
        </p:nvSpPr>
        <p:spPr/>
        <p:txBody>
          <a:bodyPr>
            <a:normAutofit fontScale="92500" lnSpcReduction="10000"/>
          </a:bodyPr>
          <a:lstStyle/>
          <a:p>
            <a:r>
              <a:rPr lang="en-US" dirty="0" smtClean="0"/>
              <a:t>ERP II Systems</a:t>
            </a:r>
          </a:p>
          <a:p>
            <a:r>
              <a:rPr lang="en-US" dirty="0" smtClean="0"/>
              <a:t>Benefits and Limitation of ERP Systems</a:t>
            </a:r>
          </a:p>
          <a:p>
            <a:r>
              <a:rPr lang="en-US" dirty="0" smtClean="0"/>
              <a:t>Implementing ERP Systems</a:t>
            </a:r>
          </a:p>
          <a:p>
            <a:r>
              <a:rPr lang="en-US" dirty="0" smtClean="0"/>
              <a:t>Software-as-a-Service ERP Implementation</a:t>
            </a:r>
          </a:p>
          <a:p>
            <a:r>
              <a:rPr lang="en-US" dirty="0" smtClean="0"/>
              <a:t>Enterprise Application Integration</a:t>
            </a:r>
          </a:p>
          <a:p>
            <a:pPr lvl="1"/>
            <a:r>
              <a:rPr lang="en-US" dirty="0" smtClean="0"/>
              <a:t>Enterprise Application Integration (EAI)</a:t>
            </a:r>
          </a:p>
        </p:txBody>
      </p:sp>
    </p:spTree>
    <p:extLst>
      <p:ext uri="{BB962C8B-B14F-4D97-AF65-F5344CB8AC3E}">
        <p14:creationId xmlns:p14="http://schemas.microsoft.com/office/powerpoint/2010/main" val="163330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GEA Group Uses SAP for Financial Reporting</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10.2</a:t>
            </a:r>
            <a:endParaRPr lang="en-US" dirty="0"/>
          </a:p>
        </p:txBody>
      </p:sp>
    </p:spTree>
    <p:extLst>
      <p:ext uri="{BB962C8B-B14F-4D97-AF65-F5344CB8AC3E}">
        <p14:creationId xmlns:p14="http://schemas.microsoft.com/office/powerpoint/2010/main" val="13006766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Core ERP Modules</a:t>
            </a:r>
            <a:endParaRPr lang="en-US" dirty="0"/>
          </a:p>
        </p:txBody>
      </p:sp>
      <p:sp>
        <p:nvSpPr>
          <p:cNvPr id="5" name="Content Placeholder 4"/>
          <p:cNvSpPr>
            <a:spLocks noGrp="1"/>
          </p:cNvSpPr>
          <p:nvPr>
            <p:ph sz="quarter" idx="14"/>
          </p:nvPr>
        </p:nvSpPr>
        <p:spPr/>
        <p:txBody>
          <a:bodyPr/>
          <a:lstStyle/>
          <a:p>
            <a:r>
              <a:rPr lang="en-US" dirty="0" smtClean="0"/>
              <a:t>Financial Management</a:t>
            </a:r>
          </a:p>
          <a:p>
            <a:r>
              <a:rPr lang="en-US" dirty="0" smtClean="0"/>
              <a:t>Operations Management</a:t>
            </a:r>
          </a:p>
          <a:p>
            <a:r>
              <a:rPr lang="en-US" dirty="0" smtClean="0"/>
              <a:t>Human Resource Management</a:t>
            </a:r>
          </a:p>
          <a:p>
            <a:endParaRPr lang="en-US" dirty="0"/>
          </a:p>
        </p:txBody>
      </p:sp>
    </p:spTree>
    <p:extLst>
      <p:ext uri="{BB962C8B-B14F-4D97-AF65-F5344CB8AC3E}">
        <p14:creationId xmlns:p14="http://schemas.microsoft.com/office/powerpoint/2010/main" val="221844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Extended ERP Modules</a:t>
            </a:r>
            <a:endParaRPr lang="en-US" dirty="0"/>
          </a:p>
        </p:txBody>
      </p:sp>
      <p:sp>
        <p:nvSpPr>
          <p:cNvPr id="3" name="Content Placeholder 2"/>
          <p:cNvSpPr>
            <a:spLocks noGrp="1"/>
          </p:cNvSpPr>
          <p:nvPr>
            <p:ph sz="quarter" idx="14"/>
          </p:nvPr>
        </p:nvSpPr>
        <p:spPr/>
        <p:txBody>
          <a:bodyPr/>
          <a:lstStyle/>
          <a:p>
            <a:r>
              <a:rPr lang="en-US" dirty="0" smtClean="0"/>
              <a:t>Customer Relationship Management (CRM)</a:t>
            </a:r>
          </a:p>
          <a:p>
            <a:r>
              <a:rPr lang="en-US" dirty="0" smtClean="0"/>
              <a:t>Supply Chain Management (SCM)</a:t>
            </a:r>
          </a:p>
          <a:p>
            <a:r>
              <a:rPr lang="en-US" dirty="0" smtClean="0"/>
              <a:t>Business Intelligence (BI)</a:t>
            </a:r>
          </a:p>
          <a:p>
            <a:r>
              <a:rPr lang="en-US" dirty="0" smtClean="0"/>
              <a:t>E-Business</a:t>
            </a:r>
            <a:endParaRPr lang="en-US" dirty="0"/>
          </a:p>
        </p:txBody>
      </p:sp>
    </p:spTree>
    <p:extLst>
      <p:ext uri="{BB962C8B-B14F-4D97-AF65-F5344CB8AC3E}">
        <p14:creationId xmlns:p14="http://schemas.microsoft.com/office/powerpoint/2010/main" val="1366384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normAutofit fontScale="92500" lnSpcReduction="20000"/>
          </a:bodyPr>
          <a:lstStyle/>
          <a:p>
            <a:r>
              <a:rPr lang="nl-NL" b="1" dirty="0"/>
              <a:t>FIGURE 10.3 </a:t>
            </a:r>
            <a:r>
              <a:rPr lang="nl-NL" dirty="0"/>
              <a:t>ERP II system</a:t>
            </a:r>
            <a:r>
              <a:rPr lang="nl-NL" dirty="0" smtClean="0"/>
              <a:t>.</a:t>
            </a:r>
            <a:endParaRPr lang="en-US" dirty="0"/>
          </a:p>
        </p:txBody>
      </p:sp>
      <p:pic>
        <p:nvPicPr>
          <p:cNvPr id="9"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319738" y="1447800"/>
            <a:ext cx="6580724"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9501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Benefits and Limitations of ERP Systems</a:t>
            </a:r>
            <a:endParaRPr lang="en-US" dirty="0"/>
          </a:p>
        </p:txBody>
      </p:sp>
      <p:sp>
        <p:nvSpPr>
          <p:cNvPr id="4" name="Content Placeholder 3"/>
          <p:cNvSpPr>
            <a:spLocks noGrp="1"/>
          </p:cNvSpPr>
          <p:nvPr>
            <p:ph sz="quarter" idx="14"/>
          </p:nvPr>
        </p:nvSpPr>
        <p:spPr/>
        <p:txBody>
          <a:bodyPr>
            <a:normAutofit/>
          </a:bodyPr>
          <a:lstStyle/>
          <a:p>
            <a:r>
              <a:rPr lang="en-US" dirty="0" smtClean="0"/>
              <a:t>Major Benefits of ERP Systems</a:t>
            </a:r>
          </a:p>
          <a:p>
            <a:r>
              <a:rPr lang="en-US" dirty="0" smtClean="0"/>
              <a:t>Major limitations of ERP implementations</a:t>
            </a:r>
          </a:p>
          <a:p>
            <a:r>
              <a:rPr lang="en-US" dirty="0" smtClean="0"/>
              <a:t>Major causes of ERP implementation failure</a:t>
            </a:r>
          </a:p>
        </p:txBody>
      </p:sp>
    </p:spTree>
    <p:extLst>
      <p:ext uri="{BB962C8B-B14F-4D97-AF65-F5344CB8AC3E}">
        <p14:creationId xmlns:p14="http://schemas.microsoft.com/office/powerpoint/2010/main" val="103791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Major Benefits of ERP Systems</a:t>
            </a:r>
            <a:endParaRPr lang="en-US" dirty="0"/>
          </a:p>
        </p:txBody>
      </p:sp>
      <p:sp>
        <p:nvSpPr>
          <p:cNvPr id="4" name="Content Placeholder 3"/>
          <p:cNvSpPr>
            <a:spLocks noGrp="1"/>
          </p:cNvSpPr>
          <p:nvPr>
            <p:ph type="body" sz="quarter" idx="13"/>
          </p:nvPr>
        </p:nvSpPr>
        <p:spPr/>
        <p:txBody>
          <a:bodyPr>
            <a:normAutofit/>
          </a:bodyPr>
          <a:lstStyle/>
          <a:p>
            <a:r>
              <a:rPr lang="en-US" dirty="0" smtClean="0"/>
              <a:t>Organizational flexibility and agility</a:t>
            </a:r>
          </a:p>
          <a:p>
            <a:r>
              <a:rPr lang="en-US" dirty="0" smtClean="0"/>
              <a:t>Decision support</a:t>
            </a:r>
          </a:p>
          <a:p>
            <a:r>
              <a:rPr lang="en-US" dirty="0" smtClean="0"/>
              <a:t>Quality and efficiency</a:t>
            </a:r>
          </a:p>
        </p:txBody>
      </p:sp>
    </p:spTree>
    <p:extLst>
      <p:ext uri="{BB962C8B-B14F-4D97-AF65-F5344CB8AC3E}">
        <p14:creationId xmlns:p14="http://schemas.microsoft.com/office/powerpoint/2010/main" val="3625325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Major Limitations of ERP Implementations</a:t>
            </a:r>
            <a:endParaRPr lang="en-US" dirty="0"/>
          </a:p>
        </p:txBody>
      </p:sp>
      <p:sp>
        <p:nvSpPr>
          <p:cNvPr id="4" name="Content Placeholder 3"/>
          <p:cNvSpPr>
            <a:spLocks noGrp="1"/>
          </p:cNvSpPr>
          <p:nvPr>
            <p:ph type="body" sz="quarter" idx="13"/>
          </p:nvPr>
        </p:nvSpPr>
        <p:spPr/>
        <p:txBody>
          <a:bodyPr>
            <a:normAutofit/>
          </a:bodyPr>
          <a:lstStyle/>
          <a:p>
            <a:r>
              <a:rPr lang="en-US" dirty="0" smtClean="0"/>
              <a:t>Since ERP’s are based on best practices companies may need to change their methods of achieving business objectives</a:t>
            </a:r>
          </a:p>
          <a:p>
            <a:r>
              <a:rPr lang="en-US" dirty="0" smtClean="0"/>
              <a:t>ERP systems can be complex, expensive, and time-consuming to implement.</a:t>
            </a:r>
          </a:p>
        </p:txBody>
      </p:sp>
    </p:spTree>
    <p:extLst>
      <p:ext uri="{BB962C8B-B14F-4D97-AF65-F5344CB8AC3E}">
        <p14:creationId xmlns:p14="http://schemas.microsoft.com/office/powerpoint/2010/main" val="2162067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Major Causes of ERP Implementation Failure</a:t>
            </a:r>
            <a:endParaRPr lang="en-US" dirty="0"/>
          </a:p>
        </p:txBody>
      </p:sp>
      <p:sp>
        <p:nvSpPr>
          <p:cNvPr id="4" name="Content Placeholder 3"/>
          <p:cNvSpPr>
            <a:spLocks noGrp="1"/>
          </p:cNvSpPr>
          <p:nvPr>
            <p:ph type="body" sz="quarter" idx="13"/>
          </p:nvPr>
        </p:nvSpPr>
        <p:spPr/>
        <p:txBody>
          <a:bodyPr>
            <a:normAutofit fontScale="92500" lnSpcReduction="20000"/>
          </a:bodyPr>
          <a:lstStyle/>
          <a:p>
            <a:r>
              <a:rPr lang="en-US" dirty="0" smtClean="0"/>
              <a:t>Failure to involve affected employees in the planning and development phases and in change management processes</a:t>
            </a:r>
          </a:p>
          <a:p>
            <a:r>
              <a:rPr lang="en-US" dirty="0" smtClean="0"/>
              <a:t>Trying to do too much too fast in the conversion process</a:t>
            </a:r>
          </a:p>
          <a:p>
            <a:r>
              <a:rPr lang="en-US" dirty="0" smtClean="0"/>
              <a:t>Insufficient training in the new work tasks required by the ERP system</a:t>
            </a:r>
          </a:p>
          <a:p>
            <a:r>
              <a:rPr lang="en-US" dirty="0" smtClean="0"/>
              <a:t>The failure to perform proper data conversion and testing for the new system</a:t>
            </a:r>
          </a:p>
        </p:txBody>
      </p:sp>
    </p:spTree>
    <p:extLst>
      <p:ext uri="{BB962C8B-B14F-4D97-AF65-F5344CB8AC3E}">
        <p14:creationId xmlns:p14="http://schemas.microsoft.com/office/powerpoint/2010/main" val="3470896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Implementing ERP Systems</a:t>
            </a:r>
            <a:endParaRPr lang="en-US" dirty="0"/>
          </a:p>
        </p:txBody>
      </p:sp>
      <p:sp>
        <p:nvSpPr>
          <p:cNvPr id="4" name="Content Placeholder 3"/>
          <p:cNvSpPr>
            <a:spLocks noGrp="1"/>
          </p:cNvSpPr>
          <p:nvPr>
            <p:ph sz="quarter" idx="14"/>
          </p:nvPr>
        </p:nvSpPr>
        <p:spPr/>
        <p:txBody>
          <a:bodyPr>
            <a:normAutofit/>
          </a:bodyPr>
          <a:lstStyle/>
          <a:p>
            <a:r>
              <a:rPr lang="en-US" dirty="0" smtClean="0"/>
              <a:t>On-Premise ERP Implementation</a:t>
            </a:r>
          </a:p>
          <a:p>
            <a:pPr lvl="1"/>
            <a:r>
              <a:rPr lang="en-US" dirty="0" smtClean="0"/>
              <a:t>Vanilla approach</a:t>
            </a:r>
          </a:p>
          <a:p>
            <a:pPr lvl="1"/>
            <a:r>
              <a:rPr lang="en-US" dirty="0" smtClean="0"/>
              <a:t>Custom approach</a:t>
            </a:r>
          </a:p>
          <a:p>
            <a:pPr lvl="1"/>
            <a:r>
              <a:rPr lang="en-US" dirty="0" smtClean="0"/>
              <a:t>Best of breed approach</a:t>
            </a:r>
          </a:p>
        </p:txBody>
      </p:sp>
    </p:spTree>
    <p:extLst>
      <p:ext uri="{BB962C8B-B14F-4D97-AF65-F5344CB8AC3E}">
        <p14:creationId xmlns:p14="http://schemas.microsoft.com/office/powerpoint/2010/main" val="1163847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Software-as-a-Service ERP Implementation</a:t>
            </a:r>
            <a:endParaRPr lang="en-US" dirty="0"/>
          </a:p>
        </p:txBody>
      </p:sp>
      <p:sp>
        <p:nvSpPr>
          <p:cNvPr id="4" name="Content Placeholder 3"/>
          <p:cNvSpPr>
            <a:spLocks noGrp="1"/>
          </p:cNvSpPr>
          <p:nvPr>
            <p:ph sz="quarter" idx="14"/>
          </p:nvPr>
        </p:nvSpPr>
        <p:spPr/>
        <p:txBody>
          <a:bodyPr>
            <a:normAutofit/>
          </a:bodyPr>
          <a:lstStyle/>
          <a:p>
            <a:r>
              <a:rPr lang="en-US" dirty="0" smtClean="0"/>
              <a:t>Three major advantages of using a cloud-based ERP system are:</a:t>
            </a:r>
          </a:p>
          <a:p>
            <a:r>
              <a:rPr lang="en-US" dirty="0" smtClean="0"/>
              <a:t>Three major disadvantages of using cloud-based ERP systems</a:t>
            </a:r>
          </a:p>
        </p:txBody>
      </p:sp>
    </p:spTree>
    <p:extLst>
      <p:ext uri="{BB962C8B-B14F-4D97-AF65-F5344CB8AC3E}">
        <p14:creationId xmlns:p14="http://schemas.microsoft.com/office/powerpoint/2010/main" val="25974310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a:t>Three major advantages of using a cloud-based ERP system are:</a:t>
            </a:r>
          </a:p>
        </p:txBody>
      </p:sp>
      <p:sp>
        <p:nvSpPr>
          <p:cNvPr id="4" name="Content Placeholder 3"/>
          <p:cNvSpPr>
            <a:spLocks noGrp="1"/>
          </p:cNvSpPr>
          <p:nvPr>
            <p:ph type="body" sz="quarter" idx="13"/>
          </p:nvPr>
        </p:nvSpPr>
        <p:spPr/>
        <p:txBody>
          <a:bodyPr>
            <a:normAutofit fontScale="85000" lnSpcReduction="10000"/>
          </a:bodyPr>
          <a:lstStyle/>
          <a:p>
            <a:r>
              <a:rPr lang="en-US" dirty="0" smtClean="0"/>
              <a:t>The system can be used from any location that provides Internet access</a:t>
            </a:r>
          </a:p>
          <a:p>
            <a:r>
              <a:rPr lang="en-US" dirty="0" smtClean="0"/>
              <a:t>Companies using cloud-based ERP avoid the initial hardware and software expenses that are typical of on-premise implementations</a:t>
            </a:r>
          </a:p>
          <a:p>
            <a:r>
              <a:rPr lang="en-US" dirty="0" smtClean="0"/>
              <a:t>Cloud-based ERP solutions are scalable, meaning it is possible to extend ERP support to new business processes and new business partners (e.g., suppliers) by purchasing new ERP modules.</a:t>
            </a:r>
          </a:p>
        </p:txBody>
      </p:sp>
    </p:spTree>
    <p:extLst>
      <p:ext uri="{BB962C8B-B14F-4D97-AF65-F5344CB8AC3E}">
        <p14:creationId xmlns:p14="http://schemas.microsoft.com/office/powerpoint/2010/main" val="1467790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7500" lnSpcReduction="20000"/>
          </a:bodyPr>
          <a:lstStyle/>
          <a:p>
            <a:r>
              <a:rPr lang="en-US" dirty="0"/>
              <a:t>Three major disadvantages of using cloud-based ERP systems are:</a:t>
            </a:r>
          </a:p>
        </p:txBody>
      </p:sp>
      <p:sp>
        <p:nvSpPr>
          <p:cNvPr id="4" name="Content Placeholder 3"/>
          <p:cNvSpPr>
            <a:spLocks noGrp="1"/>
          </p:cNvSpPr>
          <p:nvPr>
            <p:ph type="body" sz="quarter" idx="13"/>
          </p:nvPr>
        </p:nvSpPr>
        <p:spPr/>
        <p:txBody>
          <a:bodyPr>
            <a:normAutofit lnSpcReduction="10000"/>
          </a:bodyPr>
          <a:lstStyle/>
          <a:p>
            <a:r>
              <a:rPr lang="en-US" dirty="0" smtClean="0"/>
              <a:t>It is not clear whether cloud-based ERP systems are more secure than on-premise systems</a:t>
            </a:r>
          </a:p>
          <a:p>
            <a:r>
              <a:rPr lang="en-US" dirty="0" smtClean="0"/>
              <a:t>Companies that adopt cloud-based ERP systems sacrifice their control over a strategic IT resource</a:t>
            </a:r>
          </a:p>
          <a:p>
            <a:r>
              <a:rPr lang="en-US" dirty="0" smtClean="0"/>
              <a:t>Lack of control over IT resources when the ERP system experiences problems</a:t>
            </a:r>
          </a:p>
        </p:txBody>
      </p:sp>
    </p:spTree>
    <p:extLst>
      <p:ext uri="{BB962C8B-B14F-4D97-AF65-F5344CB8AC3E}">
        <p14:creationId xmlns:p14="http://schemas.microsoft.com/office/powerpoint/2010/main" val="1985122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ERP Support for Business Processes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10.4</a:t>
            </a:r>
            <a:endParaRPr lang="en-US" dirty="0"/>
          </a:p>
        </p:txBody>
      </p:sp>
      <p:sp>
        <p:nvSpPr>
          <p:cNvPr id="4" name="Content Placeholder 3"/>
          <p:cNvSpPr>
            <a:spLocks noGrp="1"/>
          </p:cNvSpPr>
          <p:nvPr>
            <p:ph sz="quarter" idx="15"/>
          </p:nvPr>
        </p:nvSpPr>
        <p:spPr/>
        <p:txBody>
          <a:bodyPr>
            <a:normAutofit fontScale="85000" lnSpcReduction="20000"/>
          </a:bodyPr>
          <a:lstStyle/>
          <a:p>
            <a:r>
              <a:rPr lang="en-US" dirty="0" smtClean="0"/>
              <a:t>The Procurement, Fulfillment, and Production Processes</a:t>
            </a:r>
          </a:p>
          <a:p>
            <a:pPr lvl="1"/>
            <a:r>
              <a:rPr lang="en-US" dirty="0" smtClean="0"/>
              <a:t>The Procurement Process</a:t>
            </a:r>
          </a:p>
          <a:p>
            <a:pPr lvl="1"/>
            <a:r>
              <a:rPr lang="en-US" dirty="0" smtClean="0"/>
              <a:t>The Fulfillment Process</a:t>
            </a:r>
          </a:p>
          <a:p>
            <a:pPr lvl="1"/>
            <a:r>
              <a:rPr lang="en-US" dirty="0" smtClean="0"/>
              <a:t>The Production Process</a:t>
            </a:r>
          </a:p>
          <a:p>
            <a:r>
              <a:rPr lang="en-US" dirty="0" smtClean="0"/>
              <a:t>Interorganizational Processes: ERP with SCM and CRM</a:t>
            </a:r>
          </a:p>
          <a:p>
            <a:pPr lvl="1"/>
            <a:r>
              <a:rPr lang="en-US" dirty="0" smtClean="0"/>
              <a:t>SCM and CRM</a:t>
            </a:r>
          </a:p>
          <a:p>
            <a:pPr lvl="1"/>
            <a:r>
              <a:rPr lang="en-US" dirty="0" smtClean="0"/>
              <a:t>ERP SCM</a:t>
            </a:r>
          </a:p>
          <a:p>
            <a:pPr lvl="1"/>
            <a:r>
              <a:rPr lang="en-US" dirty="0" smtClean="0"/>
              <a:t>ERP CRM</a:t>
            </a:r>
            <a:endParaRPr lang="en-US" dirty="0"/>
          </a:p>
        </p:txBody>
      </p:sp>
    </p:spTree>
    <p:extLst>
      <p:ext uri="{BB962C8B-B14F-4D97-AF65-F5344CB8AC3E}">
        <p14:creationId xmlns:p14="http://schemas.microsoft.com/office/powerpoint/2010/main" val="3449014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ERP Support for Business Processes</a:t>
            </a:r>
            <a:endParaRPr lang="en-US" dirty="0"/>
          </a:p>
        </p:txBody>
      </p:sp>
      <p:sp>
        <p:nvSpPr>
          <p:cNvPr id="4" name="Content Placeholder 3"/>
          <p:cNvSpPr>
            <a:spLocks noGrp="1"/>
          </p:cNvSpPr>
          <p:nvPr>
            <p:ph sz="quarter" idx="14"/>
          </p:nvPr>
        </p:nvSpPr>
        <p:spPr/>
        <p:txBody>
          <a:bodyPr>
            <a:normAutofit/>
          </a:bodyPr>
          <a:lstStyle/>
          <a:p>
            <a:r>
              <a:rPr lang="en-US" dirty="0" smtClean="0"/>
              <a:t>The Procurement, Fulfillment, and Production Processes</a:t>
            </a:r>
          </a:p>
          <a:p>
            <a:r>
              <a:rPr lang="en-US" dirty="0" smtClean="0"/>
              <a:t>Interorganizational Processes: ERP with SCM and CRM</a:t>
            </a:r>
          </a:p>
        </p:txBody>
      </p:sp>
    </p:spTree>
    <p:extLst>
      <p:ext uri="{BB962C8B-B14F-4D97-AF65-F5344CB8AC3E}">
        <p14:creationId xmlns:p14="http://schemas.microsoft.com/office/powerpoint/2010/main" val="14165661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7500" lnSpcReduction="20000"/>
          </a:bodyPr>
          <a:lstStyle/>
          <a:p>
            <a:r>
              <a:rPr lang="en-US" b="1" dirty="0"/>
              <a:t>FIGURE 10.4 </a:t>
            </a:r>
            <a:r>
              <a:rPr lang="en-US" dirty="0"/>
              <a:t>Departments and documents flow in the procurement process.</a:t>
            </a:r>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674583"/>
            <a:ext cx="8153400" cy="2651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3173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10.5 </a:t>
            </a:r>
            <a:r>
              <a:rPr lang="en-US" dirty="0"/>
              <a:t>Departments and documents flow in the fulfillment process.</a:t>
            </a:r>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691644"/>
            <a:ext cx="8153400" cy="2617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93262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10.6 </a:t>
            </a:r>
            <a:r>
              <a:rPr lang="en-US" dirty="0"/>
              <a:t>Departments and documents flow in the production process.</a:t>
            </a:r>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641600"/>
            <a:ext cx="8153400" cy="271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69033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a:t>Interorganizational Processes: ERP with SCM and CRM</a:t>
            </a:r>
          </a:p>
        </p:txBody>
      </p:sp>
      <p:sp>
        <p:nvSpPr>
          <p:cNvPr id="4" name="Content Placeholder 3"/>
          <p:cNvSpPr>
            <a:spLocks noGrp="1"/>
          </p:cNvSpPr>
          <p:nvPr>
            <p:ph type="body" sz="quarter" idx="13"/>
          </p:nvPr>
        </p:nvSpPr>
        <p:spPr/>
        <p:txBody>
          <a:bodyPr>
            <a:normAutofit/>
          </a:bodyPr>
          <a:lstStyle/>
          <a:p>
            <a:r>
              <a:rPr lang="en-US" dirty="0" smtClean="0"/>
              <a:t>SCM and CRM</a:t>
            </a:r>
          </a:p>
          <a:p>
            <a:r>
              <a:rPr lang="en-US" dirty="0" smtClean="0"/>
              <a:t>ERP SCM</a:t>
            </a:r>
          </a:p>
          <a:p>
            <a:r>
              <a:rPr lang="en-US" dirty="0" smtClean="0"/>
              <a:t>ERP CRM</a:t>
            </a:r>
            <a:endParaRPr lang="en-US" dirty="0"/>
          </a:p>
        </p:txBody>
      </p:sp>
    </p:spTree>
    <p:extLst>
      <p:ext uri="{BB962C8B-B14F-4D97-AF65-F5344CB8AC3E}">
        <p14:creationId xmlns:p14="http://schemas.microsoft.com/office/powerpoint/2010/main" val="13895466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10.7 </a:t>
            </a:r>
            <a:r>
              <a:rPr lang="en-US" dirty="0"/>
              <a:t>Integrated processes with ERP systems.</a:t>
            </a:r>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911608" y="1447800"/>
            <a:ext cx="7396984"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09870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Reports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10.5</a:t>
            </a:r>
            <a:endParaRPr lang="en-US" dirty="0"/>
          </a:p>
        </p:txBody>
      </p:sp>
      <p:sp>
        <p:nvSpPr>
          <p:cNvPr id="4" name="Content Placeholder 3"/>
          <p:cNvSpPr>
            <a:spLocks noGrp="1"/>
          </p:cNvSpPr>
          <p:nvPr>
            <p:ph sz="quarter" idx="15"/>
          </p:nvPr>
        </p:nvSpPr>
        <p:spPr/>
        <p:txBody>
          <a:bodyPr/>
          <a:lstStyle/>
          <a:p>
            <a:r>
              <a:rPr lang="en-US" dirty="0" smtClean="0"/>
              <a:t>Routine Reports</a:t>
            </a:r>
            <a:endParaRPr lang="en-US" dirty="0"/>
          </a:p>
          <a:p>
            <a:r>
              <a:rPr lang="en-US" dirty="0" smtClean="0"/>
              <a:t>Ad-hoc (on-demand) Reports</a:t>
            </a:r>
          </a:p>
          <a:p>
            <a:pPr lvl="1"/>
            <a:r>
              <a:rPr lang="en-US" dirty="0" smtClean="0"/>
              <a:t>Drill-down reports</a:t>
            </a:r>
          </a:p>
          <a:p>
            <a:pPr lvl="1"/>
            <a:r>
              <a:rPr lang="en-US" dirty="0" smtClean="0"/>
              <a:t>Key-indicator reports</a:t>
            </a:r>
          </a:p>
          <a:p>
            <a:pPr lvl="1"/>
            <a:r>
              <a:rPr lang="en-US" dirty="0" smtClean="0"/>
              <a:t>Comparative reports</a:t>
            </a:r>
          </a:p>
          <a:p>
            <a:r>
              <a:rPr lang="en-US" dirty="0" smtClean="0"/>
              <a:t>Exception Reports</a:t>
            </a:r>
          </a:p>
        </p:txBody>
      </p:sp>
    </p:spTree>
    <p:extLst>
      <p:ext uri="{BB962C8B-B14F-4D97-AF65-F5344CB8AC3E}">
        <p14:creationId xmlns:p14="http://schemas.microsoft.com/office/powerpoint/2010/main" val="9389122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smtClean="0"/>
              <a:t>Airlines Use IT to Combat Flight Cancelations</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Business Problem</a:t>
            </a:r>
          </a:p>
          <a:p>
            <a:r>
              <a:rPr lang="en-US" dirty="0" smtClean="0"/>
              <a:t>The </a:t>
            </a:r>
            <a:r>
              <a:rPr lang="en-US" dirty="0" smtClean="0">
                <a:solidFill>
                  <a:schemeClr val="tx1">
                    <a:lumMod val="65000"/>
                    <a:lumOff val="35000"/>
                  </a:schemeClr>
                </a:solidFill>
              </a:rPr>
              <a:t>IT Solution</a:t>
            </a:r>
          </a:p>
          <a:p>
            <a:r>
              <a:rPr lang="en-US" dirty="0"/>
              <a:t>The </a:t>
            </a:r>
            <a:r>
              <a:rPr lang="en-US" dirty="0" smtClean="0">
                <a:solidFill>
                  <a:schemeClr val="tx1">
                    <a:lumMod val="65000"/>
                    <a:lumOff val="35000"/>
                  </a:schemeClr>
                </a:solidFill>
              </a:rPr>
              <a:t>Results</a:t>
            </a:r>
            <a:endParaRPr lang="en-US" dirty="0">
              <a:solidFill>
                <a:schemeClr val="tx1">
                  <a:lumMod val="65000"/>
                  <a:lumOff val="35000"/>
                </a:schemeClr>
              </a:solidFill>
            </a:endParaRPr>
          </a:p>
        </p:txBody>
      </p:sp>
    </p:spTree>
    <p:extLst>
      <p:ext uri="{BB962C8B-B14F-4D97-AF65-F5344CB8AC3E}">
        <p14:creationId xmlns:p14="http://schemas.microsoft.com/office/powerpoint/2010/main" val="4113457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16279</TotalTime>
  <Words>3582</Words>
  <Application>Microsoft Office PowerPoint</Application>
  <PresentationFormat>On-screen Show (4:3)</PresentationFormat>
  <Paragraphs>288</Paragraphs>
  <Slides>39</Slides>
  <Notes>26</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PowerPoint Presentation</vt:lpstr>
      <vt:lpstr>PowerPoint Presentation</vt:lpstr>
      <vt:lpstr>[ WEB RESOURCES]</vt:lpstr>
      <vt:lpstr>[ Opening Case General Motors Transforms Its IT Strategy]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Airlines Use IT to Combat Flight Cancelations]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Rainer_6e_Chapter10_Slides</dc:title>
  <dc:creator>John Kenneth Corley</dc:creator>
  <cp:lastModifiedBy>techsupport</cp:lastModifiedBy>
  <cp:revision>500</cp:revision>
  <dcterms:created xsi:type="dcterms:W3CDTF">2013-08-07T23:49:12Z</dcterms:created>
  <dcterms:modified xsi:type="dcterms:W3CDTF">2015-10-01T20:05:37Z</dcterms:modified>
</cp:coreProperties>
</file>