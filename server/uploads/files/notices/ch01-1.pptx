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651" r:id="rId2"/>
    <p:sldId id="652" r:id="rId3"/>
    <p:sldId id="653" r:id="rId4"/>
    <p:sldId id="654" r:id="rId5"/>
    <p:sldId id="656" r:id="rId6"/>
    <p:sldId id="759" r:id="rId7"/>
    <p:sldId id="760" r:id="rId8"/>
    <p:sldId id="761" r:id="rId9"/>
    <p:sldId id="1103" r:id="rId10"/>
    <p:sldId id="1104" r:id="rId11"/>
    <p:sldId id="1105" r:id="rId12"/>
    <p:sldId id="762" r:id="rId13"/>
    <p:sldId id="763" r:id="rId14"/>
    <p:sldId id="1117" r:id="rId15"/>
    <p:sldId id="764" r:id="rId16"/>
    <p:sldId id="765" r:id="rId17"/>
    <p:sldId id="766" r:id="rId18"/>
    <p:sldId id="758" r:id="rId19"/>
    <p:sldId id="767" r:id="rId20"/>
    <p:sldId id="1111" r:id="rId21"/>
    <p:sldId id="1112" r:id="rId22"/>
    <p:sldId id="1106" r:id="rId23"/>
    <p:sldId id="768" r:id="rId24"/>
    <p:sldId id="769" r:id="rId25"/>
    <p:sldId id="770" r:id="rId26"/>
    <p:sldId id="1114" r:id="rId27"/>
    <p:sldId id="771" r:id="rId28"/>
    <p:sldId id="772" r:id="rId29"/>
    <p:sldId id="1115" r:id="rId30"/>
    <p:sldId id="657" r:id="rId31"/>
    <p:sldId id="773" r:id="rId32"/>
    <p:sldId id="774" r:id="rId33"/>
    <p:sldId id="775" r:id="rId34"/>
    <p:sldId id="1107" r:id="rId35"/>
    <p:sldId id="1108" r:id="rId36"/>
    <p:sldId id="1109" r:id="rId37"/>
    <p:sldId id="776" r:id="rId38"/>
    <p:sldId id="777" r:id="rId39"/>
    <p:sldId id="778" r:id="rId40"/>
    <p:sldId id="779" r:id="rId41"/>
    <p:sldId id="1116" r:id="rId42"/>
    <p:sldId id="780" r:id="rId43"/>
    <p:sldId id="781" r:id="rId44"/>
    <p:sldId id="782" r:id="rId45"/>
    <p:sldId id="783" r:id="rId46"/>
    <p:sldId id="743" r:id="rId47"/>
    <p:sldId id="784" r:id="rId48"/>
    <p:sldId id="744" r:id="rId49"/>
    <p:sldId id="1081"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Information Technology (IT): </a:t>
            </a:r>
            <a:r>
              <a:rPr lang="en-US" b="0" dirty="0" smtClean="0"/>
              <a:t>any computer-based tool that people use to work with information and to support the information and information-processing needs of an organization.</a:t>
            </a:r>
          </a:p>
          <a:p>
            <a:r>
              <a:rPr lang="en-US" b="1" dirty="0" smtClean="0"/>
              <a:t>Information System (IS): </a:t>
            </a:r>
            <a:r>
              <a:rPr lang="en-US" b="0" dirty="0" smtClean="0"/>
              <a:t>collects, processes, stores, analyzes, and disseminates information for a specific purpose.</a:t>
            </a:r>
          </a:p>
          <a:p>
            <a:r>
              <a:rPr lang="en-US" b="1" dirty="0" smtClean="0"/>
              <a:t>Informed User: </a:t>
            </a:r>
            <a:r>
              <a:rPr lang="en-US" dirty="0" smtClean="0"/>
              <a:t>A person knowledgeable</a:t>
            </a:r>
            <a:r>
              <a:rPr lang="en-US" baseline="0" dirty="0" smtClean="0"/>
              <a:t> about information systems and information technology</a:t>
            </a: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3500667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CIO: The executive who is in charge of the IS function</a:t>
            </a:r>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727010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827389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smtClean="0"/>
              <a:t>Evolution</a:t>
            </a:r>
            <a:r>
              <a:rPr lang="en-US" b="1" u="sng" baseline="0" dirty="0" smtClean="0"/>
              <a:t> of the IS Function….</a:t>
            </a:r>
            <a:endParaRPr lang="en-US" b="1" u="sng" dirty="0" smtClean="0"/>
          </a:p>
          <a:p>
            <a:r>
              <a:rPr lang="en-US" b="1" dirty="0" smtClean="0"/>
              <a:t>Traditional Functions of the MIS Department:</a:t>
            </a:r>
          </a:p>
          <a:p>
            <a:r>
              <a:rPr lang="en-US" dirty="0" smtClean="0"/>
              <a:t>• Managing systems development and systems project management</a:t>
            </a:r>
          </a:p>
          <a:p>
            <a:r>
              <a:rPr lang="en-US" dirty="0" smtClean="0"/>
              <a:t>• Managing computer operations, including the computer center</a:t>
            </a:r>
          </a:p>
          <a:p>
            <a:r>
              <a:rPr lang="en-US" dirty="0" smtClean="0"/>
              <a:t>• Staffing, training, and developing IS skills</a:t>
            </a:r>
          </a:p>
          <a:p>
            <a:r>
              <a:rPr lang="en-US" dirty="0" smtClean="0"/>
              <a:t>• Providing technical services</a:t>
            </a:r>
          </a:p>
          <a:p>
            <a:r>
              <a:rPr lang="en-US" dirty="0" smtClean="0"/>
              <a:t>• Infrastructure planning, development, and control</a:t>
            </a:r>
          </a:p>
          <a:p>
            <a:endParaRPr lang="en-US" dirty="0" smtClean="0"/>
          </a:p>
          <a:p>
            <a:r>
              <a:rPr lang="en-US" b="1" dirty="0" smtClean="0"/>
              <a:t>New (Consultative) Functions of the MIS Department</a:t>
            </a:r>
          </a:p>
          <a:p>
            <a:r>
              <a:rPr lang="en-US" dirty="0" smtClean="0"/>
              <a:t>• Initiating and designing specific strategic information systems</a:t>
            </a:r>
          </a:p>
          <a:p>
            <a:r>
              <a:rPr lang="en-US" dirty="0" smtClean="0"/>
              <a:t>• Incorporating the Internet and electronic commerce into the business</a:t>
            </a:r>
          </a:p>
          <a:p>
            <a:r>
              <a:rPr lang="en-US" dirty="0" smtClean="0"/>
              <a:t>• Managing system integration including the Internet, intranets, and extranets</a:t>
            </a:r>
          </a:p>
          <a:p>
            <a:r>
              <a:rPr lang="en-US" dirty="0" smtClean="0"/>
              <a:t>• Educating the non-MIS managers about IT</a:t>
            </a:r>
          </a:p>
          <a:p>
            <a:r>
              <a:rPr lang="en-US" dirty="0" smtClean="0"/>
              <a:t>• Educating the MIS staff about the business</a:t>
            </a:r>
          </a:p>
          <a:p>
            <a:r>
              <a:rPr lang="en-US" dirty="0" smtClean="0"/>
              <a:t>• Partnering with business-unit executives</a:t>
            </a:r>
          </a:p>
          <a:p>
            <a:r>
              <a:rPr lang="en-US" dirty="0" smtClean="0"/>
              <a:t>• Managing outsourcing</a:t>
            </a:r>
          </a:p>
          <a:p>
            <a:r>
              <a:rPr lang="en-US" dirty="0" smtClean="0"/>
              <a:t>• Proactively using business and technical knowledge to seed innovative ideas about IT</a:t>
            </a:r>
          </a:p>
          <a:p>
            <a:r>
              <a:rPr lang="en-US" dirty="0" smtClean="0"/>
              <a:t>• Creating business alliances with business partners</a:t>
            </a:r>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3800804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1.1</a:t>
            </a:r>
          </a:p>
          <a:p>
            <a:r>
              <a:rPr lang="en-US" dirty="0" smtClean="0"/>
              <a:t>MIS provides what users see on their computer screens.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3975915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Initiating and designing specific strategic information systems</a:t>
            </a:r>
          </a:p>
          <a:p>
            <a:pPr marL="628650" lvl="1" indent="-171450">
              <a:buFont typeface="Arial" pitchFamily="34" charset="0"/>
              <a:buChar char="•"/>
            </a:pPr>
            <a:r>
              <a:rPr lang="en-US" b="0" dirty="0" smtClean="0"/>
              <a:t>As an end user, your information needs will often mandate the development of new strategic information systems.</a:t>
            </a:r>
          </a:p>
          <a:p>
            <a:pPr marL="628650" lvl="1" indent="-171450">
              <a:buFont typeface="Arial" pitchFamily="34" charset="0"/>
              <a:buChar char="•"/>
            </a:pPr>
            <a:r>
              <a:rPr lang="en-US" b="0" dirty="0" smtClean="0"/>
              <a:t>You will decide which strategic systems you need (because you know your business needs better than the MIS department does), and you will provide input into developing these systems.</a:t>
            </a:r>
          </a:p>
          <a:p>
            <a:pPr marL="171450" indent="-171450">
              <a:buFont typeface="Arial" pitchFamily="34" charset="0"/>
              <a:buChar char="•"/>
            </a:pPr>
            <a:r>
              <a:rPr lang="en-US" b="1" dirty="0" smtClean="0"/>
              <a:t>Incorporating the Internet and electronic commerce into the business</a:t>
            </a:r>
          </a:p>
          <a:p>
            <a:pPr marL="628650" lvl="1" indent="-171450">
              <a:buFont typeface="Arial" pitchFamily="34" charset="0"/>
              <a:buChar char="•"/>
            </a:pPr>
            <a:r>
              <a:rPr lang="en-US" dirty="0" smtClean="0"/>
              <a:t>As an end user, you will be primarily responsible for effectively using the Internet and electronic commerce in your business. You will work with the MIS department to accomplish this task.</a:t>
            </a:r>
          </a:p>
          <a:p>
            <a:pPr marL="171450" indent="-171450">
              <a:buFont typeface="Arial" pitchFamily="34" charset="0"/>
              <a:buChar char="•"/>
            </a:pPr>
            <a:r>
              <a:rPr lang="en-US" b="1" dirty="0" smtClean="0"/>
              <a:t>Managing system integration, including the Internet, intranets, and extranets</a:t>
            </a:r>
          </a:p>
          <a:p>
            <a:pPr marL="628650" lvl="1" indent="-171450">
              <a:buFont typeface="Arial" pitchFamily="34" charset="0"/>
              <a:buChar char="•"/>
            </a:pPr>
            <a:r>
              <a:rPr lang="en-US" dirty="0" smtClean="0"/>
              <a:t>As an end user, your business needs will determine how you want to use the Internet, your corporate intranets, and extranets to accomplish your goals. You will be primarily responsible for advising the MIS department on the most effective use of the Internet, your corporate intranets, and extranets.</a:t>
            </a:r>
          </a:p>
          <a:p>
            <a:pPr marL="171450" indent="-171450">
              <a:buFont typeface="Arial" pitchFamily="34" charset="0"/>
              <a:buChar char="•"/>
            </a:pPr>
            <a:r>
              <a:rPr lang="en-US" b="1" dirty="0" smtClean="0"/>
              <a:t>Educating the non-MIS managers about IT</a:t>
            </a:r>
          </a:p>
          <a:p>
            <a:pPr marL="628650" lvl="1" indent="-171450">
              <a:buFont typeface="Arial" pitchFamily="34" charset="0"/>
              <a:buChar char="•"/>
            </a:pPr>
            <a:r>
              <a:rPr lang="en-US" dirty="0" smtClean="0"/>
              <a:t>Your department will be primarily responsible for advising the MIS department on how best to educate and train your employees about IT.</a:t>
            </a:r>
          </a:p>
          <a:p>
            <a:pPr marL="171450" indent="-171450">
              <a:buFont typeface="Arial" pitchFamily="34" charset="0"/>
              <a:buChar char="•"/>
            </a:pPr>
            <a:r>
              <a:rPr lang="en-US" b="1" dirty="0" smtClean="0"/>
              <a:t>Educating the MIS staff about the business</a:t>
            </a:r>
          </a:p>
          <a:p>
            <a:pPr marL="628650" lvl="1" indent="-171450">
              <a:buFont typeface="Arial" pitchFamily="34" charset="0"/>
              <a:buChar char="•"/>
            </a:pPr>
            <a:r>
              <a:rPr lang="en-US" dirty="0" smtClean="0"/>
              <a:t>Communication between the MIS department and the business units is a two-way street. You will be responsible for educating the MIS staff on your business, its needs, and its goals.</a:t>
            </a:r>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2034519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Partnering with business unit executives</a:t>
            </a:r>
          </a:p>
          <a:p>
            <a:pPr marL="628650" lvl="1" indent="-171450">
              <a:buFont typeface="Arial" pitchFamily="34" charset="0"/>
              <a:buChar char="•"/>
            </a:pPr>
            <a:r>
              <a:rPr lang="en-US" dirty="0" smtClean="0"/>
              <a:t>Essentially, you will be in a partnership with the MIS department. You will be responsible for seeing that this partnership is one “between equals” and ensuring its success.</a:t>
            </a:r>
          </a:p>
          <a:p>
            <a:pPr marL="171450" indent="-171450">
              <a:buFont typeface="Arial" pitchFamily="34" charset="0"/>
              <a:buChar char="•"/>
            </a:pPr>
            <a:r>
              <a:rPr lang="en-US" b="1" dirty="0" smtClean="0"/>
              <a:t>Managing outsourcing</a:t>
            </a:r>
          </a:p>
          <a:p>
            <a:pPr marL="628650" lvl="1" indent="-171450">
              <a:buFont typeface="Arial" pitchFamily="34" charset="0"/>
              <a:buChar char="•"/>
            </a:pPr>
            <a:r>
              <a:rPr lang="en-US" dirty="0" smtClean="0"/>
              <a:t>Outsourcing is driven by business needs. Therefore, the outsourcing decision resides largely with the business units (i.e., with you). The MIS department, working closely with you, will advise you on technical issues such as communications bandwidth and security.</a:t>
            </a:r>
          </a:p>
          <a:p>
            <a:pPr marL="171450" indent="-171450">
              <a:buFont typeface="Arial" pitchFamily="34" charset="0"/>
              <a:buChar char="•"/>
            </a:pPr>
            <a:r>
              <a:rPr lang="en-US" b="1" dirty="0" smtClean="0"/>
              <a:t>Proactively using business and technical knowledge to seed innovative ideas about IT</a:t>
            </a:r>
          </a:p>
          <a:p>
            <a:pPr marL="628650" lvl="1" indent="-171450">
              <a:buFont typeface="Arial" pitchFamily="34" charset="0"/>
              <a:buChar char="•"/>
            </a:pPr>
            <a:r>
              <a:rPr lang="en-US" dirty="0" smtClean="0"/>
              <a:t>Your business needs will often drive innovative ideas about how to effectively use information systems to accomplish your goals. The best way to bring these innovative uses of IS to life is to partner closely with your MIS department. Such close partnerships have amazing synergies!</a:t>
            </a:r>
          </a:p>
          <a:p>
            <a:pPr marL="171450" indent="-171450">
              <a:buFont typeface="Arial" pitchFamily="34" charset="0"/>
              <a:buChar char="•"/>
            </a:pPr>
            <a:r>
              <a:rPr lang="en-US" b="1" dirty="0" smtClean="0"/>
              <a:t>Creating business alliances with business partners</a:t>
            </a:r>
          </a:p>
          <a:p>
            <a:pPr marL="628650" lvl="1" indent="-171450">
              <a:buFont typeface="Arial" pitchFamily="34" charset="0"/>
              <a:buChar char="•"/>
            </a:pPr>
            <a:r>
              <a:rPr lang="en-US" dirty="0" smtClean="0"/>
              <a:t>The needs of your business unit will drive these alliances, typically along your supply chain. Again, your MIS department will act as your advisor on various issues, including hardware and software compatibility, implementing extranets, communications, and security.</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4191958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how the University System of Georgia manages its information resources vis-à-vis the individual universities in the system.</a:t>
            </a:r>
          </a:p>
          <a:p>
            <a:pPr marL="228600" indent="-228600">
              <a:buFont typeface="+mj-lt"/>
              <a:buAutoNum type="arabicPeriod"/>
            </a:pPr>
            <a:r>
              <a:rPr lang="en-US" dirty="0" smtClean="0"/>
              <a:t>What are the advantages of central management of information systems in the University System of Georgia?</a:t>
            </a:r>
          </a:p>
          <a:p>
            <a:pPr marL="228600" indent="-228600">
              <a:buFont typeface="+mj-lt"/>
              <a:buAutoNum type="arabicPeriod"/>
            </a:pPr>
            <a:r>
              <a:rPr lang="en-US" dirty="0" smtClean="0"/>
              <a:t>What are the disadvantages of central management of information systems in the University System of Georgia?</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Computer-Based</a:t>
            </a:r>
            <a:r>
              <a:rPr lang="en-US" b="1" baseline="0" dirty="0" smtClean="0"/>
              <a:t> Information Systems (CBIS): </a:t>
            </a:r>
            <a:r>
              <a:rPr lang="en-US" baseline="0" dirty="0" smtClean="0"/>
              <a:t>an information system that uses computer technology to perform some or all of the its intended tasks.</a:t>
            </a:r>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4030165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1.2 Data, information, and knowledge.</a:t>
            </a:r>
          </a:p>
          <a:p>
            <a:endParaRPr lang="en-US" b="1" dirty="0" smtClean="0"/>
          </a:p>
          <a:p>
            <a:r>
              <a:rPr lang="en-US" b="1" dirty="0" smtClean="0"/>
              <a:t>Data Items: </a:t>
            </a:r>
            <a:r>
              <a:rPr lang="en-US" b="0" dirty="0" smtClean="0"/>
              <a:t>an elementary</a:t>
            </a:r>
            <a:r>
              <a:rPr lang="en-US" b="0" baseline="0" dirty="0" smtClean="0"/>
              <a:t> description of things, events, activities, and transactions that are recorded, classified, and stored but are not organized to convey any specific meaning.</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Information</a:t>
            </a:r>
            <a:r>
              <a:rPr lang="en-US" b="1" dirty="0" smtClean="0"/>
              <a:t>: </a:t>
            </a:r>
            <a:r>
              <a:rPr lang="en-US" b="0" dirty="0" smtClean="0"/>
              <a:t>refers to data that have been organized so that they have meaning and value to the recipient.</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Knowledge</a:t>
            </a:r>
            <a:r>
              <a:rPr lang="en-US" b="1" dirty="0" smtClean="0"/>
              <a:t>: </a:t>
            </a:r>
            <a:r>
              <a:rPr lang="en-US" b="0" dirty="0" smtClean="0"/>
              <a:t>consists</a:t>
            </a:r>
            <a:r>
              <a:rPr lang="en-US" b="0" baseline="0" dirty="0" smtClean="0"/>
              <a:t> of data and/or information that have been organized and processed to convey understanding, experience, accumulated learning, and expertise as they apply to a current business problem.</a:t>
            </a:r>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1854961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Computer-Based</a:t>
            </a:r>
            <a:r>
              <a:rPr lang="en-US" b="1" baseline="0" dirty="0" smtClean="0"/>
              <a:t> Information Systems (CBIS): </a:t>
            </a:r>
            <a:r>
              <a:rPr lang="en-US" baseline="0" dirty="0" smtClean="0"/>
              <a:t>an information system that uses computer technology to perform some or all of the its intended tasks.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FIGURE 1.3 Computer-based information systems consist of:</a:t>
            </a:r>
          </a:p>
          <a:p>
            <a:r>
              <a:rPr lang="en-US" b="1" dirty="0" smtClean="0"/>
              <a:t>Hardware: </a:t>
            </a:r>
            <a:r>
              <a:rPr lang="en-US" dirty="0" smtClean="0"/>
              <a:t>consists of devices such as the processor, monitor, keyboard, and printer.</a:t>
            </a:r>
          </a:p>
          <a:p>
            <a:r>
              <a:rPr lang="en-US" b="1" dirty="0" smtClean="0"/>
              <a:t>Software: </a:t>
            </a:r>
            <a:r>
              <a:rPr lang="en-US" dirty="0" smtClean="0"/>
              <a:t>a program or collection of programs that enable the hardware to process data.</a:t>
            </a:r>
          </a:p>
          <a:p>
            <a:r>
              <a:rPr lang="en-US" b="1" dirty="0" smtClean="0"/>
              <a:t>Database: </a:t>
            </a:r>
            <a:r>
              <a:rPr lang="en-US" dirty="0" smtClean="0"/>
              <a:t>a collection of related fi les or tables containing data.</a:t>
            </a:r>
          </a:p>
          <a:p>
            <a:r>
              <a:rPr lang="en-US" b="1" dirty="0" smtClean="0"/>
              <a:t>Network: </a:t>
            </a:r>
            <a:r>
              <a:rPr lang="en-US" dirty="0" smtClean="0"/>
              <a:t>a connecting system (</a:t>
            </a:r>
            <a:r>
              <a:rPr lang="en-US" dirty="0" err="1" smtClean="0"/>
              <a:t>wireline</a:t>
            </a:r>
            <a:r>
              <a:rPr lang="en-US" dirty="0" smtClean="0"/>
              <a:t> or wireless) that permits different computers to share resources.</a:t>
            </a:r>
          </a:p>
          <a:p>
            <a:r>
              <a:rPr lang="en-US" b="1" dirty="0" smtClean="0"/>
              <a:t>Procedures: </a:t>
            </a:r>
            <a:r>
              <a:rPr lang="en-US" dirty="0" smtClean="0"/>
              <a:t>are the instructions for combining the above components to process information and generate the desired output.</a:t>
            </a:r>
          </a:p>
          <a:p>
            <a:r>
              <a:rPr lang="en-US" b="1" dirty="0" smtClean="0"/>
              <a:t>People: </a:t>
            </a:r>
            <a:r>
              <a:rPr lang="en-US" dirty="0" smtClean="0"/>
              <a:t>individuals who use the hardware and software, interface with it, or utilize its output.</a:t>
            </a:r>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8352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Hardware: </a:t>
            </a:r>
            <a:r>
              <a:rPr lang="en-US" dirty="0" smtClean="0"/>
              <a:t>consists of devices such as the processor, monitor, keyboard, and printer.</a:t>
            </a:r>
          </a:p>
          <a:p>
            <a:r>
              <a:rPr lang="en-US" b="1" dirty="0" smtClean="0"/>
              <a:t>Software: </a:t>
            </a:r>
            <a:r>
              <a:rPr lang="en-US" dirty="0" smtClean="0"/>
              <a:t>a program or collection of programs that enable the hardware to process data.</a:t>
            </a:r>
          </a:p>
          <a:p>
            <a:r>
              <a:rPr lang="en-US" b="1" dirty="0" smtClean="0"/>
              <a:t>Database: </a:t>
            </a:r>
            <a:r>
              <a:rPr lang="en-US" dirty="0" smtClean="0"/>
              <a:t>a collection of related fi les or tables containing data.</a:t>
            </a:r>
          </a:p>
          <a:p>
            <a:r>
              <a:rPr lang="en-US" b="1" dirty="0" smtClean="0"/>
              <a:t>Network: </a:t>
            </a:r>
            <a:r>
              <a:rPr lang="en-US" dirty="0" smtClean="0"/>
              <a:t>a connecting system (</a:t>
            </a:r>
            <a:r>
              <a:rPr lang="en-US" dirty="0" err="1" smtClean="0"/>
              <a:t>wireline</a:t>
            </a:r>
            <a:r>
              <a:rPr lang="en-US" dirty="0" smtClean="0"/>
              <a:t> or wireless) that permits different computers to share resources.</a:t>
            </a:r>
          </a:p>
          <a:p>
            <a:r>
              <a:rPr lang="en-US" b="1" dirty="0" smtClean="0"/>
              <a:t>Procedures: </a:t>
            </a:r>
            <a:r>
              <a:rPr lang="en-US" dirty="0" smtClean="0"/>
              <a:t>are the instructions for combining the above components to process information and generate the desired output.</a:t>
            </a:r>
          </a:p>
          <a:p>
            <a:r>
              <a:rPr lang="en-US" b="1" dirty="0" smtClean="0"/>
              <a:t>People: </a:t>
            </a:r>
            <a:r>
              <a:rPr lang="en-US" dirty="0" smtClean="0"/>
              <a:t>individuals who use the hardware and software, interface with it, or utilize its output.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680890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Functional Area Information Systems (FAIS) : </a:t>
            </a:r>
            <a:r>
              <a:rPr lang="en-US" dirty="0" smtClean="0"/>
              <a:t>a collection of application programs in a single department or functional area.</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1453789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FIGURE 1.4 Information technology inside your organization.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IT Components: </a:t>
            </a:r>
            <a:r>
              <a:rPr lang="en-US" b="0" baseline="0" dirty="0" smtClean="0"/>
              <a:t>Hardware, Software, a database, a network, procedures, and people.</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IT Services: </a:t>
            </a:r>
            <a:r>
              <a:rPr lang="en-US" b="0" baseline="0" dirty="0" smtClean="0"/>
              <a:t>IT Personnel use IT Components to develop IS’s, oversee security &amp; risk, and manage data.</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IT Infrastructure: </a:t>
            </a:r>
            <a:r>
              <a:rPr lang="en-US" b="0" baseline="0" dirty="0" smtClean="0"/>
              <a:t>The IT components and IT services.</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Application: </a:t>
            </a:r>
            <a:r>
              <a:rPr lang="en-US" b="0" baseline="0" dirty="0" smtClean="0"/>
              <a:t>A program designed to support a specific task or business process.</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Functional Area Information Systems (FAIS) : </a:t>
            </a:r>
            <a:r>
              <a:rPr lang="en-US" b="0" baseline="0" dirty="0" smtClean="0"/>
              <a:t>a collection of application programs in a single department or functional area.</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2761132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Enterprise Resource Planning (ERP): </a:t>
            </a:r>
            <a:r>
              <a:rPr lang="en-US" dirty="0" smtClean="0"/>
              <a:t>systems are designed to correct a lack of communication among the functional area IS.</a:t>
            </a:r>
          </a:p>
          <a:p>
            <a:r>
              <a:rPr lang="en-US" b="1" dirty="0" smtClean="0"/>
              <a:t>Transaction Processing System (TPS): </a:t>
            </a:r>
            <a:r>
              <a:rPr lang="en-US" dirty="0" smtClean="0"/>
              <a:t>systems that support the monitoring, collection, storage, and processing of data from the organization’s basic business transactions, each of which generates data.</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3335492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smtClean="0"/>
              <a:t>Interorganizational</a:t>
            </a:r>
            <a:r>
              <a:rPr lang="en-US" b="1" dirty="0" smtClean="0"/>
              <a:t> Information systems (IOSs): </a:t>
            </a:r>
            <a:r>
              <a:rPr lang="en-US" dirty="0" smtClean="0"/>
              <a:t>Information systems that connect two or more organizations.</a:t>
            </a:r>
          </a:p>
          <a:p>
            <a:r>
              <a:rPr lang="en-US" b="1" dirty="0" smtClean="0"/>
              <a:t>Electronic Commerce (e-commerce) Systems: </a:t>
            </a:r>
            <a:r>
              <a:rPr lang="en-US" dirty="0" smtClean="0"/>
              <a:t>an </a:t>
            </a:r>
            <a:r>
              <a:rPr lang="en-US" dirty="0" err="1" smtClean="0"/>
              <a:t>interorganizational</a:t>
            </a:r>
            <a:r>
              <a:rPr lang="en-US" dirty="0" smtClean="0"/>
              <a:t> information system that enable organizations to conduct transactions, called business-to-business (B2B) electronic commerce, and customers to conduct transactions with businesses, called business-to-consumer (B2C) electronic commerce.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3347648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1.5 </a:t>
            </a:r>
          </a:p>
          <a:p>
            <a:r>
              <a:rPr lang="en-US" dirty="0" smtClean="0"/>
              <a:t>Information systems that function among multiple organizations.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368891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Provide two examples of how </a:t>
            </a:r>
            <a:r>
              <a:rPr lang="en-US" dirty="0" err="1" smtClean="0"/>
              <a:t>Warby</a:t>
            </a:r>
            <a:r>
              <a:rPr lang="en-US" dirty="0" smtClean="0"/>
              <a:t> Parker uses information technology to support its business model.</a:t>
            </a:r>
          </a:p>
          <a:p>
            <a:pPr marL="228600" indent="-228600">
              <a:buFont typeface="+mj-lt"/>
              <a:buAutoNum type="arabicPeriod"/>
            </a:pPr>
            <a:r>
              <a:rPr lang="en-US" dirty="0" smtClean="0"/>
              <a:t>How might </a:t>
            </a:r>
            <a:r>
              <a:rPr lang="en-US" dirty="0" err="1" smtClean="0"/>
              <a:t>Warby</a:t>
            </a:r>
            <a:r>
              <a:rPr lang="en-US" dirty="0" smtClean="0"/>
              <a:t> Parker further use information technology to counter major competitors who want to emulate </a:t>
            </a:r>
            <a:r>
              <a:rPr lang="en-US" dirty="0" err="1" smtClean="0"/>
              <a:t>Warby’s</a:t>
            </a:r>
            <a:r>
              <a:rPr lang="en-US" dirty="0" smtClean="0"/>
              <a:t> business model?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Knowledge Workers: </a:t>
            </a:r>
            <a:r>
              <a:rPr lang="en-US" dirty="0" smtClean="0"/>
              <a:t>professional employees that are experts in a particular subject area (e.g., financial and marketing analysts, engineers, lawyers, and accountants.).</a:t>
            </a:r>
          </a:p>
          <a:p>
            <a:r>
              <a:rPr lang="en-US" b="1" dirty="0" smtClean="0"/>
              <a:t>Office Automation Systems (OASs): </a:t>
            </a:r>
            <a:r>
              <a:rPr lang="en-US" dirty="0" smtClean="0"/>
              <a:t>typically support the clerical staff, lower and middle managers, and knowledge workers (e.g., word processing and desktop publishing software).</a:t>
            </a:r>
          </a:p>
          <a:p>
            <a:r>
              <a:rPr lang="en-US" b="1" dirty="0" smtClean="0"/>
              <a:t>Business Intelligence (BI) Systems: </a:t>
            </a:r>
            <a:r>
              <a:rPr lang="en-US" dirty="0" smtClean="0"/>
              <a:t>systems that provide computer-based support for complex, </a:t>
            </a:r>
            <a:r>
              <a:rPr lang="en-US" dirty="0" err="1" smtClean="0"/>
              <a:t>nonroutine</a:t>
            </a:r>
            <a:r>
              <a:rPr lang="en-US" dirty="0" smtClean="0"/>
              <a:t> decisions, primarily for middle managers and knowledge workers.</a:t>
            </a:r>
          </a:p>
          <a:p>
            <a:r>
              <a:rPr lang="en-US" b="1" dirty="0" smtClean="0"/>
              <a:t>Expert Systems (ES): </a:t>
            </a:r>
            <a:r>
              <a:rPr lang="en-US" dirty="0" smtClean="0"/>
              <a:t>systems that attempt to duplicate the work of human experts by applying reasoning capabilities, knowledge, and expertise within a specific domain.</a:t>
            </a:r>
          </a:p>
          <a:p>
            <a:r>
              <a:rPr lang="en-US" b="1" dirty="0" smtClean="0"/>
              <a:t>Dashboards: </a:t>
            </a:r>
            <a:r>
              <a:rPr lang="en-US" dirty="0" smtClean="0"/>
              <a:t>a special form of IS that support all managers of the organization by providing rapid access to timely information and direct access to structured information in the form of reports.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3559526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1.6 </a:t>
            </a:r>
          </a:p>
          <a:p>
            <a:r>
              <a:rPr lang="en-US" dirty="0" smtClean="0"/>
              <a:t>Ergonomic products protect computer users. </a:t>
            </a:r>
          </a:p>
          <a:p>
            <a:pPr marL="228600" indent="-228600">
              <a:buAutoNum type="alphaLcParenBoth"/>
            </a:pPr>
            <a:r>
              <a:rPr lang="en-US" dirty="0" smtClean="0"/>
              <a:t>Wrist support. </a:t>
            </a:r>
          </a:p>
          <a:p>
            <a:pPr marL="228600" indent="-228600">
              <a:buAutoNum type="alphaLcParenBoth"/>
            </a:pPr>
            <a:r>
              <a:rPr lang="en-US" dirty="0" smtClean="0"/>
              <a:t>Back support. </a:t>
            </a:r>
          </a:p>
          <a:p>
            <a:pPr marL="228600" indent="-228600">
              <a:buAutoNum type="alphaLcParenBoth"/>
            </a:pPr>
            <a:r>
              <a:rPr lang="en-US" dirty="0" smtClean="0"/>
              <a:t>Eye protection filter (optically coated glass).</a:t>
            </a:r>
          </a:p>
          <a:p>
            <a:pPr marL="228600" indent="-228600">
              <a:buAutoNum type="alphaLcParenBoth"/>
            </a:pPr>
            <a:r>
              <a:rPr lang="en-US" dirty="0" smtClean="0"/>
              <a:t>Adjustable foot rest.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41</a:t>
            </a:fld>
            <a:endParaRPr lang="en-US"/>
          </a:p>
        </p:txBody>
      </p:sp>
    </p:spTree>
    <p:extLst>
      <p:ext uri="{BB962C8B-B14F-4D97-AF65-F5344CB8AC3E}">
        <p14:creationId xmlns:p14="http://schemas.microsoft.com/office/powerpoint/2010/main" val="3635336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Rethink Robotics claims that Baxter will not necessarily replace workers, rather it will enable workers to transition into higher paying jobs (e.g., programming Baxter robots and supervising Baxter robots). Will Baxter replace workers in small manufacturing companies? Why or why not? Support your answer.</a:t>
            </a:r>
          </a:p>
          <a:p>
            <a:pPr marL="228600" indent="-228600">
              <a:buFont typeface="+mj-lt"/>
              <a:buAutoNum type="arabicPeriod"/>
            </a:pPr>
            <a:r>
              <a:rPr lang="en-US" dirty="0" smtClean="0"/>
              <a:t>Discuss the possible reactions of labor unions to Baxter.</a:t>
            </a:r>
          </a:p>
          <a:p>
            <a:pPr marL="228600" indent="-228600">
              <a:buFont typeface="+mj-lt"/>
              <a:buAutoNum type="arabicPeriod"/>
            </a:pPr>
            <a:r>
              <a:rPr lang="en-US" dirty="0" smtClean="0"/>
              <a:t>Identify and discuss additional potential applications for Baxter.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46</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Explain how Apricot Forest’s apps will help improve the relationship between physicians and patients in China.</a:t>
            </a:r>
          </a:p>
          <a:p>
            <a:pPr marL="228600" indent="-228600">
              <a:buFont typeface="+mj-lt"/>
              <a:buAutoNum type="arabicPeriod"/>
            </a:pPr>
            <a:r>
              <a:rPr lang="en-US" dirty="0" smtClean="0"/>
              <a:t>Explain how Apricot Forest’s apps will help improve overall healthcare in China.</a:t>
            </a:r>
          </a:p>
          <a:p>
            <a:pPr marL="228600" indent="-228600">
              <a:buFont typeface="+mj-lt"/>
              <a:buAutoNum type="arabicPeriod"/>
            </a:pPr>
            <a:r>
              <a:rPr lang="en-US" dirty="0" smtClean="0"/>
              <a:t>Discuss potential disadvantages of Apricot Forest’s apps to patients.</a:t>
            </a:r>
          </a:p>
          <a:p>
            <a:pPr marL="228600" indent="-228600">
              <a:buFont typeface="+mj-lt"/>
              <a:buAutoNum type="arabicPeriod"/>
            </a:pPr>
            <a:r>
              <a:rPr lang="en-US" dirty="0" smtClean="0"/>
              <a:t>Discuss potential disadvantages of Apricot Forest’s apps to physicians.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48</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r>
              <a:rPr lang="en-US" dirty="0" smtClean="0"/>
              <a:t>1. Why do you think the FAA took six years to issue regulations on the commercial use of drones? Support your answer.</a:t>
            </a:r>
          </a:p>
          <a:p>
            <a:r>
              <a:rPr lang="en-US" dirty="0" smtClean="0"/>
              <a:t>2. What are the advantages of commercial drones (in general)?</a:t>
            </a:r>
          </a:p>
          <a:p>
            <a:r>
              <a:rPr lang="en-US" dirty="0" smtClean="0"/>
              <a:t>3. What are the disadvantages of commercial drones (in general)?</a:t>
            </a:r>
          </a:p>
          <a:p>
            <a:r>
              <a:rPr lang="en-US" dirty="0" smtClean="0"/>
              <a:t>4. Do you think the advantages outweigh the disadvantages, or vice versa?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49</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2.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a:t>Introduction to Information Systems</a:t>
            </a:r>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1</a:t>
            </a:r>
            <a:endParaRPr lang="en-US" dirty="0"/>
          </a:p>
        </p:txBody>
      </p:sp>
    </p:spTree>
    <p:extLst>
      <p:ext uri="{BB962C8B-B14F-4D97-AF65-F5344CB8AC3E}">
        <p14:creationId xmlns:p14="http://schemas.microsoft.com/office/powerpoint/2010/main" val="3850497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Identify the reasons why being an informed user of information systems is important in today’s world.</a:t>
            </a:r>
          </a:p>
          <a:p>
            <a:r>
              <a:rPr lang="en-US" dirty="0"/>
              <a:t>Describe the various types of computer-based information systems in an organization.</a:t>
            </a:r>
          </a:p>
          <a:p>
            <a:r>
              <a:rPr lang="en-US" dirty="0"/>
              <a:t>Discuss ways in which information technology can affect managers and </a:t>
            </a:r>
            <a:r>
              <a:rPr lang="en-US" dirty="0" err="1" smtClean="0"/>
              <a:t>nonmanagerial</a:t>
            </a:r>
            <a:r>
              <a:rPr lang="en-US" dirty="0" smtClean="0"/>
              <a:t> </a:t>
            </a:r>
            <a:r>
              <a:rPr lang="en-US" dirty="0"/>
              <a:t>workers.</a:t>
            </a:r>
          </a:p>
          <a:p>
            <a:r>
              <a:rPr lang="en-US" dirty="0"/>
              <a:t>Identify positive and negative societal effects of the increased use of information technology</a:t>
            </a:r>
            <a:r>
              <a:rPr lang="en-US" dirty="0" smtClean="0"/>
              <a:t>.</a:t>
            </a:r>
            <a:endParaRPr lang="en-US" dirty="0"/>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0821021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Why Should I Study Information Systems?</a:t>
            </a:r>
          </a:p>
          <a:p>
            <a:r>
              <a:rPr lang="en-US" dirty="0"/>
              <a:t>Overview of Computer-Based Information Systems</a:t>
            </a:r>
          </a:p>
          <a:p>
            <a:r>
              <a:rPr lang="en-US" dirty="0"/>
              <a:t>How Does IT Impact Organizations?</a:t>
            </a:r>
          </a:p>
          <a:p>
            <a:r>
              <a:rPr lang="en-US" dirty="0"/>
              <a:t>Importance of Information Systems to </a:t>
            </a:r>
            <a:r>
              <a:rPr lang="en-US" dirty="0" smtClean="0"/>
              <a:t>Society</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24091616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1651719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600" dirty="0">
                <a:solidFill>
                  <a:schemeClr val="accent6">
                    <a:lumMod val="50000"/>
                  </a:schemeClr>
                </a:solidFill>
              </a:rPr>
              <a:t>[ </a:t>
            </a:r>
            <a:r>
              <a:rPr lang="en-US" sz="5400" dirty="0">
                <a:solidFill>
                  <a:schemeClr val="accent1">
                    <a:lumMod val="75000"/>
                  </a:schemeClr>
                </a:solidFill>
              </a:rPr>
              <a:t>Opening Case </a:t>
            </a:r>
            <a:r>
              <a:rPr lang="en-US" sz="5400" dirty="0" err="1"/>
              <a:t>AngelList</a:t>
            </a:r>
            <a:r>
              <a:rPr lang="en-US" sz="5400" dirty="0"/>
              <a:t> Helps Entrepreneurs Build Companies</a:t>
            </a:r>
            <a:r>
              <a:rPr lang="en-US" sz="6600" dirty="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lnSpcReduction="10000"/>
          </a:bodyPr>
          <a:lstStyle/>
          <a:p>
            <a:pPr marL="514350" indent="-514350">
              <a:buFont typeface="+mj-lt"/>
              <a:buAutoNum type="arabicPeriod"/>
            </a:pPr>
            <a:r>
              <a:rPr lang="en-US" b="0" dirty="0"/>
              <a:t>What are the advantages that </a:t>
            </a:r>
            <a:r>
              <a:rPr lang="en-US" b="0" dirty="0" err="1"/>
              <a:t>AngelList</a:t>
            </a:r>
            <a:r>
              <a:rPr lang="en-US" b="0" dirty="0"/>
              <a:t> offers to entrepreneurs?</a:t>
            </a:r>
          </a:p>
          <a:p>
            <a:pPr marL="514350" indent="-514350">
              <a:buFont typeface="+mj-lt"/>
              <a:buAutoNum type="arabicPeriod"/>
            </a:pPr>
            <a:r>
              <a:rPr lang="en-US" b="0" dirty="0" smtClean="0"/>
              <a:t>What </a:t>
            </a:r>
            <a:r>
              <a:rPr lang="en-US" b="0" dirty="0"/>
              <a:t>are potential disadvantages that entrepreneurs might encounter by using </a:t>
            </a:r>
            <a:r>
              <a:rPr lang="en-US" b="0" dirty="0" err="1"/>
              <a:t>AngelList</a:t>
            </a:r>
            <a:r>
              <a:rPr lang="en-US" b="0" dirty="0" smtClean="0"/>
              <a:t>?</a:t>
            </a:r>
            <a:br>
              <a:rPr lang="en-US" b="0" dirty="0" smtClean="0"/>
            </a:br>
            <a:r>
              <a:rPr lang="en-US" b="0" i="1" dirty="0" smtClean="0"/>
              <a:t>(</a:t>
            </a:r>
            <a:r>
              <a:rPr lang="en-US" b="0" i="1" dirty="0"/>
              <a:t>Hint: What if you listed your company </a:t>
            </a:r>
            <a:r>
              <a:rPr lang="en-US" b="0" i="1" dirty="0" err="1"/>
              <a:t>profi</a:t>
            </a:r>
            <a:r>
              <a:rPr lang="en-US" b="0" i="1" dirty="0"/>
              <a:t> le on </a:t>
            </a:r>
            <a:r>
              <a:rPr lang="en-US" b="0" i="1" dirty="0" err="1"/>
              <a:t>AngelList</a:t>
            </a:r>
            <a:r>
              <a:rPr lang="en-US" b="0" i="1" dirty="0"/>
              <a:t> and no investor provided funding?)</a:t>
            </a:r>
          </a:p>
          <a:p>
            <a:endParaRPr lang="en-US" dirty="0"/>
          </a:p>
        </p:txBody>
      </p:sp>
    </p:spTree>
    <p:extLst>
      <p:ext uri="{BB962C8B-B14F-4D97-AF65-F5344CB8AC3E}">
        <p14:creationId xmlns:p14="http://schemas.microsoft.com/office/powerpoint/2010/main" val="19256213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Why Should I Study Information Systems</a:t>
            </a:r>
            <a:endParaRPr lang="en-US" dirty="0"/>
          </a:p>
        </p:txBody>
      </p:sp>
      <p:sp>
        <p:nvSpPr>
          <p:cNvPr id="3" name="Text Placeholder 2"/>
          <p:cNvSpPr>
            <a:spLocks noGrp="1"/>
          </p:cNvSpPr>
          <p:nvPr>
            <p:ph type="body" sz="quarter" idx="14"/>
          </p:nvPr>
        </p:nvSpPr>
        <p:spPr/>
        <p:txBody>
          <a:bodyPr/>
          <a:lstStyle/>
          <a:p>
            <a:r>
              <a:rPr lang="en-US" dirty="0" smtClean="0"/>
              <a:t>1.1</a:t>
            </a:r>
            <a:endParaRPr lang="en-US" dirty="0"/>
          </a:p>
        </p:txBody>
      </p:sp>
      <p:sp>
        <p:nvSpPr>
          <p:cNvPr id="4" name="Content Placeholder 3"/>
          <p:cNvSpPr>
            <a:spLocks noGrp="1"/>
          </p:cNvSpPr>
          <p:nvPr>
            <p:ph sz="quarter" idx="15"/>
          </p:nvPr>
        </p:nvSpPr>
        <p:spPr/>
        <p:txBody>
          <a:bodyPr/>
          <a:lstStyle/>
          <a:p>
            <a:r>
              <a:rPr lang="en-US" dirty="0" smtClean="0"/>
              <a:t>The Informed User—You!</a:t>
            </a:r>
          </a:p>
          <a:p>
            <a:r>
              <a:rPr lang="en-US" dirty="0" smtClean="0"/>
              <a:t>IT Offers Career Opportunities</a:t>
            </a:r>
          </a:p>
          <a:p>
            <a:r>
              <a:rPr lang="en-US" dirty="0" smtClean="0"/>
              <a:t>Managing Information Resources</a:t>
            </a:r>
          </a:p>
          <a:p>
            <a:endParaRPr lang="en-US" dirty="0"/>
          </a:p>
        </p:txBody>
      </p:sp>
    </p:spTree>
    <p:extLst>
      <p:ext uri="{BB962C8B-B14F-4D97-AF65-F5344CB8AC3E}">
        <p14:creationId xmlns:p14="http://schemas.microsoft.com/office/powerpoint/2010/main" val="33681512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The Informed User – You!</a:t>
            </a:r>
            <a:endParaRPr lang="en-US" dirty="0"/>
          </a:p>
        </p:txBody>
      </p:sp>
      <p:sp>
        <p:nvSpPr>
          <p:cNvPr id="3" name="Content Placeholder 2"/>
          <p:cNvSpPr>
            <a:spLocks noGrp="1"/>
          </p:cNvSpPr>
          <p:nvPr>
            <p:ph sz="quarter" idx="14"/>
          </p:nvPr>
        </p:nvSpPr>
        <p:spPr/>
        <p:txBody>
          <a:bodyPr>
            <a:normAutofit fontScale="85000" lnSpcReduction="10000"/>
          </a:bodyPr>
          <a:lstStyle/>
          <a:p>
            <a:pPr marL="514350" indent="-514350">
              <a:buFont typeface="+mj-lt"/>
              <a:buAutoNum type="arabicPeriod"/>
            </a:pPr>
            <a:r>
              <a:rPr lang="en-US" dirty="0" smtClean="0"/>
              <a:t>You benefit more when you understand what is “behind” IT applications</a:t>
            </a:r>
          </a:p>
          <a:p>
            <a:pPr marL="514350" indent="-514350">
              <a:buFont typeface="+mj-lt"/>
              <a:buAutoNum type="arabicPeriod"/>
            </a:pPr>
            <a:r>
              <a:rPr lang="en-US" dirty="0" smtClean="0"/>
              <a:t>You can provide valuable input</a:t>
            </a:r>
          </a:p>
          <a:p>
            <a:pPr marL="514350" indent="-514350">
              <a:buFont typeface="+mj-lt"/>
              <a:buAutoNum type="arabicPeriod"/>
            </a:pPr>
            <a:r>
              <a:rPr lang="en-US" dirty="0" smtClean="0"/>
              <a:t>You can recommend and help select IT Applications</a:t>
            </a:r>
          </a:p>
          <a:p>
            <a:pPr marL="514350" indent="-514350">
              <a:buFont typeface="+mj-lt"/>
              <a:buAutoNum type="arabicPeriod"/>
            </a:pPr>
            <a:r>
              <a:rPr lang="en-US" dirty="0" smtClean="0"/>
              <a:t>You will be aware of new technology</a:t>
            </a:r>
          </a:p>
          <a:p>
            <a:pPr marL="514350" indent="-514350">
              <a:buFont typeface="+mj-lt"/>
              <a:buAutoNum type="arabicPeriod"/>
            </a:pPr>
            <a:r>
              <a:rPr lang="en-US" dirty="0" smtClean="0"/>
              <a:t>You understand how IT improves performance</a:t>
            </a:r>
          </a:p>
          <a:p>
            <a:pPr marL="514350" indent="-514350">
              <a:buFont typeface="+mj-lt"/>
              <a:buAutoNum type="arabicPeriod"/>
            </a:pPr>
            <a:r>
              <a:rPr lang="en-US" dirty="0" smtClean="0"/>
              <a:t>Understanding IT is very beneficial to entrepreneurs.</a:t>
            </a:r>
          </a:p>
        </p:txBody>
      </p:sp>
    </p:spTree>
    <p:extLst>
      <p:ext uri="{BB962C8B-B14F-4D97-AF65-F5344CB8AC3E}">
        <p14:creationId xmlns:p14="http://schemas.microsoft.com/office/powerpoint/2010/main" val="2130008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IT Offers Career Opportunities</a:t>
            </a:r>
            <a:endParaRPr lang="en-US" dirty="0"/>
          </a:p>
        </p:txBody>
      </p:sp>
      <p:sp>
        <p:nvSpPr>
          <p:cNvPr id="3" name="Content Placeholder 2"/>
          <p:cNvSpPr>
            <a:spLocks noGrp="1"/>
          </p:cNvSpPr>
          <p:nvPr>
            <p:ph sz="quarter" idx="14"/>
          </p:nvPr>
        </p:nvSpPr>
        <p:spPr/>
        <p:txBody>
          <a:bodyPr>
            <a:normAutofit/>
          </a:bodyPr>
          <a:lstStyle/>
          <a:p>
            <a:r>
              <a:rPr lang="en-US" dirty="0" smtClean="0"/>
              <a:t>IT is vital to modern business providing many lucrative career opportunities</a:t>
            </a:r>
          </a:p>
          <a:p>
            <a:pPr lvl="1"/>
            <a:r>
              <a:rPr lang="en-US" dirty="0" smtClean="0"/>
              <a:t>Programmers, business analysts, systems analysts, and designers</a:t>
            </a:r>
          </a:p>
          <a:p>
            <a:pPr lvl="1"/>
            <a:r>
              <a:rPr lang="en-US" dirty="0" smtClean="0"/>
              <a:t>Chief Information Officer (CIO) – executive in charge of the IS function</a:t>
            </a:r>
          </a:p>
          <a:p>
            <a:pPr lvl="1"/>
            <a:r>
              <a:rPr lang="en-US" dirty="0" smtClean="0"/>
              <a:t>Career opportunities will remain strong in the future</a:t>
            </a:r>
            <a:endParaRPr lang="en-US" dirty="0"/>
          </a:p>
        </p:txBody>
      </p:sp>
    </p:spTree>
    <p:extLst>
      <p:ext uri="{BB962C8B-B14F-4D97-AF65-F5344CB8AC3E}">
        <p14:creationId xmlns:p14="http://schemas.microsoft.com/office/powerpoint/2010/main" val="3988523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Top Job Rankings: Forbes (out of 12)</a:t>
            </a:r>
            <a:endParaRPr lang="en-US" dirty="0"/>
          </a:p>
        </p:txBody>
      </p:sp>
      <p:sp>
        <p:nvSpPr>
          <p:cNvPr id="3" name="Content Placeholder 2"/>
          <p:cNvSpPr>
            <a:spLocks noGrp="1"/>
          </p:cNvSpPr>
          <p:nvPr>
            <p:ph type="body" sz="quarter" idx="13"/>
          </p:nvPr>
        </p:nvSpPr>
        <p:spPr/>
        <p:txBody>
          <a:bodyPr/>
          <a:lstStyle/>
          <a:p>
            <a:r>
              <a:rPr lang="en-US" dirty="0" smtClean="0"/>
              <a:t>#1 Software Developer</a:t>
            </a:r>
          </a:p>
          <a:p>
            <a:r>
              <a:rPr lang="en-US" dirty="0" smtClean="0"/>
              <a:t>#6 Web Developer</a:t>
            </a:r>
            <a:endParaRPr lang="en-US" dirty="0"/>
          </a:p>
          <a:p>
            <a:r>
              <a:rPr lang="en-US" dirty="0" smtClean="0"/>
              <a:t>#8 Database Administrators</a:t>
            </a:r>
            <a:endParaRPr lang="en-US" dirty="0"/>
          </a:p>
          <a:p>
            <a:r>
              <a:rPr lang="en-US" dirty="0"/>
              <a:t>#</a:t>
            </a:r>
            <a:r>
              <a:rPr lang="en-US" dirty="0" smtClean="0"/>
              <a:t>12 Information Security Analysts</a:t>
            </a:r>
            <a:endParaRPr lang="en-US" dirty="0"/>
          </a:p>
          <a:p>
            <a:endParaRPr lang="en-US" dirty="0"/>
          </a:p>
        </p:txBody>
      </p:sp>
    </p:spTree>
    <p:extLst>
      <p:ext uri="{BB962C8B-B14F-4D97-AF65-F5344CB8AC3E}">
        <p14:creationId xmlns:p14="http://schemas.microsoft.com/office/powerpoint/2010/main" val="32165593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Top Job Rankings: U.S. News &amp; World Report (out of 100)</a:t>
            </a:r>
            <a:endParaRPr lang="en-US" dirty="0"/>
          </a:p>
        </p:txBody>
      </p:sp>
      <p:sp>
        <p:nvSpPr>
          <p:cNvPr id="3" name="Content Placeholder 2"/>
          <p:cNvSpPr>
            <a:spLocks noGrp="1"/>
          </p:cNvSpPr>
          <p:nvPr>
            <p:ph type="body" sz="quarter" idx="13"/>
          </p:nvPr>
        </p:nvSpPr>
        <p:spPr/>
        <p:txBody>
          <a:bodyPr/>
          <a:lstStyle/>
          <a:p>
            <a:r>
              <a:rPr lang="en-US" dirty="0" smtClean="0"/>
              <a:t>#3 Software Developer</a:t>
            </a:r>
          </a:p>
          <a:p>
            <a:r>
              <a:rPr lang="en-US" dirty="0" smtClean="0"/>
              <a:t>#7 Computer Systems Analyst</a:t>
            </a:r>
            <a:endParaRPr lang="en-US" dirty="0"/>
          </a:p>
          <a:p>
            <a:r>
              <a:rPr lang="en-US" dirty="0" smtClean="0"/>
              <a:t>#8 </a:t>
            </a:r>
            <a:r>
              <a:rPr lang="en-US" dirty="0"/>
              <a:t>Information Security Analysts</a:t>
            </a:r>
          </a:p>
          <a:p>
            <a:r>
              <a:rPr lang="en-US" dirty="0" smtClean="0"/>
              <a:t>#11 Web Developer</a:t>
            </a:r>
          </a:p>
          <a:p>
            <a:r>
              <a:rPr lang="en-US" dirty="0" smtClean="0"/>
              <a:t>#21 IT Manager</a:t>
            </a:r>
            <a:endParaRPr lang="en-US" dirty="0"/>
          </a:p>
          <a:p>
            <a:endParaRPr lang="en-US" dirty="0"/>
          </a:p>
          <a:p>
            <a:endParaRPr lang="en-US" dirty="0"/>
          </a:p>
        </p:txBody>
      </p:sp>
    </p:spTree>
    <p:extLst>
      <p:ext uri="{BB962C8B-B14F-4D97-AF65-F5344CB8AC3E}">
        <p14:creationId xmlns:p14="http://schemas.microsoft.com/office/powerpoint/2010/main" val="5412098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Top Job Rankings: Money</a:t>
            </a:r>
            <a:endParaRPr lang="en-US" dirty="0"/>
          </a:p>
        </p:txBody>
      </p:sp>
      <p:sp>
        <p:nvSpPr>
          <p:cNvPr id="3" name="Content Placeholder 2"/>
          <p:cNvSpPr>
            <a:spLocks noGrp="1"/>
          </p:cNvSpPr>
          <p:nvPr>
            <p:ph type="body" sz="quarter" idx="13"/>
          </p:nvPr>
        </p:nvSpPr>
        <p:spPr/>
        <p:txBody>
          <a:bodyPr/>
          <a:lstStyle/>
          <a:p>
            <a:r>
              <a:rPr lang="en-US" dirty="0" smtClean="0"/>
              <a:t>#1 Software Architect</a:t>
            </a:r>
          </a:p>
          <a:p>
            <a:r>
              <a:rPr lang="en-US" dirty="0" smtClean="0"/>
              <a:t>#8 Database Administrator</a:t>
            </a:r>
            <a:endParaRPr lang="en-US" dirty="0"/>
          </a:p>
          <a:p>
            <a:r>
              <a:rPr lang="en-US" dirty="0" smtClean="0"/>
              <a:t>#11 Clinical Applications Specialist (IT in Healthcare)</a:t>
            </a:r>
            <a:endParaRPr lang="en-US" dirty="0"/>
          </a:p>
          <a:p>
            <a:r>
              <a:rPr lang="en-US" dirty="0" smtClean="0"/>
              <a:t>#14 User Experience Designer</a:t>
            </a:r>
          </a:p>
          <a:p>
            <a:r>
              <a:rPr lang="en-US" dirty="0" smtClean="0"/>
              <a:t>#17 IT Program Manager</a:t>
            </a:r>
            <a:endParaRPr lang="en-US" dirty="0"/>
          </a:p>
          <a:p>
            <a:endParaRPr lang="en-US" dirty="0"/>
          </a:p>
          <a:p>
            <a:endParaRPr lang="en-US" dirty="0"/>
          </a:p>
        </p:txBody>
      </p:sp>
    </p:spTree>
    <p:extLst>
      <p:ext uri="{BB962C8B-B14F-4D97-AF65-F5344CB8AC3E}">
        <p14:creationId xmlns:p14="http://schemas.microsoft.com/office/powerpoint/2010/main" val="27652789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Managing Information Resources</a:t>
            </a:r>
            <a:endParaRPr lang="en-US" dirty="0"/>
          </a:p>
        </p:txBody>
      </p:sp>
      <p:sp>
        <p:nvSpPr>
          <p:cNvPr id="3" name="Content Placeholder 2"/>
          <p:cNvSpPr>
            <a:spLocks noGrp="1"/>
          </p:cNvSpPr>
          <p:nvPr>
            <p:ph sz="quarter" idx="14"/>
          </p:nvPr>
        </p:nvSpPr>
        <p:spPr/>
        <p:txBody>
          <a:bodyPr/>
          <a:lstStyle/>
          <a:p>
            <a:r>
              <a:rPr lang="en-US" dirty="0" smtClean="0"/>
              <a:t>Managing Information Resources is difficult and complex because:</a:t>
            </a:r>
          </a:p>
          <a:p>
            <a:pPr lvl="1"/>
            <a:r>
              <a:rPr lang="en-US" dirty="0" smtClean="0"/>
              <a:t>IS has an enormous strategic value to organizations</a:t>
            </a:r>
          </a:p>
          <a:p>
            <a:pPr lvl="1"/>
            <a:r>
              <a:rPr lang="en-US" dirty="0" smtClean="0"/>
              <a:t>IS’s are very expensive to acquire, operate, and maintain</a:t>
            </a:r>
          </a:p>
          <a:p>
            <a:pPr lvl="1"/>
            <a:r>
              <a:rPr lang="en-US" dirty="0" smtClean="0"/>
              <a:t>Evolution of the MIS function within the organization</a:t>
            </a:r>
            <a:endParaRPr lang="en-US" dirty="0"/>
          </a:p>
        </p:txBody>
      </p:sp>
    </p:spTree>
    <p:extLst>
      <p:ext uri="{BB962C8B-B14F-4D97-AF65-F5344CB8AC3E}">
        <p14:creationId xmlns:p14="http://schemas.microsoft.com/office/powerpoint/2010/main" val="40746618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Managing Information Resources </a:t>
            </a:r>
            <a:endParaRPr lang="en-US" dirty="0"/>
          </a:p>
        </p:txBody>
      </p:sp>
      <p:sp>
        <p:nvSpPr>
          <p:cNvPr id="3" name="Content Placeholder 2"/>
          <p:cNvSpPr>
            <a:spLocks noGrp="1"/>
          </p:cNvSpPr>
          <p:nvPr>
            <p:ph sz="quarter" idx="14"/>
          </p:nvPr>
        </p:nvSpPr>
        <p:spPr/>
        <p:txBody>
          <a:bodyPr/>
          <a:lstStyle/>
          <a:p>
            <a:r>
              <a:rPr lang="en-US" dirty="0" smtClean="0"/>
              <a:t>MIS personnel vs. end users</a:t>
            </a:r>
          </a:p>
          <a:p>
            <a:r>
              <a:rPr lang="en-US" dirty="0" smtClean="0"/>
              <a:t>Changing Role of the IS Department</a:t>
            </a:r>
          </a:p>
          <a:p>
            <a:pPr lvl="1"/>
            <a:r>
              <a:rPr lang="en-US" dirty="0" smtClean="0"/>
              <a:t>Traditional Function of the MIS Department</a:t>
            </a:r>
          </a:p>
          <a:p>
            <a:pPr lvl="1"/>
            <a:r>
              <a:rPr lang="en-US" dirty="0" smtClean="0"/>
              <a:t>New (Consultative) Functions of the MIS Department</a:t>
            </a:r>
          </a:p>
        </p:txBody>
      </p:sp>
    </p:spTree>
    <p:extLst>
      <p:ext uri="{BB962C8B-B14F-4D97-AF65-F5344CB8AC3E}">
        <p14:creationId xmlns:p14="http://schemas.microsoft.com/office/powerpoint/2010/main" val="1728476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0000" lnSpcReduction="20000"/>
          </a:bodyPr>
          <a:lstStyle/>
          <a:p>
            <a:r>
              <a:rPr lang="en-US" b="1" dirty="0"/>
              <a:t>FIGURE </a:t>
            </a:r>
            <a:r>
              <a:rPr lang="en-US" b="1" dirty="0" smtClean="0"/>
              <a:t>1.1  </a:t>
            </a:r>
            <a:r>
              <a:rPr lang="en-US" dirty="0" smtClean="0"/>
              <a:t>MIS </a:t>
            </a:r>
            <a:r>
              <a:rPr lang="en-US" dirty="0"/>
              <a:t>provides what users see on their computer screens.</a:t>
            </a:r>
          </a:p>
          <a:p>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292780" y="1447800"/>
            <a:ext cx="663463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9901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a:t>Traditional Function of the MIS </a:t>
            </a:r>
            <a:r>
              <a:rPr lang="en-US" dirty="0" smtClean="0"/>
              <a:t>Department</a:t>
            </a:r>
            <a:endParaRPr lang="en-US" dirty="0"/>
          </a:p>
        </p:txBody>
      </p:sp>
      <p:sp>
        <p:nvSpPr>
          <p:cNvPr id="3" name="Text Placeholder 2"/>
          <p:cNvSpPr>
            <a:spLocks noGrp="1"/>
          </p:cNvSpPr>
          <p:nvPr>
            <p:ph type="body" sz="quarter" idx="13"/>
          </p:nvPr>
        </p:nvSpPr>
        <p:spPr>
          <a:xfrm>
            <a:off x="533400" y="2133600"/>
            <a:ext cx="8229600" cy="3962400"/>
          </a:xfrm>
        </p:spPr>
        <p:txBody>
          <a:bodyPr/>
          <a:lstStyle/>
          <a:p>
            <a:r>
              <a:rPr lang="en-US" dirty="0" smtClean="0"/>
              <a:t>Managing systems development and systems project management</a:t>
            </a:r>
          </a:p>
          <a:p>
            <a:r>
              <a:rPr lang="en-US" dirty="0" smtClean="0"/>
              <a:t>Managing computer operations</a:t>
            </a:r>
          </a:p>
          <a:p>
            <a:r>
              <a:rPr lang="en-US" dirty="0" smtClean="0"/>
              <a:t>Staffing, training, and developing IS skills</a:t>
            </a:r>
          </a:p>
          <a:p>
            <a:r>
              <a:rPr lang="en-US" dirty="0" smtClean="0"/>
              <a:t>Providing technical services</a:t>
            </a:r>
          </a:p>
          <a:p>
            <a:r>
              <a:rPr lang="en-US" dirty="0" smtClean="0"/>
              <a:t>Infrastructure planning, development, and control</a:t>
            </a:r>
            <a:endParaRPr lang="en-US" dirty="0"/>
          </a:p>
        </p:txBody>
      </p:sp>
    </p:spTree>
    <p:extLst>
      <p:ext uri="{BB962C8B-B14F-4D97-AF65-F5344CB8AC3E}">
        <p14:creationId xmlns:p14="http://schemas.microsoft.com/office/powerpoint/2010/main" val="22864926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a:t>New (Consultative) Functions of the MIS Department</a:t>
            </a:r>
          </a:p>
        </p:txBody>
      </p:sp>
      <p:sp>
        <p:nvSpPr>
          <p:cNvPr id="4" name="Text Placeholder 3"/>
          <p:cNvSpPr>
            <a:spLocks noGrp="1"/>
          </p:cNvSpPr>
          <p:nvPr>
            <p:ph type="body" sz="quarter" idx="13"/>
          </p:nvPr>
        </p:nvSpPr>
        <p:spPr/>
        <p:txBody>
          <a:bodyPr>
            <a:normAutofit fontScale="92500" lnSpcReduction="10000"/>
          </a:bodyPr>
          <a:lstStyle/>
          <a:p>
            <a:r>
              <a:rPr lang="en-US" dirty="0" smtClean="0"/>
              <a:t>Initiating and designing specific strategic IS</a:t>
            </a:r>
          </a:p>
          <a:p>
            <a:r>
              <a:rPr lang="en-US" dirty="0" smtClean="0"/>
              <a:t>Incorporating the Internet and e-commerce into the business</a:t>
            </a:r>
          </a:p>
          <a:p>
            <a:r>
              <a:rPr lang="en-US" dirty="0" smtClean="0"/>
              <a:t>Managing system integration including Internet, Intranets, and Extranets</a:t>
            </a:r>
          </a:p>
          <a:p>
            <a:r>
              <a:rPr lang="en-US" dirty="0"/>
              <a:t>Educating the </a:t>
            </a:r>
            <a:r>
              <a:rPr lang="en-US" dirty="0" smtClean="0"/>
              <a:t>non-MIS </a:t>
            </a:r>
            <a:r>
              <a:rPr lang="en-US" dirty="0"/>
              <a:t>staff about </a:t>
            </a:r>
            <a:r>
              <a:rPr lang="en-US" dirty="0" smtClean="0"/>
              <a:t>IT</a:t>
            </a:r>
          </a:p>
          <a:p>
            <a:r>
              <a:rPr lang="en-US" dirty="0" smtClean="0"/>
              <a:t>Educating the MIS staff about the business</a:t>
            </a:r>
            <a:endParaRPr lang="en-US" dirty="0"/>
          </a:p>
        </p:txBody>
      </p:sp>
    </p:spTree>
    <p:extLst>
      <p:ext uri="{BB962C8B-B14F-4D97-AF65-F5344CB8AC3E}">
        <p14:creationId xmlns:p14="http://schemas.microsoft.com/office/powerpoint/2010/main" val="5366968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a:t>New (Consultative) Functions of the MIS </a:t>
            </a:r>
            <a:r>
              <a:rPr lang="en-US" dirty="0" smtClean="0"/>
              <a:t>Department </a:t>
            </a:r>
            <a:endParaRPr lang="en-US" dirty="0"/>
          </a:p>
        </p:txBody>
      </p:sp>
      <p:sp>
        <p:nvSpPr>
          <p:cNvPr id="4" name="Text Placeholder 3"/>
          <p:cNvSpPr>
            <a:spLocks noGrp="1"/>
          </p:cNvSpPr>
          <p:nvPr>
            <p:ph type="body" sz="quarter" idx="13"/>
          </p:nvPr>
        </p:nvSpPr>
        <p:spPr/>
        <p:txBody>
          <a:bodyPr>
            <a:normAutofit/>
          </a:bodyPr>
          <a:lstStyle/>
          <a:p>
            <a:r>
              <a:rPr lang="en-US" dirty="0" smtClean="0"/>
              <a:t>Partnering with business-unit executives</a:t>
            </a:r>
          </a:p>
          <a:p>
            <a:r>
              <a:rPr lang="en-US" dirty="0" smtClean="0"/>
              <a:t>Managing outsourcing</a:t>
            </a:r>
          </a:p>
          <a:p>
            <a:r>
              <a:rPr lang="en-US" dirty="0" smtClean="0"/>
              <a:t>Proactively using business and technical knowledge to seed innovative IT ideas</a:t>
            </a:r>
          </a:p>
          <a:p>
            <a:r>
              <a:rPr lang="en-US" dirty="0" smtClean="0"/>
              <a:t>Creating business alliances with business partners</a:t>
            </a:r>
          </a:p>
        </p:txBody>
      </p:sp>
    </p:spTree>
    <p:extLst>
      <p:ext uri="{BB962C8B-B14F-4D97-AF65-F5344CB8AC3E}">
        <p14:creationId xmlns:p14="http://schemas.microsoft.com/office/powerpoint/2010/main" val="21925316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Information Technology Supports Students in Georgia</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1.1</a:t>
            </a:r>
            <a:endParaRPr lang="en-US" dirty="0"/>
          </a:p>
        </p:txBody>
      </p:sp>
    </p:spTree>
    <p:extLst>
      <p:ext uri="{BB962C8B-B14F-4D97-AF65-F5344CB8AC3E}">
        <p14:creationId xmlns:p14="http://schemas.microsoft.com/office/powerpoint/2010/main" val="28088716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Overview of Computer-Based Information Systems</a:t>
            </a:r>
            <a:endParaRPr lang="en-US" dirty="0"/>
          </a:p>
        </p:txBody>
      </p:sp>
      <p:sp>
        <p:nvSpPr>
          <p:cNvPr id="3" name="Text Placeholder 2"/>
          <p:cNvSpPr>
            <a:spLocks noGrp="1"/>
          </p:cNvSpPr>
          <p:nvPr>
            <p:ph type="body" sz="quarter" idx="14"/>
          </p:nvPr>
        </p:nvSpPr>
        <p:spPr/>
        <p:txBody>
          <a:bodyPr/>
          <a:lstStyle/>
          <a:p>
            <a:r>
              <a:rPr lang="en-US" dirty="0" smtClean="0"/>
              <a:t>1.2</a:t>
            </a:r>
            <a:endParaRPr lang="en-US" dirty="0"/>
          </a:p>
        </p:txBody>
      </p:sp>
      <p:sp>
        <p:nvSpPr>
          <p:cNvPr id="4" name="Content Placeholder 3"/>
          <p:cNvSpPr>
            <a:spLocks noGrp="1"/>
          </p:cNvSpPr>
          <p:nvPr>
            <p:ph sz="quarter" idx="15"/>
          </p:nvPr>
        </p:nvSpPr>
        <p:spPr/>
        <p:txBody>
          <a:bodyPr/>
          <a:lstStyle/>
          <a:p>
            <a:r>
              <a:rPr lang="en-US" dirty="0" smtClean="0"/>
              <a:t>Types of Computer-Based Information Systems</a:t>
            </a:r>
          </a:p>
          <a:p>
            <a:pPr lvl="1"/>
            <a:r>
              <a:rPr lang="en-US" dirty="0" smtClean="0"/>
              <a:t>Data, Information, Knowledge</a:t>
            </a:r>
          </a:p>
          <a:p>
            <a:pPr lvl="1"/>
            <a:r>
              <a:rPr lang="en-US" dirty="0" smtClean="0"/>
              <a:t>IT Infrastructure</a:t>
            </a:r>
          </a:p>
          <a:p>
            <a:pPr lvl="2"/>
            <a:r>
              <a:rPr lang="en-US" dirty="0" smtClean="0"/>
              <a:t>IT Components</a:t>
            </a:r>
          </a:p>
          <a:p>
            <a:pPr lvl="2"/>
            <a:r>
              <a:rPr lang="en-US" dirty="0" smtClean="0"/>
              <a:t>IT Personnel</a:t>
            </a:r>
            <a:endParaRPr lang="en-US" dirty="0"/>
          </a:p>
          <a:p>
            <a:pPr lvl="2"/>
            <a:r>
              <a:rPr lang="en-US" dirty="0" smtClean="0"/>
              <a:t>IT Services</a:t>
            </a:r>
          </a:p>
          <a:p>
            <a:pPr lvl="1"/>
            <a:endParaRPr lang="en-US" dirty="0" smtClean="0"/>
          </a:p>
          <a:p>
            <a:endParaRPr lang="en-US" dirty="0"/>
          </a:p>
        </p:txBody>
      </p:sp>
    </p:spTree>
    <p:extLst>
      <p:ext uri="{BB962C8B-B14F-4D97-AF65-F5344CB8AC3E}">
        <p14:creationId xmlns:p14="http://schemas.microsoft.com/office/powerpoint/2010/main" val="15854921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2152650"/>
            <a:ext cx="3476625" cy="36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405" y="1460278"/>
            <a:ext cx="3181349" cy="2565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672" y="4419600"/>
            <a:ext cx="360045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415370" y="1838980"/>
            <a:ext cx="1080430" cy="523220"/>
          </a:xfrm>
          <a:prstGeom prst="rect">
            <a:avLst/>
          </a:prstGeom>
          <a:noFill/>
        </p:spPr>
        <p:txBody>
          <a:bodyPr wrap="square" rtlCol="0">
            <a:spAutoFit/>
          </a:bodyPr>
          <a:lstStyle/>
          <a:p>
            <a:r>
              <a:rPr lang="en-US" sz="2800" b="1" dirty="0" smtClean="0"/>
              <a:t>Data</a:t>
            </a:r>
            <a:endParaRPr lang="en-US" sz="2800" b="1" dirty="0"/>
          </a:p>
        </p:txBody>
      </p:sp>
      <p:sp>
        <p:nvSpPr>
          <p:cNvPr id="16" name="TextBox 15"/>
          <p:cNvSpPr txBox="1"/>
          <p:nvPr/>
        </p:nvSpPr>
        <p:spPr>
          <a:xfrm>
            <a:off x="6265088" y="1762780"/>
            <a:ext cx="1964512" cy="523220"/>
          </a:xfrm>
          <a:prstGeom prst="rect">
            <a:avLst/>
          </a:prstGeom>
          <a:noFill/>
        </p:spPr>
        <p:txBody>
          <a:bodyPr wrap="none" rtlCol="0">
            <a:spAutoFit/>
          </a:bodyPr>
          <a:lstStyle/>
          <a:p>
            <a:r>
              <a:rPr lang="en-US" sz="2800" b="1" dirty="0" smtClean="0"/>
              <a:t>Information</a:t>
            </a:r>
            <a:endParaRPr lang="en-US" sz="2800" b="1" dirty="0"/>
          </a:p>
        </p:txBody>
      </p:sp>
      <p:sp>
        <p:nvSpPr>
          <p:cNvPr id="17" name="TextBox 16"/>
          <p:cNvSpPr txBox="1"/>
          <p:nvPr/>
        </p:nvSpPr>
        <p:spPr>
          <a:xfrm>
            <a:off x="2578770" y="5034290"/>
            <a:ext cx="1838580" cy="523220"/>
          </a:xfrm>
          <a:prstGeom prst="rect">
            <a:avLst/>
          </a:prstGeom>
          <a:noFill/>
        </p:spPr>
        <p:txBody>
          <a:bodyPr wrap="none" rtlCol="0">
            <a:spAutoFit/>
          </a:bodyPr>
          <a:lstStyle/>
          <a:p>
            <a:r>
              <a:rPr lang="en-US" sz="2800" b="1" dirty="0" smtClean="0"/>
              <a:t>Knowledge</a:t>
            </a:r>
            <a:endParaRPr lang="en-US" sz="2800" b="1" dirty="0"/>
          </a:p>
        </p:txBody>
      </p:sp>
      <p:cxnSp>
        <p:nvCxnSpPr>
          <p:cNvPr id="10" name="Straight Arrow Connector 9"/>
          <p:cNvCxnSpPr/>
          <p:nvPr/>
        </p:nvCxnSpPr>
        <p:spPr>
          <a:xfrm>
            <a:off x="3657600" y="2438400"/>
            <a:ext cx="1676400" cy="7620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3498060" y="3971925"/>
            <a:ext cx="1835940" cy="90996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Subtitle 4"/>
          <p:cNvSpPr>
            <a:spLocks noGrp="1"/>
          </p:cNvSpPr>
          <p:nvPr>
            <p:ph type="subTitle" idx="1"/>
          </p:nvPr>
        </p:nvSpPr>
        <p:spPr/>
        <p:txBody>
          <a:bodyPr>
            <a:normAutofit fontScale="55000" lnSpcReduction="20000"/>
          </a:bodyPr>
          <a:lstStyle/>
          <a:p>
            <a:r>
              <a:rPr lang="en-US" b="1" dirty="0"/>
              <a:t>FIGURE 1.2 </a:t>
            </a:r>
            <a:r>
              <a:rPr lang="en-US" dirty="0"/>
              <a:t>Data, </a:t>
            </a:r>
            <a:r>
              <a:rPr lang="en-US" dirty="0" smtClean="0"/>
              <a:t>Information</a:t>
            </a:r>
            <a:r>
              <a:rPr lang="en-US" dirty="0"/>
              <a:t>, and </a:t>
            </a:r>
            <a:r>
              <a:rPr lang="en-US" dirty="0" smtClean="0"/>
              <a:t>Knowledge.</a:t>
            </a:r>
            <a:endParaRPr lang="en-US" dirty="0"/>
          </a:p>
        </p:txBody>
      </p:sp>
    </p:spTree>
    <p:extLst>
      <p:ext uri="{BB962C8B-B14F-4D97-AF65-F5344CB8AC3E}">
        <p14:creationId xmlns:p14="http://schemas.microsoft.com/office/powerpoint/2010/main" val="9463144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55000" lnSpcReduction="20000"/>
          </a:bodyPr>
          <a:lstStyle/>
          <a:p>
            <a:r>
              <a:rPr lang="en-US" b="1" dirty="0"/>
              <a:t>FIGURE 1.3 </a:t>
            </a:r>
            <a:r>
              <a:rPr lang="en-US" dirty="0"/>
              <a:t>Computer-based information systems </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223619" y="1447800"/>
            <a:ext cx="6772962"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1477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p:cNvSpPr>
            <a:spLocks noGrp="1"/>
          </p:cNvSpPr>
          <p:nvPr>
            <p:ph type="subTitle" idx="1"/>
          </p:nvPr>
        </p:nvSpPr>
        <p:spPr/>
        <p:txBody>
          <a:bodyPr/>
          <a:lstStyle/>
          <a:p>
            <a:r>
              <a:rPr lang="en-US" dirty="0" smtClean="0"/>
              <a:t>IT Components</a:t>
            </a:r>
            <a:endParaRPr lang="en-US" dirty="0"/>
          </a:p>
        </p:txBody>
      </p:sp>
      <p:sp>
        <p:nvSpPr>
          <p:cNvPr id="10" name="Text Placeholder 9"/>
          <p:cNvSpPr>
            <a:spLocks noGrp="1"/>
          </p:cNvSpPr>
          <p:nvPr>
            <p:ph type="body" sz="quarter" idx="13"/>
          </p:nvPr>
        </p:nvSpPr>
        <p:spPr/>
        <p:txBody>
          <a:bodyPr/>
          <a:lstStyle/>
          <a:p>
            <a:r>
              <a:rPr lang="en-US" dirty="0" smtClean="0"/>
              <a:t>Hardware</a:t>
            </a:r>
          </a:p>
          <a:p>
            <a:r>
              <a:rPr lang="en-US" dirty="0" smtClean="0"/>
              <a:t>Software</a:t>
            </a:r>
          </a:p>
          <a:p>
            <a:r>
              <a:rPr lang="en-US" dirty="0" smtClean="0"/>
              <a:t>Database</a:t>
            </a:r>
          </a:p>
          <a:p>
            <a:r>
              <a:rPr lang="en-US" dirty="0" smtClean="0"/>
              <a:t>Network</a:t>
            </a:r>
          </a:p>
          <a:p>
            <a:r>
              <a:rPr lang="en-US" dirty="0" smtClean="0"/>
              <a:t>Procedures</a:t>
            </a:r>
          </a:p>
          <a:p>
            <a:r>
              <a:rPr lang="en-US" dirty="0" smtClean="0"/>
              <a:t>People</a:t>
            </a:r>
            <a:endParaRPr lang="en-US" dirty="0"/>
          </a:p>
        </p:txBody>
      </p:sp>
    </p:spTree>
    <p:extLst>
      <p:ext uri="{BB962C8B-B14F-4D97-AF65-F5344CB8AC3E}">
        <p14:creationId xmlns:p14="http://schemas.microsoft.com/office/powerpoint/2010/main" val="38843311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Types of Computer-Based Information Systems</a:t>
            </a:r>
            <a:endParaRPr lang="en-US" dirty="0"/>
          </a:p>
        </p:txBody>
      </p:sp>
      <p:sp>
        <p:nvSpPr>
          <p:cNvPr id="5" name="Content Placeholder 4"/>
          <p:cNvSpPr>
            <a:spLocks noGrp="1"/>
          </p:cNvSpPr>
          <p:nvPr>
            <p:ph sz="quarter" idx="14"/>
          </p:nvPr>
        </p:nvSpPr>
        <p:spPr/>
        <p:txBody>
          <a:bodyPr/>
          <a:lstStyle/>
          <a:p>
            <a:r>
              <a:rPr lang="en-US" dirty="0"/>
              <a:t>Major Capabilities of Information </a:t>
            </a:r>
            <a:r>
              <a:rPr lang="en-US" dirty="0" smtClean="0"/>
              <a:t>Systems</a:t>
            </a:r>
          </a:p>
          <a:p>
            <a:r>
              <a:rPr lang="en-US" dirty="0" smtClean="0"/>
              <a:t>Breadth of Support of IS’s</a:t>
            </a:r>
          </a:p>
          <a:p>
            <a:r>
              <a:rPr lang="en-US" dirty="0" smtClean="0"/>
              <a:t>Support for Organizational Employees</a:t>
            </a:r>
          </a:p>
          <a:p>
            <a:endParaRPr lang="en-US" dirty="0" smtClean="0"/>
          </a:p>
        </p:txBody>
      </p:sp>
    </p:spTree>
    <p:extLst>
      <p:ext uri="{BB962C8B-B14F-4D97-AF65-F5344CB8AC3E}">
        <p14:creationId xmlns:p14="http://schemas.microsoft.com/office/powerpoint/2010/main" val="4708388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Major Capabilities of Information Systems</a:t>
            </a:r>
            <a:endParaRPr lang="en-US" dirty="0"/>
          </a:p>
        </p:txBody>
      </p:sp>
      <p:sp>
        <p:nvSpPr>
          <p:cNvPr id="3" name="Text Placeholder 2"/>
          <p:cNvSpPr>
            <a:spLocks noGrp="1"/>
          </p:cNvSpPr>
          <p:nvPr>
            <p:ph type="body" sz="quarter" idx="13"/>
          </p:nvPr>
        </p:nvSpPr>
        <p:spPr/>
        <p:txBody>
          <a:bodyPr>
            <a:noAutofit/>
          </a:bodyPr>
          <a:lstStyle/>
          <a:p>
            <a:r>
              <a:rPr lang="en-US" sz="2000" dirty="0" smtClean="0"/>
              <a:t>Perform </a:t>
            </a:r>
            <a:r>
              <a:rPr lang="en-US" sz="2000" dirty="0"/>
              <a:t>high-speed, high-volume numerical computations.</a:t>
            </a:r>
          </a:p>
          <a:p>
            <a:r>
              <a:rPr lang="en-US" sz="2000" dirty="0"/>
              <a:t>Provide fast, accurate communication and collaboration within and among organizations.</a:t>
            </a:r>
          </a:p>
          <a:p>
            <a:r>
              <a:rPr lang="en-US" sz="2000" dirty="0"/>
              <a:t>Store huge amounts of information in an easy-to-access, yet small space.</a:t>
            </a:r>
          </a:p>
          <a:p>
            <a:r>
              <a:rPr lang="en-US" sz="2000" dirty="0"/>
              <a:t>Allow quick and inexpensive access to vast amounts of information, worldwide.</a:t>
            </a:r>
          </a:p>
          <a:p>
            <a:r>
              <a:rPr lang="en-US" sz="2000" dirty="0"/>
              <a:t>Interpret vast amounts of data quickly and </a:t>
            </a:r>
            <a:r>
              <a:rPr lang="en-US" sz="2000" dirty="0" err="1"/>
              <a:t>effi</a:t>
            </a:r>
            <a:r>
              <a:rPr lang="en-US" sz="2000" dirty="0"/>
              <a:t> </a:t>
            </a:r>
            <a:r>
              <a:rPr lang="en-US" sz="2000" dirty="0" err="1"/>
              <a:t>ciently</a:t>
            </a:r>
            <a:r>
              <a:rPr lang="en-US" sz="2000" dirty="0"/>
              <a:t>.</a:t>
            </a:r>
          </a:p>
          <a:p>
            <a:r>
              <a:rPr lang="en-US" sz="2000" dirty="0"/>
              <a:t>Automate both semiautomatic business processes and manual tasks.</a:t>
            </a:r>
          </a:p>
        </p:txBody>
      </p:sp>
    </p:spTree>
    <p:extLst>
      <p:ext uri="{BB962C8B-B14F-4D97-AF65-F5344CB8AC3E}">
        <p14:creationId xmlns:p14="http://schemas.microsoft.com/office/powerpoint/2010/main" val="17161972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Breadth of Support of Information Systems</a:t>
            </a:r>
            <a:endParaRPr lang="en-US" dirty="0"/>
          </a:p>
        </p:txBody>
      </p:sp>
      <p:sp>
        <p:nvSpPr>
          <p:cNvPr id="3" name="Text Placeholder 2"/>
          <p:cNvSpPr>
            <a:spLocks noGrp="1"/>
          </p:cNvSpPr>
          <p:nvPr>
            <p:ph type="body" sz="quarter" idx="13"/>
          </p:nvPr>
        </p:nvSpPr>
        <p:spPr/>
        <p:txBody>
          <a:bodyPr/>
          <a:lstStyle/>
          <a:p>
            <a:r>
              <a:rPr lang="en-US" dirty="0" smtClean="0"/>
              <a:t>Functional Area Information Systems (FAIS)</a:t>
            </a:r>
          </a:p>
          <a:p>
            <a:pPr lvl="1"/>
            <a:r>
              <a:rPr lang="en-US" dirty="0" smtClean="0"/>
              <a:t>Accounting</a:t>
            </a:r>
          </a:p>
          <a:p>
            <a:pPr lvl="1"/>
            <a:r>
              <a:rPr lang="en-US" dirty="0" smtClean="0"/>
              <a:t>Finance</a:t>
            </a:r>
          </a:p>
          <a:p>
            <a:pPr lvl="1"/>
            <a:r>
              <a:rPr lang="en-US" dirty="0" smtClean="0"/>
              <a:t>Production &amp; Operations Management</a:t>
            </a:r>
          </a:p>
          <a:p>
            <a:pPr lvl="1"/>
            <a:r>
              <a:rPr lang="en-US" dirty="0" smtClean="0"/>
              <a:t>Marketing</a:t>
            </a:r>
          </a:p>
          <a:p>
            <a:pPr lvl="1"/>
            <a:r>
              <a:rPr lang="en-US" dirty="0" smtClean="0"/>
              <a:t>HR</a:t>
            </a:r>
            <a:endParaRPr lang="en-US" dirty="0"/>
          </a:p>
        </p:txBody>
      </p:sp>
    </p:spTree>
    <p:extLst>
      <p:ext uri="{BB962C8B-B14F-4D97-AF65-F5344CB8AC3E}">
        <p14:creationId xmlns:p14="http://schemas.microsoft.com/office/powerpoint/2010/main" val="27134786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0000" lnSpcReduction="20000"/>
          </a:bodyPr>
          <a:lstStyle/>
          <a:p>
            <a:r>
              <a:rPr lang="en-US" b="1" dirty="0"/>
              <a:t>FIGURE 1.4 </a:t>
            </a:r>
            <a:r>
              <a:rPr lang="en-US" dirty="0" smtClean="0"/>
              <a:t>IT inside </a:t>
            </a:r>
            <a:r>
              <a:rPr lang="en-US" dirty="0"/>
              <a:t>your </a:t>
            </a:r>
            <a:r>
              <a:rPr lang="en-US" dirty="0" smtClean="0"/>
              <a:t>organization</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216690" y="1447800"/>
            <a:ext cx="678681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4695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Breadth of Support of Information Systems </a:t>
            </a:r>
            <a:endParaRPr lang="en-US" dirty="0"/>
          </a:p>
        </p:txBody>
      </p:sp>
      <p:sp>
        <p:nvSpPr>
          <p:cNvPr id="3" name="Text Placeholder 2"/>
          <p:cNvSpPr>
            <a:spLocks noGrp="1"/>
          </p:cNvSpPr>
          <p:nvPr>
            <p:ph type="body" sz="quarter" idx="13"/>
          </p:nvPr>
        </p:nvSpPr>
        <p:spPr/>
        <p:txBody>
          <a:bodyPr>
            <a:normAutofit/>
          </a:bodyPr>
          <a:lstStyle/>
          <a:p>
            <a:r>
              <a:rPr lang="en-US" dirty="0" smtClean="0"/>
              <a:t>Two Information Systems support the entire organization:</a:t>
            </a:r>
          </a:p>
          <a:p>
            <a:pPr lvl="1"/>
            <a:r>
              <a:rPr lang="en-US" dirty="0" smtClean="0"/>
              <a:t>Enterprise Resource Planning (ERP) Systems</a:t>
            </a:r>
          </a:p>
          <a:p>
            <a:pPr lvl="2"/>
            <a:r>
              <a:rPr lang="en-US" dirty="0" smtClean="0"/>
              <a:t>Provide communication among functional area ISs</a:t>
            </a:r>
          </a:p>
          <a:p>
            <a:pPr lvl="1"/>
            <a:r>
              <a:rPr lang="en-US" dirty="0" smtClean="0"/>
              <a:t>Transaction Processing Systems (TPS)</a:t>
            </a:r>
          </a:p>
          <a:p>
            <a:pPr lvl="2"/>
            <a:r>
              <a:rPr lang="en-US" dirty="0" smtClean="0"/>
              <a:t>Support the “real time” monitoring, collection, storage, and processing of data from the organization’s day to day operations</a:t>
            </a:r>
            <a:endParaRPr lang="en-US" dirty="0"/>
          </a:p>
        </p:txBody>
      </p:sp>
    </p:spTree>
    <p:extLst>
      <p:ext uri="{BB962C8B-B14F-4D97-AF65-F5344CB8AC3E}">
        <p14:creationId xmlns:p14="http://schemas.microsoft.com/office/powerpoint/2010/main" val="34780423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Breadth of Support of Information Systems </a:t>
            </a:r>
            <a:endParaRPr lang="en-US" dirty="0"/>
          </a:p>
        </p:txBody>
      </p:sp>
      <p:sp>
        <p:nvSpPr>
          <p:cNvPr id="3" name="Text Placeholder 2"/>
          <p:cNvSpPr>
            <a:spLocks noGrp="1"/>
          </p:cNvSpPr>
          <p:nvPr>
            <p:ph type="body" sz="quarter" idx="13"/>
          </p:nvPr>
        </p:nvSpPr>
        <p:spPr/>
        <p:txBody>
          <a:bodyPr>
            <a:normAutofit/>
          </a:bodyPr>
          <a:lstStyle/>
          <a:p>
            <a:r>
              <a:rPr lang="en-US" dirty="0" smtClean="0"/>
              <a:t>Interorganizational Information Systems (IOS)</a:t>
            </a:r>
          </a:p>
          <a:p>
            <a:pPr lvl="1"/>
            <a:r>
              <a:rPr lang="en-US" dirty="0" smtClean="0"/>
              <a:t>Supports many Interorganizational operations</a:t>
            </a:r>
          </a:p>
          <a:p>
            <a:pPr lvl="1"/>
            <a:r>
              <a:rPr lang="en-US" dirty="0" smtClean="0"/>
              <a:t>Examples of IOS:</a:t>
            </a:r>
          </a:p>
          <a:p>
            <a:pPr lvl="2"/>
            <a:r>
              <a:rPr lang="en-US" dirty="0" smtClean="0"/>
              <a:t>Supply Chain Management (SCM)</a:t>
            </a:r>
          </a:p>
          <a:p>
            <a:pPr lvl="2"/>
            <a:r>
              <a:rPr lang="en-US" dirty="0" smtClean="0"/>
              <a:t>Electronic commerce (e-commerce) systems</a:t>
            </a:r>
          </a:p>
        </p:txBody>
      </p:sp>
    </p:spTree>
    <p:extLst>
      <p:ext uri="{BB962C8B-B14F-4D97-AF65-F5344CB8AC3E}">
        <p14:creationId xmlns:p14="http://schemas.microsoft.com/office/powerpoint/2010/main" val="12603640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55000" lnSpcReduction="20000"/>
          </a:bodyPr>
          <a:lstStyle/>
          <a:p>
            <a:r>
              <a:rPr lang="en-US" b="1" dirty="0"/>
              <a:t>FIGURE 1.5 </a:t>
            </a:r>
            <a:r>
              <a:rPr lang="en-US" b="1" dirty="0" smtClean="0"/>
              <a:t> </a:t>
            </a:r>
            <a:r>
              <a:rPr lang="en-US" dirty="0" smtClean="0"/>
              <a:t>IS that </a:t>
            </a:r>
            <a:r>
              <a:rPr lang="en-US" dirty="0"/>
              <a:t>function among multiple </a:t>
            </a:r>
            <a:r>
              <a:rPr lang="en-US" dirty="0" smtClean="0"/>
              <a:t>orgs</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653220"/>
            <a:ext cx="8153400" cy="469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38347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err="1" smtClean="0"/>
              <a:t>Warby</a:t>
            </a:r>
            <a:r>
              <a:rPr lang="en-US" dirty="0" smtClean="0"/>
              <a:t> Parker</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1.2</a:t>
            </a:r>
            <a:endParaRPr lang="en-US" dirty="0"/>
          </a:p>
        </p:txBody>
      </p:sp>
    </p:spTree>
    <p:extLst>
      <p:ext uri="{BB962C8B-B14F-4D97-AF65-F5344CB8AC3E}">
        <p14:creationId xmlns:p14="http://schemas.microsoft.com/office/powerpoint/2010/main" val="4737365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Support for Organizational Employees</a:t>
            </a:r>
            <a:endParaRPr lang="en-US" dirty="0"/>
          </a:p>
        </p:txBody>
      </p:sp>
      <p:sp>
        <p:nvSpPr>
          <p:cNvPr id="4" name="Text Placeholder 3"/>
          <p:cNvSpPr>
            <a:spLocks noGrp="1"/>
          </p:cNvSpPr>
          <p:nvPr>
            <p:ph type="body" sz="quarter" idx="13"/>
          </p:nvPr>
        </p:nvSpPr>
        <p:spPr/>
        <p:txBody>
          <a:bodyPr/>
          <a:lstStyle/>
          <a:p>
            <a:r>
              <a:rPr lang="en-US" dirty="0" smtClean="0"/>
              <a:t>Clerical Workers</a:t>
            </a:r>
          </a:p>
          <a:p>
            <a:r>
              <a:rPr lang="en-US" dirty="0" smtClean="0"/>
              <a:t>Knowledge Workers</a:t>
            </a:r>
          </a:p>
          <a:p>
            <a:r>
              <a:rPr lang="en-US" dirty="0" smtClean="0"/>
              <a:t>Office Automation Systems (OAS)</a:t>
            </a:r>
          </a:p>
          <a:p>
            <a:r>
              <a:rPr lang="en-US" dirty="0" smtClean="0"/>
              <a:t>Business Intelligence (BI)</a:t>
            </a:r>
          </a:p>
          <a:p>
            <a:r>
              <a:rPr lang="en-US" dirty="0" smtClean="0"/>
              <a:t>Expert Systems (ES)</a:t>
            </a:r>
          </a:p>
          <a:p>
            <a:r>
              <a:rPr lang="en-US" dirty="0" smtClean="0"/>
              <a:t>Dashboards (aka Digital Dashboards)</a:t>
            </a:r>
          </a:p>
          <a:p>
            <a:endParaRPr lang="en-US" dirty="0" smtClean="0"/>
          </a:p>
        </p:txBody>
      </p:sp>
    </p:spTree>
    <p:extLst>
      <p:ext uri="{BB962C8B-B14F-4D97-AF65-F5344CB8AC3E}">
        <p14:creationId xmlns:p14="http://schemas.microsoft.com/office/powerpoint/2010/main" val="21458513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smtClean="0"/>
              <a:t>Table 1.4 </a:t>
            </a:r>
            <a:r>
              <a:rPr lang="en-US" dirty="0" smtClean="0"/>
              <a:t>Types of Organizational Information Systems </a:t>
            </a:r>
            <a:endParaRPr lang="en-US" dirty="0"/>
          </a:p>
        </p:txBody>
      </p:sp>
      <p:sp>
        <p:nvSpPr>
          <p:cNvPr id="5" name="Content Placeholder 4"/>
          <p:cNvSpPr>
            <a:spLocks noGrp="1"/>
          </p:cNvSpPr>
          <p:nvPr>
            <p:ph type="body" sz="quarter" idx="4294967295"/>
          </p:nvPr>
        </p:nvSpPr>
        <p:spPr>
          <a:xfrm>
            <a:off x="533400" y="1447800"/>
            <a:ext cx="8153400" cy="5105400"/>
          </a:xfrm>
        </p:spPr>
        <p:txBody>
          <a:bodyPr/>
          <a:lstStyle/>
          <a:p>
            <a:pPr marL="0" indent="0">
              <a:buNone/>
            </a:pPr>
            <a:endParaRPr lang="en-US" dirty="0" smtClean="0"/>
          </a:p>
          <a:p>
            <a:endParaRPr lang="en-US" dirty="0" smtClean="0"/>
          </a:p>
        </p:txBody>
      </p:sp>
      <p:pic>
        <p:nvPicPr>
          <p:cNvPr id="4" name="Picture 3"/>
          <p:cNvPicPr/>
          <p:nvPr/>
        </p:nvPicPr>
        <p:blipFill rotWithShape="1">
          <a:blip r:embed="rId2"/>
          <a:srcRect l="11060" t="22811" r="18261" b="13134"/>
          <a:stretch/>
        </p:blipFill>
        <p:spPr bwMode="auto">
          <a:xfrm>
            <a:off x="282864" y="1371600"/>
            <a:ext cx="8480136" cy="52064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459300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How Does IT Impact Organizations?</a:t>
            </a:r>
            <a:endParaRPr lang="en-US" dirty="0"/>
          </a:p>
        </p:txBody>
      </p:sp>
      <p:sp>
        <p:nvSpPr>
          <p:cNvPr id="3" name="Text Placeholder 2"/>
          <p:cNvSpPr>
            <a:spLocks noGrp="1"/>
          </p:cNvSpPr>
          <p:nvPr>
            <p:ph type="body" sz="quarter" idx="14"/>
          </p:nvPr>
        </p:nvSpPr>
        <p:spPr/>
        <p:txBody>
          <a:bodyPr/>
          <a:lstStyle/>
          <a:p>
            <a:r>
              <a:rPr lang="en-US" dirty="0" smtClean="0"/>
              <a:t>1.3</a:t>
            </a:r>
            <a:endParaRPr lang="en-US" dirty="0"/>
          </a:p>
        </p:txBody>
      </p:sp>
      <p:sp>
        <p:nvSpPr>
          <p:cNvPr id="4" name="Content Placeholder 3"/>
          <p:cNvSpPr>
            <a:spLocks noGrp="1"/>
          </p:cNvSpPr>
          <p:nvPr>
            <p:ph sz="quarter" idx="15"/>
          </p:nvPr>
        </p:nvSpPr>
        <p:spPr/>
        <p:txBody>
          <a:bodyPr/>
          <a:lstStyle/>
          <a:p>
            <a:r>
              <a:rPr lang="en-US" dirty="0" smtClean="0"/>
              <a:t>IT Impacts Entire Industries</a:t>
            </a:r>
          </a:p>
          <a:p>
            <a:r>
              <a:rPr lang="en-US" dirty="0" smtClean="0"/>
              <a:t>IT Reduces the Number of Middle Managers</a:t>
            </a:r>
          </a:p>
          <a:p>
            <a:r>
              <a:rPr lang="en-US" dirty="0" smtClean="0"/>
              <a:t>IT Changes the Manager’s Job</a:t>
            </a:r>
          </a:p>
          <a:p>
            <a:r>
              <a:rPr lang="en-US" dirty="0" smtClean="0"/>
              <a:t>Will IT Eliminate Jobs?</a:t>
            </a:r>
          </a:p>
          <a:p>
            <a:r>
              <a:rPr lang="en-US" dirty="0" smtClean="0"/>
              <a:t>IT Impacts Employees at Work</a:t>
            </a:r>
            <a:endParaRPr lang="en-US" dirty="0"/>
          </a:p>
        </p:txBody>
      </p:sp>
    </p:spTree>
    <p:extLst>
      <p:ext uri="{BB962C8B-B14F-4D97-AF65-F5344CB8AC3E}">
        <p14:creationId xmlns:p14="http://schemas.microsoft.com/office/powerpoint/2010/main" val="11535385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normAutofit lnSpcReduction="10000"/>
          </a:bodyPr>
          <a:lstStyle/>
          <a:p>
            <a:r>
              <a:rPr lang="en-US" dirty="0" smtClean="0"/>
              <a:t>How Does IT Impact Organizations? Examples</a:t>
            </a:r>
            <a:endParaRPr lang="en-US" dirty="0"/>
          </a:p>
        </p:txBody>
      </p:sp>
      <p:sp>
        <p:nvSpPr>
          <p:cNvPr id="8" name="Text Placeholder 7"/>
          <p:cNvSpPr>
            <a:spLocks noGrp="1"/>
          </p:cNvSpPr>
          <p:nvPr>
            <p:ph type="body" sz="quarter" idx="13"/>
          </p:nvPr>
        </p:nvSpPr>
        <p:spPr/>
        <p:txBody>
          <a:bodyPr/>
          <a:lstStyle/>
          <a:p>
            <a:r>
              <a:rPr lang="en-US" dirty="0" smtClean="0"/>
              <a:t>Book Industry</a:t>
            </a:r>
          </a:p>
          <a:p>
            <a:r>
              <a:rPr lang="en-US" dirty="0" smtClean="0"/>
              <a:t>Music Industry</a:t>
            </a:r>
          </a:p>
          <a:p>
            <a:r>
              <a:rPr lang="en-US" dirty="0" smtClean="0"/>
              <a:t>Video Industry</a:t>
            </a:r>
          </a:p>
          <a:p>
            <a:r>
              <a:rPr lang="en-US" dirty="0" smtClean="0"/>
              <a:t>Software Industry</a:t>
            </a:r>
          </a:p>
          <a:p>
            <a:r>
              <a:rPr lang="en-US" dirty="0" smtClean="0"/>
              <a:t>Videogame Industry</a:t>
            </a:r>
          </a:p>
          <a:p>
            <a:r>
              <a:rPr lang="en-US" dirty="0" smtClean="0"/>
              <a:t>Photography Industry</a:t>
            </a:r>
            <a:endParaRPr lang="en-US" dirty="0"/>
          </a:p>
        </p:txBody>
      </p:sp>
    </p:spTree>
    <p:extLst>
      <p:ext uri="{BB962C8B-B14F-4D97-AF65-F5344CB8AC3E}">
        <p14:creationId xmlns:p14="http://schemas.microsoft.com/office/powerpoint/2010/main" val="1314831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normAutofit lnSpcReduction="10000"/>
          </a:bodyPr>
          <a:lstStyle/>
          <a:p>
            <a:r>
              <a:rPr lang="en-US" dirty="0" smtClean="0"/>
              <a:t>How Does IT Impact Organizations? Examples</a:t>
            </a:r>
            <a:endParaRPr lang="en-US" dirty="0"/>
          </a:p>
        </p:txBody>
      </p:sp>
      <p:sp>
        <p:nvSpPr>
          <p:cNvPr id="8" name="Text Placeholder 7"/>
          <p:cNvSpPr>
            <a:spLocks noGrp="1"/>
          </p:cNvSpPr>
          <p:nvPr>
            <p:ph type="body" sz="quarter" idx="13"/>
          </p:nvPr>
        </p:nvSpPr>
        <p:spPr/>
        <p:txBody>
          <a:bodyPr>
            <a:normAutofit lnSpcReduction="10000"/>
          </a:bodyPr>
          <a:lstStyle/>
          <a:p>
            <a:r>
              <a:rPr lang="en-US" dirty="0" smtClean="0"/>
              <a:t>Marketing Industry</a:t>
            </a:r>
          </a:p>
          <a:p>
            <a:r>
              <a:rPr lang="en-US" dirty="0" smtClean="0"/>
              <a:t>Recruiting Industry</a:t>
            </a:r>
          </a:p>
          <a:p>
            <a:r>
              <a:rPr lang="en-US" dirty="0" smtClean="0"/>
              <a:t>Financial Services Industry</a:t>
            </a:r>
          </a:p>
          <a:p>
            <a:r>
              <a:rPr lang="en-US" dirty="0" smtClean="0"/>
              <a:t>Motion Picture Industry</a:t>
            </a:r>
          </a:p>
          <a:p>
            <a:pPr lvl="1"/>
            <a:r>
              <a:rPr lang="en-US" dirty="0" smtClean="0"/>
              <a:t>DreamWorks Animation</a:t>
            </a:r>
          </a:p>
          <a:p>
            <a:r>
              <a:rPr lang="en-US" dirty="0" smtClean="0"/>
              <a:t>Automobile Industry</a:t>
            </a:r>
          </a:p>
          <a:p>
            <a:r>
              <a:rPr lang="en-US" dirty="0" smtClean="0"/>
              <a:t>Agriculture Industry</a:t>
            </a:r>
            <a:endParaRPr lang="en-US" dirty="0"/>
          </a:p>
        </p:txBody>
      </p:sp>
    </p:spTree>
    <p:extLst>
      <p:ext uri="{BB962C8B-B14F-4D97-AF65-F5344CB8AC3E}">
        <p14:creationId xmlns:p14="http://schemas.microsoft.com/office/powerpoint/2010/main" val="3758508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normAutofit lnSpcReduction="10000"/>
          </a:bodyPr>
          <a:lstStyle/>
          <a:p>
            <a:r>
              <a:rPr lang="en-US" dirty="0" smtClean="0"/>
              <a:t>How Does IT Impact Organizations? Examples</a:t>
            </a:r>
            <a:endParaRPr lang="en-US" dirty="0"/>
          </a:p>
        </p:txBody>
      </p:sp>
      <p:sp>
        <p:nvSpPr>
          <p:cNvPr id="8" name="Text Placeholder 7"/>
          <p:cNvSpPr>
            <a:spLocks noGrp="1"/>
          </p:cNvSpPr>
          <p:nvPr>
            <p:ph type="body" sz="quarter" idx="13"/>
          </p:nvPr>
        </p:nvSpPr>
        <p:spPr/>
        <p:txBody>
          <a:bodyPr>
            <a:normAutofit/>
          </a:bodyPr>
          <a:lstStyle/>
          <a:p>
            <a:r>
              <a:rPr lang="en-US" dirty="0" smtClean="0"/>
              <a:t>National Defense Industry</a:t>
            </a:r>
          </a:p>
          <a:p>
            <a:r>
              <a:rPr lang="en-US" dirty="0" smtClean="0"/>
              <a:t>Fashion Industry</a:t>
            </a:r>
          </a:p>
          <a:p>
            <a:r>
              <a:rPr lang="en-US" dirty="0" smtClean="0"/>
              <a:t>Education</a:t>
            </a:r>
          </a:p>
          <a:p>
            <a:r>
              <a:rPr lang="en-US" dirty="0" smtClean="0"/>
              <a:t>Legal Profession</a:t>
            </a:r>
            <a:endParaRPr lang="en-US" dirty="0"/>
          </a:p>
        </p:txBody>
      </p:sp>
    </p:spTree>
    <p:extLst>
      <p:ext uri="{BB962C8B-B14F-4D97-AF65-F5344CB8AC3E}">
        <p14:creationId xmlns:p14="http://schemas.microsoft.com/office/powerpoint/2010/main" val="2123571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IT Reduces the Number of Middle Managers</a:t>
            </a:r>
            <a:endParaRPr lang="en-US" dirty="0"/>
          </a:p>
        </p:txBody>
      </p:sp>
      <p:sp>
        <p:nvSpPr>
          <p:cNvPr id="4" name="Content Placeholder 3"/>
          <p:cNvSpPr>
            <a:spLocks noGrp="1"/>
          </p:cNvSpPr>
          <p:nvPr>
            <p:ph sz="quarter" idx="14"/>
          </p:nvPr>
        </p:nvSpPr>
        <p:spPr/>
        <p:txBody>
          <a:bodyPr/>
          <a:lstStyle/>
          <a:p>
            <a:r>
              <a:rPr lang="en-US" dirty="0" smtClean="0"/>
              <a:t>IT makes middle managers more productive</a:t>
            </a:r>
          </a:p>
          <a:p>
            <a:r>
              <a:rPr lang="en-US" dirty="0" smtClean="0"/>
              <a:t>Consequently, IT reduces the number of middle managers required</a:t>
            </a:r>
            <a:endParaRPr lang="en-US" dirty="0"/>
          </a:p>
        </p:txBody>
      </p:sp>
    </p:spTree>
    <p:extLst>
      <p:ext uri="{BB962C8B-B14F-4D97-AF65-F5344CB8AC3E}">
        <p14:creationId xmlns:p14="http://schemas.microsoft.com/office/powerpoint/2010/main" val="25646002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IT Changes the Manager’s Job</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Decision making is the most important managerial task</a:t>
            </a:r>
          </a:p>
          <a:p>
            <a:r>
              <a:rPr lang="en-US" dirty="0" smtClean="0"/>
              <a:t>IT changes the way managers make decisions</a:t>
            </a:r>
          </a:p>
          <a:p>
            <a:pPr lvl="1"/>
            <a:r>
              <a:rPr lang="en-US" dirty="0" smtClean="0"/>
              <a:t>IT provides near-real-time information</a:t>
            </a:r>
          </a:p>
          <a:p>
            <a:pPr lvl="1"/>
            <a:r>
              <a:rPr lang="en-US" dirty="0" smtClean="0"/>
              <a:t>Managers have less time to make decisions</a:t>
            </a:r>
          </a:p>
          <a:p>
            <a:pPr lvl="1"/>
            <a:r>
              <a:rPr lang="en-US" dirty="0" smtClean="0"/>
              <a:t>IT provides tools for analysis to assist in decision making</a:t>
            </a:r>
            <a:endParaRPr lang="en-US" dirty="0"/>
          </a:p>
        </p:txBody>
      </p:sp>
    </p:spTree>
    <p:extLst>
      <p:ext uri="{BB962C8B-B14F-4D97-AF65-F5344CB8AC3E}">
        <p14:creationId xmlns:p14="http://schemas.microsoft.com/office/powerpoint/2010/main" val="33314701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Will IT Eliminate Jobs?</a:t>
            </a:r>
            <a:endParaRPr lang="en-US" dirty="0"/>
          </a:p>
        </p:txBody>
      </p:sp>
      <p:sp>
        <p:nvSpPr>
          <p:cNvPr id="3" name="Content Placeholder 2"/>
          <p:cNvSpPr>
            <a:spLocks noGrp="1"/>
          </p:cNvSpPr>
          <p:nvPr>
            <p:ph sz="quarter" idx="14"/>
          </p:nvPr>
        </p:nvSpPr>
        <p:spPr/>
        <p:txBody>
          <a:bodyPr/>
          <a:lstStyle/>
          <a:p>
            <a:r>
              <a:rPr lang="en-US" dirty="0" smtClean="0"/>
              <a:t>The competitive advantage of replacing people with IT &amp; machines is increasing rapidly</a:t>
            </a:r>
          </a:p>
          <a:p>
            <a:r>
              <a:rPr lang="en-US" dirty="0" smtClean="0"/>
              <a:t>Increasing the use of IT in business also:</a:t>
            </a:r>
          </a:p>
          <a:p>
            <a:pPr lvl="1"/>
            <a:r>
              <a:rPr lang="en-US" dirty="0" smtClean="0"/>
              <a:t>Creates new job categories</a:t>
            </a:r>
          </a:p>
          <a:p>
            <a:pPr lvl="1"/>
            <a:r>
              <a:rPr lang="en-US" dirty="0" smtClean="0"/>
              <a:t>Requires more employees with IT knowledge and skills</a:t>
            </a:r>
          </a:p>
          <a:p>
            <a:endParaRPr lang="en-US" dirty="0"/>
          </a:p>
        </p:txBody>
      </p:sp>
    </p:spTree>
    <p:extLst>
      <p:ext uri="{BB962C8B-B14F-4D97-AF65-F5344CB8AC3E}">
        <p14:creationId xmlns:p14="http://schemas.microsoft.com/office/powerpoint/2010/main" val="159681920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IT Impacts Employees at Work</a:t>
            </a:r>
            <a:endParaRPr lang="en-US" dirty="0"/>
          </a:p>
        </p:txBody>
      </p:sp>
      <p:sp>
        <p:nvSpPr>
          <p:cNvPr id="5" name="Content Placeholder 4"/>
          <p:cNvSpPr>
            <a:spLocks noGrp="1"/>
          </p:cNvSpPr>
          <p:nvPr>
            <p:ph sz="quarter" idx="14"/>
          </p:nvPr>
        </p:nvSpPr>
        <p:spPr/>
        <p:txBody>
          <a:bodyPr>
            <a:normAutofit fontScale="92500" lnSpcReduction="10000"/>
          </a:bodyPr>
          <a:lstStyle/>
          <a:p>
            <a:r>
              <a:rPr lang="en-US" dirty="0" smtClean="0"/>
              <a:t>IT Impacts Employees’ Health &amp; Safety</a:t>
            </a:r>
          </a:p>
          <a:p>
            <a:pPr lvl="1"/>
            <a:r>
              <a:rPr lang="en-US" dirty="0" smtClean="0"/>
              <a:t>Job Stress</a:t>
            </a:r>
          </a:p>
          <a:p>
            <a:pPr lvl="1"/>
            <a:r>
              <a:rPr lang="en-US" dirty="0" smtClean="0"/>
              <a:t>Long-term use of the keyboard &amp; mouse</a:t>
            </a:r>
          </a:p>
          <a:p>
            <a:r>
              <a:rPr lang="en-US" dirty="0" smtClean="0"/>
              <a:t>IT Provides Opportunities for People with Disabilities</a:t>
            </a:r>
          </a:p>
          <a:p>
            <a:pPr lvl="1"/>
            <a:r>
              <a:rPr lang="en-US" dirty="0" smtClean="0"/>
              <a:t>Speech-recognition for employees unable to type due to physical impairment</a:t>
            </a:r>
          </a:p>
          <a:p>
            <a:pPr lvl="1"/>
            <a:r>
              <a:rPr lang="en-US" dirty="0" smtClean="0"/>
              <a:t>Audible screen tips for employees who are visually impaired</a:t>
            </a:r>
          </a:p>
          <a:p>
            <a:endParaRPr lang="en-US" dirty="0"/>
          </a:p>
        </p:txBody>
      </p:sp>
    </p:spTree>
    <p:extLst>
      <p:ext uri="{BB962C8B-B14F-4D97-AF65-F5344CB8AC3E}">
        <p14:creationId xmlns:p14="http://schemas.microsoft.com/office/powerpoint/2010/main" val="28999778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1.6 </a:t>
            </a:r>
            <a:r>
              <a:rPr lang="en-US" b="1" dirty="0" smtClean="0"/>
              <a:t> </a:t>
            </a:r>
            <a:r>
              <a:rPr lang="en-US" dirty="0" smtClean="0"/>
              <a:t>Ergonomic </a:t>
            </a:r>
            <a:r>
              <a:rPr lang="en-US" dirty="0"/>
              <a:t>products protect computer users. </a:t>
            </a:r>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688677" y="1447800"/>
            <a:ext cx="584284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8969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Importance of Information Systems to Society</a:t>
            </a:r>
            <a:endParaRPr lang="en-US" dirty="0"/>
          </a:p>
        </p:txBody>
      </p:sp>
      <p:sp>
        <p:nvSpPr>
          <p:cNvPr id="3" name="Text Placeholder 2"/>
          <p:cNvSpPr>
            <a:spLocks noGrp="1"/>
          </p:cNvSpPr>
          <p:nvPr>
            <p:ph type="body" sz="quarter" idx="14"/>
          </p:nvPr>
        </p:nvSpPr>
        <p:spPr/>
        <p:txBody>
          <a:bodyPr/>
          <a:lstStyle/>
          <a:p>
            <a:r>
              <a:rPr lang="en-US" dirty="0" smtClean="0"/>
              <a:t>1.4</a:t>
            </a:r>
            <a:endParaRPr lang="en-US" dirty="0"/>
          </a:p>
        </p:txBody>
      </p:sp>
      <p:sp>
        <p:nvSpPr>
          <p:cNvPr id="4" name="Content Placeholder 3"/>
          <p:cNvSpPr>
            <a:spLocks noGrp="1"/>
          </p:cNvSpPr>
          <p:nvPr>
            <p:ph sz="quarter" idx="15"/>
          </p:nvPr>
        </p:nvSpPr>
        <p:spPr/>
        <p:txBody>
          <a:bodyPr/>
          <a:lstStyle/>
          <a:p>
            <a:r>
              <a:rPr lang="en-US" dirty="0" smtClean="0"/>
              <a:t>IT Affects Our Quality of Life</a:t>
            </a:r>
          </a:p>
          <a:p>
            <a:r>
              <a:rPr lang="en-US" dirty="0" smtClean="0"/>
              <a:t>The Robot Revolution Is Here Now</a:t>
            </a:r>
          </a:p>
          <a:p>
            <a:r>
              <a:rPr lang="en-US" dirty="0" smtClean="0"/>
              <a:t>Improvements in Healthcare</a:t>
            </a:r>
            <a:endParaRPr lang="en-US" dirty="0"/>
          </a:p>
        </p:txBody>
      </p:sp>
    </p:spTree>
    <p:extLst>
      <p:ext uri="{BB962C8B-B14F-4D97-AF65-F5344CB8AC3E}">
        <p14:creationId xmlns:p14="http://schemas.microsoft.com/office/powerpoint/2010/main" val="378747238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IT Affects Our Quality of Life</a:t>
            </a:r>
            <a:endParaRPr lang="en-US" dirty="0"/>
          </a:p>
        </p:txBody>
      </p:sp>
      <p:sp>
        <p:nvSpPr>
          <p:cNvPr id="3" name="Content Placeholder 2"/>
          <p:cNvSpPr>
            <a:spLocks noGrp="1"/>
          </p:cNvSpPr>
          <p:nvPr>
            <p:ph sz="quarter" idx="14"/>
          </p:nvPr>
        </p:nvSpPr>
        <p:spPr/>
        <p:txBody>
          <a:bodyPr/>
          <a:lstStyle/>
          <a:p>
            <a:r>
              <a:rPr lang="en-US" dirty="0" smtClean="0"/>
              <a:t>IT has changed the way we work</a:t>
            </a:r>
          </a:p>
          <a:p>
            <a:pPr lvl="1"/>
            <a:r>
              <a:rPr lang="en-US" dirty="0" smtClean="0"/>
              <a:t>Smartphones provide constant access to text, email, and voice communications</a:t>
            </a:r>
          </a:p>
          <a:p>
            <a:pPr lvl="1"/>
            <a:r>
              <a:rPr lang="en-US" dirty="0" smtClean="0"/>
              <a:t>The lines between time at work and leisure time at home have become blurred</a:t>
            </a:r>
          </a:p>
          <a:p>
            <a:pPr lvl="1"/>
            <a:r>
              <a:rPr lang="en-US" dirty="0" smtClean="0"/>
              <a:t>Surveys indicate employees take laptops and smartphones on vacation</a:t>
            </a:r>
            <a:endParaRPr lang="en-US" dirty="0"/>
          </a:p>
        </p:txBody>
      </p:sp>
    </p:spTree>
    <p:extLst>
      <p:ext uri="{BB962C8B-B14F-4D97-AF65-F5344CB8AC3E}">
        <p14:creationId xmlns:p14="http://schemas.microsoft.com/office/powerpoint/2010/main" val="27212285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The Robot Revolution is Here Now</a:t>
            </a:r>
            <a:endParaRPr lang="en-US" dirty="0"/>
          </a:p>
        </p:txBody>
      </p:sp>
      <p:sp>
        <p:nvSpPr>
          <p:cNvPr id="3" name="Content Placeholder 2"/>
          <p:cNvSpPr>
            <a:spLocks noGrp="1"/>
          </p:cNvSpPr>
          <p:nvPr>
            <p:ph sz="quarter" idx="14"/>
          </p:nvPr>
        </p:nvSpPr>
        <p:spPr/>
        <p:txBody>
          <a:bodyPr>
            <a:normAutofit/>
          </a:bodyPr>
          <a:lstStyle/>
          <a:p>
            <a:r>
              <a:rPr lang="en-US" sz="3600" dirty="0" smtClean="0"/>
              <a:t>Robotics used in Industry:</a:t>
            </a:r>
          </a:p>
          <a:p>
            <a:pPr lvl="1"/>
            <a:r>
              <a:rPr lang="en-US" sz="3200" dirty="0" smtClean="0"/>
              <a:t>Manufacturing</a:t>
            </a:r>
          </a:p>
          <a:p>
            <a:pPr lvl="1"/>
            <a:r>
              <a:rPr lang="en-US" sz="3200" dirty="0" smtClean="0"/>
              <a:t>Hospitals</a:t>
            </a:r>
          </a:p>
          <a:p>
            <a:pPr lvl="1"/>
            <a:r>
              <a:rPr lang="en-US" sz="3200" dirty="0" smtClean="0"/>
              <a:t>Farming operations</a:t>
            </a:r>
          </a:p>
        </p:txBody>
      </p:sp>
    </p:spTree>
    <p:extLst>
      <p:ext uri="{BB962C8B-B14F-4D97-AF65-F5344CB8AC3E}">
        <p14:creationId xmlns:p14="http://schemas.microsoft.com/office/powerpoint/2010/main" val="12488431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The Robot Revolution is Here Now</a:t>
            </a:r>
            <a:endParaRPr lang="en-US" dirty="0"/>
          </a:p>
        </p:txBody>
      </p:sp>
      <p:sp>
        <p:nvSpPr>
          <p:cNvPr id="3" name="Content Placeholder 2"/>
          <p:cNvSpPr>
            <a:spLocks noGrp="1"/>
          </p:cNvSpPr>
          <p:nvPr>
            <p:ph sz="quarter" idx="14"/>
          </p:nvPr>
        </p:nvSpPr>
        <p:spPr/>
        <p:txBody>
          <a:bodyPr>
            <a:normAutofit/>
          </a:bodyPr>
          <a:lstStyle/>
          <a:p>
            <a:r>
              <a:rPr lang="en-US" sz="3600" dirty="0" smtClean="0"/>
              <a:t>Robotics used in the Home:</a:t>
            </a:r>
          </a:p>
          <a:p>
            <a:pPr lvl="1"/>
            <a:r>
              <a:rPr lang="en-US" sz="3200" dirty="0" smtClean="0"/>
              <a:t>Roomba to vacuum our floors</a:t>
            </a:r>
          </a:p>
          <a:p>
            <a:pPr lvl="1"/>
            <a:r>
              <a:rPr lang="en-US" sz="3200" dirty="0" err="1" smtClean="0"/>
              <a:t>Scooba</a:t>
            </a:r>
            <a:r>
              <a:rPr lang="en-US" sz="3200" dirty="0" smtClean="0"/>
              <a:t> to wash our floors</a:t>
            </a:r>
          </a:p>
          <a:p>
            <a:pPr lvl="1"/>
            <a:r>
              <a:rPr lang="en-US" sz="3200" dirty="0" err="1" smtClean="0"/>
              <a:t>Verro</a:t>
            </a:r>
            <a:r>
              <a:rPr lang="en-US" sz="3200" dirty="0" smtClean="0"/>
              <a:t> to clean our pools</a:t>
            </a:r>
          </a:p>
          <a:p>
            <a:pPr lvl="1"/>
            <a:r>
              <a:rPr lang="en-US" sz="3200" dirty="0" err="1" smtClean="0"/>
              <a:t>Looj</a:t>
            </a:r>
            <a:r>
              <a:rPr lang="en-US" sz="3200" dirty="0" smtClean="0"/>
              <a:t> to clean our gutters</a:t>
            </a:r>
            <a:endParaRPr lang="en-US" sz="3200" dirty="0"/>
          </a:p>
        </p:txBody>
      </p:sp>
    </p:spTree>
    <p:extLst>
      <p:ext uri="{BB962C8B-B14F-4D97-AF65-F5344CB8AC3E}">
        <p14:creationId xmlns:p14="http://schemas.microsoft.com/office/powerpoint/2010/main" val="170085197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Social, Collaborative Robots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1.3</a:t>
            </a:r>
            <a:endParaRPr lang="en-US" dirty="0"/>
          </a:p>
        </p:txBody>
      </p:sp>
    </p:spTree>
    <p:extLst>
      <p:ext uri="{BB962C8B-B14F-4D97-AF65-F5344CB8AC3E}">
        <p14:creationId xmlns:p14="http://schemas.microsoft.com/office/powerpoint/2010/main" val="31067772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Improvements in Healthcare</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IT used in Healthcare to:</a:t>
            </a:r>
          </a:p>
          <a:p>
            <a:pPr lvl="1"/>
            <a:r>
              <a:rPr lang="en-US" dirty="0" smtClean="0"/>
              <a:t>Make better/faster diagnoses</a:t>
            </a:r>
          </a:p>
          <a:p>
            <a:pPr lvl="1"/>
            <a:r>
              <a:rPr lang="en-US" dirty="0" smtClean="0"/>
              <a:t>Monitor critically ill patients more accurately</a:t>
            </a:r>
          </a:p>
          <a:p>
            <a:pPr lvl="1"/>
            <a:r>
              <a:rPr lang="en-US" dirty="0" smtClean="0"/>
              <a:t>Streamline the process of researching &amp; developing new drugs</a:t>
            </a:r>
            <a:endParaRPr lang="en-US" dirty="0"/>
          </a:p>
          <a:p>
            <a:pPr lvl="1"/>
            <a:r>
              <a:rPr lang="en-US" dirty="0" smtClean="0"/>
              <a:t>To enhance the work of radiologists</a:t>
            </a:r>
          </a:p>
          <a:p>
            <a:pPr lvl="1"/>
            <a:r>
              <a:rPr lang="en-US" dirty="0" smtClean="0"/>
              <a:t>Allow surgeons to use virtual reality to plan complex surgeries &amp; use robots to remotely perform surgery</a:t>
            </a:r>
          </a:p>
        </p:txBody>
      </p:sp>
    </p:spTree>
    <p:extLst>
      <p:ext uri="{BB962C8B-B14F-4D97-AF65-F5344CB8AC3E}">
        <p14:creationId xmlns:p14="http://schemas.microsoft.com/office/powerpoint/2010/main" val="27455077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Apricot Forest Helps China’s Physicians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1.4</a:t>
            </a:r>
            <a:endParaRPr lang="en-US" dirty="0"/>
          </a:p>
        </p:txBody>
      </p:sp>
    </p:spTree>
    <p:extLst>
      <p:ext uri="{BB962C8B-B14F-4D97-AF65-F5344CB8AC3E}">
        <p14:creationId xmlns:p14="http://schemas.microsoft.com/office/powerpoint/2010/main" val="31067772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What to Do About Commercial Drones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An </a:t>
            </a:r>
            <a:r>
              <a:rPr lang="en-US" dirty="0" smtClean="0">
                <a:solidFill>
                  <a:schemeClr val="tx1">
                    <a:lumMod val="65000"/>
                    <a:lumOff val="35000"/>
                  </a:schemeClr>
                </a:solidFill>
              </a:rPr>
              <a:t>Interim Solution</a:t>
            </a:r>
          </a:p>
          <a:p>
            <a:r>
              <a:rPr lang="en-US" dirty="0"/>
              <a:t>The </a:t>
            </a:r>
            <a:r>
              <a:rPr lang="en-US" dirty="0" smtClean="0">
                <a:solidFill>
                  <a:schemeClr val="tx1">
                    <a:lumMod val="65000"/>
                    <a:lumOff val="35000"/>
                  </a:schemeClr>
                </a:solidFill>
              </a:rPr>
              <a:t>Next Step in the Solution</a:t>
            </a:r>
          </a:p>
          <a:p>
            <a:r>
              <a:rPr lang="en-US" dirty="0"/>
              <a:t>The </a:t>
            </a:r>
            <a:r>
              <a:rPr lang="en-US" dirty="0" smtClean="0">
                <a:solidFill>
                  <a:schemeClr val="tx1">
                    <a:lumMod val="65000"/>
                    <a:lumOff val="35000"/>
                  </a:schemeClr>
                </a:solidFill>
              </a:rPr>
              <a:t>Very Early 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2408054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16047</TotalTime>
  <Words>3059</Words>
  <Application>Microsoft Office PowerPoint</Application>
  <PresentationFormat>On-screen Show (4:3)</PresentationFormat>
  <Paragraphs>366</Paragraphs>
  <Slides>49</Slides>
  <Notes>23</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PowerPoint Presentation</vt:lpstr>
      <vt:lpstr>PowerPoint Presentation</vt:lpstr>
      <vt:lpstr>PowerPoint Presentation</vt:lpstr>
      <vt:lpstr>[ WEB RESOURCES]</vt:lpstr>
      <vt:lpstr>[ Opening Case AngelList Helps Entrepreneurs Build Companies]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What to Do About Commercial Drones]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Rainer_6e_Chapter1_Slides</dc:title>
  <dc:creator>John Kenneth Corley</dc:creator>
  <cp:lastModifiedBy>techsupport</cp:lastModifiedBy>
  <cp:revision>471</cp:revision>
  <dcterms:created xsi:type="dcterms:W3CDTF">2013-08-07T23:49:12Z</dcterms:created>
  <dcterms:modified xsi:type="dcterms:W3CDTF">2015-10-01T20:04:51Z</dcterms:modified>
</cp:coreProperties>
</file>