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91" r:id="rId1"/>
    <p:sldMasterId id="2147483704" r:id="rId2"/>
  </p:sldMasterIdLst>
  <p:notesMasterIdLst>
    <p:notesMasterId r:id="rId19"/>
  </p:notesMasterIdLst>
  <p:handoutMasterIdLst>
    <p:handoutMasterId r:id="rId20"/>
  </p:handoutMasterIdLst>
  <p:sldIdLst>
    <p:sldId id="257" r:id="rId3"/>
    <p:sldId id="276" r:id="rId4"/>
    <p:sldId id="277" r:id="rId5"/>
    <p:sldId id="278" r:id="rId6"/>
    <p:sldId id="279" r:id="rId7"/>
    <p:sldId id="280" r:id="rId8"/>
    <p:sldId id="281" r:id="rId9"/>
    <p:sldId id="282" r:id="rId10"/>
    <p:sldId id="283" r:id="rId11"/>
    <p:sldId id="284" r:id="rId12"/>
    <p:sldId id="285" r:id="rId13"/>
    <p:sldId id="286" r:id="rId14"/>
    <p:sldId id="287" r:id="rId15"/>
    <p:sldId id="288" r:id="rId16"/>
    <p:sldId id="289" r:id="rId17"/>
    <p:sldId id="290" r:id="rId18"/>
  </p:sldIdLst>
  <p:sldSz cx="9144000" cy="6858000" type="screen4x3"/>
  <p:notesSz cx="6881813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06" charset="0"/>
        <a:ea typeface="Arial" pitchFamily="-106" charset="0"/>
        <a:cs typeface="Arial" pitchFamily="-106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BC666"/>
    <a:srgbClr val="6CC368"/>
    <a:srgbClr val="59C093"/>
    <a:srgbClr val="6E8176"/>
    <a:srgbClr val="339933"/>
    <a:srgbClr val="FFFF6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2833802-FEF1-4C79-8D5D-14CF1EAF98D9}" styleName="Light Style 2 - Accent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</a:tcStyle>
    </a:band1H>
    <a:band1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1V>
    <a:band2V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2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A111915-BE36-4E01-A7E5-04B1672EAD32}" styleName="Light Style 2 - Accent 5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</a:tcStyle>
    </a:band1H>
    <a:band1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1V>
    <a:band2V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5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311" autoAdjust="0"/>
    <p:restoredTop sz="94664" autoAdjust="0"/>
  </p:normalViewPr>
  <p:slideViewPr>
    <p:cSldViewPr>
      <p:cViewPr varScale="1">
        <p:scale>
          <a:sx n="71" d="100"/>
          <a:sy n="71" d="100"/>
        </p:scale>
        <p:origin x="-1368" y="-9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" Type="http://schemas.openxmlformats.org/officeDocument/2006/relationships/slide" Target="slides/slide1.xml"/><Relationship Id="rId21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endParaRPr lang="en-US"/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97313" y="0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t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endParaRPr lang="en-US"/>
          </a:p>
        </p:txBody>
      </p:sp>
      <p:sp>
        <p:nvSpPr>
          <p:cNvPr id="5734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29675"/>
            <a:ext cx="2982913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defTabSz="923925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734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97313" y="8829675"/>
            <a:ext cx="2982912" cy="4651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446" tIns="46223" rIns="92446" bIns="46223" numCol="1" anchor="b" anchorCtr="0" compatLnSpc="1">
            <a:prstTxWarp prst="textNoShape">
              <a:avLst/>
            </a:prstTxWarp>
          </a:bodyPr>
          <a:lstStyle>
            <a:lvl1pPr algn="r" defTabSz="923925">
              <a:defRPr sz="1200"/>
            </a:lvl1pPr>
          </a:lstStyle>
          <a:p>
            <a:fld id="{6EF00136-1D45-8442-9CC6-7A347AF8218F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06688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97313" y="0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0C67DC9-FE5D-424D-B71B-26C60DBE7217}" type="datetimeFigureOut">
              <a:rPr lang="en-US" smtClean="0"/>
              <a:pPr/>
              <a:t>3/2/2015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176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416425"/>
            <a:ext cx="5505450" cy="41830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2982913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97313" y="8829675"/>
            <a:ext cx="2982912" cy="46513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FB11B43-34D6-0D4A-BD85-CBCA4711028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950734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0FB11B43-34D6-0D4A-BD85-CBCA4711028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5158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79ABDA3-8878-5241-9088-A01BFB314EBE}" type="slidenum">
              <a:rPr lang="en-US"/>
              <a:pPr/>
              <a:t>2</a:t>
            </a:fld>
            <a:endParaRPr lang="en-US"/>
          </a:p>
        </p:txBody>
      </p:sp>
      <p:sp>
        <p:nvSpPr>
          <p:cNvPr id="2048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8950E701-5C13-2C42-90EE-2F2D83E982A4}" type="slidenum">
              <a:rPr lang="en-US"/>
              <a:pPr/>
              <a:t>3</a:t>
            </a:fld>
            <a:endParaRPr lang="en-US"/>
          </a:p>
        </p:txBody>
      </p:sp>
      <p:sp>
        <p:nvSpPr>
          <p:cNvPr id="215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8AC45B-858A-3840-BFA5-C1ABB88FD778}" type="slidenum">
              <a:rPr lang="en-US"/>
              <a:pPr/>
              <a:t>4</a:t>
            </a:fld>
            <a:endParaRPr lang="en-US"/>
          </a:p>
        </p:txBody>
      </p:sp>
      <p:sp>
        <p:nvSpPr>
          <p:cNvPr id="2253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A48B654-50B7-B644-99DB-846638A79268}" type="slidenum">
              <a:rPr lang="en-US"/>
              <a:pPr/>
              <a:t>5</a:t>
            </a:fld>
            <a:endParaRPr lang="en-US"/>
          </a:p>
        </p:txBody>
      </p:sp>
      <p:sp>
        <p:nvSpPr>
          <p:cNvPr id="2355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3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F145844-BCF7-1640-876C-4EB95D56014C}" type="slidenum">
              <a:rPr lang="en-US"/>
              <a:pPr/>
              <a:t>6</a:t>
            </a:fld>
            <a:endParaRPr lang="en-US"/>
          </a:p>
        </p:txBody>
      </p:sp>
      <p:sp>
        <p:nvSpPr>
          <p:cNvPr id="24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457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963949A-14AC-2143-841F-0EA192B04BFC}" type="slidenum">
              <a:rPr lang="en-US"/>
              <a:pPr/>
              <a:t>7</a:t>
            </a:fld>
            <a:endParaRPr lang="en-US"/>
          </a:p>
        </p:txBody>
      </p:sp>
      <p:sp>
        <p:nvSpPr>
          <p:cNvPr id="2560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560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AA99102-7186-6749-9B48-403CED6C77FB}" type="slidenum">
              <a:rPr lang="en-US"/>
              <a:pPr/>
              <a:t>8</a:t>
            </a:fld>
            <a:endParaRPr lang="en-US"/>
          </a:p>
        </p:txBody>
      </p:sp>
      <p:sp>
        <p:nvSpPr>
          <p:cNvPr id="2662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662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15EBC84-EFAD-2B46-8681-FDF91C19B418}" type="slidenum">
              <a:rPr lang="en-US"/>
              <a:pPr/>
              <a:t>9</a:t>
            </a:fld>
            <a:endParaRPr lang="en-US"/>
          </a:p>
        </p:txBody>
      </p:sp>
      <p:sp>
        <p:nvSpPr>
          <p:cNvPr id="2765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76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D9B368A-7F50-1847-91C7-27CE58D89B6A}" type="slidenum">
              <a:rPr lang="en-US"/>
              <a:pPr/>
              <a:t>10</a:t>
            </a:fld>
            <a:endParaRPr lang="en-US"/>
          </a:p>
        </p:txBody>
      </p:sp>
      <p:sp>
        <p:nvSpPr>
          <p:cNvPr id="2867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86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356249-CF97-6242-8310-75715212A9AA}" type="slidenum">
              <a:rPr lang="en-US"/>
              <a:pPr/>
              <a:t>11</a:t>
            </a:fld>
            <a:endParaRPr lang="en-US"/>
          </a:p>
        </p:txBody>
      </p:sp>
      <p:sp>
        <p:nvSpPr>
          <p:cNvPr id="2969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96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6ED63AA-3E0A-294D-BA54-2EECE4F5887A}" type="slidenum">
              <a:rPr lang="en-US"/>
              <a:pPr/>
              <a:t>12</a:t>
            </a:fld>
            <a:endParaRPr lang="en-US"/>
          </a:p>
        </p:txBody>
      </p:sp>
      <p:sp>
        <p:nvSpPr>
          <p:cNvPr id="30722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7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73C8738-7B80-E946-BEB8-22CB943E7414}" type="slidenum">
              <a:rPr lang="en-US"/>
              <a:pPr/>
              <a:t>13</a:t>
            </a:fld>
            <a:endParaRPr lang="en-US"/>
          </a:p>
        </p:txBody>
      </p:sp>
      <p:sp>
        <p:nvSpPr>
          <p:cNvPr id="31746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174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77DABB4-77CA-4540-9AAA-E4078CA6112C}" type="slidenum">
              <a:rPr lang="en-US"/>
              <a:pPr/>
              <a:t>14</a:t>
            </a:fld>
            <a:endParaRPr lang="en-US"/>
          </a:p>
        </p:txBody>
      </p:sp>
      <p:sp>
        <p:nvSpPr>
          <p:cNvPr id="32770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277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06BD6A-9E70-EE47-92F5-CFA70E47662C}" type="slidenum">
              <a:rPr lang="en-US"/>
              <a:pPr/>
              <a:t>15</a:t>
            </a:fld>
            <a:endParaRPr lang="en-US"/>
          </a:p>
        </p:txBody>
      </p:sp>
      <p:sp>
        <p:nvSpPr>
          <p:cNvPr id="33794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37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078668D-2320-C34B-9AFA-A4451A329E12}" type="slidenum">
              <a:rPr lang="en-US"/>
              <a:pPr/>
              <a:t>16</a:t>
            </a:fld>
            <a:endParaRPr lang="en-US"/>
          </a:p>
        </p:txBody>
      </p:sp>
      <p:sp>
        <p:nvSpPr>
          <p:cNvPr id="3481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A51D-086D-3B4E-AD0E-12E6FFAA86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511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9CF9-BBD9-5343-AC7F-27FE447F47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945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3C35-76FA-154E-A793-D9272D3F69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526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C889-B47E-FA4D-9E6C-D6D0D9AB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558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135EF-909B-AF4B-ACB2-AE3ED017A6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749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045C-59BC-3344-B24A-27B161506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095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FFD-46BA-6145-BD63-E7ADB3502E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669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52C1B-DEED-7243-BC5A-881B4A630B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1659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66D4-365C-304B-8399-C0BFEA5AE9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55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7943-5740-C44E-A823-BC9BCF8C7E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07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47186-6378-F240-90C7-734B12C109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21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1_Title Slid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white">
          <a:xfrm>
            <a:off x="0" y="5971032"/>
            <a:ext cx="9144000" cy="886968"/>
          </a:xfrm>
          <a:prstGeom prst="rect">
            <a:avLst/>
          </a:prstGeom>
          <a:solidFill>
            <a:srgbClr val="FFFFFF"/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0" name="Rectangle 9"/>
          <p:cNvSpPr/>
          <p:nvPr/>
        </p:nvSpPr>
        <p:spPr>
          <a:xfrm>
            <a:off x="-9144" y="6053328"/>
            <a:ext cx="2249424" cy="713232"/>
          </a:xfrm>
          <a:prstGeom prst="rect">
            <a:avLst/>
          </a:prstGeom>
          <a:solidFill>
            <a:schemeClr val="accent2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2359152" y="6044184"/>
            <a:ext cx="6784848" cy="713232"/>
          </a:xfrm>
          <a:prstGeom prst="rect">
            <a:avLst/>
          </a:prstGeom>
          <a:solidFill>
            <a:schemeClr val="accent1">
              <a:alpha val="100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2362200" y="4038600"/>
            <a:ext cx="6477000" cy="1828800"/>
          </a:xfrm>
        </p:spPr>
        <p:txBody>
          <a:bodyPr anchor="b"/>
          <a:lstStyle>
            <a:lvl1pPr>
              <a:defRPr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76200" y="6068699"/>
            <a:ext cx="2057400" cy="685800"/>
          </a:xfrm>
        </p:spPr>
        <p:txBody>
          <a:bodyPr>
            <a:noAutofit/>
          </a:bodyPr>
          <a:lstStyle>
            <a:lvl1pPr algn="ctr">
              <a:defRPr sz="2000">
                <a:solidFill>
                  <a:srgbClr val="FFFFFF"/>
                </a:solidFill>
              </a:defRPr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001000" y="228600"/>
            <a:ext cx="838200" cy="3810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603BCFD-2E9F-6F47-A347-F7B71F07265F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Footer Placeholder 4"/>
          <p:cNvSpPr>
            <a:spLocks noGrp="1"/>
          </p:cNvSpPr>
          <p:nvPr userDrawn="1">
            <p:ph type="ftr" sz="quarter" idx="11"/>
          </p:nvPr>
        </p:nvSpPr>
        <p:spPr>
          <a:xfrm>
            <a:off x="2348395" y="6340475"/>
            <a:ext cx="6781800" cy="365125"/>
          </a:xfrm>
          <a:prstGeom prst="rect">
            <a:avLst/>
          </a:prstGeom>
        </p:spPr>
        <p:txBody>
          <a:bodyPr/>
          <a:lstStyle/>
          <a:p>
            <a:pPr algn="ctr"/>
            <a:r>
              <a:rPr lang="en-US" sz="1800" smtClean="0">
                <a:latin typeface="+mn-lt"/>
              </a:rPr>
              <a:t>Copyright © 2014 John Wiley &amp; Sons, Inc.</a:t>
            </a:r>
            <a:endParaRPr lang="en-US" sz="1800" dirty="0">
              <a:latin typeface="+mn-lt"/>
            </a:endParaRP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42A51D-086D-3B4E-AD0E-12E6FFAA8605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005111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CD9CF9-BBD9-5343-AC7F-27FE447F471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19455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253C35-76FA-154E-A793-D9272D3F693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45263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A7C889-B47E-FA4D-9E6C-D6D0D9AB7C2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845582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C135EF-909B-AF4B-ACB2-AE3ED017A6B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17491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8C045C-59BC-3344-B24A-27B161506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300953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BAF6FFD-46BA-6145-BD63-E7ADB3502E1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336694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552C1B-DEED-7243-BC5A-881B4A630B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76165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2DE66D4-365C-304B-8399-C0BFEA5AE979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46552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567943-5740-C44E-A823-BC9BCF8C7EE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200733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C447186-6378-F240-90C7-734B12C109E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8921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3" Type="http://schemas.openxmlformats.org/officeDocument/2006/relationships/slideLayout" Target="../slideLayouts/slideLayout15.xml"/><Relationship Id="rId7" Type="http://schemas.openxmlformats.org/officeDocument/2006/relationships/slideLayout" Target="../slideLayouts/slideLayout19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0" Type="http://schemas.openxmlformats.org/officeDocument/2006/relationships/slideLayout" Target="../slideLayouts/slideLayout22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2A51D-086D-3B4E-AD0E-12E6FFAA86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228600" y="6400800"/>
            <a:ext cx="5638800" cy="304994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Bygrave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 &amp;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Zacharakis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,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Entrepreneurship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, New York: Wiley, 2011.  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Arial" pitchFamily="30" charset="0"/>
              <a:cs typeface="Arial" pitchFamily="3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69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2" r:id="rId1"/>
    <p:sldLayoutId id="2147483693" r:id="rId2"/>
    <p:sldLayoutId id="2147483694" r:id="rId3"/>
    <p:sldLayoutId id="2147483695" r:id="rId4"/>
    <p:sldLayoutId id="2147483696" r:id="rId5"/>
    <p:sldLayoutId id="2147483697" r:id="rId6"/>
    <p:sldLayoutId id="2147483698" r:id="rId7"/>
    <p:sldLayoutId id="2147483699" r:id="rId8"/>
    <p:sldLayoutId id="2147483700" r:id="rId9"/>
    <p:sldLayoutId id="2147483701" r:id="rId10"/>
    <p:sldLayoutId id="2147483702" r:id="rId11"/>
    <p:sldLayoutId id="2147483703" r:id="rId12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smtClean="0"/>
              <a:t>Copyright © 2014 John Wiley &amp; Sons, Inc.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42A51D-086D-3B4E-AD0E-12E6FFAA860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7" name="Footer Placeholder 4"/>
          <p:cNvSpPr txBox="1">
            <a:spLocks/>
          </p:cNvSpPr>
          <p:nvPr userDrawn="1"/>
        </p:nvSpPr>
        <p:spPr>
          <a:xfrm>
            <a:off x="228600" y="6400800"/>
            <a:ext cx="5638800" cy="304994"/>
          </a:xfrm>
          <a:prstGeom prst="rect">
            <a:avLst/>
          </a:prstGeom>
        </p:spPr>
        <p:txBody>
          <a:bodyPr vert="horz" anchor="ctr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Bygrave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 &amp; </a:t>
            </a:r>
            <a:r>
              <a:rPr kumimoji="0" lang="en-US" sz="1400" b="0" i="0" u="none" strike="noStrike" kern="1200" cap="none" spc="0" normalizeH="0" baseline="0" noProof="0" dirty="0" err="1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Zacharakis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, </a:t>
            </a:r>
            <a:r>
              <a:rPr kumimoji="0" lang="en-US" sz="1400" b="0" i="1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Entrepreneurship</a:t>
            </a:r>
            <a:r>
              <a:rPr kumimoji="0" lang="en-US" sz="14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+mn-lt"/>
                <a:ea typeface="Arial" pitchFamily="30" charset="0"/>
                <a:cs typeface="Arial" pitchFamily="30" charset="0"/>
              </a:rPr>
              <a:t>, New York: Wiley, 2011.  ©</a:t>
            </a:r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+mn-lt"/>
              <a:ea typeface="Arial" pitchFamily="30" charset="0"/>
              <a:cs typeface="Arial" pitchFamily="30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16996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</p:sldLayoutIdLst>
  <p:hf sldNum="0" hd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2590800" y="2057400"/>
            <a:ext cx="6096000" cy="2743200"/>
          </a:xfrm>
        </p:spPr>
        <p:txBody>
          <a:bodyPr>
            <a:normAutofit/>
          </a:bodyPr>
          <a:lstStyle/>
          <a:p>
            <a:pPr>
              <a:spcBef>
                <a:spcPts val="0"/>
              </a:spcBef>
              <a:spcAft>
                <a:spcPts val="1800"/>
              </a:spcAft>
            </a:pPr>
            <a:r>
              <a:rPr lang="en-US" sz="4800" dirty="0" smtClean="0"/>
              <a:t>Social Entrepreneurship</a:t>
            </a:r>
            <a:r>
              <a:rPr lang="en-US" sz="4600" b="1" dirty="0" smtClean="0"/>
              <a:t/>
            </a:r>
            <a:br>
              <a:rPr lang="en-US" sz="4600" b="1" dirty="0" smtClean="0"/>
            </a:br>
            <a:r>
              <a:rPr lang="en-US" sz="3600" dirty="0" smtClean="0"/>
              <a:t>Chapter 14</a:t>
            </a:r>
            <a:br>
              <a:rPr lang="en-US" sz="3600" dirty="0" smtClean="0"/>
            </a:br>
            <a:endParaRPr lang="en-US" sz="3556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ctr"/>
            <a:r>
              <a:rPr lang="en-US" sz="1800" dirty="0" smtClean="0">
                <a:latin typeface="+mn-lt"/>
              </a:rPr>
              <a:t>Copyright © 2014 John Wiley &amp; Sons, Inc.</a:t>
            </a:r>
            <a:endParaRPr lang="en-US" sz="1800" dirty="0">
              <a:latin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Essential Feature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Classical entrepreneurs seek financial gain</a:t>
            </a:r>
          </a:p>
          <a:p>
            <a:pPr>
              <a:buFont typeface="Wingdings" charset="2"/>
              <a:buChar char="q"/>
            </a:pPr>
            <a:r>
              <a:rPr lang="en-US" dirty="0"/>
              <a:t>Social entrepreneurs start with a social mission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Definition</a:t>
            </a:r>
          </a:p>
        </p:txBody>
      </p:sp>
      <p:sp>
        <p:nvSpPr>
          <p:cNvPr id="307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To create or apply economically viable models to achieve social or environmental value or change</a:t>
            </a:r>
          </a:p>
          <a:p>
            <a:pPr>
              <a:buFont typeface="Wingdings" charset="2"/>
              <a:buChar char="q"/>
            </a:pPr>
            <a:r>
              <a:rPr lang="en-US" dirty="0"/>
              <a:t>Dees: “Social entrepreneurs play the role of change agents in the social sector” by engaging in certain actions: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Dees’ Actions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Creating and sustaining social value</a:t>
            </a:r>
          </a:p>
          <a:p>
            <a:pPr>
              <a:buFont typeface="Wingdings" charset="2"/>
              <a:buChar char="q"/>
            </a:pPr>
            <a:r>
              <a:rPr lang="en-US" dirty="0"/>
              <a:t>Relentlessly pursuing new opportunities</a:t>
            </a:r>
          </a:p>
          <a:p>
            <a:pPr>
              <a:buFont typeface="Wingdings" charset="2"/>
              <a:buChar char="q"/>
            </a:pPr>
            <a:r>
              <a:rPr lang="en-US" dirty="0"/>
              <a:t>Acting without being limited by resources</a:t>
            </a:r>
          </a:p>
          <a:p>
            <a:pPr>
              <a:buFont typeface="Wingdings" charset="2"/>
              <a:buChar char="q"/>
            </a:pPr>
            <a:r>
              <a:rPr lang="en-US" dirty="0"/>
              <a:t>Exhibiting accountability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50211" y="6604000"/>
            <a:ext cx="18466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Taxonomy of Categories</a:t>
            </a:r>
          </a:p>
        </p:txBody>
      </p:sp>
      <p:sp>
        <p:nvSpPr>
          <p:cNvPr id="614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Imitative nonprofit organizations</a:t>
            </a:r>
          </a:p>
          <a:p>
            <a:pPr>
              <a:buFont typeface="Wingdings" charset="2"/>
              <a:buChar char="q"/>
            </a:pPr>
            <a:r>
              <a:rPr lang="en-US" dirty="0"/>
              <a:t>Innovative nonprofit organizations</a:t>
            </a:r>
          </a:p>
          <a:p>
            <a:pPr>
              <a:buFont typeface="Wingdings" charset="2"/>
              <a:buChar char="q"/>
            </a:pPr>
            <a:r>
              <a:rPr lang="en-US" dirty="0"/>
              <a:t>Hybrid nonprofit organizations</a:t>
            </a:r>
          </a:p>
          <a:p>
            <a:pPr>
              <a:buFont typeface="Wingdings" charset="2"/>
              <a:buChar char="q"/>
            </a:pPr>
            <a:r>
              <a:rPr lang="en-US" dirty="0"/>
              <a:t>For-profit organizations</a:t>
            </a:r>
          </a:p>
          <a:p>
            <a:pPr>
              <a:buFont typeface="Wingdings" charset="2"/>
              <a:buChar char="q"/>
            </a:pPr>
            <a:r>
              <a:rPr lang="en-US" dirty="0"/>
              <a:t>(Corporate social entrepreneurship does not apply)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Nonprofit Organizations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Designated by Internal Revenue Code</a:t>
            </a:r>
          </a:p>
          <a:p>
            <a:pPr>
              <a:buFont typeface="Wingdings" charset="2"/>
              <a:buChar char="q"/>
            </a:pPr>
            <a:r>
              <a:rPr lang="en-US" dirty="0"/>
              <a:t>Serve the social interest</a:t>
            </a:r>
          </a:p>
          <a:p>
            <a:pPr>
              <a:buFont typeface="Wingdings" charset="2"/>
              <a:buChar char="q"/>
            </a:pPr>
            <a:r>
              <a:rPr lang="en-US" dirty="0"/>
              <a:t>Examples: charitable, religious, educational, scientific, literary, testing for public safety, fostering amateur sports, preventing animal cruelty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Reporting Requirement</a:t>
            </a:r>
          </a:p>
        </p:txBody>
      </p:sp>
      <p:sp>
        <p:nvSpPr>
          <p:cNvPr id="921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Nonprofits over $25,000 in revenues must file Form 990</a:t>
            </a:r>
          </a:p>
          <a:p>
            <a:pPr>
              <a:buFont typeface="Wingdings" charset="2"/>
              <a:buChar char="q"/>
            </a:pPr>
            <a:r>
              <a:rPr lang="en-US" dirty="0" err="1"/>
              <a:t>GuideStar.org</a:t>
            </a:r>
            <a:r>
              <a:rPr lang="en-US" dirty="0"/>
              <a:t> is a free source of access to Form 990s</a:t>
            </a:r>
          </a:p>
          <a:p>
            <a:pPr>
              <a:buFont typeface="Wingdings" charset="2"/>
              <a:buChar char="q"/>
            </a:pPr>
            <a:r>
              <a:rPr lang="en-US" dirty="0"/>
              <a:t>Private foundations file Form 990 PF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Imitative Nonprofits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Promote social value as a nonprofit</a:t>
            </a:r>
          </a:p>
          <a:p>
            <a:pPr>
              <a:buFont typeface="Wingdings" charset="2"/>
              <a:buChar char="q"/>
            </a:pPr>
            <a:r>
              <a:rPr lang="en-US" dirty="0"/>
              <a:t>Are easily replicated without modification</a:t>
            </a:r>
          </a:p>
          <a:p>
            <a:pPr>
              <a:buFont typeface="Wingdings" charset="2"/>
              <a:buChar char="q"/>
            </a:pPr>
            <a:r>
              <a:rPr lang="en-US" dirty="0"/>
              <a:t>Examples: Churches, schools, scientific research centers, sporting clubs</a:t>
            </a:r>
          </a:p>
          <a:p>
            <a:pPr>
              <a:buFont typeface="Wingdings" charset="2"/>
              <a:buChar char="q"/>
            </a:pPr>
            <a:r>
              <a:rPr lang="en-US" dirty="0"/>
              <a:t>Typically introduced to a new geographic area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Innovative Nonprofits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Introduce an element of innovation or change</a:t>
            </a:r>
          </a:p>
          <a:p>
            <a:pPr>
              <a:buFont typeface="Wingdings" charset="2"/>
              <a:buChar char="q"/>
            </a:pPr>
            <a:r>
              <a:rPr lang="en-US" dirty="0"/>
              <a:t>New Profit, founded by Vanessa Kirsch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Inspired by venture capital model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Provides funding and expertise to help scale social ventures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Hybrids</a:t>
            </a:r>
          </a:p>
        </p:txBody>
      </p:sp>
      <p:sp>
        <p:nvSpPr>
          <p:cNvPr id="1126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sz="2800" dirty="0"/>
              <a:t>Nonprofits with a component that generates earned income to support the mission</a:t>
            </a:r>
          </a:p>
          <a:p>
            <a:pPr>
              <a:buFont typeface="Wingdings" charset="2"/>
              <a:buChar char="q"/>
            </a:pPr>
            <a:r>
              <a:rPr lang="en-US" sz="2800" dirty="0"/>
              <a:t>Earned income may be through a for-profit company</a:t>
            </a:r>
            <a:endParaRPr lang="en-US" sz="2800" dirty="0" smtClean="0"/>
          </a:p>
          <a:p>
            <a:pPr>
              <a:buFont typeface="Wingdings" charset="2"/>
              <a:buChar char="q"/>
            </a:pPr>
            <a:r>
              <a:rPr lang="en-US" sz="2800" dirty="0" smtClean="0"/>
              <a:t>Endeavor, founded by Linda </a:t>
            </a:r>
            <a:r>
              <a:rPr lang="en-US" sz="2800" dirty="0" err="1" smtClean="0"/>
              <a:t>Rottenberg</a:t>
            </a:r>
            <a:endParaRPr lang="en-US" sz="2800" dirty="0" smtClean="0"/>
          </a:p>
          <a:p>
            <a:pPr lvl="1">
              <a:buFont typeface="Wingdings" charset="2"/>
              <a:buChar char="q"/>
            </a:pPr>
            <a:r>
              <a:rPr lang="en-US" sz="2400" dirty="0" smtClean="0"/>
              <a:t>Creates a mezzanine capital space funded by successful entrepreneurs in developing countries</a:t>
            </a:r>
            <a:endParaRPr lang="en-US" sz="2400" dirty="0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For-profits</a:t>
            </a:r>
          </a:p>
        </p:txBody>
      </p:sp>
      <p:sp>
        <p:nvSpPr>
          <p:cNvPr id="1229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For-profit companies that achieve social value at least as great as economic value</a:t>
            </a:r>
          </a:p>
          <a:p>
            <a:pPr>
              <a:buFont typeface="Wingdings" charset="2"/>
              <a:buChar char="q"/>
            </a:pPr>
            <a:r>
              <a:rPr lang="en-US" dirty="0" err="1"/>
              <a:t>Yunus</a:t>
            </a:r>
            <a:r>
              <a:rPr lang="en-US" dirty="0"/>
              <a:t>’ social businesses (like </a:t>
            </a:r>
            <a:r>
              <a:rPr lang="en-US" dirty="0" err="1"/>
              <a:t>Grameen</a:t>
            </a:r>
            <a:r>
              <a:rPr lang="en-US" dirty="0"/>
              <a:t> Bank)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Profits, after initial payback to investors, are reinvested into the social mission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New Organizational Models</a:t>
            </a:r>
          </a:p>
        </p:txBody>
      </p:sp>
      <p:sp>
        <p:nvSpPr>
          <p:cNvPr id="13315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Schumpeter acknowledges that creating new forms of organization is an entrepreneurial act</a:t>
            </a:r>
          </a:p>
          <a:p>
            <a:pPr>
              <a:buFont typeface="Wingdings" charset="2"/>
              <a:buChar char="q"/>
            </a:pPr>
            <a:r>
              <a:rPr lang="en-US" dirty="0"/>
              <a:t>Cooperatives as a form of organization create both economic and social value</a:t>
            </a:r>
          </a:p>
          <a:p>
            <a:pPr>
              <a:buFont typeface="Wingdings" charset="2"/>
              <a:buChar char="q"/>
            </a:pPr>
            <a:r>
              <a:rPr lang="en-US" dirty="0"/>
              <a:t>Selecting the cooperative model is a social entrepreneurial act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Started</a:t>
            </a:r>
          </a:p>
        </p:txBody>
      </p:sp>
      <p:sp>
        <p:nvSpPr>
          <p:cNvPr id="14339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Identifying opportunities: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Accidental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Deliberate</a:t>
            </a:r>
          </a:p>
          <a:p>
            <a:pPr>
              <a:buFont typeface="Wingdings" charset="2"/>
              <a:buChar char="q"/>
            </a:pPr>
            <a:r>
              <a:rPr lang="en-US" dirty="0"/>
              <a:t>Forming an organization: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Nonprofit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For-profit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Getting Started</a:t>
            </a:r>
          </a:p>
        </p:txBody>
      </p:sp>
      <p:sp>
        <p:nvSpPr>
          <p:cNvPr id="15363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Securing resources: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Theory of change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Logic model</a:t>
            </a:r>
          </a:p>
          <a:p>
            <a:pPr>
              <a:buFont typeface="Wingdings" charset="2"/>
              <a:buChar char="q"/>
            </a:pPr>
            <a:r>
              <a:rPr lang="en-US" dirty="0"/>
              <a:t>Evaluating results: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Need for referent</a:t>
            </a:r>
          </a:p>
          <a:p>
            <a:pPr lvl="1">
              <a:buFont typeface="Wingdings" charset="2"/>
              <a:buChar char="q"/>
            </a:pPr>
            <a:r>
              <a:rPr lang="en-US" dirty="0"/>
              <a:t>Formative, summative, and longitudinal options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Going to Scale</a:t>
            </a:r>
          </a:p>
        </p:txBody>
      </p:sp>
      <p:sp>
        <p:nvSpPr>
          <p:cNvPr id="16387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Increasing the effect of the venture through expansion</a:t>
            </a:r>
          </a:p>
          <a:p>
            <a:pPr>
              <a:buFont typeface="Wingdings" charset="2"/>
              <a:buChar char="q"/>
            </a:pPr>
            <a:r>
              <a:rPr lang="en-US" dirty="0"/>
              <a:t>Not all ventures should be scaled</a:t>
            </a:r>
          </a:p>
          <a:p>
            <a:pPr>
              <a:buFont typeface="Wingdings" charset="2"/>
              <a:buChar char="q"/>
            </a:pPr>
            <a:r>
              <a:rPr lang="en-US" dirty="0"/>
              <a:t>Finding social entrepreneurs to replicate can be difficult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Recap</a:t>
            </a:r>
            <a:endParaRPr lang="en-US" dirty="0"/>
          </a:p>
        </p:txBody>
      </p:sp>
      <p:sp>
        <p:nvSpPr>
          <p:cNvPr id="17411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>
              <a:buFont typeface="Wingdings" charset="2"/>
              <a:buChar char="q"/>
            </a:pPr>
            <a:r>
              <a:rPr lang="en-US" dirty="0"/>
              <a:t>Until government and business meet social needs, there will be demand for social entrepreneurs</a:t>
            </a:r>
          </a:p>
          <a:p>
            <a:pPr>
              <a:buFont typeface="Wingdings" charset="2"/>
              <a:buChar char="q"/>
            </a:pPr>
            <a:r>
              <a:rPr lang="en-US" dirty="0"/>
              <a:t>Many have created systemic change</a:t>
            </a:r>
          </a:p>
          <a:p>
            <a:pPr>
              <a:buFont typeface="Wingdings" charset="2"/>
              <a:buChar char="q"/>
            </a:pPr>
            <a:r>
              <a:rPr lang="en-US" dirty="0"/>
              <a:t>Imitative and innovative entrepreneurs can be equally rewarded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Copyright © 2014 John Wiley &amp; Sons, Inc.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1574</TotalTime>
  <Words>759</Words>
  <Application>Microsoft Office PowerPoint</Application>
  <PresentationFormat>On-screen Show (4:3)</PresentationFormat>
  <Paragraphs>119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16</vt:i4>
      </vt:variant>
    </vt:vector>
  </HeadingPairs>
  <TitlesOfParts>
    <vt:vector size="18" baseType="lpstr">
      <vt:lpstr>Office Theme</vt:lpstr>
      <vt:lpstr>1_Office Theme</vt:lpstr>
      <vt:lpstr>Social Entrepreneurship Chapter 14 </vt:lpstr>
      <vt:lpstr>Essential Feature</vt:lpstr>
      <vt:lpstr>Definition</vt:lpstr>
      <vt:lpstr>Dees’ Actions</vt:lpstr>
      <vt:lpstr>Taxonomy of Categories</vt:lpstr>
      <vt:lpstr>Nonprofit Organizations</vt:lpstr>
      <vt:lpstr>Reporting Requirement</vt:lpstr>
      <vt:lpstr>Imitative Nonprofits</vt:lpstr>
      <vt:lpstr>Innovative Nonprofits</vt:lpstr>
      <vt:lpstr>Hybrids</vt:lpstr>
      <vt:lpstr>For-profits</vt:lpstr>
      <vt:lpstr>New Organizational Models</vt:lpstr>
      <vt:lpstr>Getting Started</vt:lpstr>
      <vt:lpstr>Getting Started</vt:lpstr>
      <vt:lpstr>Going to Scale</vt:lpstr>
      <vt:lpstr>Recap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Basic strategy categories are:</dc:title>
  <dc:creator>Alexey Amerikov</dc:creator>
  <cp:lastModifiedBy>Dallas, Amanda - Hoboken</cp:lastModifiedBy>
  <cp:revision>46</cp:revision>
  <dcterms:created xsi:type="dcterms:W3CDTF">2010-07-14T23:23:11Z</dcterms:created>
  <dcterms:modified xsi:type="dcterms:W3CDTF">2015-03-02T20:31:51Z</dcterms:modified>
</cp:coreProperties>
</file>