
<file path=[Content_Types].xml><?xml version="1.0" encoding="utf-8"?>
<Types xmlns="http://schemas.openxmlformats.org/package/2006/content-types">
  <Default Extension="png" ContentType="image/png"/>
  <Default Extension="wmf" ContentType="image/x-w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62"/>
  </p:notesMasterIdLst>
  <p:sldIdLst>
    <p:sldId id="658" r:id="rId2"/>
    <p:sldId id="659" r:id="rId3"/>
    <p:sldId id="660" r:id="rId4"/>
    <p:sldId id="746" r:id="rId5"/>
    <p:sldId id="663" r:id="rId6"/>
    <p:sldId id="785" r:id="rId7"/>
    <p:sldId id="786" r:id="rId8"/>
    <p:sldId id="1118" r:id="rId9"/>
    <p:sldId id="1119" r:id="rId10"/>
    <p:sldId id="787" r:id="rId11"/>
    <p:sldId id="789" r:id="rId12"/>
    <p:sldId id="790" r:id="rId13"/>
    <p:sldId id="664" r:id="rId14"/>
    <p:sldId id="791" r:id="rId15"/>
    <p:sldId id="792" r:id="rId16"/>
    <p:sldId id="793" r:id="rId17"/>
    <p:sldId id="794" r:id="rId18"/>
    <p:sldId id="795" r:id="rId19"/>
    <p:sldId id="796" r:id="rId20"/>
    <p:sldId id="797" r:id="rId21"/>
    <p:sldId id="798" r:id="rId22"/>
    <p:sldId id="1046" r:id="rId23"/>
    <p:sldId id="799" r:id="rId24"/>
    <p:sldId id="800" r:id="rId25"/>
    <p:sldId id="801" r:id="rId26"/>
    <p:sldId id="802" r:id="rId27"/>
    <p:sldId id="803" r:id="rId28"/>
    <p:sldId id="1120" r:id="rId29"/>
    <p:sldId id="804" r:id="rId30"/>
    <p:sldId id="805" r:id="rId31"/>
    <p:sldId id="806" r:id="rId32"/>
    <p:sldId id="807" r:id="rId33"/>
    <p:sldId id="808" r:id="rId34"/>
    <p:sldId id="809" r:id="rId35"/>
    <p:sldId id="810" r:id="rId36"/>
    <p:sldId id="811" r:id="rId37"/>
    <p:sldId id="812" r:id="rId38"/>
    <p:sldId id="813" r:id="rId39"/>
    <p:sldId id="814" r:id="rId40"/>
    <p:sldId id="815" r:id="rId41"/>
    <p:sldId id="1047" r:id="rId42"/>
    <p:sldId id="816" r:id="rId43"/>
    <p:sldId id="817" r:id="rId44"/>
    <p:sldId id="818" r:id="rId45"/>
    <p:sldId id="819" r:id="rId46"/>
    <p:sldId id="820" r:id="rId47"/>
    <p:sldId id="1048" r:id="rId48"/>
    <p:sldId id="821" r:id="rId49"/>
    <p:sldId id="822" r:id="rId50"/>
    <p:sldId id="823" r:id="rId51"/>
    <p:sldId id="825" r:id="rId52"/>
    <p:sldId id="824" r:id="rId53"/>
    <p:sldId id="827" r:id="rId54"/>
    <p:sldId id="826" r:id="rId55"/>
    <p:sldId id="828" r:id="rId56"/>
    <p:sldId id="829" r:id="rId57"/>
    <p:sldId id="830" r:id="rId58"/>
    <p:sldId id="1121" r:id="rId59"/>
    <p:sldId id="1049" r:id="rId60"/>
    <p:sldId id="1082" r:id="rId61"/>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D9B0B"/>
    <a:srgbClr val="F17901"/>
    <a:srgbClr val="69BE02"/>
    <a:srgbClr val="8E0000"/>
    <a:srgbClr val="B5FD5D"/>
    <a:srgbClr val="FEBB34"/>
    <a:srgbClr val="D5FEA4"/>
    <a:srgbClr val="7CFF33"/>
    <a:srgbClr val="75D402"/>
    <a:srgbClr val="74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vertBarState="maximized">
    <p:restoredLeft sz="15620"/>
    <p:restoredTop sz="77149" autoAdjust="0"/>
  </p:normalViewPr>
  <p:slideViewPr>
    <p:cSldViewPr>
      <p:cViewPr>
        <p:scale>
          <a:sx n="60" d="100"/>
          <a:sy n="60" d="100"/>
        </p:scale>
        <p:origin x="-2364" y="-744"/>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tableStyles" Target="tableStyle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78EB6D6B-9C86-499A-A636-38829A5F60B2}" type="datetimeFigureOut">
              <a:rPr lang="en-US" smtClean="0"/>
              <a:t>10/1/2015</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2CF41C25-7A1F-47FB-B705-003A328B9163}" type="slidenum">
              <a:rPr lang="en-US" smtClean="0"/>
              <a:t>‹#›</a:t>
            </a:fld>
            <a:endParaRPr lang="en-US"/>
          </a:p>
        </p:txBody>
      </p:sp>
    </p:spTree>
    <p:extLst>
      <p:ext uri="{BB962C8B-B14F-4D97-AF65-F5344CB8AC3E}">
        <p14:creationId xmlns:p14="http://schemas.microsoft.com/office/powerpoint/2010/main" val="425230998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smtClean="0"/>
              <a:t>Efficiency</a:t>
            </a:r>
            <a:r>
              <a:rPr lang="en-US" dirty="0" smtClean="0"/>
              <a:t> focuses on doing things well in the process; for example, progressing from one process activity to another without delay or without wasting money or resources.</a:t>
            </a:r>
          </a:p>
          <a:p>
            <a:r>
              <a:rPr lang="en-US" b="1" dirty="0" smtClean="0"/>
              <a:t>Effectiveness</a:t>
            </a:r>
            <a:r>
              <a:rPr lang="en-US" dirty="0" smtClean="0"/>
              <a:t> focuses on doing the things that matter; that is, creating outputs of value to the process customer—for example, high-quality products.</a:t>
            </a:r>
            <a:endParaRPr lang="en-US" dirty="0"/>
          </a:p>
        </p:txBody>
      </p:sp>
      <p:sp>
        <p:nvSpPr>
          <p:cNvPr id="4" name="Slide Number Placeholder 3"/>
          <p:cNvSpPr>
            <a:spLocks noGrp="1"/>
          </p:cNvSpPr>
          <p:nvPr>
            <p:ph type="sldNum" sz="quarter" idx="10"/>
          </p:nvPr>
        </p:nvSpPr>
        <p:spPr/>
        <p:txBody>
          <a:bodyPr/>
          <a:lstStyle/>
          <a:p>
            <a:fld id="{2CF41C25-7A1F-47FB-B705-003A328B9163}" type="slidenum">
              <a:rPr lang="en-US" smtClean="0"/>
              <a:t>7</a:t>
            </a:fld>
            <a:endParaRPr lang="en-US"/>
          </a:p>
        </p:txBody>
      </p:sp>
    </p:spTree>
    <p:extLst>
      <p:ext uri="{BB962C8B-B14F-4D97-AF65-F5344CB8AC3E}">
        <p14:creationId xmlns:p14="http://schemas.microsoft.com/office/powerpoint/2010/main" val="219553592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CF41C25-7A1F-47FB-B705-003A328B9163}" type="slidenum">
              <a:rPr lang="en-US" smtClean="0"/>
              <a:t>10</a:t>
            </a:fld>
            <a:endParaRPr lang="en-US"/>
          </a:p>
        </p:txBody>
      </p:sp>
    </p:spTree>
    <p:extLst>
      <p:ext uri="{BB962C8B-B14F-4D97-AF65-F5344CB8AC3E}">
        <p14:creationId xmlns:p14="http://schemas.microsoft.com/office/powerpoint/2010/main" val="103571857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Font typeface="+mj-lt"/>
              <a:buAutoNum type="arabicPeriod"/>
            </a:pPr>
            <a:r>
              <a:rPr lang="en-US" dirty="0" smtClean="0"/>
              <a:t>Describe why pre-race inspection is a business process for NASCAR.</a:t>
            </a:r>
          </a:p>
          <a:p>
            <a:pPr marL="228600" indent="-228600">
              <a:buFont typeface="+mj-lt"/>
              <a:buAutoNum type="arabicPeriod"/>
            </a:pPr>
            <a:r>
              <a:rPr lang="en-US" dirty="0" smtClean="0"/>
              <a:t>Describe the various </a:t>
            </a:r>
            <a:r>
              <a:rPr lang="en-US" dirty="0" err="1" smtClean="0"/>
              <a:t>benefi</a:t>
            </a:r>
            <a:r>
              <a:rPr lang="en-US" dirty="0" smtClean="0"/>
              <a:t> </a:t>
            </a:r>
            <a:r>
              <a:rPr lang="en-US" dirty="0" err="1" smtClean="0"/>
              <a:t>ts</a:t>
            </a:r>
            <a:r>
              <a:rPr lang="en-US" dirty="0" smtClean="0"/>
              <a:t> that the app provides NASCAR.</a:t>
            </a:r>
          </a:p>
          <a:p>
            <a:pPr marL="228600" indent="-228600">
              <a:buFont typeface="+mj-lt"/>
              <a:buAutoNum type="arabicPeriod"/>
            </a:pPr>
            <a:r>
              <a:rPr lang="en-US" dirty="0" smtClean="0"/>
              <a:t>Look ahead to Section 2.4. Is the app a strategic information system (SIS) for NASCAR? Why or why not? Support your answer.</a:t>
            </a:r>
            <a:endParaRPr lang="en-US" dirty="0"/>
          </a:p>
        </p:txBody>
      </p:sp>
      <p:sp>
        <p:nvSpPr>
          <p:cNvPr id="4" name="Slide Number Placeholder 3"/>
          <p:cNvSpPr>
            <a:spLocks noGrp="1"/>
          </p:cNvSpPr>
          <p:nvPr>
            <p:ph type="sldNum" sz="quarter" idx="10"/>
          </p:nvPr>
        </p:nvSpPr>
        <p:spPr/>
        <p:txBody>
          <a:bodyPr/>
          <a:lstStyle/>
          <a:p>
            <a:fld id="{2CF41C25-7A1F-47FB-B705-003A328B9163}" type="slidenum">
              <a:rPr lang="en-US" smtClean="0"/>
              <a:t>13</a:t>
            </a:fld>
            <a:endParaRPr lang="en-US"/>
          </a:p>
        </p:txBody>
      </p:sp>
    </p:spTree>
    <p:extLst>
      <p:ext uri="{BB962C8B-B14F-4D97-AF65-F5344CB8AC3E}">
        <p14:creationId xmlns:p14="http://schemas.microsoft.com/office/powerpoint/2010/main" val="405064103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smtClean="0"/>
              <a:t>BPI project generally follows five basic phases: Define, Measure, Analyze, Improve, and Control (DMAIC).</a:t>
            </a:r>
          </a:p>
          <a:p>
            <a:endParaRPr lang="en-US" b="1" dirty="0" smtClean="0"/>
          </a:p>
          <a:p>
            <a:r>
              <a:rPr lang="en-US" b="1" dirty="0" smtClean="0"/>
              <a:t>Define</a:t>
            </a:r>
            <a:r>
              <a:rPr lang="en-US" b="1" baseline="0" dirty="0" smtClean="0"/>
              <a:t> Phase: </a:t>
            </a:r>
            <a:r>
              <a:rPr lang="en-US" dirty="0" smtClean="0"/>
              <a:t>documents the existing “as is” process activities, process resources, and process inputs and outputs, usually as a graphical process map or diagram; AND, documents the customer and the customer’s requirements and a description of the problem.</a:t>
            </a:r>
          </a:p>
          <a:p>
            <a:r>
              <a:rPr lang="en-US" b="1" dirty="0" smtClean="0"/>
              <a:t>Measure Phase: </a:t>
            </a:r>
            <a:r>
              <a:rPr lang="en-US" dirty="0" smtClean="0"/>
              <a:t>relevant process metrics, such as time and cost to generate one output (product or service) are identified, and data is collected to understand how the</a:t>
            </a:r>
          </a:p>
          <a:p>
            <a:r>
              <a:rPr lang="en-US" dirty="0" smtClean="0"/>
              <a:t>metrics evolve over time. (data sources, such as customer and employee observations, interviews, and surveys)</a:t>
            </a:r>
          </a:p>
          <a:p>
            <a:r>
              <a:rPr lang="en-US" b="1" dirty="0" smtClean="0"/>
              <a:t>Analysis Phase:</a:t>
            </a:r>
            <a:r>
              <a:rPr lang="en-US" b="1" baseline="0" dirty="0" smtClean="0"/>
              <a:t> </a:t>
            </a:r>
            <a:r>
              <a:rPr lang="en-US" dirty="0" smtClean="0"/>
              <a:t>the BPI team examines the “as is” process map and the collected data to identify problems with the process (e.g., decreasing efficiency or effectiveness) and</a:t>
            </a:r>
          </a:p>
          <a:p>
            <a:r>
              <a:rPr lang="en-US" dirty="0" smtClean="0"/>
              <a:t>their root causes. If possible, the team should also benchmark the process by</a:t>
            </a:r>
            <a:r>
              <a:rPr lang="en-US" baseline="0" dirty="0" smtClean="0"/>
              <a:t> </a:t>
            </a:r>
            <a:r>
              <a:rPr lang="en-US" dirty="0" smtClean="0"/>
              <a:t>comparing its performance with that of similar processes in other companies, or other areas of the organization. </a:t>
            </a:r>
          </a:p>
          <a:p>
            <a:r>
              <a:rPr lang="en-US" b="1" dirty="0" smtClean="0"/>
              <a:t>Improve</a:t>
            </a:r>
            <a:r>
              <a:rPr lang="en-US" b="1" baseline="0" dirty="0" smtClean="0"/>
              <a:t> Phase: </a:t>
            </a:r>
            <a:r>
              <a:rPr lang="en-US" dirty="0" smtClean="0"/>
              <a:t>the BPI team identifies possible solutions for addressing the root causes, maps the resulting “to be” process alternatives, and selects and implements the most appropriate solution. </a:t>
            </a:r>
          </a:p>
          <a:p>
            <a:r>
              <a:rPr lang="en-US" b="1" dirty="0" smtClean="0"/>
              <a:t>Control Phase:</a:t>
            </a:r>
            <a:r>
              <a:rPr lang="en-US" b="1" baseline="0" dirty="0" smtClean="0"/>
              <a:t>  </a:t>
            </a:r>
            <a:r>
              <a:rPr lang="en-US" dirty="0" smtClean="0"/>
              <a:t>the team establishes process metrics and monitors the improved process after the solution has been implemented to ensure the process performance remains stable. An IS system can be very useful for this purpose.</a:t>
            </a:r>
          </a:p>
        </p:txBody>
      </p:sp>
      <p:sp>
        <p:nvSpPr>
          <p:cNvPr id="4" name="Slide Number Placeholder 3"/>
          <p:cNvSpPr>
            <a:spLocks noGrp="1"/>
          </p:cNvSpPr>
          <p:nvPr>
            <p:ph type="sldNum" sz="quarter" idx="10"/>
          </p:nvPr>
        </p:nvSpPr>
        <p:spPr/>
        <p:txBody>
          <a:bodyPr/>
          <a:lstStyle/>
          <a:p>
            <a:fld id="{2CF41C25-7A1F-47FB-B705-003A328B9163}" type="slidenum">
              <a:rPr lang="en-US" smtClean="0"/>
              <a:t>21</a:t>
            </a:fld>
            <a:endParaRPr lang="en-US"/>
          </a:p>
        </p:txBody>
      </p:sp>
    </p:spTree>
    <p:extLst>
      <p:ext uri="{BB962C8B-B14F-4D97-AF65-F5344CB8AC3E}">
        <p14:creationId xmlns:p14="http://schemas.microsoft.com/office/powerpoint/2010/main" val="295055605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Font typeface="+mj-lt"/>
              <a:buAutoNum type="arabicPeriod"/>
            </a:pPr>
            <a:r>
              <a:rPr lang="en-US" dirty="0" smtClean="0"/>
              <a:t>Describe the main advantages of BPR at Chevron.</a:t>
            </a:r>
          </a:p>
          <a:p>
            <a:pPr marL="228600" indent="-228600">
              <a:buFont typeface="+mj-lt"/>
              <a:buAutoNum type="arabicPeriod"/>
            </a:pPr>
            <a:r>
              <a:rPr lang="en-US" dirty="0" smtClean="0"/>
              <a:t>Why did Chevron adopt BPI?</a:t>
            </a:r>
          </a:p>
          <a:p>
            <a:pPr marL="228600" indent="-228600">
              <a:buFont typeface="+mj-lt"/>
              <a:buAutoNum type="arabicPeriod"/>
            </a:pPr>
            <a:r>
              <a:rPr lang="en-US" dirty="0" smtClean="0"/>
              <a:t>How does Chevron apply BPM in its operations today?</a:t>
            </a:r>
            <a:endParaRPr lang="en-US" dirty="0"/>
          </a:p>
        </p:txBody>
      </p:sp>
      <p:sp>
        <p:nvSpPr>
          <p:cNvPr id="4" name="Slide Number Placeholder 3"/>
          <p:cNvSpPr>
            <a:spLocks noGrp="1"/>
          </p:cNvSpPr>
          <p:nvPr>
            <p:ph type="sldNum" sz="quarter" idx="10"/>
          </p:nvPr>
        </p:nvSpPr>
        <p:spPr/>
        <p:txBody>
          <a:bodyPr/>
          <a:lstStyle/>
          <a:p>
            <a:fld id="{2CF41C25-7A1F-47FB-B705-003A328B9163}" type="slidenum">
              <a:rPr lang="en-US" smtClean="0"/>
              <a:t>22</a:t>
            </a:fld>
            <a:endParaRPr lang="en-US"/>
          </a:p>
        </p:txBody>
      </p:sp>
    </p:spTree>
    <p:extLst>
      <p:ext uri="{BB962C8B-B14F-4D97-AF65-F5344CB8AC3E}">
        <p14:creationId xmlns:p14="http://schemas.microsoft.com/office/powerpoint/2010/main" val="405064103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CF41C25-7A1F-47FB-B705-003A328B9163}" type="slidenum">
              <a:rPr lang="en-US" smtClean="0"/>
              <a:t>26</a:t>
            </a:fld>
            <a:endParaRPr lang="en-US"/>
          </a:p>
        </p:txBody>
      </p:sp>
    </p:spTree>
    <p:extLst>
      <p:ext uri="{BB962C8B-B14F-4D97-AF65-F5344CB8AC3E}">
        <p14:creationId xmlns:p14="http://schemas.microsoft.com/office/powerpoint/2010/main" val="6609259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smtClean="0"/>
              <a:t>Market Pressures: </a:t>
            </a:r>
            <a:r>
              <a:rPr lang="en-US" dirty="0" smtClean="0"/>
              <a:t>business pressures generated by the global economy, intense competition, the changing nature of the workforce, and powerful customers.</a:t>
            </a:r>
          </a:p>
          <a:p>
            <a:r>
              <a:rPr lang="en-US" b="1" dirty="0" smtClean="0"/>
              <a:t>Technology Pressures: </a:t>
            </a:r>
            <a:r>
              <a:rPr lang="en-US" dirty="0" smtClean="0"/>
              <a:t>business pressures caused by technological innovation and information overload.</a:t>
            </a:r>
          </a:p>
          <a:p>
            <a:r>
              <a:rPr lang="en-US" b="1" dirty="0" smtClean="0"/>
              <a:t>Societal/Political/Legal Pressures: </a:t>
            </a:r>
            <a:r>
              <a:rPr lang="en-US" dirty="0" smtClean="0"/>
              <a:t>business pressures related to social responsibility, government regulation/deregulation, spending for social programs, spending to protect against terrorism, and ethics.</a:t>
            </a:r>
          </a:p>
          <a:p>
            <a:endParaRPr lang="en-US" dirty="0"/>
          </a:p>
        </p:txBody>
      </p:sp>
      <p:sp>
        <p:nvSpPr>
          <p:cNvPr id="4" name="Slide Number Placeholder 3"/>
          <p:cNvSpPr>
            <a:spLocks noGrp="1"/>
          </p:cNvSpPr>
          <p:nvPr>
            <p:ph type="sldNum" sz="quarter" idx="10"/>
          </p:nvPr>
        </p:nvSpPr>
        <p:spPr/>
        <p:txBody>
          <a:bodyPr/>
          <a:lstStyle/>
          <a:p>
            <a:fld id="{2CF41C25-7A1F-47FB-B705-003A328B9163}" type="slidenum">
              <a:rPr lang="en-US" smtClean="0"/>
              <a:t>27</a:t>
            </a:fld>
            <a:endParaRPr lang="en-US"/>
          </a:p>
        </p:txBody>
      </p:sp>
    </p:spTree>
    <p:extLst>
      <p:ext uri="{BB962C8B-B14F-4D97-AF65-F5344CB8AC3E}">
        <p14:creationId xmlns:p14="http://schemas.microsoft.com/office/powerpoint/2010/main" val="212390181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smtClean="0"/>
              <a:t>FIGURE 2.2 </a:t>
            </a:r>
            <a:r>
              <a:rPr lang="en-US" dirty="0" smtClean="0"/>
              <a:t>Business pressures, organizational performance and responses, and IT support.</a:t>
            </a:r>
            <a:endParaRPr lang="en-US" dirty="0"/>
          </a:p>
        </p:txBody>
      </p:sp>
      <p:sp>
        <p:nvSpPr>
          <p:cNvPr id="4" name="Slide Number Placeholder 3"/>
          <p:cNvSpPr>
            <a:spLocks noGrp="1"/>
          </p:cNvSpPr>
          <p:nvPr>
            <p:ph type="sldNum" sz="quarter" idx="10"/>
          </p:nvPr>
        </p:nvSpPr>
        <p:spPr/>
        <p:txBody>
          <a:bodyPr/>
          <a:lstStyle/>
          <a:p>
            <a:fld id="{2CF41C25-7A1F-47FB-B705-003A328B9163}" type="slidenum">
              <a:rPr lang="en-US" smtClean="0"/>
              <a:t>28</a:t>
            </a:fld>
            <a:endParaRPr lang="en-US"/>
          </a:p>
        </p:txBody>
      </p:sp>
    </p:spTree>
    <p:extLst>
      <p:ext uri="{BB962C8B-B14F-4D97-AF65-F5344CB8AC3E}">
        <p14:creationId xmlns:p14="http://schemas.microsoft.com/office/powerpoint/2010/main" val="121856635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smtClean="0"/>
              <a:t>Globalization: </a:t>
            </a:r>
            <a:r>
              <a:rPr lang="en-US" dirty="0" smtClean="0"/>
              <a:t>the integration and interdependence of economic, social, cultural, and ecological facets of life, made possible by rapid advances in information technology.</a:t>
            </a:r>
          </a:p>
          <a:p>
            <a:r>
              <a:rPr lang="en-US" b="1" dirty="0" smtClean="0"/>
              <a:t>Changing Nature of the Workforce: </a:t>
            </a:r>
            <a:r>
              <a:rPr lang="en-US" dirty="0" smtClean="0"/>
              <a:t>The workforce, particularly in developed countries, is becoming more diversified. Increasing numbers of women, single parents, minorities, and persons with disabilities are now employed in all types of positions.</a:t>
            </a:r>
          </a:p>
          <a:p>
            <a:r>
              <a:rPr lang="en-US" b="1" dirty="0" smtClean="0"/>
              <a:t>Powerful Customers: </a:t>
            </a:r>
            <a:r>
              <a:rPr lang="en-US" dirty="0" smtClean="0"/>
              <a:t>consumer sophistication and expectations increase as customers become more knowledgeable about the products and services they acquire. Customers can use the Internet to find detailed information about products and services, to compare prices, and to purchase items at electronic auctions.</a:t>
            </a:r>
          </a:p>
          <a:p>
            <a:endParaRPr lang="en-US" dirty="0"/>
          </a:p>
        </p:txBody>
      </p:sp>
      <p:sp>
        <p:nvSpPr>
          <p:cNvPr id="4" name="Slide Number Placeholder 3"/>
          <p:cNvSpPr>
            <a:spLocks noGrp="1"/>
          </p:cNvSpPr>
          <p:nvPr>
            <p:ph type="sldNum" sz="quarter" idx="10"/>
          </p:nvPr>
        </p:nvSpPr>
        <p:spPr/>
        <p:txBody>
          <a:bodyPr/>
          <a:lstStyle/>
          <a:p>
            <a:fld id="{2CF41C25-7A1F-47FB-B705-003A328B9163}" type="slidenum">
              <a:rPr lang="en-US" smtClean="0"/>
              <a:t>29</a:t>
            </a:fld>
            <a:endParaRPr lang="en-US"/>
          </a:p>
        </p:txBody>
      </p:sp>
    </p:spTree>
    <p:extLst>
      <p:ext uri="{BB962C8B-B14F-4D97-AF65-F5344CB8AC3E}">
        <p14:creationId xmlns:p14="http://schemas.microsoft.com/office/powerpoint/2010/main" val="40244422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u="sng" dirty="0" smtClean="0"/>
              <a:t>Thomas Friedman --&gt; Three eras of globalization:</a:t>
            </a:r>
          </a:p>
          <a:p>
            <a:r>
              <a:rPr lang="en-US" b="1" dirty="0" smtClean="0"/>
              <a:t>Globalization 1.0:</a:t>
            </a:r>
          </a:p>
          <a:p>
            <a:r>
              <a:rPr lang="en-US" dirty="0" smtClean="0"/>
              <a:t>Timeframe: 1492 to 1800</a:t>
            </a:r>
          </a:p>
          <a:p>
            <a:r>
              <a:rPr lang="en-US" dirty="0" smtClean="0"/>
              <a:t>Distinct Focus: Countries</a:t>
            </a:r>
          </a:p>
          <a:p>
            <a:r>
              <a:rPr lang="en-US" dirty="0" smtClean="0"/>
              <a:t>Driver:  Brute Force, Braun</a:t>
            </a:r>
          </a:p>
          <a:p>
            <a:r>
              <a:rPr lang="en-US" b="1" dirty="0" smtClean="0"/>
              <a:t>Globalization 2.0:</a:t>
            </a:r>
          </a:p>
          <a:p>
            <a:r>
              <a:rPr lang="en-US" dirty="0" smtClean="0"/>
              <a:t>Timeframe: 1800 to 2000</a:t>
            </a:r>
          </a:p>
          <a:p>
            <a:r>
              <a:rPr lang="en-US" dirty="0" smtClean="0"/>
              <a:t>Distinct Focus: International Companies</a:t>
            </a:r>
          </a:p>
          <a:p>
            <a:r>
              <a:rPr lang="en-US" dirty="0" smtClean="0"/>
              <a:t>Driver:</a:t>
            </a:r>
          </a:p>
          <a:p>
            <a:r>
              <a:rPr lang="en-US" dirty="0" smtClean="0"/>
              <a:t>-- first half of this period --&gt; Falling Transportation Costs (Steam Engine/Railroads)</a:t>
            </a:r>
          </a:p>
          <a:p>
            <a:r>
              <a:rPr lang="en-US" dirty="0" smtClean="0"/>
              <a:t>-- second half of this period --&gt; Falling Telecommunication Costs (Telegraph, Telephone, Computer, Satellite, Fiber Optics, Internet)</a:t>
            </a:r>
          </a:p>
          <a:p>
            <a:r>
              <a:rPr lang="en-US" b="1" dirty="0" smtClean="0"/>
              <a:t>Globalization 3.0:</a:t>
            </a:r>
          </a:p>
          <a:p>
            <a:r>
              <a:rPr lang="en-US" dirty="0" smtClean="0"/>
              <a:t>Timeframe: 2000 to Present</a:t>
            </a:r>
          </a:p>
          <a:p>
            <a:r>
              <a:rPr lang="en-US" dirty="0" smtClean="0"/>
              <a:t>Distinct Focus: Groups and Individuals</a:t>
            </a:r>
          </a:p>
          <a:p>
            <a:r>
              <a:rPr lang="en-US" dirty="0" smtClean="0"/>
              <a:t>Driver:  Convergence of 10 forces (or Flatteners)</a:t>
            </a:r>
          </a:p>
          <a:p>
            <a:endParaRPr lang="en-US" dirty="0"/>
          </a:p>
        </p:txBody>
      </p:sp>
      <p:sp>
        <p:nvSpPr>
          <p:cNvPr id="4" name="Slide Number Placeholder 3"/>
          <p:cNvSpPr>
            <a:spLocks noGrp="1"/>
          </p:cNvSpPr>
          <p:nvPr>
            <p:ph type="sldNum" sz="quarter" idx="10"/>
          </p:nvPr>
        </p:nvSpPr>
        <p:spPr/>
        <p:txBody>
          <a:bodyPr/>
          <a:lstStyle/>
          <a:p>
            <a:fld id="{2CF41C25-7A1F-47FB-B705-003A328B9163}" type="slidenum">
              <a:rPr lang="en-US" smtClean="0"/>
              <a:t>31</a:t>
            </a:fld>
            <a:endParaRPr lang="en-US"/>
          </a:p>
        </p:txBody>
      </p:sp>
    </p:spTree>
    <p:extLst>
      <p:ext uri="{BB962C8B-B14F-4D97-AF65-F5344CB8AC3E}">
        <p14:creationId xmlns:p14="http://schemas.microsoft.com/office/powerpoint/2010/main" val="43919288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u="sng" dirty="0" smtClean="0"/>
              <a:t>Thomas Friedman --&gt; Three eras of globalization:</a:t>
            </a:r>
          </a:p>
          <a:p>
            <a:r>
              <a:rPr lang="en-US" b="1" dirty="0" smtClean="0"/>
              <a:t>Globalization 1.0:</a:t>
            </a:r>
          </a:p>
          <a:p>
            <a:r>
              <a:rPr lang="en-US" dirty="0" smtClean="0"/>
              <a:t>Timeframe: 1492 to 1800</a:t>
            </a:r>
          </a:p>
          <a:p>
            <a:r>
              <a:rPr lang="en-US" dirty="0" smtClean="0"/>
              <a:t>Distinct Focus: Countries</a:t>
            </a:r>
          </a:p>
          <a:p>
            <a:r>
              <a:rPr lang="en-US" dirty="0" smtClean="0"/>
              <a:t>Driver:  Brute Force, Braun</a:t>
            </a:r>
            <a:endParaRPr lang="en-US" dirty="0"/>
          </a:p>
        </p:txBody>
      </p:sp>
      <p:sp>
        <p:nvSpPr>
          <p:cNvPr id="4" name="Slide Number Placeholder 3"/>
          <p:cNvSpPr>
            <a:spLocks noGrp="1"/>
          </p:cNvSpPr>
          <p:nvPr>
            <p:ph type="sldNum" sz="quarter" idx="10"/>
          </p:nvPr>
        </p:nvSpPr>
        <p:spPr/>
        <p:txBody>
          <a:bodyPr/>
          <a:lstStyle/>
          <a:p>
            <a:fld id="{2CF41C25-7A1F-47FB-B705-003A328B9163}" type="slidenum">
              <a:rPr lang="en-US" smtClean="0"/>
              <a:t>32</a:t>
            </a:fld>
            <a:endParaRPr lang="en-US"/>
          </a:p>
        </p:txBody>
      </p:sp>
    </p:spTree>
    <p:extLst>
      <p:ext uri="{BB962C8B-B14F-4D97-AF65-F5344CB8AC3E}">
        <p14:creationId xmlns:p14="http://schemas.microsoft.com/office/powerpoint/2010/main" val="200733341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u="sng" dirty="0" smtClean="0"/>
              <a:t>Thomas Friedman --&gt; Three eras of globalization:</a:t>
            </a:r>
          </a:p>
          <a:p>
            <a:r>
              <a:rPr lang="en-US" b="1" dirty="0" smtClean="0"/>
              <a:t>Globalization 2.0:</a:t>
            </a:r>
          </a:p>
          <a:p>
            <a:r>
              <a:rPr lang="en-US" dirty="0" smtClean="0"/>
              <a:t>Timeframe: 1800 to 2000</a:t>
            </a:r>
          </a:p>
          <a:p>
            <a:r>
              <a:rPr lang="en-US" dirty="0" smtClean="0"/>
              <a:t>Distinct Focus: International Companies</a:t>
            </a:r>
          </a:p>
          <a:p>
            <a:r>
              <a:rPr lang="en-US" dirty="0" smtClean="0"/>
              <a:t>Driver:</a:t>
            </a:r>
          </a:p>
          <a:p>
            <a:r>
              <a:rPr lang="en-US" dirty="0" smtClean="0"/>
              <a:t>-- first half of this period --&gt; Falling Transportation Costs (Steam Engine/Railroads)</a:t>
            </a:r>
          </a:p>
          <a:p>
            <a:r>
              <a:rPr lang="en-US" dirty="0" smtClean="0"/>
              <a:t>-- second half of this period --&gt; Falling Telecommunication Costs (Telegraph, Telephone, Computer, Satellite, Fiber Optics, Internet)</a:t>
            </a:r>
            <a:endParaRPr lang="en-US" dirty="0"/>
          </a:p>
        </p:txBody>
      </p:sp>
      <p:sp>
        <p:nvSpPr>
          <p:cNvPr id="4" name="Slide Number Placeholder 3"/>
          <p:cNvSpPr>
            <a:spLocks noGrp="1"/>
          </p:cNvSpPr>
          <p:nvPr>
            <p:ph type="sldNum" sz="quarter" idx="10"/>
          </p:nvPr>
        </p:nvSpPr>
        <p:spPr/>
        <p:txBody>
          <a:bodyPr/>
          <a:lstStyle/>
          <a:p>
            <a:fld id="{2CF41C25-7A1F-47FB-B705-003A328B9163}" type="slidenum">
              <a:rPr lang="en-US" smtClean="0"/>
              <a:t>33</a:t>
            </a:fld>
            <a:endParaRPr lang="en-US"/>
          </a:p>
        </p:txBody>
      </p:sp>
    </p:spTree>
    <p:extLst>
      <p:ext uri="{BB962C8B-B14F-4D97-AF65-F5344CB8AC3E}">
        <p14:creationId xmlns:p14="http://schemas.microsoft.com/office/powerpoint/2010/main" val="308078118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u="sng" dirty="0" smtClean="0"/>
              <a:t>Thomas Friedman --&gt; Three eras of globalization:</a:t>
            </a:r>
          </a:p>
          <a:p>
            <a:r>
              <a:rPr lang="en-US" b="1" dirty="0" smtClean="0"/>
              <a:t>Globalization 3.0:</a:t>
            </a:r>
          </a:p>
          <a:p>
            <a:r>
              <a:rPr lang="en-US" dirty="0" smtClean="0"/>
              <a:t>Timeframe: 2000 to Present</a:t>
            </a:r>
          </a:p>
          <a:p>
            <a:r>
              <a:rPr lang="en-US" dirty="0" smtClean="0"/>
              <a:t>Distinct Focus: Groups and Individuals</a:t>
            </a:r>
          </a:p>
          <a:p>
            <a:r>
              <a:rPr lang="en-US" dirty="0" smtClean="0"/>
              <a:t>Driver:  Convergence of 10 forces (or Flatteners)</a:t>
            </a:r>
          </a:p>
          <a:p>
            <a:endParaRPr lang="en-US" dirty="0"/>
          </a:p>
        </p:txBody>
      </p:sp>
      <p:sp>
        <p:nvSpPr>
          <p:cNvPr id="4" name="Slide Number Placeholder 3"/>
          <p:cNvSpPr>
            <a:spLocks noGrp="1"/>
          </p:cNvSpPr>
          <p:nvPr>
            <p:ph type="sldNum" sz="quarter" idx="10"/>
          </p:nvPr>
        </p:nvSpPr>
        <p:spPr/>
        <p:txBody>
          <a:bodyPr/>
          <a:lstStyle/>
          <a:p>
            <a:fld id="{2CF41C25-7A1F-47FB-B705-003A328B9163}" type="slidenum">
              <a:rPr lang="en-US" smtClean="0"/>
              <a:t>34</a:t>
            </a:fld>
            <a:endParaRPr lang="en-US"/>
          </a:p>
        </p:txBody>
      </p:sp>
    </p:spTree>
    <p:extLst>
      <p:ext uri="{BB962C8B-B14F-4D97-AF65-F5344CB8AC3E}">
        <p14:creationId xmlns:p14="http://schemas.microsoft.com/office/powerpoint/2010/main" val="16567359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 typeface="Arial" panose="020B0604020202020204" pitchFamily="34" charset="0"/>
              <a:buNone/>
            </a:pPr>
            <a:r>
              <a:rPr lang="en-US" b="1" dirty="0" smtClean="0"/>
              <a:t>Fall of the Berlin Wall on November 9, 1989: </a:t>
            </a:r>
          </a:p>
          <a:p>
            <a:pPr marL="228600" indent="-228600">
              <a:buFont typeface="Arial" panose="020B0604020202020204" pitchFamily="34" charset="0"/>
              <a:buChar char="•"/>
            </a:pPr>
            <a:r>
              <a:rPr lang="en-US" dirty="0" smtClean="0"/>
              <a:t>Shifted the world toward free-market economies and away from centrally planned economies.</a:t>
            </a:r>
          </a:p>
          <a:p>
            <a:pPr marL="228600" indent="-228600">
              <a:buFont typeface="Arial" panose="020B0604020202020204" pitchFamily="34" charset="0"/>
              <a:buChar char="•"/>
            </a:pPr>
            <a:r>
              <a:rPr lang="en-US" dirty="0" smtClean="0"/>
              <a:t>Led to the emergence of the European Union and early thinking about the world as a single, global market.</a:t>
            </a:r>
          </a:p>
          <a:p>
            <a:pPr marL="0" indent="0">
              <a:buFont typeface="Arial" panose="020B0604020202020204" pitchFamily="34" charset="0"/>
              <a:buNone/>
            </a:pPr>
            <a:r>
              <a:rPr lang="en-US" b="1" dirty="0" smtClean="0"/>
              <a:t>Netscape goes public on August 9, 1995:</a:t>
            </a:r>
          </a:p>
          <a:p>
            <a:pPr marL="228600" indent="-228600">
              <a:buFont typeface="Arial" panose="020B0604020202020204" pitchFamily="34" charset="0"/>
              <a:buChar char="•"/>
            </a:pPr>
            <a:r>
              <a:rPr lang="en-US" dirty="0" smtClean="0"/>
              <a:t>Popularized the Internet and the World Wide Web.</a:t>
            </a:r>
          </a:p>
          <a:p>
            <a:pPr marL="0" indent="0">
              <a:buFont typeface="Arial" panose="020B0604020202020204" pitchFamily="34" charset="0"/>
              <a:buNone/>
            </a:pPr>
            <a:r>
              <a:rPr lang="en-US" b="1" dirty="0" smtClean="0"/>
              <a:t>Development of workflow software:</a:t>
            </a:r>
          </a:p>
          <a:p>
            <a:pPr marL="228600" indent="-228600">
              <a:buFont typeface="Arial" panose="020B0604020202020204" pitchFamily="34" charset="0"/>
              <a:buChar char="•"/>
            </a:pPr>
            <a:r>
              <a:rPr lang="en-US" dirty="0" smtClean="0"/>
              <a:t>Enabled computer applications to work with one another without human intervention.</a:t>
            </a:r>
          </a:p>
          <a:p>
            <a:pPr marL="228600" indent="-228600">
              <a:buFont typeface="Arial" panose="020B0604020202020204" pitchFamily="34" charset="0"/>
              <a:buChar char="•"/>
            </a:pPr>
            <a:r>
              <a:rPr lang="en-US" dirty="0" smtClean="0"/>
              <a:t>Enabled faster, closer collaboration and coordination among employees, regardless of their location.</a:t>
            </a:r>
          </a:p>
          <a:p>
            <a:pPr marL="0" indent="0">
              <a:buFont typeface="Arial" panose="020B0604020202020204" pitchFamily="34" charset="0"/>
              <a:buNone/>
            </a:pPr>
            <a:r>
              <a:rPr lang="en-US" b="1" dirty="0" smtClean="0"/>
              <a:t>Uploading:</a:t>
            </a:r>
          </a:p>
          <a:p>
            <a:pPr marL="228600" indent="-228600">
              <a:buFont typeface="Arial" panose="020B0604020202020204" pitchFamily="34" charset="0"/>
              <a:buChar char="•"/>
            </a:pPr>
            <a:r>
              <a:rPr lang="en-US" dirty="0" smtClean="0"/>
              <a:t>Empowered all Internet users to create content and put it on the Web.</a:t>
            </a:r>
          </a:p>
          <a:p>
            <a:pPr marL="228600" indent="-228600">
              <a:buFont typeface="Arial" panose="020B0604020202020204" pitchFamily="34" charset="0"/>
              <a:buChar char="•"/>
            </a:pPr>
            <a:r>
              <a:rPr lang="en-US" dirty="0" smtClean="0"/>
              <a:t>Led the transition from a passive approach to content to an active, participatory, collaborative approach.</a:t>
            </a:r>
          </a:p>
          <a:p>
            <a:pPr marL="0" indent="0">
              <a:buFont typeface="Arial" panose="020B0604020202020204" pitchFamily="34" charset="0"/>
              <a:buNone/>
            </a:pPr>
            <a:r>
              <a:rPr lang="en-US" b="1" dirty="0" smtClean="0"/>
              <a:t>Outsourcing:</a:t>
            </a:r>
          </a:p>
          <a:p>
            <a:pPr marL="228600" indent="-228600">
              <a:buFont typeface="Arial" panose="020B0604020202020204" pitchFamily="34" charset="0"/>
              <a:buChar char="•"/>
            </a:pPr>
            <a:r>
              <a:rPr lang="en-US" dirty="0" smtClean="0"/>
              <a:t>Contracting with an outside company to perform a </a:t>
            </a:r>
            <a:r>
              <a:rPr lang="en-US" dirty="0" err="1" smtClean="0"/>
              <a:t>specifi</a:t>
            </a:r>
            <a:r>
              <a:rPr lang="en-US" dirty="0" smtClean="0"/>
              <a:t> c function that your company was doing itself and then integrating their work back into your operation; for example, moving customer call centers to India.</a:t>
            </a:r>
          </a:p>
          <a:p>
            <a:pPr marL="0" indent="0">
              <a:buFont typeface="Arial" panose="020B0604020202020204" pitchFamily="34" charset="0"/>
              <a:buNone/>
            </a:pPr>
            <a:r>
              <a:rPr lang="en-US" b="1" dirty="0" smtClean="0"/>
              <a:t>Offshoring:</a:t>
            </a:r>
          </a:p>
          <a:p>
            <a:pPr marL="228600" indent="-228600">
              <a:buFont typeface="Arial" panose="020B0604020202020204" pitchFamily="34" charset="0"/>
              <a:buChar char="•"/>
            </a:pPr>
            <a:r>
              <a:rPr lang="en-US" dirty="0" smtClean="0"/>
              <a:t>Relocating an entire operation, or certain tasks, to another country; for example, moving an entire manufacturing operation to China.</a:t>
            </a:r>
          </a:p>
          <a:p>
            <a:pPr marL="0" indent="0">
              <a:buFont typeface="Arial" panose="020B0604020202020204" pitchFamily="34" charset="0"/>
              <a:buNone/>
            </a:pPr>
            <a:r>
              <a:rPr lang="en-US" b="1" dirty="0" smtClean="0"/>
              <a:t>Supply chaining:</a:t>
            </a:r>
          </a:p>
          <a:p>
            <a:pPr marL="228600" indent="-228600">
              <a:buFont typeface="Arial" panose="020B0604020202020204" pitchFamily="34" charset="0"/>
              <a:buChar char="•"/>
            </a:pPr>
            <a:r>
              <a:rPr lang="en-US" dirty="0" smtClean="0"/>
              <a:t>Technological revolution led to the creation of networks composed of companies, their suppliers, and their customers, all of which could collaborate and share information for increased efficiency.</a:t>
            </a:r>
          </a:p>
          <a:p>
            <a:pPr marL="0" indent="0">
              <a:buFont typeface="Arial" panose="020B0604020202020204" pitchFamily="34" charset="0"/>
              <a:buNone/>
            </a:pPr>
            <a:r>
              <a:rPr lang="en-US" b="1" dirty="0" smtClean="0"/>
              <a:t>Insourcing:</a:t>
            </a:r>
          </a:p>
          <a:p>
            <a:pPr marL="228600" indent="-228600">
              <a:buFont typeface="Arial" panose="020B0604020202020204" pitchFamily="34" charset="0"/>
              <a:buChar char="•"/>
            </a:pPr>
            <a:r>
              <a:rPr lang="en-US" dirty="0" smtClean="0"/>
              <a:t>Delegating operations or jobs within a business to another company that specializes in those operations; for example, Dell hires FedEx to “take over” Dell’s logistics process.</a:t>
            </a:r>
          </a:p>
          <a:p>
            <a:pPr marL="0" indent="0">
              <a:buFont typeface="Arial" panose="020B0604020202020204" pitchFamily="34" charset="0"/>
              <a:buNone/>
            </a:pPr>
            <a:r>
              <a:rPr lang="en-US" b="1" dirty="0" smtClean="0"/>
              <a:t>Informing:</a:t>
            </a:r>
          </a:p>
          <a:p>
            <a:pPr marL="228600" indent="-228600">
              <a:buFont typeface="Arial" panose="020B0604020202020204" pitchFamily="34" charset="0"/>
              <a:buChar char="•"/>
            </a:pPr>
            <a:r>
              <a:rPr lang="en-US" dirty="0" smtClean="0"/>
              <a:t>The ability to search for information, best illustrated by search engines.</a:t>
            </a:r>
          </a:p>
          <a:p>
            <a:pPr marL="0" indent="0">
              <a:buFont typeface="Arial" panose="020B0604020202020204" pitchFamily="34" charset="0"/>
              <a:buNone/>
            </a:pPr>
            <a:r>
              <a:rPr lang="en-US" b="1" dirty="0" smtClean="0"/>
              <a:t>The Steroids (computing, instant messaging and fi le sharing, wireless technologies, Voice over Internet Protocol, videoconferencing, and computer graphics):</a:t>
            </a:r>
          </a:p>
          <a:p>
            <a:pPr marL="228600" indent="-228600">
              <a:buFont typeface="Arial" panose="020B0604020202020204" pitchFamily="34" charset="0"/>
              <a:buChar char="•"/>
            </a:pPr>
            <a:r>
              <a:rPr lang="en-US" dirty="0" smtClean="0"/>
              <a:t>Technologies that amplify the other flatteners.</a:t>
            </a:r>
          </a:p>
          <a:p>
            <a:pPr marL="228600" indent="-228600">
              <a:buFont typeface="Arial" panose="020B0604020202020204" pitchFamily="34" charset="0"/>
              <a:buChar char="•"/>
            </a:pPr>
            <a:r>
              <a:rPr lang="en-US" dirty="0" smtClean="0"/>
              <a:t>Enable all forms of computing and collaboration to be digital, mobile, and personal.</a:t>
            </a:r>
          </a:p>
          <a:p>
            <a:endParaRPr lang="en-US" dirty="0"/>
          </a:p>
        </p:txBody>
      </p:sp>
      <p:sp>
        <p:nvSpPr>
          <p:cNvPr id="4" name="Slide Number Placeholder 3"/>
          <p:cNvSpPr>
            <a:spLocks noGrp="1"/>
          </p:cNvSpPr>
          <p:nvPr>
            <p:ph type="sldNum" sz="quarter" idx="10"/>
          </p:nvPr>
        </p:nvSpPr>
        <p:spPr/>
        <p:txBody>
          <a:bodyPr/>
          <a:lstStyle/>
          <a:p>
            <a:fld id="{2CF41C25-7A1F-47FB-B705-003A328B9163}" type="slidenum">
              <a:rPr lang="en-US" smtClean="0"/>
              <a:t>35</a:t>
            </a:fld>
            <a:endParaRPr lang="en-US"/>
          </a:p>
        </p:txBody>
      </p:sp>
    </p:spTree>
    <p:extLst>
      <p:ext uri="{BB962C8B-B14F-4D97-AF65-F5344CB8AC3E}">
        <p14:creationId xmlns:p14="http://schemas.microsoft.com/office/powerpoint/2010/main" val="178891203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smtClean="0"/>
              <a:t>Technological Innovation and Obsolescence: </a:t>
            </a:r>
            <a:r>
              <a:rPr lang="en-US" dirty="0" smtClean="0"/>
              <a:t>Few and improved technologies rapidly create or support substitutes for products, alternative service options, and superb quality. As a result, today’s state-of-the-art products may be obsolete tomorrow.</a:t>
            </a:r>
          </a:p>
          <a:p>
            <a:r>
              <a:rPr lang="en-US" b="1" dirty="0" smtClean="0"/>
              <a:t>Information Overload: </a:t>
            </a:r>
            <a:r>
              <a:rPr lang="en-US" dirty="0" smtClean="0"/>
              <a:t>Internet and other telecommunications networks are bringing a flood of information to managers. To make decisions effectively and efficiently, managers must be able to access, navigate, and utilize these vast stores of data, information, and knowledge.</a:t>
            </a:r>
          </a:p>
          <a:p>
            <a:endParaRPr lang="en-US" dirty="0"/>
          </a:p>
        </p:txBody>
      </p:sp>
      <p:sp>
        <p:nvSpPr>
          <p:cNvPr id="4" name="Slide Number Placeholder 3"/>
          <p:cNvSpPr>
            <a:spLocks noGrp="1"/>
          </p:cNvSpPr>
          <p:nvPr>
            <p:ph type="sldNum" sz="quarter" idx="10"/>
          </p:nvPr>
        </p:nvSpPr>
        <p:spPr/>
        <p:txBody>
          <a:bodyPr/>
          <a:lstStyle/>
          <a:p>
            <a:fld id="{2CF41C25-7A1F-47FB-B705-003A328B9163}" type="slidenum">
              <a:rPr lang="en-US" smtClean="0"/>
              <a:t>38</a:t>
            </a:fld>
            <a:endParaRPr lang="en-US"/>
          </a:p>
        </p:txBody>
      </p:sp>
    </p:spTree>
    <p:extLst>
      <p:ext uri="{BB962C8B-B14F-4D97-AF65-F5344CB8AC3E}">
        <p14:creationId xmlns:p14="http://schemas.microsoft.com/office/powerpoint/2010/main" val="323774496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smtClean="0"/>
              <a:t>Social Responsibility: </a:t>
            </a:r>
            <a:r>
              <a:rPr lang="en-US" dirty="0" smtClean="0"/>
              <a:t>Social issues that affect businesses and individuals range from the state of the physical environment, to company and individual philanthropy, to education. Some corporations and individuals are willing to spend time and/or money to address various social problems. These efforts are known as organizational social responsibility or individual social responsibility.</a:t>
            </a:r>
          </a:p>
          <a:p>
            <a:r>
              <a:rPr lang="en-US" b="1" dirty="0" smtClean="0"/>
              <a:t>Compliance with Government Regulations: </a:t>
            </a:r>
            <a:r>
              <a:rPr lang="en-US" dirty="0" smtClean="0"/>
              <a:t>government regulations regarding health, safety, environmental protection, and equal opportunity. Businesses tend to view government regulations as expensive constraints on their activities. In general, government deregulation intensifies competition. In the wake of 9/11 and numerous corporate scandals, the U.S. government passed many new laws, including the Sarbanes–Oxley Act, the USA PATRIOT Act, the Gramm–Leach–Bliley Act, and the Health Insurance Portability and Accountability Act (HIPAA).</a:t>
            </a:r>
          </a:p>
          <a:p>
            <a:r>
              <a:rPr lang="en-US" b="1" dirty="0" smtClean="0"/>
              <a:t>Protection Against Terrorist Attacks: </a:t>
            </a:r>
            <a:r>
              <a:rPr lang="en-US" dirty="0" smtClean="0"/>
              <a:t>Since September 11, 2001, organizations have been under increased pressure to protect themselves against terrorist attacks. In addition, employees who are in the military reserves have been called up for active duty, creating personnel problems. Information technology can help protect businesses by providing security systems and possibly identifying patterns of behavior associated with terrorist activities, including </a:t>
            </a:r>
            <a:r>
              <a:rPr lang="en-US" dirty="0" err="1" smtClean="0"/>
              <a:t>cyberattacks</a:t>
            </a:r>
            <a:r>
              <a:rPr lang="en-US" dirty="0" smtClean="0"/>
              <a:t>.</a:t>
            </a:r>
          </a:p>
          <a:p>
            <a:r>
              <a:rPr lang="en-US" b="1" dirty="0" smtClean="0"/>
              <a:t>Ethical Issues: </a:t>
            </a:r>
            <a:r>
              <a:rPr lang="en-US" dirty="0" smtClean="0"/>
              <a:t>Ethics relates to general standards of right and wrong. Information ethics relates specifically to standards of right and wrong in information processing practices. Ethical issues are very important because, if handled poorly, they can damage an organization’s image and destroy its employees’ morale.</a:t>
            </a:r>
          </a:p>
          <a:p>
            <a:endParaRPr lang="en-US" dirty="0"/>
          </a:p>
        </p:txBody>
      </p:sp>
      <p:sp>
        <p:nvSpPr>
          <p:cNvPr id="4" name="Slide Number Placeholder 3"/>
          <p:cNvSpPr>
            <a:spLocks noGrp="1"/>
          </p:cNvSpPr>
          <p:nvPr>
            <p:ph type="sldNum" sz="quarter" idx="10"/>
          </p:nvPr>
        </p:nvSpPr>
        <p:spPr/>
        <p:txBody>
          <a:bodyPr/>
          <a:lstStyle/>
          <a:p>
            <a:fld id="{2CF41C25-7A1F-47FB-B705-003A328B9163}" type="slidenum">
              <a:rPr lang="en-US" smtClean="0"/>
              <a:t>39</a:t>
            </a:fld>
            <a:endParaRPr lang="en-US"/>
          </a:p>
        </p:txBody>
      </p:sp>
    </p:spTree>
    <p:extLst>
      <p:ext uri="{BB962C8B-B14F-4D97-AF65-F5344CB8AC3E}">
        <p14:creationId xmlns:p14="http://schemas.microsoft.com/office/powerpoint/2010/main" val="330550216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smtClean="0"/>
              <a:t>IT is instrumental in organizational efforts to “go green” in three areas:</a:t>
            </a:r>
          </a:p>
          <a:p>
            <a:pPr marL="228600" indent="-228600">
              <a:buFont typeface="+mj-lt"/>
              <a:buAutoNum type="arabicPeriod"/>
            </a:pPr>
            <a:r>
              <a:rPr lang="en-US" dirty="0" smtClean="0"/>
              <a:t>Facilities design and management</a:t>
            </a:r>
          </a:p>
          <a:p>
            <a:pPr marL="228600" indent="-228600">
              <a:buFont typeface="+mj-lt"/>
              <a:buAutoNum type="arabicPeriod"/>
            </a:pPr>
            <a:r>
              <a:rPr lang="en-US" dirty="0" smtClean="0"/>
              <a:t>Carbon management</a:t>
            </a:r>
          </a:p>
          <a:p>
            <a:pPr marL="228600" indent="-228600">
              <a:buFont typeface="+mj-lt"/>
              <a:buAutoNum type="arabicPeriod"/>
            </a:pPr>
            <a:r>
              <a:rPr lang="en-US" dirty="0" smtClean="0"/>
              <a:t>International and U.S. environmental laws</a:t>
            </a:r>
          </a:p>
          <a:p>
            <a:pPr marL="0" indent="0">
              <a:buFont typeface="+mj-lt"/>
              <a:buNone/>
            </a:pPr>
            <a:endParaRPr lang="en-US" dirty="0" smtClean="0"/>
          </a:p>
          <a:p>
            <a:r>
              <a:rPr lang="en-US" b="1" dirty="0" smtClean="0"/>
              <a:t>Digital Divide: </a:t>
            </a:r>
            <a:r>
              <a:rPr lang="en-US" dirty="0" smtClean="0"/>
              <a:t>refers to the wide gap between those individuals who have access to information and communications technology and those who do not.</a:t>
            </a:r>
          </a:p>
          <a:p>
            <a:endParaRPr lang="en-US" dirty="0"/>
          </a:p>
        </p:txBody>
      </p:sp>
      <p:sp>
        <p:nvSpPr>
          <p:cNvPr id="4" name="Slide Number Placeholder 3"/>
          <p:cNvSpPr>
            <a:spLocks noGrp="1"/>
          </p:cNvSpPr>
          <p:nvPr>
            <p:ph type="sldNum" sz="quarter" idx="10"/>
          </p:nvPr>
        </p:nvSpPr>
        <p:spPr/>
        <p:txBody>
          <a:bodyPr/>
          <a:lstStyle/>
          <a:p>
            <a:fld id="{2CF41C25-7A1F-47FB-B705-003A328B9163}" type="slidenum">
              <a:rPr lang="en-US" smtClean="0"/>
              <a:t>40</a:t>
            </a:fld>
            <a:endParaRPr lang="en-US"/>
          </a:p>
        </p:txBody>
      </p:sp>
    </p:spTree>
    <p:extLst>
      <p:ext uri="{BB962C8B-B14F-4D97-AF65-F5344CB8AC3E}">
        <p14:creationId xmlns:p14="http://schemas.microsoft.com/office/powerpoint/2010/main" val="420743857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Font typeface="+mj-lt"/>
              <a:buAutoNum type="arabicPeriod"/>
            </a:pPr>
            <a:r>
              <a:rPr lang="en-US" dirty="0" smtClean="0"/>
              <a:t>What advantages could result from increasing the literacy of 100 million children around the world? Be specific.</a:t>
            </a:r>
          </a:p>
          <a:p>
            <a:pPr marL="228600" indent="-228600">
              <a:buFont typeface="+mj-lt"/>
              <a:buAutoNum type="arabicPeriod"/>
            </a:pPr>
            <a:r>
              <a:rPr lang="en-US" dirty="0" smtClean="0"/>
              <a:t>In this experiment, the tablets were not connected to the Internet. Discuss the advantages and disadvantages to the children if the tablets were connected.</a:t>
            </a:r>
            <a:endParaRPr lang="en-US" dirty="0"/>
          </a:p>
        </p:txBody>
      </p:sp>
      <p:sp>
        <p:nvSpPr>
          <p:cNvPr id="4" name="Slide Number Placeholder 3"/>
          <p:cNvSpPr>
            <a:spLocks noGrp="1"/>
          </p:cNvSpPr>
          <p:nvPr>
            <p:ph type="sldNum" sz="quarter" idx="10"/>
          </p:nvPr>
        </p:nvSpPr>
        <p:spPr/>
        <p:txBody>
          <a:bodyPr/>
          <a:lstStyle/>
          <a:p>
            <a:fld id="{2CF41C25-7A1F-47FB-B705-003A328B9163}" type="slidenum">
              <a:rPr lang="en-US" smtClean="0"/>
              <a:t>41</a:t>
            </a:fld>
            <a:endParaRPr lang="en-US"/>
          </a:p>
        </p:txBody>
      </p:sp>
    </p:spTree>
    <p:extLst>
      <p:ext uri="{BB962C8B-B14F-4D97-AF65-F5344CB8AC3E}">
        <p14:creationId xmlns:p14="http://schemas.microsoft.com/office/powerpoint/2010/main" val="405064103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smtClean="0"/>
              <a:t>Strategic Systems: </a:t>
            </a:r>
            <a:r>
              <a:rPr lang="en-US" dirty="0" smtClean="0"/>
              <a:t>provide organizations with advantages that enable them to increase their market share and/or profits, to better negotiate with suppliers, and to prevent competitors from entering their markets.</a:t>
            </a:r>
          </a:p>
          <a:p>
            <a:r>
              <a:rPr lang="en-US" b="1" dirty="0" smtClean="0"/>
              <a:t>Customer Focus: </a:t>
            </a:r>
            <a:r>
              <a:rPr lang="en-US" dirty="0" smtClean="0"/>
              <a:t>Organizational attempts to provide superb customer service can make the difference between attracting and retaining customers versus losing them to competitors. Numerous IT tools and business processes have been designed to keep customers happy.</a:t>
            </a:r>
          </a:p>
          <a:p>
            <a:r>
              <a:rPr lang="en-US" b="1" dirty="0" smtClean="0"/>
              <a:t>Make-to-Order: </a:t>
            </a:r>
            <a:r>
              <a:rPr lang="en-US" dirty="0" smtClean="0"/>
              <a:t>a strategy of producing customized (made to individual specifications) products and services.</a:t>
            </a:r>
          </a:p>
          <a:p>
            <a:r>
              <a:rPr lang="en-US" b="1" dirty="0" smtClean="0"/>
              <a:t>Mass Customization: </a:t>
            </a:r>
            <a:r>
              <a:rPr lang="en-US" dirty="0" smtClean="0"/>
              <a:t>a company produces a large quantity of items, but it customizes them to match the needs and preferences of individual customers. Mass customization is essentially an attempt to perform make-to-order on a large scale (Example: </a:t>
            </a:r>
            <a:r>
              <a:rPr lang="en-US" dirty="0" err="1" smtClean="0"/>
              <a:t>Bodymetrics</a:t>
            </a:r>
            <a:r>
              <a:rPr lang="en-US" dirty="0" smtClean="0"/>
              <a:t> &lt;www.bodymetrics.com&gt;).</a:t>
            </a:r>
          </a:p>
          <a:p>
            <a:r>
              <a:rPr lang="en-US" b="1" dirty="0" smtClean="0"/>
              <a:t>E-Business and E-Commerce: </a:t>
            </a:r>
            <a:r>
              <a:rPr lang="en-US" dirty="0" smtClean="0"/>
              <a:t>Conducting business electronically is an essential strategy for companies that are competing in today’s business environment.</a:t>
            </a:r>
          </a:p>
          <a:p>
            <a:r>
              <a:rPr lang="en-US" b="1" dirty="0" smtClean="0"/>
              <a:t>Electronic commerce (EC or e-commerce): </a:t>
            </a:r>
            <a:r>
              <a:rPr lang="en-US" dirty="0" smtClean="0"/>
              <a:t>describes the process of buying, selling, transferring, or exchanging products, services, or information via computer networks, including the Internet.</a:t>
            </a:r>
          </a:p>
          <a:p>
            <a:r>
              <a:rPr lang="en-US" b="1" dirty="0" smtClean="0"/>
              <a:t>E-business: </a:t>
            </a:r>
            <a:r>
              <a:rPr lang="en-US" dirty="0" smtClean="0"/>
              <a:t>a somewhat broader concept than EC that includes servicing customers, collaborating with business partners, and performing electronic transactions within an organization.</a:t>
            </a:r>
          </a:p>
          <a:p>
            <a:endParaRPr lang="en-US" dirty="0"/>
          </a:p>
        </p:txBody>
      </p:sp>
      <p:sp>
        <p:nvSpPr>
          <p:cNvPr id="4" name="Slide Number Placeholder 3"/>
          <p:cNvSpPr>
            <a:spLocks noGrp="1"/>
          </p:cNvSpPr>
          <p:nvPr>
            <p:ph type="sldNum" sz="quarter" idx="10"/>
          </p:nvPr>
        </p:nvSpPr>
        <p:spPr/>
        <p:txBody>
          <a:bodyPr/>
          <a:lstStyle/>
          <a:p>
            <a:fld id="{2CF41C25-7A1F-47FB-B705-003A328B9163}" type="slidenum">
              <a:rPr lang="en-US" smtClean="0"/>
              <a:t>46</a:t>
            </a:fld>
            <a:endParaRPr lang="en-US"/>
          </a:p>
        </p:txBody>
      </p:sp>
    </p:spTree>
    <p:extLst>
      <p:ext uri="{BB962C8B-B14F-4D97-AF65-F5344CB8AC3E}">
        <p14:creationId xmlns:p14="http://schemas.microsoft.com/office/powerpoint/2010/main" val="129292271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Font typeface="+mj-lt"/>
              <a:buAutoNum type="arabicPeriod"/>
            </a:pPr>
            <a:r>
              <a:rPr lang="en-US" dirty="0" smtClean="0"/>
              <a:t>Identify several reasons (not discussed in the case) why accurate weather predictions are so important. Can an accurate weather prediction be considered a competitive advantage for an organization that receives this information? Why or why not? Support your answer with specific examples.</a:t>
            </a:r>
          </a:p>
          <a:p>
            <a:pPr marL="228600" indent="-228600">
              <a:buFont typeface="+mj-lt"/>
              <a:buAutoNum type="arabicPeriod"/>
            </a:pPr>
            <a:r>
              <a:rPr lang="en-US" dirty="0" smtClean="0"/>
              <a:t>Will Dark Sky, Sky Motion, and </a:t>
            </a:r>
            <a:r>
              <a:rPr lang="en-US" dirty="0" err="1" smtClean="0"/>
              <a:t>WeatherSphere</a:t>
            </a:r>
            <a:r>
              <a:rPr lang="en-US" dirty="0" smtClean="0"/>
              <a:t> enjoy a lasting competitive advantage over The Weather Channel? Why or why not? Support your answer.</a:t>
            </a:r>
            <a:endParaRPr lang="en-US" dirty="0"/>
          </a:p>
        </p:txBody>
      </p:sp>
      <p:sp>
        <p:nvSpPr>
          <p:cNvPr id="4" name="Slide Number Placeholder 3"/>
          <p:cNvSpPr>
            <a:spLocks noGrp="1"/>
          </p:cNvSpPr>
          <p:nvPr>
            <p:ph type="sldNum" sz="quarter" idx="10"/>
          </p:nvPr>
        </p:nvSpPr>
        <p:spPr/>
        <p:txBody>
          <a:bodyPr/>
          <a:lstStyle/>
          <a:p>
            <a:fld id="{2CF41C25-7A1F-47FB-B705-003A328B9163}" type="slidenum">
              <a:rPr lang="en-US" smtClean="0"/>
              <a:t>47</a:t>
            </a:fld>
            <a:endParaRPr lang="en-US"/>
          </a:p>
        </p:txBody>
      </p:sp>
    </p:spTree>
    <p:extLst>
      <p:ext uri="{BB962C8B-B14F-4D97-AF65-F5344CB8AC3E}">
        <p14:creationId xmlns:p14="http://schemas.microsoft.com/office/powerpoint/2010/main" val="405064103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smtClean="0"/>
              <a:t>Competitive Advantage: </a:t>
            </a:r>
            <a:r>
              <a:rPr lang="en-US" dirty="0" smtClean="0"/>
              <a:t>any assets that provide an organization with an edge against its competitors in some measure such as cost, quality, or speed. It also helps an organization to control a market and to accrue larger-than-average profits.</a:t>
            </a:r>
          </a:p>
          <a:p>
            <a:r>
              <a:rPr lang="en-US" sz="1200" b="1" i="0" u="none" strike="noStrike" kern="1200" baseline="0" dirty="0" smtClean="0">
                <a:solidFill>
                  <a:schemeClr val="tx1"/>
                </a:solidFill>
                <a:latin typeface="+mn-lt"/>
                <a:ea typeface="+mn-ea"/>
                <a:cs typeface="+mn-cs"/>
              </a:rPr>
              <a:t>Business Environment: </a:t>
            </a:r>
            <a:r>
              <a:rPr lang="en-US" sz="1200" b="0" i="0" u="none" strike="noStrike" kern="1200" baseline="0" dirty="0" smtClean="0">
                <a:solidFill>
                  <a:schemeClr val="tx1"/>
                </a:solidFill>
                <a:latin typeface="+mn-lt"/>
                <a:ea typeface="+mn-ea"/>
                <a:cs typeface="+mn-cs"/>
              </a:rPr>
              <a:t>the combination of social, legal, economic, physical, and political factors in which businesses conduct their operations. Significant changes in any of these factors are likely to create </a:t>
            </a:r>
            <a:r>
              <a:rPr lang="en-US" sz="1200" b="1" i="0" u="none" strike="noStrike" kern="1200" baseline="0" dirty="0" smtClean="0">
                <a:solidFill>
                  <a:schemeClr val="tx1"/>
                </a:solidFill>
                <a:latin typeface="+mn-lt"/>
                <a:ea typeface="+mn-ea"/>
                <a:cs typeface="+mn-cs"/>
              </a:rPr>
              <a:t>Business Pressures </a:t>
            </a:r>
            <a:r>
              <a:rPr lang="en-US" sz="1200" b="0" i="0" u="none" strike="noStrike" kern="1200" baseline="0" dirty="0" smtClean="0">
                <a:solidFill>
                  <a:schemeClr val="tx1"/>
                </a:solidFill>
                <a:latin typeface="+mn-lt"/>
                <a:ea typeface="+mn-ea"/>
                <a:cs typeface="+mn-cs"/>
              </a:rPr>
              <a:t>on organizations.</a:t>
            </a:r>
            <a:endParaRPr lang="en-US" dirty="0" smtClean="0"/>
          </a:p>
          <a:p>
            <a:r>
              <a:rPr lang="en-US" b="1" dirty="0" smtClean="0"/>
              <a:t>Organizations Responses: </a:t>
            </a:r>
            <a:r>
              <a:rPr lang="en-US" dirty="0" smtClean="0"/>
              <a:t>Organizations respond to the various pressures by implementing Information Technology (IT) such as strategic systems, customer focus, make-to-order and mass customization, and e-business.</a:t>
            </a:r>
            <a:endParaRPr lang="en-US" dirty="0"/>
          </a:p>
        </p:txBody>
      </p:sp>
      <p:sp>
        <p:nvSpPr>
          <p:cNvPr id="4" name="Slide Number Placeholder 3"/>
          <p:cNvSpPr>
            <a:spLocks noGrp="1"/>
          </p:cNvSpPr>
          <p:nvPr>
            <p:ph type="sldNum" sz="quarter" idx="10"/>
          </p:nvPr>
        </p:nvSpPr>
        <p:spPr/>
        <p:txBody>
          <a:bodyPr/>
          <a:lstStyle/>
          <a:p>
            <a:fld id="{2CF41C25-7A1F-47FB-B705-003A328B9163}" type="slidenum">
              <a:rPr lang="en-US" smtClean="0"/>
              <a:t>48</a:t>
            </a:fld>
            <a:endParaRPr lang="en-US"/>
          </a:p>
        </p:txBody>
      </p:sp>
    </p:spTree>
    <p:extLst>
      <p:ext uri="{BB962C8B-B14F-4D97-AF65-F5344CB8AC3E}">
        <p14:creationId xmlns:p14="http://schemas.microsoft.com/office/powerpoint/2010/main" val="255893949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smtClean="0"/>
              <a:t>Threat of Entry of New Competitors: </a:t>
            </a:r>
            <a:r>
              <a:rPr lang="en-US" dirty="0" smtClean="0"/>
              <a:t>The threat that new competitors will enter your market is high when entry is easy and low when there are significant barriers to entry.</a:t>
            </a:r>
          </a:p>
          <a:p>
            <a:r>
              <a:rPr lang="en-US" b="1" dirty="0" smtClean="0"/>
              <a:t>Bargaining Power of Suppliers:</a:t>
            </a:r>
            <a:r>
              <a:rPr lang="en-US" dirty="0" smtClean="0"/>
              <a:t> Supplier power is high when buyers have few choices from whom to buy and low when buyers have many choices.</a:t>
            </a:r>
          </a:p>
          <a:p>
            <a:r>
              <a:rPr lang="en-US" b="1" dirty="0" smtClean="0"/>
              <a:t>Bargaining Power of Customers (Buyers): </a:t>
            </a:r>
            <a:r>
              <a:rPr lang="en-US" dirty="0" smtClean="0"/>
              <a:t>Buyer power is high when buyers have many choices from whom to buy and low when buyers have few choices.</a:t>
            </a:r>
          </a:p>
          <a:p>
            <a:r>
              <a:rPr lang="en-US" b="1" dirty="0" smtClean="0"/>
              <a:t>Threat of Substitute Products or Services: </a:t>
            </a:r>
            <a:r>
              <a:rPr lang="en-US" dirty="0" smtClean="0"/>
              <a:t>If there are many alternatives to an organization’s products or services, then the threat of substitutes is high. If there are few alternatives, then the threat is low.</a:t>
            </a:r>
          </a:p>
          <a:p>
            <a:r>
              <a:rPr lang="en-US" b="1" dirty="0" smtClean="0"/>
              <a:t>Rivalry Among Existing Firms: </a:t>
            </a:r>
            <a:r>
              <a:rPr lang="en-US" dirty="0" smtClean="0"/>
              <a:t>The threat from rivalry is high when there is intense competition among many firms in an industry. The threat is low when the competition is among fewer firms and is not as intense.</a:t>
            </a:r>
          </a:p>
          <a:p>
            <a:r>
              <a:rPr lang="en-US" dirty="0" smtClean="0"/>
              <a:t>---------------------</a:t>
            </a:r>
          </a:p>
          <a:p>
            <a:r>
              <a:rPr lang="en-US" b="1" dirty="0" smtClean="0"/>
              <a:t>Barrier to Entry: </a:t>
            </a:r>
            <a:r>
              <a:rPr lang="en-US" dirty="0" smtClean="0"/>
              <a:t>a product or service feature that customers have learned to expect from organizations in a certain industry. A competing organization must offer this feature in order to survive in the marketplace (e.g., legal requirements such as admission to the bar to practice law).</a:t>
            </a:r>
          </a:p>
          <a:p>
            <a:r>
              <a:rPr lang="en-US" b="1" dirty="0" smtClean="0"/>
              <a:t>Switching Costs: </a:t>
            </a:r>
            <a:r>
              <a:rPr lang="en-US" dirty="0" smtClean="0"/>
              <a:t>the costs, in money and time, imposed by a decision to buy elsewhere (e.g., contracts with smartphone providers).</a:t>
            </a:r>
          </a:p>
          <a:p>
            <a:endParaRPr lang="en-US" dirty="0"/>
          </a:p>
        </p:txBody>
      </p:sp>
      <p:sp>
        <p:nvSpPr>
          <p:cNvPr id="4" name="Slide Number Placeholder 3"/>
          <p:cNvSpPr>
            <a:spLocks noGrp="1"/>
          </p:cNvSpPr>
          <p:nvPr>
            <p:ph type="sldNum" sz="quarter" idx="10"/>
          </p:nvPr>
        </p:nvSpPr>
        <p:spPr/>
        <p:txBody>
          <a:bodyPr/>
          <a:lstStyle/>
          <a:p>
            <a:fld id="{2CF41C25-7A1F-47FB-B705-003A328B9163}" type="slidenum">
              <a:rPr lang="en-US" smtClean="0"/>
              <a:t>51</a:t>
            </a:fld>
            <a:endParaRPr lang="en-US"/>
          </a:p>
        </p:txBody>
      </p:sp>
    </p:spTree>
    <p:extLst>
      <p:ext uri="{BB962C8B-B14F-4D97-AF65-F5344CB8AC3E}">
        <p14:creationId xmlns:p14="http://schemas.microsoft.com/office/powerpoint/2010/main" val="198081333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smtClean="0"/>
              <a:t>Threat of Entry of New Competitors: </a:t>
            </a:r>
            <a:r>
              <a:rPr lang="en-US" dirty="0" smtClean="0"/>
              <a:t>The threat that new competitors will enter your market is high when entry is easy and low when there are significant barriers to entry.</a:t>
            </a:r>
          </a:p>
          <a:p>
            <a:r>
              <a:rPr lang="en-US" b="1" dirty="0" smtClean="0"/>
              <a:t>Bargaining Power of Suppliers:</a:t>
            </a:r>
            <a:r>
              <a:rPr lang="en-US" dirty="0" smtClean="0"/>
              <a:t> Supplier power is high when buyers have few choices from whom to buy and low when buyers have many choices.</a:t>
            </a:r>
          </a:p>
          <a:p>
            <a:r>
              <a:rPr lang="en-US" b="1" dirty="0" smtClean="0"/>
              <a:t>Bargaining Power of Customers (Buyers): </a:t>
            </a:r>
            <a:r>
              <a:rPr lang="en-US" dirty="0" smtClean="0"/>
              <a:t>Buyer power is high when buyers have many choices from whom to buy and low when buyers have few choices.</a:t>
            </a:r>
          </a:p>
          <a:p>
            <a:r>
              <a:rPr lang="en-US" b="1" dirty="0" smtClean="0"/>
              <a:t>Threat of Substitute Products or Services: </a:t>
            </a:r>
            <a:r>
              <a:rPr lang="en-US" dirty="0" smtClean="0"/>
              <a:t>If there are many alternatives to an organization’s products or services, then the threat of substitutes is high. If there are few alternatives, then the threat is low.</a:t>
            </a:r>
          </a:p>
          <a:p>
            <a:r>
              <a:rPr lang="en-US" b="1" dirty="0" smtClean="0"/>
              <a:t>Rivalry Among Existing Firms: </a:t>
            </a:r>
            <a:r>
              <a:rPr lang="en-US" dirty="0" smtClean="0"/>
              <a:t>The threat from rivalry is high when there is intense competition among many firms in an industry. The threat is low when the competition is among fewer firms and is not as intense.</a:t>
            </a:r>
          </a:p>
          <a:p>
            <a:r>
              <a:rPr lang="en-US" dirty="0" smtClean="0"/>
              <a:t>---------------------</a:t>
            </a:r>
          </a:p>
          <a:p>
            <a:r>
              <a:rPr lang="en-US" b="1" dirty="0" smtClean="0"/>
              <a:t>Barrier to Entry: </a:t>
            </a:r>
            <a:r>
              <a:rPr lang="en-US" dirty="0" smtClean="0"/>
              <a:t>a product or service feature that customers have learned to expect from organizations in a certain industry. A competing organization must offer this feature in order to survive in the marketplace (e.g., legal requirements such as admission to the bar to practice law).</a:t>
            </a:r>
          </a:p>
          <a:p>
            <a:r>
              <a:rPr lang="en-US" b="1" dirty="0" smtClean="0"/>
              <a:t>Switching Costs: </a:t>
            </a:r>
            <a:r>
              <a:rPr lang="en-US" dirty="0" smtClean="0"/>
              <a:t>the costs, in money and time, imposed by a decision to buy elsewhere (e.g., contracts with smartphone providers).</a:t>
            </a:r>
          </a:p>
          <a:p>
            <a:endParaRPr lang="en-US" dirty="0"/>
          </a:p>
        </p:txBody>
      </p:sp>
      <p:sp>
        <p:nvSpPr>
          <p:cNvPr id="4" name="Slide Number Placeholder 3"/>
          <p:cNvSpPr>
            <a:spLocks noGrp="1"/>
          </p:cNvSpPr>
          <p:nvPr>
            <p:ph type="sldNum" sz="quarter" idx="10"/>
          </p:nvPr>
        </p:nvSpPr>
        <p:spPr/>
        <p:txBody>
          <a:bodyPr/>
          <a:lstStyle/>
          <a:p>
            <a:fld id="{2CF41C25-7A1F-47FB-B705-003A328B9163}" type="slidenum">
              <a:rPr lang="en-US" smtClean="0"/>
              <a:t>52</a:t>
            </a:fld>
            <a:endParaRPr lang="en-US"/>
          </a:p>
        </p:txBody>
      </p:sp>
    </p:spTree>
    <p:extLst>
      <p:ext uri="{BB962C8B-B14F-4D97-AF65-F5344CB8AC3E}">
        <p14:creationId xmlns:p14="http://schemas.microsoft.com/office/powerpoint/2010/main" val="13361582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smtClean="0"/>
              <a:t>Value Chain: </a:t>
            </a:r>
            <a:r>
              <a:rPr lang="en-US" dirty="0" smtClean="0"/>
              <a:t>a sequence of activities through which the organization’s inputs, whatever they are, are transformed into more valuable outputs, whatever they are.</a:t>
            </a:r>
          </a:p>
          <a:p>
            <a:r>
              <a:rPr lang="en-US" b="1" dirty="0" smtClean="0"/>
              <a:t>Value System: </a:t>
            </a:r>
            <a:r>
              <a:rPr lang="en-US" dirty="0" smtClean="0"/>
              <a:t>includes the suppliers that provide the inputs necessary to the firm along with their value chains. After the firm creates products, these products pass through the value chains of distributors (which also have their own value chains), all the way to the customers. All parts of these chains are included in the value system.</a:t>
            </a:r>
          </a:p>
          <a:p>
            <a:r>
              <a:rPr lang="en-US" dirty="0" smtClean="0"/>
              <a:t>-------------------</a:t>
            </a:r>
          </a:p>
          <a:p>
            <a:r>
              <a:rPr lang="en-US" b="1" dirty="0" smtClean="0"/>
              <a:t>Two Categories of Organization Activities in the Value Chain:</a:t>
            </a:r>
          </a:p>
          <a:p>
            <a:r>
              <a:rPr lang="en-US" b="1" i="1" dirty="0" smtClean="0"/>
              <a:t>Primary Activities: </a:t>
            </a:r>
            <a:r>
              <a:rPr lang="en-US" dirty="0" smtClean="0"/>
              <a:t>relate to the production and distribution of the firm’s products and services. These activities create value for which customers are willing to pay.</a:t>
            </a:r>
          </a:p>
          <a:p>
            <a:r>
              <a:rPr lang="en-US" b="1" i="1" dirty="0" smtClean="0"/>
              <a:t>Support activities: </a:t>
            </a:r>
            <a:r>
              <a:rPr lang="en-US" dirty="0" smtClean="0"/>
              <a:t>contribute to the firm’s competitive advantage by supporting the primary activities, but do not add value directly to the firm’s products or services.</a:t>
            </a:r>
          </a:p>
          <a:p>
            <a:endParaRPr lang="en-US" dirty="0"/>
          </a:p>
        </p:txBody>
      </p:sp>
      <p:sp>
        <p:nvSpPr>
          <p:cNvPr id="4" name="Slide Number Placeholder 3"/>
          <p:cNvSpPr>
            <a:spLocks noGrp="1"/>
          </p:cNvSpPr>
          <p:nvPr>
            <p:ph type="sldNum" sz="quarter" idx="10"/>
          </p:nvPr>
        </p:nvSpPr>
        <p:spPr/>
        <p:txBody>
          <a:bodyPr/>
          <a:lstStyle/>
          <a:p>
            <a:fld id="{2CF41C25-7A1F-47FB-B705-003A328B9163}" type="slidenum">
              <a:rPr lang="en-US" smtClean="0"/>
              <a:t>53</a:t>
            </a:fld>
            <a:endParaRPr lang="en-US"/>
          </a:p>
        </p:txBody>
      </p:sp>
    </p:spTree>
    <p:extLst>
      <p:ext uri="{BB962C8B-B14F-4D97-AF65-F5344CB8AC3E}">
        <p14:creationId xmlns:p14="http://schemas.microsoft.com/office/powerpoint/2010/main" val="219287369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0" u="none" strike="noStrike" kern="1200" baseline="0" dirty="0" smtClean="0">
                <a:solidFill>
                  <a:schemeClr val="tx1"/>
                </a:solidFill>
                <a:latin typeface="+mn-lt"/>
                <a:ea typeface="+mn-ea"/>
                <a:cs typeface="+mn-cs"/>
              </a:rPr>
              <a:t>FIGURE 2.4 </a:t>
            </a:r>
            <a:r>
              <a:rPr lang="en-US" sz="1200" b="0" i="0" u="none" strike="noStrike" kern="1200" baseline="0" dirty="0" smtClean="0">
                <a:solidFill>
                  <a:schemeClr val="tx1"/>
                </a:solidFill>
                <a:latin typeface="+mn-lt"/>
                <a:ea typeface="+mn-ea"/>
                <a:cs typeface="+mn-cs"/>
              </a:rPr>
              <a:t>Porter’s value chain model.</a:t>
            </a:r>
            <a:endParaRPr lang="en-US" b="1" dirty="0" smtClean="0"/>
          </a:p>
          <a:p>
            <a:endParaRPr lang="en-US" b="1" dirty="0" smtClean="0"/>
          </a:p>
          <a:p>
            <a:r>
              <a:rPr lang="en-US" b="1" dirty="0" smtClean="0"/>
              <a:t>Value Chain: </a:t>
            </a:r>
            <a:r>
              <a:rPr lang="en-US" dirty="0" smtClean="0"/>
              <a:t>a sequence of activities through which the organization’s inputs, whatever they are, are transformed into more valuable outputs, whatever they are.</a:t>
            </a:r>
          </a:p>
          <a:p>
            <a:r>
              <a:rPr lang="en-US" b="1" dirty="0" smtClean="0"/>
              <a:t>Value System: </a:t>
            </a:r>
            <a:r>
              <a:rPr lang="en-US" dirty="0" smtClean="0"/>
              <a:t>includes the suppliers that provide the inputs necessary to the firm along with their value chains. After the firm creates products, these products pass through the value chains of distributors (which also have their own value chains), all the way to the customers. All parts of these chains are included in the value system.</a:t>
            </a:r>
          </a:p>
          <a:p>
            <a:r>
              <a:rPr lang="en-US" dirty="0" smtClean="0"/>
              <a:t>-------------------</a:t>
            </a:r>
          </a:p>
          <a:p>
            <a:r>
              <a:rPr lang="en-US" b="1" dirty="0" smtClean="0"/>
              <a:t>Two Categories of Organization Activities in the Value Chain:</a:t>
            </a:r>
          </a:p>
          <a:p>
            <a:r>
              <a:rPr lang="en-US" b="1" i="1" dirty="0" smtClean="0"/>
              <a:t>Primary Activities: </a:t>
            </a:r>
            <a:r>
              <a:rPr lang="en-US" dirty="0" smtClean="0"/>
              <a:t>relate to the production and distribution of the firm’s products and services. These activities create value for which customers are willing to pay.</a:t>
            </a:r>
          </a:p>
          <a:p>
            <a:r>
              <a:rPr lang="en-US" b="1" i="1" dirty="0" smtClean="0"/>
              <a:t>Support activities: </a:t>
            </a:r>
            <a:r>
              <a:rPr lang="en-US" dirty="0" smtClean="0"/>
              <a:t>contribute to the firm’s competitive advantage by supporting the primary activities, but do not add value directly to the firm’s products or services.</a:t>
            </a:r>
          </a:p>
          <a:p>
            <a:endParaRPr lang="en-US" dirty="0"/>
          </a:p>
        </p:txBody>
      </p:sp>
      <p:sp>
        <p:nvSpPr>
          <p:cNvPr id="4" name="Slide Number Placeholder 3"/>
          <p:cNvSpPr>
            <a:spLocks noGrp="1"/>
          </p:cNvSpPr>
          <p:nvPr>
            <p:ph type="sldNum" sz="quarter" idx="10"/>
          </p:nvPr>
        </p:nvSpPr>
        <p:spPr/>
        <p:txBody>
          <a:bodyPr/>
          <a:lstStyle/>
          <a:p>
            <a:fld id="{2CF41C25-7A1F-47FB-B705-003A328B9163}" type="slidenum">
              <a:rPr lang="en-US" smtClean="0"/>
              <a:t>54</a:t>
            </a:fld>
            <a:endParaRPr lang="en-US"/>
          </a:p>
        </p:txBody>
      </p:sp>
    </p:spTree>
    <p:extLst>
      <p:ext uri="{BB962C8B-B14F-4D97-AF65-F5344CB8AC3E}">
        <p14:creationId xmlns:p14="http://schemas.microsoft.com/office/powerpoint/2010/main" val="250604001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i="1" dirty="0" smtClean="0"/>
              <a:t>Primary Activities: </a:t>
            </a:r>
            <a:r>
              <a:rPr lang="en-US" dirty="0" smtClean="0"/>
              <a:t>relate to the production and distribution of the firm’s products and services. These activities create value for which customers are willing to pay.</a:t>
            </a:r>
          </a:p>
          <a:p>
            <a:endParaRPr lang="en-US" dirty="0"/>
          </a:p>
        </p:txBody>
      </p:sp>
      <p:sp>
        <p:nvSpPr>
          <p:cNvPr id="4" name="Slide Number Placeholder 3"/>
          <p:cNvSpPr>
            <a:spLocks noGrp="1"/>
          </p:cNvSpPr>
          <p:nvPr>
            <p:ph type="sldNum" sz="quarter" idx="10"/>
          </p:nvPr>
        </p:nvSpPr>
        <p:spPr/>
        <p:txBody>
          <a:bodyPr/>
          <a:lstStyle/>
          <a:p>
            <a:fld id="{2CF41C25-7A1F-47FB-B705-003A328B9163}" type="slidenum">
              <a:rPr lang="en-US" smtClean="0"/>
              <a:t>55</a:t>
            </a:fld>
            <a:endParaRPr lang="en-US"/>
          </a:p>
        </p:txBody>
      </p:sp>
    </p:spTree>
    <p:extLst>
      <p:ext uri="{BB962C8B-B14F-4D97-AF65-F5344CB8AC3E}">
        <p14:creationId xmlns:p14="http://schemas.microsoft.com/office/powerpoint/2010/main" val="59148528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i="1" dirty="0" smtClean="0"/>
              <a:t>Support activities: </a:t>
            </a:r>
            <a:r>
              <a:rPr lang="en-US" dirty="0" smtClean="0"/>
              <a:t>contribute to the firm’s competitive advantage by supporting the primary activities, but do not add value directly to the firm’s products or services.</a:t>
            </a:r>
          </a:p>
          <a:p>
            <a:endParaRPr lang="en-US" dirty="0"/>
          </a:p>
        </p:txBody>
      </p:sp>
      <p:sp>
        <p:nvSpPr>
          <p:cNvPr id="4" name="Slide Number Placeholder 3"/>
          <p:cNvSpPr>
            <a:spLocks noGrp="1"/>
          </p:cNvSpPr>
          <p:nvPr>
            <p:ph type="sldNum" sz="quarter" idx="10"/>
          </p:nvPr>
        </p:nvSpPr>
        <p:spPr/>
        <p:txBody>
          <a:bodyPr/>
          <a:lstStyle/>
          <a:p>
            <a:fld id="{2CF41C25-7A1F-47FB-B705-003A328B9163}" type="slidenum">
              <a:rPr lang="en-US" smtClean="0"/>
              <a:t>56</a:t>
            </a:fld>
            <a:endParaRPr lang="en-US"/>
          </a:p>
        </p:txBody>
      </p:sp>
    </p:spTree>
    <p:extLst>
      <p:ext uri="{BB962C8B-B14F-4D97-AF65-F5344CB8AC3E}">
        <p14:creationId xmlns:p14="http://schemas.microsoft.com/office/powerpoint/2010/main" val="311946225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u="sng" dirty="0" smtClean="0"/>
              <a:t>Competitive Advantage Strategies:</a:t>
            </a:r>
          </a:p>
          <a:p>
            <a:pPr marL="228600" indent="-228600">
              <a:buFont typeface="+mj-lt"/>
              <a:buAutoNum type="arabicPeriod"/>
            </a:pPr>
            <a:r>
              <a:rPr lang="en-US" b="1" dirty="0" smtClean="0"/>
              <a:t>Cost leadership strategy: </a:t>
            </a:r>
            <a:r>
              <a:rPr lang="en-US" dirty="0" smtClean="0"/>
              <a:t>Produce products and/or services at the lowest cost in the industry (e.g., </a:t>
            </a:r>
            <a:r>
              <a:rPr lang="en-US" dirty="0" err="1" smtClean="0"/>
              <a:t>Walmart’s</a:t>
            </a:r>
            <a:r>
              <a:rPr lang="en-US" dirty="0" smtClean="0"/>
              <a:t> automatic inventory replenishment system).</a:t>
            </a:r>
          </a:p>
          <a:p>
            <a:pPr marL="228600" indent="-228600">
              <a:buFont typeface="+mj-lt"/>
              <a:buAutoNum type="arabicPeriod"/>
            </a:pPr>
            <a:r>
              <a:rPr lang="en-US" b="1" dirty="0" smtClean="0"/>
              <a:t>Differentiation Strategy: </a:t>
            </a:r>
            <a:r>
              <a:rPr lang="en-US" dirty="0" smtClean="0"/>
              <a:t>Offering different products, services, or product features than your competitors (e.g., Southwest Airlines has differentiated itself as a low-cost, short-haul, express airline).</a:t>
            </a:r>
          </a:p>
          <a:p>
            <a:pPr marL="228600" indent="-228600">
              <a:buFont typeface="+mj-lt"/>
              <a:buAutoNum type="arabicPeriod"/>
            </a:pPr>
            <a:r>
              <a:rPr lang="en-US" b="1" dirty="0" smtClean="0"/>
              <a:t>Innovation Strategy: </a:t>
            </a:r>
            <a:r>
              <a:rPr lang="en-US" dirty="0" smtClean="0"/>
              <a:t>Introduce new products and services, add new features to existing products and services, or develop new ways to produce them (Classic Example: the first introduction of automated teller machines (ATMs) by Citibank).</a:t>
            </a:r>
          </a:p>
          <a:p>
            <a:pPr marL="228600" indent="-228600">
              <a:buFont typeface="+mj-lt"/>
              <a:buAutoNum type="arabicPeriod"/>
            </a:pPr>
            <a:r>
              <a:rPr lang="en-US" b="1" dirty="0" smtClean="0"/>
              <a:t>Operational Effectiveness Strategy: </a:t>
            </a:r>
            <a:r>
              <a:rPr lang="en-US" dirty="0" smtClean="0"/>
              <a:t>Improve the manner in which a firm executes its internal business processes so that it performs these activities more effectively than its rivals. Such improvements increase quality, productivity, and employee and customer satisfaction while decreasing time to market.</a:t>
            </a:r>
          </a:p>
          <a:p>
            <a:pPr marL="228600" indent="-228600">
              <a:buFont typeface="+mj-lt"/>
              <a:buAutoNum type="arabicPeriod"/>
            </a:pPr>
            <a:r>
              <a:rPr lang="en-US" b="1" dirty="0" smtClean="0"/>
              <a:t>Customer Orientation Strategy: </a:t>
            </a:r>
            <a:r>
              <a:rPr lang="en-US" dirty="0" smtClean="0"/>
              <a:t>Concentrate on making customers happy. Web-based systems are particularly effective in this area because they can create a personalized, one-to-one relationship with each customer.</a:t>
            </a:r>
          </a:p>
          <a:p>
            <a:endParaRPr lang="en-US" dirty="0"/>
          </a:p>
        </p:txBody>
      </p:sp>
      <p:sp>
        <p:nvSpPr>
          <p:cNvPr id="4" name="Slide Number Placeholder 3"/>
          <p:cNvSpPr>
            <a:spLocks noGrp="1"/>
          </p:cNvSpPr>
          <p:nvPr>
            <p:ph type="sldNum" sz="quarter" idx="10"/>
          </p:nvPr>
        </p:nvSpPr>
        <p:spPr/>
        <p:txBody>
          <a:bodyPr/>
          <a:lstStyle/>
          <a:p>
            <a:fld id="{2CF41C25-7A1F-47FB-B705-003A328B9163}" type="slidenum">
              <a:rPr lang="en-US" smtClean="0"/>
              <a:t>57</a:t>
            </a:fld>
            <a:endParaRPr lang="en-US"/>
          </a:p>
        </p:txBody>
      </p:sp>
    </p:spTree>
    <p:extLst>
      <p:ext uri="{BB962C8B-B14F-4D97-AF65-F5344CB8AC3E}">
        <p14:creationId xmlns:p14="http://schemas.microsoft.com/office/powerpoint/2010/main" val="94438457"/>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smtClean="0"/>
              <a:t>FIGURE 2.5 </a:t>
            </a:r>
            <a:r>
              <a:rPr lang="en-US" dirty="0" smtClean="0"/>
              <a:t>Strategies for competitive advantage.</a:t>
            </a:r>
            <a:endParaRPr lang="en-US" dirty="0"/>
          </a:p>
        </p:txBody>
      </p:sp>
      <p:sp>
        <p:nvSpPr>
          <p:cNvPr id="4" name="Slide Number Placeholder 3"/>
          <p:cNvSpPr>
            <a:spLocks noGrp="1"/>
          </p:cNvSpPr>
          <p:nvPr>
            <p:ph type="sldNum" sz="quarter" idx="10"/>
          </p:nvPr>
        </p:nvSpPr>
        <p:spPr/>
        <p:txBody>
          <a:bodyPr/>
          <a:lstStyle/>
          <a:p>
            <a:fld id="{2CF41C25-7A1F-47FB-B705-003A328B9163}" type="slidenum">
              <a:rPr lang="en-US" smtClean="0"/>
              <a:t>58</a:t>
            </a:fld>
            <a:endParaRPr lang="en-US"/>
          </a:p>
        </p:txBody>
      </p:sp>
    </p:spTree>
    <p:extLst>
      <p:ext uri="{BB962C8B-B14F-4D97-AF65-F5344CB8AC3E}">
        <p14:creationId xmlns:p14="http://schemas.microsoft.com/office/powerpoint/2010/main" val="1550822348"/>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Font typeface="+mj-lt"/>
              <a:buAutoNum type="arabicPeriod"/>
            </a:pPr>
            <a:r>
              <a:rPr lang="en-US" dirty="0" smtClean="0"/>
              <a:t>Describe the strategic advantages that IT provides to UPMC.</a:t>
            </a:r>
          </a:p>
          <a:p>
            <a:pPr marL="228600" indent="-228600">
              <a:buFont typeface="+mj-lt"/>
              <a:buAutoNum type="arabicPeriod"/>
            </a:pPr>
            <a:r>
              <a:rPr lang="en-US" dirty="0" smtClean="0"/>
              <a:t>Which of Porter’s competitive strategies is UPMC employing? Support your answer.</a:t>
            </a:r>
          </a:p>
          <a:p>
            <a:pPr marL="228600" indent="-228600">
              <a:buFont typeface="+mj-lt"/>
              <a:buAutoNum type="arabicPeriod"/>
            </a:pPr>
            <a:r>
              <a:rPr lang="en-US" dirty="0" smtClean="0"/>
              <a:t>Describe how UPMC illustrates effective business–IT alignment.</a:t>
            </a:r>
            <a:endParaRPr lang="en-US" dirty="0"/>
          </a:p>
        </p:txBody>
      </p:sp>
      <p:sp>
        <p:nvSpPr>
          <p:cNvPr id="4" name="Slide Number Placeholder 3"/>
          <p:cNvSpPr>
            <a:spLocks noGrp="1"/>
          </p:cNvSpPr>
          <p:nvPr>
            <p:ph type="sldNum" sz="quarter" idx="10"/>
          </p:nvPr>
        </p:nvSpPr>
        <p:spPr/>
        <p:txBody>
          <a:bodyPr/>
          <a:lstStyle/>
          <a:p>
            <a:fld id="{2CF41C25-7A1F-47FB-B705-003A328B9163}" type="slidenum">
              <a:rPr lang="en-US" smtClean="0"/>
              <a:t>59</a:t>
            </a:fld>
            <a:endParaRPr lang="en-US"/>
          </a:p>
        </p:txBody>
      </p:sp>
    </p:spTree>
    <p:extLst>
      <p:ext uri="{BB962C8B-B14F-4D97-AF65-F5344CB8AC3E}">
        <p14:creationId xmlns:p14="http://schemas.microsoft.com/office/powerpoint/2010/main" val="405064103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smtClean="0"/>
              <a:t>Questions</a:t>
            </a:r>
          </a:p>
          <a:p>
            <a:r>
              <a:rPr lang="en-US" b="0" dirty="0" smtClean="0"/>
              <a:t>1. What applications can you think of for Watson in a university setting?</a:t>
            </a:r>
          </a:p>
          <a:p>
            <a:r>
              <a:rPr lang="en-US" b="0" dirty="0" smtClean="0"/>
              <a:t>2. What are potential disadvantages of using Watson in healthcare settings?</a:t>
            </a:r>
          </a:p>
          <a:p>
            <a:r>
              <a:rPr lang="en-US" b="0" dirty="0" smtClean="0"/>
              <a:t>3. Would you consider being diagnosed only by Watson? Why or why not?</a:t>
            </a:r>
          </a:p>
          <a:p>
            <a:r>
              <a:rPr lang="en-US" b="0" dirty="0" smtClean="0"/>
              <a:t>4. Would you consider being diagnosed by your personal physician, if he or she consulted Watson? Why or why not?</a:t>
            </a:r>
            <a:endParaRPr lang="en-US" b="0" dirty="0"/>
          </a:p>
        </p:txBody>
      </p:sp>
      <p:sp>
        <p:nvSpPr>
          <p:cNvPr id="4" name="Slide Number Placeholder 3"/>
          <p:cNvSpPr>
            <a:spLocks noGrp="1"/>
          </p:cNvSpPr>
          <p:nvPr>
            <p:ph type="sldNum" sz="quarter" idx="10"/>
          </p:nvPr>
        </p:nvSpPr>
        <p:spPr/>
        <p:txBody>
          <a:bodyPr/>
          <a:lstStyle/>
          <a:p>
            <a:fld id="{2CF41C25-7A1F-47FB-B705-003A328B9163}" type="slidenum">
              <a:rPr lang="en-US" smtClean="0"/>
              <a:t>60</a:t>
            </a:fld>
            <a:endParaRPr lang="en-US"/>
          </a:p>
        </p:txBody>
      </p:sp>
    </p:spTree>
    <p:extLst>
      <p:ext uri="{BB962C8B-B14F-4D97-AF65-F5344CB8AC3E}">
        <p14:creationId xmlns:p14="http://schemas.microsoft.com/office/powerpoint/2010/main" val="3248328049"/>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w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hapter Title">
    <p:spTree>
      <p:nvGrpSpPr>
        <p:cNvPr id="1" name=""/>
        <p:cNvGrpSpPr/>
        <p:nvPr/>
      </p:nvGrpSpPr>
      <p:grpSpPr>
        <a:xfrm>
          <a:off x="0" y="0"/>
          <a:ext cx="0" cy="0"/>
          <a:chOff x="0" y="0"/>
          <a:chExt cx="0" cy="0"/>
        </a:xfrm>
      </p:grpSpPr>
      <p:sp>
        <p:nvSpPr>
          <p:cNvPr id="11" name="Oval 10"/>
          <p:cNvSpPr/>
          <p:nvPr userDrawn="1"/>
        </p:nvSpPr>
        <p:spPr>
          <a:xfrm>
            <a:off x="5410200" y="1298787"/>
            <a:ext cx="1752600" cy="1752600"/>
          </a:xfrm>
          <a:prstGeom prst="ellipse">
            <a:avLst/>
          </a:prstGeom>
          <a:gradFill flip="none" rotWithShape="1">
            <a:gsLst>
              <a:gs pos="0">
                <a:srgbClr val="C00000"/>
              </a:gs>
              <a:gs pos="49000">
                <a:srgbClr val="C00000"/>
              </a:gs>
              <a:gs pos="100000">
                <a:srgbClr val="740000"/>
              </a:gs>
            </a:gsLst>
            <a:path path="shape">
              <a:fillToRect l="50000" t="50000" r="50000" b="50000"/>
            </a:path>
            <a:tileRect/>
          </a:gradFill>
          <a:ln>
            <a:noFill/>
          </a:ln>
          <a:effectLst>
            <a:outerShdw blurRad="254000" dist="101600" dir="2700000" algn="tl"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p:cNvSpPr/>
          <p:nvPr userDrawn="1"/>
        </p:nvSpPr>
        <p:spPr>
          <a:xfrm>
            <a:off x="6781800" y="6362700"/>
            <a:ext cx="2362200" cy="3429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ubtitle 2"/>
          <p:cNvSpPr>
            <a:spLocks noGrp="1"/>
          </p:cNvSpPr>
          <p:nvPr>
            <p:ph type="subTitle" idx="1"/>
          </p:nvPr>
        </p:nvSpPr>
        <p:spPr>
          <a:xfrm>
            <a:off x="533400" y="3429000"/>
            <a:ext cx="8001000" cy="2819400"/>
          </a:xfrm>
        </p:spPr>
        <p:txBody>
          <a:bodyPr>
            <a:normAutofit/>
          </a:bodyPr>
          <a:lstStyle>
            <a:lvl1pPr marL="0" indent="0" algn="l">
              <a:spcBef>
                <a:spcPts val="600"/>
              </a:spcBef>
              <a:spcAft>
                <a:spcPts val="600"/>
              </a:spcAft>
              <a:buNone/>
              <a:defRPr sz="6600" baseline="0">
                <a:solidFill>
                  <a:schemeClr val="tx1"/>
                </a:solidFill>
                <a:latin typeface="Times New Roman" pitchFamily="18" charset="0"/>
                <a:cs typeface="Times New Roman" pitchFamily="18"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Click to edit Master subtitle style</a:t>
            </a:r>
            <a:endParaRPr lang="en-US" dirty="0"/>
          </a:p>
        </p:txBody>
      </p:sp>
      <p:sp>
        <p:nvSpPr>
          <p:cNvPr id="6" name="Slide Number Placeholder 5"/>
          <p:cNvSpPr>
            <a:spLocks noGrp="1"/>
          </p:cNvSpPr>
          <p:nvPr>
            <p:ph type="sldNum" sz="quarter" idx="12"/>
          </p:nvPr>
        </p:nvSpPr>
        <p:spPr/>
        <p:txBody>
          <a:bodyPr/>
          <a:lstStyle/>
          <a:p>
            <a:fld id="{AC392DC9-9688-4E44-A90B-C333AD8FEA09}" type="slidenum">
              <a:rPr lang="en-US" smtClean="0"/>
              <a:t>‹#›</a:t>
            </a:fld>
            <a:endParaRPr lang="en-US" dirty="0"/>
          </a:p>
        </p:txBody>
      </p:sp>
      <p:sp>
        <p:nvSpPr>
          <p:cNvPr id="7" name="Rectangle 6"/>
          <p:cNvSpPr/>
          <p:nvPr userDrawn="1"/>
        </p:nvSpPr>
        <p:spPr>
          <a:xfrm>
            <a:off x="505326" y="457200"/>
            <a:ext cx="8153400" cy="685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Picture 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533400" y="1676400"/>
            <a:ext cx="4752474" cy="997374"/>
          </a:xfrm>
          <a:prstGeom prst="rect">
            <a:avLst/>
          </a:prstGeom>
        </p:spPr>
      </p:pic>
      <p:sp>
        <p:nvSpPr>
          <p:cNvPr id="13" name="Text Placeholder 12"/>
          <p:cNvSpPr>
            <a:spLocks noGrp="1"/>
          </p:cNvSpPr>
          <p:nvPr>
            <p:ph type="body" sz="quarter" idx="13" hasCustomPrompt="1"/>
          </p:nvPr>
        </p:nvSpPr>
        <p:spPr>
          <a:xfrm>
            <a:off x="5410200" y="1295400"/>
            <a:ext cx="1752600" cy="1752600"/>
          </a:xfrm>
        </p:spPr>
        <p:txBody>
          <a:bodyPr anchor="ctr" anchorCtr="0">
            <a:normAutofit/>
          </a:bodyPr>
          <a:lstStyle>
            <a:lvl1pPr marL="0" indent="0" algn="ctr">
              <a:buFontTx/>
              <a:buNone/>
              <a:defRPr sz="9600" b="1" i="0" baseline="0">
                <a:solidFill>
                  <a:schemeClr val="bg1"/>
                </a:solidFill>
                <a:effectLst>
                  <a:outerShdw blurRad="63500" sx="102000" sy="102000" algn="ctr" rotWithShape="0">
                    <a:prstClr val="black">
                      <a:alpha val="40000"/>
                    </a:prstClr>
                  </a:outerShdw>
                </a:effectLst>
                <a:latin typeface="Rockwell" pitchFamily="18" charset="0"/>
              </a:defRPr>
            </a:lvl1pPr>
          </a:lstStyle>
          <a:p>
            <a:pPr lvl="0"/>
            <a:r>
              <a:rPr lang="en-US" dirty="0" smtClean="0"/>
              <a:t>#</a:t>
            </a:r>
            <a:endParaRPr lang="en-US" dirty="0"/>
          </a:p>
        </p:txBody>
      </p:sp>
      <p:cxnSp>
        <p:nvCxnSpPr>
          <p:cNvPr id="16" name="Straight Connector 15"/>
          <p:cNvCxnSpPr/>
          <p:nvPr userDrawn="1"/>
        </p:nvCxnSpPr>
        <p:spPr>
          <a:xfrm>
            <a:off x="609600" y="6324600"/>
            <a:ext cx="8534400" cy="0"/>
          </a:xfrm>
          <a:prstGeom prst="line">
            <a:avLst/>
          </a:prstGeom>
          <a:ln w="25400">
            <a:solidFill>
              <a:srgbClr val="74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52020211"/>
      </p:ext>
    </p:extLst>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h_Learning_Obj">
    <p:spTree>
      <p:nvGrpSpPr>
        <p:cNvPr id="1" name=""/>
        <p:cNvGrpSpPr/>
        <p:nvPr/>
      </p:nvGrpSpPr>
      <p:grpSpPr>
        <a:xfrm>
          <a:off x="0" y="0"/>
          <a:ext cx="0" cy="0"/>
          <a:chOff x="0" y="0"/>
          <a:chExt cx="0" cy="0"/>
        </a:xfrm>
      </p:grpSpPr>
      <p:sp>
        <p:nvSpPr>
          <p:cNvPr id="7" name="Rectangle 6"/>
          <p:cNvSpPr/>
          <p:nvPr userDrawn="1"/>
        </p:nvSpPr>
        <p:spPr>
          <a:xfrm>
            <a:off x="457200" y="381000"/>
            <a:ext cx="8305800" cy="1143000"/>
          </a:xfrm>
          <a:prstGeom prst="rect">
            <a:avLst/>
          </a:prstGeom>
          <a:gradFill flip="none" rotWithShape="1">
            <a:gsLst>
              <a:gs pos="0">
                <a:srgbClr val="B5FD5D"/>
              </a:gs>
              <a:gs pos="77000">
                <a:srgbClr val="7CFF33"/>
              </a:gs>
              <a:gs pos="100000">
                <a:srgbClr val="69BE02"/>
              </a:gs>
            </a:gsLst>
            <a:path path="rect">
              <a:fillToRect l="50000" t="50000" r="50000" b="50000"/>
            </a:path>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p:cNvSpPr/>
          <p:nvPr userDrawn="1"/>
        </p:nvSpPr>
        <p:spPr>
          <a:xfrm>
            <a:off x="0" y="152400"/>
            <a:ext cx="2362200" cy="3429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userDrawn="1"/>
        </p:nvSpPr>
        <p:spPr>
          <a:xfrm>
            <a:off x="6781800" y="6362700"/>
            <a:ext cx="2362200" cy="3429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p:cNvSpPr>
            <a:spLocks noGrp="1"/>
          </p:cNvSpPr>
          <p:nvPr>
            <p:ph idx="1"/>
          </p:nvPr>
        </p:nvSpPr>
        <p:spPr>
          <a:xfrm>
            <a:off x="457200" y="1828800"/>
            <a:ext cx="8229600" cy="4297363"/>
          </a:xfrm>
        </p:spPr>
        <p:txBody>
          <a:bodyPr/>
          <a:lstStyle>
            <a:lvl1pPr marL="514350" indent="-514350">
              <a:buClr>
                <a:schemeClr val="accent3">
                  <a:lumMod val="75000"/>
                </a:schemeClr>
              </a:buClr>
              <a:buSzPct val="150000"/>
              <a:buFont typeface="+mj-lt"/>
              <a:buAutoNum type="arabicPeriod"/>
              <a:defRPr baseline="0">
                <a:latin typeface="Times New Roman" pitchFamily="18" charset="0"/>
              </a:defRPr>
            </a:lvl1pPr>
            <a:lvl2pPr>
              <a:defRPr baseline="0">
                <a:latin typeface="Times New Roman" pitchFamily="18" charset="0"/>
              </a:defRPr>
            </a:lvl2pPr>
            <a:lvl3pPr>
              <a:defRPr baseline="0">
                <a:latin typeface="Times New Roman" pitchFamily="18" charset="0"/>
              </a:defRPr>
            </a:lvl3pPr>
            <a:lvl4pPr>
              <a:defRPr baseline="0">
                <a:latin typeface="Times New Roman" pitchFamily="18" charset="0"/>
              </a:defRPr>
            </a:lvl4pPr>
            <a:lvl5pPr>
              <a:defRPr baseline="0">
                <a:latin typeface="Times New Roman" pitchFamily="18" charset="0"/>
              </a:defRPr>
            </a:lvl5pPr>
          </a:lstStyle>
          <a:p>
            <a:pPr lvl="0"/>
            <a:r>
              <a:rPr lang="en-US" dirty="0" smtClean="0"/>
              <a:t>Click to edit Master text styles</a:t>
            </a:r>
            <a:endParaRPr lang="en-US" dirty="0"/>
          </a:p>
        </p:txBody>
      </p:sp>
      <p:sp>
        <p:nvSpPr>
          <p:cNvPr id="6" name="Slide Number Placeholder 5"/>
          <p:cNvSpPr>
            <a:spLocks noGrp="1"/>
          </p:cNvSpPr>
          <p:nvPr>
            <p:ph type="sldNum" sz="quarter" idx="12"/>
          </p:nvPr>
        </p:nvSpPr>
        <p:spPr/>
        <p:txBody>
          <a:bodyPr/>
          <a:lstStyle>
            <a:lvl1pPr>
              <a:defRPr>
                <a:solidFill>
                  <a:schemeClr val="bg1"/>
                </a:solidFill>
              </a:defRPr>
            </a:lvl1pPr>
          </a:lstStyle>
          <a:p>
            <a:fld id="{AC392DC9-9688-4E44-A90B-C333AD8FEA09}" type="slidenum">
              <a:rPr lang="en-US" smtClean="0"/>
              <a:pPr/>
              <a:t>‹#›</a:t>
            </a:fld>
            <a:endParaRPr lang="en-US" dirty="0"/>
          </a:p>
        </p:txBody>
      </p:sp>
      <p:cxnSp>
        <p:nvCxnSpPr>
          <p:cNvPr id="10" name="Straight Connector 9"/>
          <p:cNvCxnSpPr/>
          <p:nvPr userDrawn="1"/>
        </p:nvCxnSpPr>
        <p:spPr>
          <a:xfrm>
            <a:off x="609600" y="6324600"/>
            <a:ext cx="8534400" cy="0"/>
          </a:xfrm>
          <a:prstGeom prst="line">
            <a:avLst/>
          </a:prstGeom>
          <a:ln w="25400">
            <a:solidFill>
              <a:srgbClr val="69BE0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64839284"/>
      </p:ext>
    </p:extLst>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h_Outline">
    <p:spTree>
      <p:nvGrpSpPr>
        <p:cNvPr id="1" name=""/>
        <p:cNvGrpSpPr/>
        <p:nvPr/>
      </p:nvGrpSpPr>
      <p:grpSpPr>
        <a:xfrm>
          <a:off x="0" y="0"/>
          <a:ext cx="0" cy="0"/>
          <a:chOff x="0" y="0"/>
          <a:chExt cx="0" cy="0"/>
        </a:xfrm>
      </p:grpSpPr>
      <p:sp>
        <p:nvSpPr>
          <p:cNvPr id="7" name="Rectangle 6"/>
          <p:cNvSpPr/>
          <p:nvPr userDrawn="1"/>
        </p:nvSpPr>
        <p:spPr>
          <a:xfrm>
            <a:off x="457200" y="381000"/>
            <a:ext cx="8305800" cy="1143000"/>
          </a:xfrm>
          <a:prstGeom prst="rect">
            <a:avLst/>
          </a:prstGeom>
          <a:gradFill flip="none" rotWithShape="1">
            <a:gsLst>
              <a:gs pos="0">
                <a:schemeClr val="tx2">
                  <a:lumMod val="20000"/>
                  <a:lumOff val="80000"/>
                </a:schemeClr>
              </a:gs>
              <a:gs pos="77000">
                <a:schemeClr val="tx2">
                  <a:lumMod val="40000"/>
                  <a:lumOff val="60000"/>
                </a:schemeClr>
              </a:gs>
              <a:gs pos="100000">
                <a:schemeClr val="tx2">
                  <a:lumMod val="60000"/>
                  <a:lumOff val="40000"/>
                </a:schemeClr>
              </a:gs>
            </a:gsLst>
            <a:path path="rect">
              <a:fillToRect l="50000" t="50000" r="50000" b="50000"/>
            </a:path>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p:cNvSpPr/>
          <p:nvPr userDrawn="1"/>
        </p:nvSpPr>
        <p:spPr>
          <a:xfrm>
            <a:off x="6781800" y="6362700"/>
            <a:ext cx="2362200" cy="3429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userDrawn="1"/>
        </p:nvSpPr>
        <p:spPr>
          <a:xfrm>
            <a:off x="0" y="152400"/>
            <a:ext cx="2362200" cy="3429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p:cNvSpPr>
            <a:spLocks noGrp="1"/>
          </p:cNvSpPr>
          <p:nvPr>
            <p:ph idx="1"/>
          </p:nvPr>
        </p:nvSpPr>
        <p:spPr>
          <a:xfrm>
            <a:off x="457200" y="1828800"/>
            <a:ext cx="8229600" cy="4297363"/>
          </a:xfrm>
        </p:spPr>
        <p:txBody>
          <a:bodyPr/>
          <a:lstStyle>
            <a:lvl1pPr marL="514350" indent="-514350">
              <a:buClr>
                <a:schemeClr val="tx2">
                  <a:lumMod val="60000"/>
                  <a:lumOff val="40000"/>
                </a:schemeClr>
              </a:buClr>
              <a:buSzPct val="150000"/>
              <a:buFont typeface="+mj-lt"/>
              <a:buAutoNum type="arabicPeriod"/>
              <a:defRPr baseline="0">
                <a:latin typeface="Times New Roman" pitchFamily="18" charset="0"/>
              </a:defRPr>
            </a:lvl1pPr>
            <a:lvl2pPr>
              <a:defRPr baseline="0">
                <a:latin typeface="Times New Roman" pitchFamily="18" charset="0"/>
              </a:defRPr>
            </a:lvl2pPr>
            <a:lvl3pPr>
              <a:defRPr baseline="0">
                <a:latin typeface="Times New Roman" pitchFamily="18" charset="0"/>
              </a:defRPr>
            </a:lvl3pPr>
            <a:lvl4pPr>
              <a:defRPr baseline="0">
                <a:latin typeface="Times New Roman" pitchFamily="18" charset="0"/>
              </a:defRPr>
            </a:lvl4pPr>
            <a:lvl5pPr>
              <a:defRPr baseline="0">
                <a:latin typeface="Times New Roman" pitchFamily="18" charset="0"/>
              </a:defRPr>
            </a:lvl5pPr>
          </a:lstStyle>
          <a:p>
            <a:pPr lvl="0"/>
            <a:r>
              <a:rPr lang="en-US" dirty="0" smtClean="0"/>
              <a:t>Click to edit Master text styles</a:t>
            </a:r>
            <a:endParaRPr lang="en-US" dirty="0"/>
          </a:p>
        </p:txBody>
      </p:sp>
      <p:sp>
        <p:nvSpPr>
          <p:cNvPr id="6" name="Slide Number Placeholder 5"/>
          <p:cNvSpPr>
            <a:spLocks noGrp="1"/>
          </p:cNvSpPr>
          <p:nvPr>
            <p:ph type="sldNum" sz="quarter" idx="12"/>
          </p:nvPr>
        </p:nvSpPr>
        <p:spPr/>
        <p:txBody>
          <a:bodyPr/>
          <a:lstStyle/>
          <a:p>
            <a:fld id="{AC392DC9-9688-4E44-A90B-C333AD8FEA09}" type="slidenum">
              <a:rPr lang="en-US" smtClean="0"/>
              <a:t>‹#›</a:t>
            </a:fld>
            <a:endParaRPr lang="en-US"/>
          </a:p>
        </p:txBody>
      </p:sp>
      <p:cxnSp>
        <p:nvCxnSpPr>
          <p:cNvPr id="10" name="Straight Connector 9"/>
          <p:cNvCxnSpPr/>
          <p:nvPr userDrawn="1"/>
        </p:nvCxnSpPr>
        <p:spPr>
          <a:xfrm>
            <a:off x="609600" y="6324600"/>
            <a:ext cx="8534400" cy="0"/>
          </a:xfrm>
          <a:prstGeom prst="line">
            <a:avLst/>
          </a:prstGeom>
          <a:ln w="25400">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02260867"/>
      </p:ext>
    </p:extLst>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h_Web_Resources">
    <p:spTree>
      <p:nvGrpSpPr>
        <p:cNvPr id="1" name=""/>
        <p:cNvGrpSpPr/>
        <p:nvPr/>
      </p:nvGrpSpPr>
      <p:grpSpPr>
        <a:xfrm>
          <a:off x="0" y="0"/>
          <a:ext cx="0" cy="0"/>
          <a:chOff x="0" y="0"/>
          <a:chExt cx="0" cy="0"/>
        </a:xfrm>
      </p:grpSpPr>
      <p:sp>
        <p:nvSpPr>
          <p:cNvPr id="7" name="Rectangle 6"/>
          <p:cNvSpPr/>
          <p:nvPr userDrawn="1"/>
        </p:nvSpPr>
        <p:spPr>
          <a:xfrm>
            <a:off x="457200" y="381000"/>
            <a:ext cx="8305800" cy="1143000"/>
          </a:xfrm>
          <a:prstGeom prst="rect">
            <a:avLst/>
          </a:prstGeom>
          <a:gradFill flip="none" rotWithShape="1">
            <a:gsLst>
              <a:gs pos="0">
                <a:srgbClr val="FEBB34"/>
              </a:gs>
              <a:gs pos="77000">
                <a:srgbClr val="FD9B0B"/>
              </a:gs>
              <a:gs pos="100000">
                <a:srgbClr val="F17901"/>
              </a:gs>
            </a:gsLst>
            <a:path path="rect">
              <a:fillToRect l="50000" t="50000" r="50000" b="50000"/>
            </a:path>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userDrawn="1"/>
        </p:nvSpPr>
        <p:spPr>
          <a:xfrm>
            <a:off x="0" y="152400"/>
            <a:ext cx="2362200" cy="3429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p:cNvSpPr/>
          <p:nvPr userDrawn="1"/>
        </p:nvSpPr>
        <p:spPr>
          <a:xfrm>
            <a:off x="6781800" y="6362700"/>
            <a:ext cx="2362200" cy="3429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p:cNvSpPr>
            <a:spLocks noGrp="1"/>
          </p:cNvSpPr>
          <p:nvPr>
            <p:ph idx="1"/>
          </p:nvPr>
        </p:nvSpPr>
        <p:spPr>
          <a:xfrm>
            <a:off x="457200" y="1828800"/>
            <a:ext cx="8229600" cy="4297363"/>
          </a:xfrm>
        </p:spPr>
        <p:txBody>
          <a:bodyPr/>
          <a:lstStyle>
            <a:lvl1pPr marL="457200" indent="-457200">
              <a:buClr>
                <a:schemeClr val="accent6">
                  <a:lumMod val="75000"/>
                </a:schemeClr>
              </a:buClr>
              <a:buSzPct val="150000"/>
              <a:buFont typeface="Times New Roman" pitchFamily="18" charset="0"/>
              <a:buChar char="•"/>
              <a:defRPr baseline="0">
                <a:latin typeface="Times New Roman" pitchFamily="18" charset="0"/>
              </a:defRPr>
            </a:lvl1pPr>
            <a:lvl2pPr>
              <a:defRPr baseline="0">
                <a:latin typeface="Times New Roman" pitchFamily="18" charset="0"/>
              </a:defRPr>
            </a:lvl2pPr>
            <a:lvl3pPr>
              <a:defRPr baseline="0">
                <a:latin typeface="Times New Roman" pitchFamily="18" charset="0"/>
              </a:defRPr>
            </a:lvl3pPr>
            <a:lvl4pPr>
              <a:defRPr baseline="0">
                <a:latin typeface="Times New Roman" pitchFamily="18" charset="0"/>
              </a:defRPr>
            </a:lvl4pPr>
            <a:lvl5pPr>
              <a:defRPr baseline="0">
                <a:latin typeface="Times New Roman" pitchFamily="18" charset="0"/>
              </a:defRPr>
            </a:lvl5pPr>
          </a:lstStyle>
          <a:p>
            <a:pPr lvl="0"/>
            <a:r>
              <a:rPr lang="en-US" dirty="0" smtClean="0"/>
              <a:t>Click to edit Master text styles</a:t>
            </a:r>
            <a:endParaRPr lang="en-US" dirty="0"/>
          </a:p>
        </p:txBody>
      </p:sp>
      <p:sp>
        <p:nvSpPr>
          <p:cNvPr id="6" name="Slide Number Placeholder 5"/>
          <p:cNvSpPr>
            <a:spLocks noGrp="1"/>
          </p:cNvSpPr>
          <p:nvPr>
            <p:ph type="sldNum" sz="quarter" idx="12"/>
          </p:nvPr>
        </p:nvSpPr>
        <p:spPr/>
        <p:txBody>
          <a:bodyPr/>
          <a:lstStyle/>
          <a:p>
            <a:fld id="{AC392DC9-9688-4E44-A90B-C333AD8FEA09}" type="slidenum">
              <a:rPr lang="en-US" smtClean="0"/>
              <a:t>‹#›</a:t>
            </a:fld>
            <a:endParaRPr lang="en-US"/>
          </a:p>
        </p:txBody>
      </p:sp>
      <p:cxnSp>
        <p:nvCxnSpPr>
          <p:cNvPr id="10" name="Straight Connector 9"/>
          <p:cNvCxnSpPr/>
          <p:nvPr userDrawn="1"/>
        </p:nvCxnSpPr>
        <p:spPr>
          <a:xfrm>
            <a:off x="609600" y="6324600"/>
            <a:ext cx="8534400" cy="0"/>
          </a:xfrm>
          <a:prstGeom prst="line">
            <a:avLst/>
          </a:prstGeom>
          <a:ln w="25400">
            <a:solidFill>
              <a:srgbClr val="F1790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62541347"/>
      </p:ext>
    </p:extLst>
  </p:cSld>
  <p:clrMapOvr>
    <a:masterClrMapping/>
  </p:clrMapOvr>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Ch_WileyPLUS_Learning_Space">
    <p:spTree>
      <p:nvGrpSpPr>
        <p:cNvPr id="1" name=""/>
        <p:cNvGrpSpPr/>
        <p:nvPr/>
      </p:nvGrpSpPr>
      <p:grpSpPr>
        <a:xfrm>
          <a:off x="0" y="0"/>
          <a:ext cx="0" cy="0"/>
          <a:chOff x="0" y="0"/>
          <a:chExt cx="0" cy="0"/>
        </a:xfrm>
      </p:grpSpPr>
      <p:sp>
        <p:nvSpPr>
          <p:cNvPr id="8" name="Rectangle 7"/>
          <p:cNvSpPr/>
          <p:nvPr userDrawn="1"/>
        </p:nvSpPr>
        <p:spPr>
          <a:xfrm>
            <a:off x="0" y="152400"/>
            <a:ext cx="2362200" cy="3429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p:cNvSpPr/>
          <p:nvPr userDrawn="1"/>
        </p:nvSpPr>
        <p:spPr>
          <a:xfrm>
            <a:off x="6781800" y="6362700"/>
            <a:ext cx="2362200" cy="3429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p:cNvSpPr>
            <a:spLocks noGrp="1"/>
          </p:cNvSpPr>
          <p:nvPr>
            <p:ph idx="1"/>
          </p:nvPr>
        </p:nvSpPr>
        <p:spPr>
          <a:xfrm>
            <a:off x="457200" y="1828800"/>
            <a:ext cx="8229600" cy="4297363"/>
          </a:xfrm>
        </p:spPr>
        <p:txBody>
          <a:bodyPr/>
          <a:lstStyle>
            <a:lvl1pPr marL="457200" indent="-457200">
              <a:buClr>
                <a:schemeClr val="accent6">
                  <a:lumMod val="75000"/>
                </a:schemeClr>
              </a:buClr>
              <a:buSzPct val="150000"/>
              <a:buFont typeface="Times New Roman" pitchFamily="18" charset="0"/>
              <a:buChar char="•"/>
              <a:defRPr baseline="0">
                <a:latin typeface="Times New Roman" pitchFamily="18" charset="0"/>
              </a:defRPr>
            </a:lvl1pPr>
            <a:lvl2pPr>
              <a:defRPr baseline="0">
                <a:latin typeface="Times New Roman" pitchFamily="18" charset="0"/>
              </a:defRPr>
            </a:lvl2pPr>
            <a:lvl3pPr>
              <a:defRPr baseline="0">
                <a:latin typeface="Times New Roman" pitchFamily="18" charset="0"/>
              </a:defRPr>
            </a:lvl3pPr>
            <a:lvl4pPr>
              <a:defRPr baseline="0">
                <a:latin typeface="Times New Roman" pitchFamily="18" charset="0"/>
              </a:defRPr>
            </a:lvl4pPr>
            <a:lvl5pPr>
              <a:defRPr baseline="0">
                <a:latin typeface="Times New Roman" pitchFamily="18" charset="0"/>
              </a:defRPr>
            </a:lvl5pPr>
          </a:lstStyle>
          <a:p>
            <a:pPr lvl="0"/>
            <a:r>
              <a:rPr lang="en-US" dirty="0" smtClean="0"/>
              <a:t>Click to edit Master text styles</a:t>
            </a:r>
            <a:endParaRPr lang="en-US" dirty="0"/>
          </a:p>
        </p:txBody>
      </p:sp>
      <p:sp>
        <p:nvSpPr>
          <p:cNvPr id="6" name="Slide Number Placeholder 5"/>
          <p:cNvSpPr>
            <a:spLocks noGrp="1"/>
          </p:cNvSpPr>
          <p:nvPr>
            <p:ph type="sldNum" sz="quarter" idx="12"/>
          </p:nvPr>
        </p:nvSpPr>
        <p:spPr/>
        <p:txBody>
          <a:bodyPr/>
          <a:lstStyle/>
          <a:p>
            <a:fld id="{AC392DC9-9688-4E44-A90B-C333AD8FEA09}" type="slidenum">
              <a:rPr lang="en-US" smtClean="0"/>
              <a:t>‹#›</a:t>
            </a:fld>
            <a:endParaRPr lang="en-US"/>
          </a:p>
        </p:txBody>
      </p:sp>
      <p:cxnSp>
        <p:nvCxnSpPr>
          <p:cNvPr id="10" name="Straight Connector 9"/>
          <p:cNvCxnSpPr/>
          <p:nvPr userDrawn="1"/>
        </p:nvCxnSpPr>
        <p:spPr>
          <a:xfrm>
            <a:off x="609600" y="6324600"/>
            <a:ext cx="8534400" cy="0"/>
          </a:xfrm>
          <a:prstGeom prst="line">
            <a:avLst/>
          </a:prstGeom>
          <a:ln w="25400">
            <a:solidFill>
              <a:srgbClr val="F1790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34085614"/>
      </p:ext>
    </p:extLst>
  </p:cSld>
  <p:clrMapOvr>
    <a:masterClrMapping/>
  </p:clrMapOvr>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Opening Case">
    <p:spTree>
      <p:nvGrpSpPr>
        <p:cNvPr id="1" name=""/>
        <p:cNvGrpSpPr/>
        <p:nvPr/>
      </p:nvGrpSpPr>
      <p:grpSpPr>
        <a:xfrm>
          <a:off x="0" y="0"/>
          <a:ext cx="0" cy="0"/>
          <a:chOff x="0" y="0"/>
          <a:chExt cx="0" cy="0"/>
        </a:xfrm>
      </p:grpSpPr>
      <p:cxnSp>
        <p:nvCxnSpPr>
          <p:cNvPr id="8" name="Straight Connector 7"/>
          <p:cNvCxnSpPr/>
          <p:nvPr userDrawn="1"/>
        </p:nvCxnSpPr>
        <p:spPr>
          <a:xfrm>
            <a:off x="609600" y="6324600"/>
            <a:ext cx="8534400" cy="0"/>
          </a:xfrm>
          <a:prstGeom prst="line">
            <a:avLst/>
          </a:prstGeom>
          <a:ln w="25400">
            <a:solidFill>
              <a:schemeClr val="accent6">
                <a:lumMod val="50000"/>
              </a:schemeClr>
            </a:solidFill>
          </a:ln>
        </p:spPr>
        <p:style>
          <a:lnRef idx="1">
            <a:schemeClr val="accent1"/>
          </a:lnRef>
          <a:fillRef idx="0">
            <a:schemeClr val="accent1"/>
          </a:fillRef>
          <a:effectRef idx="0">
            <a:schemeClr val="accent1"/>
          </a:effectRef>
          <a:fontRef idx="minor">
            <a:schemeClr val="tx1"/>
          </a:fontRef>
        </p:style>
      </p:cxnSp>
      <p:sp>
        <p:nvSpPr>
          <p:cNvPr id="9" name="Rectangle 8"/>
          <p:cNvSpPr/>
          <p:nvPr userDrawn="1"/>
        </p:nvSpPr>
        <p:spPr>
          <a:xfrm>
            <a:off x="6781800" y="6362700"/>
            <a:ext cx="2362200" cy="3429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p:cNvSpPr/>
          <p:nvPr userDrawn="1"/>
        </p:nvSpPr>
        <p:spPr>
          <a:xfrm>
            <a:off x="0" y="152400"/>
            <a:ext cx="2362200" cy="3429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1" name="Straight Connector 10"/>
          <p:cNvCxnSpPr/>
          <p:nvPr userDrawn="1"/>
        </p:nvCxnSpPr>
        <p:spPr>
          <a:xfrm>
            <a:off x="0" y="527482"/>
            <a:ext cx="8534400" cy="0"/>
          </a:xfrm>
          <a:prstGeom prst="line">
            <a:avLst/>
          </a:prstGeom>
          <a:ln w="25400">
            <a:solidFill>
              <a:schemeClr val="accent6">
                <a:lumMod val="50000"/>
              </a:schemeClr>
            </a:solidFill>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hasCustomPrompt="1"/>
          </p:nvPr>
        </p:nvSpPr>
        <p:spPr>
          <a:xfrm>
            <a:off x="304800" y="533400"/>
            <a:ext cx="8534400" cy="1524000"/>
          </a:xfrm>
        </p:spPr>
        <p:txBody>
          <a:bodyPr/>
          <a:lstStyle>
            <a:lvl1pPr>
              <a:defRPr b="0" i="0" baseline="0">
                <a:effectLst>
                  <a:outerShdw blurRad="317500" dist="101600" dir="2700000" algn="tl" rotWithShape="0">
                    <a:schemeClr val="tx1">
                      <a:lumMod val="95000"/>
                      <a:lumOff val="5000"/>
                      <a:alpha val="65000"/>
                    </a:schemeClr>
                  </a:outerShdw>
                </a:effectLst>
                <a:latin typeface="Times New Roman" pitchFamily="18" charset="0"/>
              </a:defRPr>
            </a:lvl1pPr>
          </a:lstStyle>
          <a:p>
            <a:r>
              <a:rPr lang="en-US" dirty="0" smtClean="0"/>
              <a:t>Click to edit Opening Case title</a:t>
            </a:r>
            <a:endParaRPr lang="en-US" dirty="0"/>
          </a:p>
        </p:txBody>
      </p:sp>
      <p:sp>
        <p:nvSpPr>
          <p:cNvPr id="5" name="Slide Number Placeholder 4"/>
          <p:cNvSpPr>
            <a:spLocks noGrp="1"/>
          </p:cNvSpPr>
          <p:nvPr>
            <p:ph type="sldNum" sz="quarter" idx="12"/>
          </p:nvPr>
        </p:nvSpPr>
        <p:spPr/>
        <p:txBody>
          <a:bodyPr/>
          <a:lstStyle/>
          <a:p>
            <a:fld id="{AC392DC9-9688-4E44-A90B-C333AD8FEA09}" type="slidenum">
              <a:rPr lang="en-US" smtClean="0"/>
              <a:t>‹#›</a:t>
            </a:fld>
            <a:endParaRPr lang="en-US"/>
          </a:p>
        </p:txBody>
      </p:sp>
      <p:sp>
        <p:nvSpPr>
          <p:cNvPr id="7" name="Text Placeholder 6"/>
          <p:cNvSpPr>
            <a:spLocks noGrp="1"/>
          </p:cNvSpPr>
          <p:nvPr>
            <p:ph type="body" sz="quarter" idx="13"/>
          </p:nvPr>
        </p:nvSpPr>
        <p:spPr>
          <a:xfrm>
            <a:off x="457200" y="2286000"/>
            <a:ext cx="8229600" cy="3962400"/>
          </a:xfrm>
        </p:spPr>
        <p:txBody>
          <a:bodyPr/>
          <a:lstStyle>
            <a:lvl1pPr>
              <a:defRPr b="1" baseline="0">
                <a:latin typeface="Times New Roman" pitchFamily="18" charset="0"/>
              </a:defRPr>
            </a:lvl1pPr>
            <a:lvl2pPr>
              <a:defRPr baseline="0">
                <a:solidFill>
                  <a:schemeClr val="accent6">
                    <a:lumMod val="50000"/>
                  </a:schemeClr>
                </a:solidFill>
                <a:latin typeface="Times New Roman" pitchFamily="18" charset="0"/>
              </a:defRPr>
            </a:lvl2pPr>
            <a:lvl3pPr>
              <a:defRPr baseline="0">
                <a:latin typeface="Times New Roman" pitchFamily="18" charset="0"/>
              </a:defRPr>
            </a:lvl3pPr>
            <a:lvl4pPr>
              <a:defRPr baseline="0">
                <a:latin typeface="Times New Roman" pitchFamily="18" charset="0"/>
              </a:defRPr>
            </a:lvl4pPr>
            <a:lvl5pPr>
              <a:defRPr baseline="0">
                <a:latin typeface="Times New Roman" pitchFamily="18" charset="0"/>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cxnSp>
        <p:nvCxnSpPr>
          <p:cNvPr id="12" name="Straight Connector 11"/>
          <p:cNvCxnSpPr/>
          <p:nvPr userDrawn="1"/>
        </p:nvCxnSpPr>
        <p:spPr>
          <a:xfrm>
            <a:off x="914400" y="2209800"/>
            <a:ext cx="4114800" cy="0"/>
          </a:xfrm>
          <a:prstGeom prst="line">
            <a:avLst/>
          </a:prstGeom>
          <a:ln w="2540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5618890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Its_about_bus">
    <p:spTree>
      <p:nvGrpSpPr>
        <p:cNvPr id="1" name=""/>
        <p:cNvGrpSpPr/>
        <p:nvPr/>
      </p:nvGrpSpPr>
      <p:grpSpPr>
        <a:xfrm>
          <a:off x="0" y="0"/>
          <a:ext cx="0" cy="0"/>
          <a:chOff x="0" y="0"/>
          <a:chExt cx="0" cy="0"/>
        </a:xfrm>
      </p:grpSpPr>
      <p:cxnSp>
        <p:nvCxnSpPr>
          <p:cNvPr id="18" name="Straight Connector 17"/>
          <p:cNvCxnSpPr/>
          <p:nvPr userDrawn="1"/>
        </p:nvCxnSpPr>
        <p:spPr>
          <a:xfrm>
            <a:off x="609600" y="6324600"/>
            <a:ext cx="8534400" cy="0"/>
          </a:xfrm>
          <a:prstGeom prst="line">
            <a:avLst/>
          </a:prstGeom>
          <a:ln w="25400">
            <a:solidFill>
              <a:srgbClr val="740000"/>
            </a:solidFill>
          </a:ln>
        </p:spPr>
        <p:style>
          <a:lnRef idx="1">
            <a:schemeClr val="accent1"/>
          </a:lnRef>
          <a:fillRef idx="0">
            <a:schemeClr val="accent1"/>
          </a:fillRef>
          <a:effectRef idx="0">
            <a:schemeClr val="accent1"/>
          </a:effectRef>
          <a:fontRef idx="minor">
            <a:schemeClr val="tx1"/>
          </a:fontRef>
        </p:style>
      </p:cxnSp>
      <p:sp>
        <p:nvSpPr>
          <p:cNvPr id="12" name="Rectangle 11"/>
          <p:cNvSpPr/>
          <p:nvPr userDrawn="1"/>
        </p:nvSpPr>
        <p:spPr>
          <a:xfrm>
            <a:off x="6781800" y="6362700"/>
            <a:ext cx="2362200" cy="3429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p:cNvSpPr/>
          <p:nvPr userDrawn="1"/>
        </p:nvSpPr>
        <p:spPr>
          <a:xfrm>
            <a:off x="609600" y="762000"/>
            <a:ext cx="1752600" cy="1752600"/>
          </a:xfrm>
          <a:prstGeom prst="ellipse">
            <a:avLst/>
          </a:prstGeom>
          <a:gradFill flip="none" rotWithShape="1">
            <a:gsLst>
              <a:gs pos="0">
                <a:srgbClr val="C00000"/>
              </a:gs>
              <a:gs pos="49000">
                <a:srgbClr val="C00000"/>
              </a:gs>
              <a:gs pos="100000">
                <a:srgbClr val="740000"/>
              </a:gs>
            </a:gsLst>
            <a:path path="shape">
              <a:fillToRect l="50000" t="50000" r="50000" b="50000"/>
            </a:path>
            <a:tileRect/>
          </a:gradFill>
          <a:ln>
            <a:noFill/>
          </a:ln>
          <a:effectLst>
            <a:outerShdw blurRad="254000" dist="101600" dir="2700000" algn="tl"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ubtitle 2"/>
          <p:cNvSpPr>
            <a:spLocks noGrp="1"/>
          </p:cNvSpPr>
          <p:nvPr>
            <p:ph type="subTitle" idx="1"/>
          </p:nvPr>
        </p:nvSpPr>
        <p:spPr>
          <a:xfrm>
            <a:off x="3505200" y="2362200"/>
            <a:ext cx="4876800" cy="3733800"/>
          </a:xfrm>
        </p:spPr>
        <p:txBody>
          <a:bodyPr>
            <a:normAutofit/>
          </a:bodyPr>
          <a:lstStyle>
            <a:lvl1pPr marL="0" indent="0" algn="l">
              <a:spcBef>
                <a:spcPts val="600"/>
              </a:spcBef>
              <a:spcAft>
                <a:spcPts val="600"/>
              </a:spcAft>
              <a:buNone/>
              <a:defRPr sz="4800" baseline="0">
                <a:solidFill>
                  <a:srgbClr val="C00000"/>
                </a:solidFill>
                <a:latin typeface="Rockwell" pitchFamily="18" charset="0"/>
                <a:cs typeface="Times New Roman" pitchFamily="18"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Click to edit Master subtitle style</a:t>
            </a:r>
            <a:endParaRPr lang="en-US" dirty="0"/>
          </a:p>
        </p:txBody>
      </p:sp>
      <p:sp>
        <p:nvSpPr>
          <p:cNvPr id="6" name="Slide Number Placeholder 5"/>
          <p:cNvSpPr>
            <a:spLocks noGrp="1"/>
          </p:cNvSpPr>
          <p:nvPr>
            <p:ph type="sldNum" sz="quarter" idx="12"/>
          </p:nvPr>
        </p:nvSpPr>
        <p:spPr/>
        <p:txBody>
          <a:bodyPr/>
          <a:lstStyle>
            <a:lvl1pPr>
              <a:defRPr>
                <a:solidFill>
                  <a:schemeClr val="bg1"/>
                </a:solidFill>
              </a:defRPr>
            </a:lvl1pPr>
          </a:lstStyle>
          <a:p>
            <a:fld id="{AC392DC9-9688-4E44-A90B-C333AD8FEA09}" type="slidenum">
              <a:rPr lang="en-US" smtClean="0"/>
              <a:pPr/>
              <a:t>‹#›</a:t>
            </a:fld>
            <a:endParaRPr lang="en-US" dirty="0"/>
          </a:p>
        </p:txBody>
      </p:sp>
      <p:sp>
        <p:nvSpPr>
          <p:cNvPr id="7" name="Rectangle 6"/>
          <p:cNvSpPr/>
          <p:nvPr userDrawn="1"/>
        </p:nvSpPr>
        <p:spPr>
          <a:xfrm>
            <a:off x="0" y="152400"/>
            <a:ext cx="2362200" cy="3429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 Placeholder 12"/>
          <p:cNvSpPr>
            <a:spLocks noGrp="1"/>
          </p:cNvSpPr>
          <p:nvPr>
            <p:ph type="body" sz="quarter" idx="13" hasCustomPrompt="1"/>
          </p:nvPr>
        </p:nvSpPr>
        <p:spPr>
          <a:xfrm>
            <a:off x="609600" y="762000"/>
            <a:ext cx="1752600" cy="1752600"/>
          </a:xfrm>
        </p:spPr>
        <p:txBody>
          <a:bodyPr anchor="ctr" anchorCtr="0">
            <a:normAutofit/>
          </a:bodyPr>
          <a:lstStyle>
            <a:lvl1pPr marL="0" indent="0" algn="ctr">
              <a:buFontTx/>
              <a:buNone/>
              <a:defRPr sz="7200" b="0" i="0" baseline="0">
                <a:solidFill>
                  <a:schemeClr val="bg1"/>
                </a:solidFill>
                <a:effectLst>
                  <a:outerShdw blurRad="63500" sx="104000" sy="104000" algn="ctr" rotWithShape="0">
                    <a:prstClr val="black">
                      <a:alpha val="60000"/>
                    </a:prstClr>
                  </a:outerShdw>
                </a:effectLst>
                <a:latin typeface="Rockwell" pitchFamily="18" charset="0"/>
              </a:defRPr>
            </a:lvl1pPr>
          </a:lstStyle>
          <a:p>
            <a:pPr lvl="0"/>
            <a:r>
              <a:rPr lang="en-US" dirty="0" smtClean="0"/>
              <a:t>IT’s</a:t>
            </a:r>
            <a:endParaRPr lang="en-US" dirty="0"/>
          </a:p>
        </p:txBody>
      </p:sp>
      <p:sp>
        <p:nvSpPr>
          <p:cNvPr id="2" name="TextBox 1"/>
          <p:cNvSpPr txBox="1"/>
          <p:nvPr userDrawn="1"/>
        </p:nvSpPr>
        <p:spPr>
          <a:xfrm>
            <a:off x="2514600" y="1219200"/>
            <a:ext cx="5562600" cy="830997"/>
          </a:xfrm>
          <a:prstGeom prst="rect">
            <a:avLst/>
          </a:prstGeom>
          <a:noFill/>
        </p:spPr>
        <p:txBody>
          <a:bodyPr wrap="square" rtlCol="0">
            <a:spAutoFit/>
          </a:bodyPr>
          <a:lstStyle/>
          <a:p>
            <a:r>
              <a:rPr lang="en-US" sz="4800" baseline="0" dirty="0" smtClean="0">
                <a:effectLst>
                  <a:outerShdw blurRad="317500" dist="101600" dir="2700000" algn="tl" rotWithShape="0">
                    <a:prstClr val="black">
                      <a:alpha val="65000"/>
                    </a:prstClr>
                  </a:outerShdw>
                </a:effectLst>
                <a:latin typeface="Arial" pitchFamily="34" charset="0"/>
              </a:rPr>
              <a:t>[about business]</a:t>
            </a:r>
            <a:endParaRPr lang="en-US" sz="4800" baseline="0" dirty="0">
              <a:effectLst>
                <a:outerShdw blurRad="317500" dist="101600" dir="2700000" algn="tl" rotWithShape="0">
                  <a:prstClr val="black">
                    <a:alpha val="65000"/>
                  </a:prstClr>
                </a:outerShdw>
              </a:effectLst>
              <a:latin typeface="Arial" pitchFamily="34" charset="0"/>
            </a:endParaRPr>
          </a:p>
        </p:txBody>
      </p:sp>
      <p:sp>
        <p:nvSpPr>
          <p:cNvPr id="14" name="ClipArt Placeholder 13"/>
          <p:cNvSpPr>
            <a:spLocks noGrp="1"/>
          </p:cNvSpPr>
          <p:nvPr>
            <p:ph type="clipArt" sz="quarter" idx="14"/>
          </p:nvPr>
        </p:nvSpPr>
        <p:spPr>
          <a:xfrm>
            <a:off x="7315200" y="1143000"/>
            <a:ext cx="1219200" cy="1066800"/>
          </a:xfrm>
        </p:spPr>
        <p:txBody>
          <a:bodyPr/>
          <a:lstStyle/>
          <a:p>
            <a:endParaRPr lang="en-US" dirty="0"/>
          </a:p>
        </p:txBody>
      </p:sp>
      <p:sp>
        <p:nvSpPr>
          <p:cNvPr id="25" name="Text Placeholder 24"/>
          <p:cNvSpPr>
            <a:spLocks noGrp="1"/>
          </p:cNvSpPr>
          <p:nvPr>
            <p:ph type="body" sz="quarter" idx="15" hasCustomPrompt="1"/>
          </p:nvPr>
        </p:nvSpPr>
        <p:spPr>
          <a:xfrm>
            <a:off x="2286000" y="2362200"/>
            <a:ext cx="1295400" cy="990600"/>
          </a:xfrm>
        </p:spPr>
        <p:txBody>
          <a:bodyPr>
            <a:normAutofit/>
          </a:bodyPr>
          <a:lstStyle>
            <a:lvl1pPr marL="0" indent="0">
              <a:buNone/>
              <a:defRPr sz="4800" b="1" i="0" baseline="0">
                <a:latin typeface="Rockwell" pitchFamily="18" charset="0"/>
              </a:defRPr>
            </a:lvl1pPr>
          </a:lstStyle>
          <a:p>
            <a:pPr lvl="0"/>
            <a:r>
              <a:rPr lang="en-US" dirty="0" smtClean="0"/>
              <a:t>0.0</a:t>
            </a:r>
            <a:endParaRPr lang="en-US" dirty="0"/>
          </a:p>
        </p:txBody>
      </p:sp>
    </p:spTree>
    <p:extLst>
      <p:ext uri="{BB962C8B-B14F-4D97-AF65-F5344CB8AC3E}">
        <p14:creationId xmlns:p14="http://schemas.microsoft.com/office/powerpoint/2010/main" val="2138594888"/>
      </p:ext>
    </p:extLst>
  </p:cSld>
  <p:clrMapOvr>
    <a:masterClrMapping/>
  </p:clrMapOvr>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Its_about_small_bus">
    <p:spTree>
      <p:nvGrpSpPr>
        <p:cNvPr id="1" name=""/>
        <p:cNvGrpSpPr/>
        <p:nvPr/>
      </p:nvGrpSpPr>
      <p:grpSpPr>
        <a:xfrm>
          <a:off x="0" y="0"/>
          <a:ext cx="0" cy="0"/>
          <a:chOff x="0" y="0"/>
          <a:chExt cx="0" cy="0"/>
        </a:xfrm>
      </p:grpSpPr>
      <p:cxnSp>
        <p:nvCxnSpPr>
          <p:cNvPr id="18" name="Straight Connector 17"/>
          <p:cNvCxnSpPr/>
          <p:nvPr userDrawn="1"/>
        </p:nvCxnSpPr>
        <p:spPr>
          <a:xfrm>
            <a:off x="609600" y="6324600"/>
            <a:ext cx="8534400" cy="0"/>
          </a:xfrm>
          <a:prstGeom prst="line">
            <a:avLst/>
          </a:prstGeom>
          <a:ln w="25400">
            <a:solidFill>
              <a:srgbClr val="740000"/>
            </a:solidFill>
          </a:ln>
        </p:spPr>
        <p:style>
          <a:lnRef idx="1">
            <a:schemeClr val="accent1"/>
          </a:lnRef>
          <a:fillRef idx="0">
            <a:schemeClr val="accent1"/>
          </a:fillRef>
          <a:effectRef idx="0">
            <a:schemeClr val="accent1"/>
          </a:effectRef>
          <a:fontRef idx="minor">
            <a:schemeClr val="tx1"/>
          </a:fontRef>
        </p:style>
      </p:cxnSp>
      <p:sp>
        <p:nvSpPr>
          <p:cNvPr id="12" name="Rectangle 11"/>
          <p:cNvSpPr/>
          <p:nvPr userDrawn="1"/>
        </p:nvSpPr>
        <p:spPr>
          <a:xfrm>
            <a:off x="6781800" y="6362700"/>
            <a:ext cx="2362200" cy="3429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p:cNvSpPr/>
          <p:nvPr userDrawn="1"/>
        </p:nvSpPr>
        <p:spPr>
          <a:xfrm>
            <a:off x="609600" y="762000"/>
            <a:ext cx="1752600" cy="1752600"/>
          </a:xfrm>
          <a:prstGeom prst="ellipse">
            <a:avLst/>
          </a:prstGeom>
          <a:gradFill flip="none" rotWithShape="1">
            <a:gsLst>
              <a:gs pos="0">
                <a:schemeClr val="accent1">
                  <a:lumMod val="40000"/>
                  <a:lumOff val="60000"/>
                </a:schemeClr>
              </a:gs>
              <a:gs pos="46000">
                <a:schemeClr val="accent1">
                  <a:lumMod val="92000"/>
                  <a:lumOff val="8000"/>
                </a:schemeClr>
              </a:gs>
              <a:gs pos="100000">
                <a:schemeClr val="accent1">
                  <a:lumMod val="50000"/>
                </a:schemeClr>
              </a:gs>
            </a:gsLst>
            <a:path path="shape">
              <a:fillToRect l="50000" t="50000" r="50000" b="50000"/>
            </a:path>
            <a:tileRect/>
          </a:gradFill>
          <a:ln>
            <a:noFill/>
          </a:ln>
          <a:effectLst>
            <a:outerShdw blurRad="254000" dist="101600" dir="2700000" algn="tl"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ubtitle 2"/>
          <p:cNvSpPr>
            <a:spLocks noGrp="1"/>
          </p:cNvSpPr>
          <p:nvPr>
            <p:ph type="subTitle" idx="1"/>
          </p:nvPr>
        </p:nvSpPr>
        <p:spPr>
          <a:xfrm>
            <a:off x="3505200" y="2362200"/>
            <a:ext cx="4876800" cy="3733800"/>
          </a:xfrm>
        </p:spPr>
        <p:txBody>
          <a:bodyPr>
            <a:normAutofit/>
          </a:bodyPr>
          <a:lstStyle>
            <a:lvl1pPr marL="0" indent="0" algn="l">
              <a:spcBef>
                <a:spcPts val="600"/>
              </a:spcBef>
              <a:spcAft>
                <a:spcPts val="600"/>
              </a:spcAft>
              <a:buNone/>
              <a:defRPr sz="4800" baseline="0">
                <a:solidFill>
                  <a:schemeClr val="accent1">
                    <a:lumMod val="75000"/>
                  </a:schemeClr>
                </a:solidFill>
                <a:latin typeface="Rockwell" pitchFamily="18" charset="0"/>
                <a:cs typeface="Times New Roman" pitchFamily="18"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Click to edit Master subtitle style</a:t>
            </a:r>
            <a:endParaRPr lang="en-US" dirty="0"/>
          </a:p>
        </p:txBody>
      </p:sp>
      <p:sp>
        <p:nvSpPr>
          <p:cNvPr id="6" name="Slide Number Placeholder 5"/>
          <p:cNvSpPr>
            <a:spLocks noGrp="1"/>
          </p:cNvSpPr>
          <p:nvPr>
            <p:ph type="sldNum" sz="quarter" idx="12"/>
          </p:nvPr>
        </p:nvSpPr>
        <p:spPr/>
        <p:txBody>
          <a:bodyPr/>
          <a:lstStyle>
            <a:lvl1pPr>
              <a:defRPr>
                <a:solidFill>
                  <a:schemeClr val="bg1"/>
                </a:solidFill>
              </a:defRPr>
            </a:lvl1pPr>
          </a:lstStyle>
          <a:p>
            <a:fld id="{AC392DC9-9688-4E44-A90B-C333AD8FEA09}" type="slidenum">
              <a:rPr lang="en-US" smtClean="0"/>
              <a:pPr/>
              <a:t>‹#›</a:t>
            </a:fld>
            <a:endParaRPr lang="en-US" dirty="0"/>
          </a:p>
        </p:txBody>
      </p:sp>
      <p:sp>
        <p:nvSpPr>
          <p:cNvPr id="7" name="Rectangle 6"/>
          <p:cNvSpPr/>
          <p:nvPr userDrawn="1"/>
        </p:nvSpPr>
        <p:spPr>
          <a:xfrm>
            <a:off x="0" y="152400"/>
            <a:ext cx="2362200" cy="3429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 Placeholder 12"/>
          <p:cNvSpPr>
            <a:spLocks noGrp="1"/>
          </p:cNvSpPr>
          <p:nvPr>
            <p:ph type="body" sz="quarter" idx="13" hasCustomPrompt="1"/>
          </p:nvPr>
        </p:nvSpPr>
        <p:spPr>
          <a:xfrm>
            <a:off x="609600" y="762000"/>
            <a:ext cx="1752600" cy="1752600"/>
          </a:xfrm>
        </p:spPr>
        <p:txBody>
          <a:bodyPr anchor="ctr" anchorCtr="0">
            <a:normAutofit/>
          </a:bodyPr>
          <a:lstStyle>
            <a:lvl1pPr marL="0" indent="0" algn="ctr">
              <a:buFontTx/>
              <a:buNone/>
              <a:defRPr sz="7200" b="0" i="0" baseline="0">
                <a:solidFill>
                  <a:schemeClr val="bg1"/>
                </a:solidFill>
                <a:effectLst>
                  <a:outerShdw blurRad="63500" sx="104000" sy="104000" algn="ctr" rotWithShape="0">
                    <a:prstClr val="black">
                      <a:alpha val="60000"/>
                    </a:prstClr>
                  </a:outerShdw>
                </a:effectLst>
                <a:latin typeface="Rockwell" pitchFamily="18" charset="0"/>
              </a:defRPr>
            </a:lvl1pPr>
          </a:lstStyle>
          <a:p>
            <a:pPr lvl="0"/>
            <a:r>
              <a:rPr lang="en-US" dirty="0" smtClean="0"/>
              <a:t>IT’s</a:t>
            </a:r>
            <a:endParaRPr lang="en-US" dirty="0"/>
          </a:p>
        </p:txBody>
      </p:sp>
      <p:sp>
        <p:nvSpPr>
          <p:cNvPr id="2" name="TextBox 1"/>
          <p:cNvSpPr txBox="1"/>
          <p:nvPr userDrawn="1"/>
        </p:nvSpPr>
        <p:spPr>
          <a:xfrm>
            <a:off x="2514600" y="1219200"/>
            <a:ext cx="6324600" cy="830997"/>
          </a:xfrm>
          <a:prstGeom prst="rect">
            <a:avLst/>
          </a:prstGeom>
          <a:noFill/>
        </p:spPr>
        <p:txBody>
          <a:bodyPr wrap="square" rtlCol="0">
            <a:spAutoFit/>
          </a:bodyPr>
          <a:lstStyle/>
          <a:p>
            <a:r>
              <a:rPr lang="en-US" sz="4800" baseline="0" dirty="0" smtClean="0">
                <a:effectLst>
                  <a:outerShdw blurRad="317500" dist="101600" dir="2700000" algn="tl" rotWithShape="0">
                    <a:prstClr val="black">
                      <a:alpha val="65000"/>
                    </a:prstClr>
                  </a:outerShdw>
                </a:effectLst>
                <a:latin typeface="Arial" pitchFamily="34" charset="0"/>
              </a:rPr>
              <a:t>About </a:t>
            </a:r>
            <a:r>
              <a:rPr lang="en-US" sz="4800" baseline="0" dirty="0" smtClean="0">
                <a:solidFill>
                  <a:schemeClr val="accent1">
                    <a:lumMod val="75000"/>
                  </a:schemeClr>
                </a:solidFill>
                <a:effectLst>
                  <a:outerShdw blurRad="317500" dist="101600" dir="2700000" algn="tl" rotWithShape="0">
                    <a:prstClr val="black">
                      <a:alpha val="65000"/>
                    </a:prstClr>
                  </a:outerShdw>
                </a:effectLst>
                <a:latin typeface="Arial" pitchFamily="34" charset="0"/>
              </a:rPr>
              <a:t>[small] </a:t>
            </a:r>
            <a:r>
              <a:rPr lang="en-US" sz="4800" baseline="0" dirty="0" smtClean="0">
                <a:effectLst>
                  <a:outerShdw blurRad="317500" dist="101600" dir="2700000" algn="tl" rotWithShape="0">
                    <a:prstClr val="black">
                      <a:alpha val="65000"/>
                    </a:prstClr>
                  </a:outerShdw>
                </a:effectLst>
                <a:latin typeface="Arial" pitchFamily="34" charset="0"/>
              </a:rPr>
              <a:t>business</a:t>
            </a:r>
            <a:endParaRPr lang="en-US" sz="4800" baseline="0" dirty="0">
              <a:effectLst>
                <a:outerShdw blurRad="317500" dist="101600" dir="2700000" algn="tl" rotWithShape="0">
                  <a:prstClr val="black">
                    <a:alpha val="65000"/>
                  </a:prstClr>
                </a:outerShdw>
              </a:effectLst>
              <a:latin typeface="Arial" pitchFamily="34" charset="0"/>
            </a:endParaRPr>
          </a:p>
        </p:txBody>
      </p:sp>
      <p:sp>
        <p:nvSpPr>
          <p:cNvPr id="25" name="Text Placeholder 24"/>
          <p:cNvSpPr>
            <a:spLocks noGrp="1"/>
          </p:cNvSpPr>
          <p:nvPr>
            <p:ph type="body" sz="quarter" idx="15" hasCustomPrompt="1"/>
          </p:nvPr>
        </p:nvSpPr>
        <p:spPr>
          <a:xfrm>
            <a:off x="2286000" y="2362200"/>
            <a:ext cx="1295400" cy="990600"/>
          </a:xfrm>
        </p:spPr>
        <p:txBody>
          <a:bodyPr>
            <a:normAutofit/>
          </a:bodyPr>
          <a:lstStyle>
            <a:lvl1pPr marL="0" indent="0">
              <a:buNone/>
              <a:defRPr sz="4800" b="1" i="0" baseline="0">
                <a:latin typeface="Rockwell" pitchFamily="18" charset="0"/>
              </a:defRPr>
            </a:lvl1pPr>
          </a:lstStyle>
          <a:p>
            <a:pPr lvl="0"/>
            <a:r>
              <a:rPr lang="en-US" dirty="0" smtClean="0"/>
              <a:t>0.0</a:t>
            </a:r>
            <a:endParaRPr lang="en-US" dirty="0"/>
          </a:p>
        </p:txBody>
      </p:sp>
    </p:spTree>
    <p:extLst>
      <p:ext uri="{BB962C8B-B14F-4D97-AF65-F5344CB8AC3E}">
        <p14:creationId xmlns:p14="http://schemas.microsoft.com/office/powerpoint/2010/main" val="1965358368"/>
      </p:ext>
    </p:extLst>
  </p:cSld>
  <p:clrMapOvr>
    <a:masterClrMapping/>
  </p:clrMapOvr>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opic Level2">
    <p:spTree>
      <p:nvGrpSpPr>
        <p:cNvPr id="1" name=""/>
        <p:cNvGrpSpPr/>
        <p:nvPr/>
      </p:nvGrpSpPr>
      <p:grpSpPr>
        <a:xfrm>
          <a:off x="0" y="0"/>
          <a:ext cx="0" cy="0"/>
          <a:chOff x="0" y="0"/>
          <a:chExt cx="0" cy="0"/>
        </a:xfrm>
      </p:grpSpPr>
      <p:cxnSp>
        <p:nvCxnSpPr>
          <p:cNvPr id="18" name="Straight Connector 17"/>
          <p:cNvCxnSpPr/>
          <p:nvPr userDrawn="1"/>
        </p:nvCxnSpPr>
        <p:spPr>
          <a:xfrm>
            <a:off x="609600" y="6324600"/>
            <a:ext cx="8534400" cy="0"/>
          </a:xfrm>
          <a:prstGeom prst="line">
            <a:avLst/>
          </a:prstGeom>
          <a:ln w="2540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
        <p:nvSpPr>
          <p:cNvPr id="12" name="Rectangle 11"/>
          <p:cNvSpPr/>
          <p:nvPr userDrawn="1"/>
        </p:nvSpPr>
        <p:spPr>
          <a:xfrm>
            <a:off x="6781800" y="6362700"/>
            <a:ext cx="2362200" cy="3429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ubtitle 2"/>
          <p:cNvSpPr>
            <a:spLocks noGrp="1"/>
          </p:cNvSpPr>
          <p:nvPr>
            <p:ph type="subTitle" idx="1"/>
          </p:nvPr>
        </p:nvSpPr>
        <p:spPr>
          <a:xfrm>
            <a:off x="1779232" y="762000"/>
            <a:ext cx="6831367" cy="1676400"/>
          </a:xfrm>
        </p:spPr>
        <p:txBody>
          <a:bodyPr>
            <a:normAutofit/>
          </a:bodyPr>
          <a:lstStyle>
            <a:lvl1pPr marL="0" indent="0" algn="l">
              <a:spcBef>
                <a:spcPts val="600"/>
              </a:spcBef>
              <a:spcAft>
                <a:spcPts val="600"/>
              </a:spcAft>
              <a:buNone/>
              <a:defRPr sz="4800" baseline="0">
                <a:solidFill>
                  <a:schemeClr val="tx1"/>
                </a:solidFill>
                <a:latin typeface="Times New Roman" pitchFamily="18" charset="0"/>
                <a:cs typeface="Times New Roman" pitchFamily="18"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Click to edit Master subtitle style</a:t>
            </a:r>
            <a:endParaRPr lang="en-US" dirty="0"/>
          </a:p>
        </p:txBody>
      </p:sp>
      <p:sp>
        <p:nvSpPr>
          <p:cNvPr id="6" name="Slide Number Placeholder 5"/>
          <p:cNvSpPr>
            <a:spLocks noGrp="1"/>
          </p:cNvSpPr>
          <p:nvPr>
            <p:ph type="sldNum" sz="quarter" idx="12"/>
          </p:nvPr>
        </p:nvSpPr>
        <p:spPr/>
        <p:txBody>
          <a:bodyPr/>
          <a:lstStyle>
            <a:lvl1pPr>
              <a:defRPr>
                <a:solidFill>
                  <a:schemeClr val="bg1"/>
                </a:solidFill>
              </a:defRPr>
            </a:lvl1pPr>
          </a:lstStyle>
          <a:p>
            <a:fld id="{AC392DC9-9688-4E44-A90B-C333AD8FEA09}" type="slidenum">
              <a:rPr lang="en-US" smtClean="0"/>
              <a:pPr/>
              <a:t>‹#›</a:t>
            </a:fld>
            <a:endParaRPr lang="en-US" dirty="0"/>
          </a:p>
        </p:txBody>
      </p:sp>
      <p:sp>
        <p:nvSpPr>
          <p:cNvPr id="7" name="Rectangle 6"/>
          <p:cNvSpPr/>
          <p:nvPr userDrawn="1"/>
        </p:nvSpPr>
        <p:spPr>
          <a:xfrm>
            <a:off x="0" y="152400"/>
            <a:ext cx="2362200" cy="3429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5" name="Straight Connector 14"/>
          <p:cNvCxnSpPr/>
          <p:nvPr userDrawn="1"/>
        </p:nvCxnSpPr>
        <p:spPr>
          <a:xfrm>
            <a:off x="0" y="527482"/>
            <a:ext cx="8534400" cy="0"/>
          </a:xfrm>
          <a:prstGeom prst="line">
            <a:avLst/>
          </a:prstGeom>
          <a:ln w="2540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
        <p:nvSpPr>
          <p:cNvPr id="10" name="Text Placeholder 9"/>
          <p:cNvSpPr>
            <a:spLocks noGrp="1"/>
          </p:cNvSpPr>
          <p:nvPr>
            <p:ph type="body" sz="quarter" idx="14" hasCustomPrompt="1"/>
          </p:nvPr>
        </p:nvSpPr>
        <p:spPr>
          <a:xfrm>
            <a:off x="304800" y="457200"/>
            <a:ext cx="1752600" cy="1524000"/>
          </a:xfrm>
        </p:spPr>
        <p:txBody>
          <a:bodyPr>
            <a:noAutofit/>
          </a:bodyPr>
          <a:lstStyle>
            <a:lvl1pPr marL="0" indent="0">
              <a:buNone/>
              <a:defRPr sz="7200" baseline="0">
                <a:solidFill>
                  <a:schemeClr val="accent1">
                    <a:lumMod val="75000"/>
                  </a:schemeClr>
                </a:solidFill>
                <a:latin typeface="Century Gothic" pitchFamily="34" charset="0"/>
              </a:defRPr>
            </a:lvl1pPr>
            <a:lvl2pPr marL="457200" indent="0">
              <a:buNone/>
              <a:defRPr sz="7200" baseline="0">
                <a:latin typeface="Century Gothic" pitchFamily="34" charset="0"/>
              </a:defRPr>
            </a:lvl2pPr>
            <a:lvl3pPr marL="914400" indent="0">
              <a:buNone/>
              <a:defRPr sz="7200" baseline="0">
                <a:latin typeface="Century Gothic" pitchFamily="34" charset="0"/>
              </a:defRPr>
            </a:lvl3pPr>
            <a:lvl4pPr marL="1371600" indent="0">
              <a:buNone/>
              <a:defRPr sz="7200" baseline="0">
                <a:latin typeface="Century Gothic" pitchFamily="34" charset="0"/>
              </a:defRPr>
            </a:lvl4pPr>
            <a:lvl5pPr marL="1828800" indent="0">
              <a:buNone/>
              <a:defRPr sz="7200" baseline="0">
                <a:latin typeface="Century Gothic" pitchFamily="34" charset="0"/>
              </a:defRPr>
            </a:lvl5pPr>
          </a:lstStyle>
          <a:p>
            <a:pPr lvl="0"/>
            <a:r>
              <a:rPr lang="en-US" dirty="0" smtClean="0"/>
              <a:t>0.0</a:t>
            </a:r>
            <a:endParaRPr lang="en-US" dirty="0"/>
          </a:p>
        </p:txBody>
      </p:sp>
      <p:sp>
        <p:nvSpPr>
          <p:cNvPr id="21" name="Content Placeholder 20"/>
          <p:cNvSpPr>
            <a:spLocks noGrp="1"/>
          </p:cNvSpPr>
          <p:nvPr>
            <p:ph sz="quarter" idx="15"/>
          </p:nvPr>
        </p:nvSpPr>
        <p:spPr>
          <a:xfrm>
            <a:off x="1752600" y="2438400"/>
            <a:ext cx="6858000" cy="3810000"/>
          </a:xfrm>
        </p:spPr>
        <p:txBody>
          <a:bodyPr/>
          <a:lstStyle>
            <a:lvl1pPr>
              <a:defRPr baseline="0">
                <a:solidFill>
                  <a:srgbClr val="69BE02"/>
                </a:solidFill>
                <a:latin typeface="Rockwell" pitchFamily="18" charset="0"/>
              </a:defRPr>
            </a:lvl1pPr>
            <a:lvl2pPr>
              <a:defRPr baseline="0">
                <a:solidFill>
                  <a:schemeClr val="tx1"/>
                </a:solidFill>
                <a:latin typeface="Times New Roman" pitchFamily="18" charset="0"/>
              </a:defRPr>
            </a:lvl2pPr>
            <a:lvl3pPr>
              <a:defRPr baseline="0">
                <a:solidFill>
                  <a:schemeClr val="tx1"/>
                </a:solidFill>
                <a:latin typeface="Times New Roman" pitchFamily="18" charset="0"/>
              </a:defRPr>
            </a:lvl3pPr>
            <a:lvl4pPr>
              <a:defRPr baseline="0">
                <a:solidFill>
                  <a:schemeClr val="tx1"/>
                </a:solidFill>
                <a:latin typeface="Times New Roman" pitchFamily="18" charset="0"/>
              </a:defRPr>
            </a:lvl4pPr>
            <a:lvl5pPr>
              <a:defRPr baseline="0">
                <a:solidFill>
                  <a:schemeClr val="tx1"/>
                </a:solidFill>
                <a:latin typeface="Times New Roman" pitchFamily="18" charset="0"/>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2669456437"/>
      </p:ext>
    </p:extLst>
  </p:cSld>
  <p:clrMapOvr>
    <a:masterClrMapping/>
  </p:clrMapOvr>
  <p:timing>
    <p:tnLst>
      <p:par>
        <p:cTn id="1" dur="indefinite" restart="never" nodeType="tmRoot"/>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opic Level3">
    <p:spTree>
      <p:nvGrpSpPr>
        <p:cNvPr id="1" name=""/>
        <p:cNvGrpSpPr/>
        <p:nvPr/>
      </p:nvGrpSpPr>
      <p:grpSpPr>
        <a:xfrm>
          <a:off x="0" y="0"/>
          <a:ext cx="0" cy="0"/>
          <a:chOff x="0" y="0"/>
          <a:chExt cx="0" cy="0"/>
        </a:xfrm>
      </p:grpSpPr>
      <p:cxnSp>
        <p:nvCxnSpPr>
          <p:cNvPr id="18" name="Straight Connector 17"/>
          <p:cNvCxnSpPr/>
          <p:nvPr userDrawn="1"/>
        </p:nvCxnSpPr>
        <p:spPr>
          <a:xfrm>
            <a:off x="609600" y="6324600"/>
            <a:ext cx="8534400" cy="0"/>
          </a:xfrm>
          <a:prstGeom prst="line">
            <a:avLst/>
          </a:prstGeom>
          <a:ln w="25400">
            <a:solidFill>
              <a:srgbClr val="69BE02"/>
            </a:solidFill>
          </a:ln>
        </p:spPr>
        <p:style>
          <a:lnRef idx="1">
            <a:schemeClr val="accent1"/>
          </a:lnRef>
          <a:fillRef idx="0">
            <a:schemeClr val="accent1"/>
          </a:fillRef>
          <a:effectRef idx="0">
            <a:schemeClr val="accent1"/>
          </a:effectRef>
          <a:fontRef idx="minor">
            <a:schemeClr val="tx1"/>
          </a:fontRef>
        </p:style>
      </p:cxnSp>
      <p:sp>
        <p:nvSpPr>
          <p:cNvPr id="12" name="Rectangle 11"/>
          <p:cNvSpPr/>
          <p:nvPr userDrawn="1"/>
        </p:nvSpPr>
        <p:spPr>
          <a:xfrm>
            <a:off x="6781800" y="6362700"/>
            <a:ext cx="2362200" cy="3429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ubtitle 2"/>
          <p:cNvSpPr>
            <a:spLocks noGrp="1"/>
          </p:cNvSpPr>
          <p:nvPr>
            <p:ph type="subTitle" idx="1" hasCustomPrompt="1"/>
          </p:nvPr>
        </p:nvSpPr>
        <p:spPr>
          <a:xfrm>
            <a:off x="546728" y="609600"/>
            <a:ext cx="8063871" cy="1371600"/>
          </a:xfrm>
        </p:spPr>
        <p:txBody>
          <a:bodyPr>
            <a:normAutofit/>
          </a:bodyPr>
          <a:lstStyle>
            <a:lvl1pPr marL="0" indent="0" algn="l">
              <a:spcBef>
                <a:spcPts val="600"/>
              </a:spcBef>
              <a:spcAft>
                <a:spcPts val="600"/>
              </a:spcAft>
              <a:buNone/>
              <a:defRPr sz="4800" baseline="0">
                <a:solidFill>
                  <a:srgbClr val="69BE02"/>
                </a:solidFill>
                <a:latin typeface="Rockwell" pitchFamily="18" charset="0"/>
                <a:cs typeface="Times New Roman" pitchFamily="18"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Click to edit Level 3 Topic</a:t>
            </a:r>
            <a:endParaRPr lang="en-US" dirty="0"/>
          </a:p>
        </p:txBody>
      </p:sp>
      <p:sp>
        <p:nvSpPr>
          <p:cNvPr id="6" name="Slide Number Placeholder 5"/>
          <p:cNvSpPr>
            <a:spLocks noGrp="1"/>
          </p:cNvSpPr>
          <p:nvPr>
            <p:ph type="sldNum" sz="quarter" idx="12"/>
          </p:nvPr>
        </p:nvSpPr>
        <p:spPr/>
        <p:txBody>
          <a:bodyPr/>
          <a:lstStyle>
            <a:lvl1pPr>
              <a:defRPr>
                <a:solidFill>
                  <a:schemeClr val="bg1"/>
                </a:solidFill>
              </a:defRPr>
            </a:lvl1pPr>
          </a:lstStyle>
          <a:p>
            <a:fld id="{AC392DC9-9688-4E44-A90B-C333AD8FEA09}" type="slidenum">
              <a:rPr lang="en-US" smtClean="0"/>
              <a:pPr/>
              <a:t>‹#›</a:t>
            </a:fld>
            <a:endParaRPr lang="en-US" dirty="0"/>
          </a:p>
        </p:txBody>
      </p:sp>
      <p:sp>
        <p:nvSpPr>
          <p:cNvPr id="7" name="Rectangle 6"/>
          <p:cNvSpPr/>
          <p:nvPr userDrawn="1"/>
        </p:nvSpPr>
        <p:spPr>
          <a:xfrm>
            <a:off x="0" y="152400"/>
            <a:ext cx="2362200" cy="3429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1" name="Straight Connector 10"/>
          <p:cNvCxnSpPr/>
          <p:nvPr userDrawn="1"/>
        </p:nvCxnSpPr>
        <p:spPr>
          <a:xfrm>
            <a:off x="0" y="2057400"/>
            <a:ext cx="8534400" cy="0"/>
          </a:xfrm>
          <a:prstGeom prst="line">
            <a:avLst/>
          </a:prstGeom>
          <a:ln w="25400">
            <a:solidFill>
              <a:srgbClr val="69BE02"/>
            </a:solidFill>
          </a:ln>
        </p:spPr>
        <p:style>
          <a:lnRef idx="1">
            <a:schemeClr val="accent1"/>
          </a:lnRef>
          <a:fillRef idx="0">
            <a:schemeClr val="accent1"/>
          </a:fillRef>
          <a:effectRef idx="0">
            <a:schemeClr val="accent1"/>
          </a:effectRef>
          <a:fontRef idx="minor">
            <a:schemeClr val="tx1"/>
          </a:fontRef>
        </p:style>
      </p:cxnSp>
      <p:sp>
        <p:nvSpPr>
          <p:cNvPr id="4" name="Content Placeholder 3"/>
          <p:cNvSpPr>
            <a:spLocks noGrp="1"/>
          </p:cNvSpPr>
          <p:nvPr>
            <p:ph sz="quarter" idx="14"/>
          </p:nvPr>
        </p:nvSpPr>
        <p:spPr>
          <a:xfrm>
            <a:off x="533400" y="2133600"/>
            <a:ext cx="8153400" cy="4038600"/>
          </a:xfrm>
        </p:spPr>
        <p:txBody>
          <a:bodyPr/>
          <a:lstStyle>
            <a:lvl1pPr>
              <a:defRPr baseline="0">
                <a:solidFill>
                  <a:schemeClr val="accent6">
                    <a:lumMod val="75000"/>
                  </a:schemeClr>
                </a:solidFill>
                <a:latin typeface="Rockwell" pitchFamily="18" charset="0"/>
              </a:defRPr>
            </a:lvl1pPr>
            <a:lvl2pPr>
              <a:defRPr baseline="0">
                <a:latin typeface="Times New Roman" pitchFamily="18" charset="0"/>
              </a:defRPr>
            </a:lvl2pPr>
            <a:lvl3pPr>
              <a:defRPr baseline="0">
                <a:latin typeface="Times New Roman" pitchFamily="18" charset="0"/>
              </a:defRPr>
            </a:lvl3pPr>
            <a:lvl4pPr>
              <a:defRPr baseline="0">
                <a:latin typeface="Times New Roman" pitchFamily="18" charset="0"/>
              </a:defRPr>
            </a:lvl4pPr>
            <a:lvl5pPr>
              <a:defRPr baseline="0">
                <a:latin typeface="Times New Roman" pitchFamily="18" charset="0"/>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1004594769"/>
      </p:ext>
    </p:extLst>
  </p:cSld>
  <p:clrMapOvr>
    <a:masterClrMapping/>
  </p:clrMapOvr>
  <p:timing>
    <p:tnLst>
      <p:par>
        <p:cTn id="1" dur="indefinite" restart="never" nodeType="tmRoot"/>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opic Level3_2 Column">
    <p:spTree>
      <p:nvGrpSpPr>
        <p:cNvPr id="1" name=""/>
        <p:cNvGrpSpPr/>
        <p:nvPr/>
      </p:nvGrpSpPr>
      <p:grpSpPr>
        <a:xfrm>
          <a:off x="0" y="0"/>
          <a:ext cx="0" cy="0"/>
          <a:chOff x="0" y="0"/>
          <a:chExt cx="0" cy="0"/>
        </a:xfrm>
      </p:grpSpPr>
      <p:cxnSp>
        <p:nvCxnSpPr>
          <p:cNvPr id="18" name="Straight Connector 17"/>
          <p:cNvCxnSpPr/>
          <p:nvPr userDrawn="1"/>
        </p:nvCxnSpPr>
        <p:spPr>
          <a:xfrm>
            <a:off x="609600" y="6324600"/>
            <a:ext cx="8534400" cy="0"/>
          </a:xfrm>
          <a:prstGeom prst="line">
            <a:avLst/>
          </a:prstGeom>
          <a:ln w="25400">
            <a:solidFill>
              <a:srgbClr val="69BE02"/>
            </a:solidFill>
          </a:ln>
        </p:spPr>
        <p:style>
          <a:lnRef idx="1">
            <a:schemeClr val="accent1"/>
          </a:lnRef>
          <a:fillRef idx="0">
            <a:schemeClr val="accent1"/>
          </a:fillRef>
          <a:effectRef idx="0">
            <a:schemeClr val="accent1"/>
          </a:effectRef>
          <a:fontRef idx="minor">
            <a:schemeClr val="tx1"/>
          </a:fontRef>
        </p:style>
      </p:cxnSp>
      <p:sp>
        <p:nvSpPr>
          <p:cNvPr id="12" name="Rectangle 11"/>
          <p:cNvSpPr/>
          <p:nvPr userDrawn="1"/>
        </p:nvSpPr>
        <p:spPr>
          <a:xfrm>
            <a:off x="6781800" y="6362700"/>
            <a:ext cx="2362200" cy="3429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ubtitle 2"/>
          <p:cNvSpPr>
            <a:spLocks noGrp="1"/>
          </p:cNvSpPr>
          <p:nvPr>
            <p:ph type="subTitle" idx="1" hasCustomPrompt="1"/>
          </p:nvPr>
        </p:nvSpPr>
        <p:spPr>
          <a:xfrm>
            <a:off x="546728" y="762000"/>
            <a:ext cx="8063871" cy="1066800"/>
          </a:xfrm>
        </p:spPr>
        <p:txBody>
          <a:bodyPr>
            <a:normAutofit/>
          </a:bodyPr>
          <a:lstStyle>
            <a:lvl1pPr marL="0" indent="0" algn="l">
              <a:spcBef>
                <a:spcPts val="600"/>
              </a:spcBef>
              <a:spcAft>
                <a:spcPts val="600"/>
              </a:spcAft>
              <a:buNone/>
              <a:defRPr sz="4800" baseline="0">
                <a:solidFill>
                  <a:srgbClr val="69BE02"/>
                </a:solidFill>
                <a:latin typeface="Rockwell" pitchFamily="18" charset="0"/>
                <a:cs typeface="Times New Roman" pitchFamily="18"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Click to edit Level 3 Topic</a:t>
            </a:r>
            <a:endParaRPr lang="en-US" dirty="0"/>
          </a:p>
        </p:txBody>
      </p:sp>
      <p:sp>
        <p:nvSpPr>
          <p:cNvPr id="6" name="Slide Number Placeholder 5"/>
          <p:cNvSpPr>
            <a:spLocks noGrp="1"/>
          </p:cNvSpPr>
          <p:nvPr>
            <p:ph type="sldNum" sz="quarter" idx="12"/>
          </p:nvPr>
        </p:nvSpPr>
        <p:spPr/>
        <p:txBody>
          <a:bodyPr/>
          <a:lstStyle>
            <a:lvl1pPr>
              <a:defRPr>
                <a:solidFill>
                  <a:schemeClr val="bg1"/>
                </a:solidFill>
              </a:defRPr>
            </a:lvl1pPr>
          </a:lstStyle>
          <a:p>
            <a:fld id="{AC392DC9-9688-4E44-A90B-C333AD8FEA09}" type="slidenum">
              <a:rPr lang="en-US" smtClean="0"/>
              <a:pPr/>
              <a:t>‹#›</a:t>
            </a:fld>
            <a:endParaRPr lang="en-US" dirty="0"/>
          </a:p>
        </p:txBody>
      </p:sp>
      <p:sp>
        <p:nvSpPr>
          <p:cNvPr id="7" name="Rectangle 6"/>
          <p:cNvSpPr/>
          <p:nvPr userDrawn="1"/>
        </p:nvSpPr>
        <p:spPr>
          <a:xfrm>
            <a:off x="0" y="152400"/>
            <a:ext cx="2362200" cy="3429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1" name="Straight Connector 10"/>
          <p:cNvCxnSpPr/>
          <p:nvPr userDrawn="1"/>
        </p:nvCxnSpPr>
        <p:spPr>
          <a:xfrm>
            <a:off x="0" y="1828800"/>
            <a:ext cx="8534400" cy="0"/>
          </a:xfrm>
          <a:prstGeom prst="line">
            <a:avLst/>
          </a:prstGeom>
          <a:ln w="25400">
            <a:solidFill>
              <a:srgbClr val="69BE02"/>
            </a:solidFill>
          </a:ln>
        </p:spPr>
        <p:style>
          <a:lnRef idx="1">
            <a:schemeClr val="accent1"/>
          </a:lnRef>
          <a:fillRef idx="0">
            <a:schemeClr val="accent1"/>
          </a:fillRef>
          <a:effectRef idx="0">
            <a:schemeClr val="accent1"/>
          </a:effectRef>
          <a:fontRef idx="minor">
            <a:schemeClr val="tx1"/>
          </a:fontRef>
        </p:style>
      </p:cxnSp>
      <p:sp>
        <p:nvSpPr>
          <p:cNvPr id="4" name="Content Placeholder 3"/>
          <p:cNvSpPr>
            <a:spLocks noGrp="1"/>
          </p:cNvSpPr>
          <p:nvPr>
            <p:ph sz="quarter" idx="14"/>
          </p:nvPr>
        </p:nvSpPr>
        <p:spPr>
          <a:xfrm>
            <a:off x="533400" y="2133600"/>
            <a:ext cx="3886200" cy="3962400"/>
          </a:xfrm>
        </p:spPr>
        <p:txBody>
          <a:bodyPr/>
          <a:lstStyle>
            <a:lvl1pPr>
              <a:defRPr baseline="0">
                <a:solidFill>
                  <a:schemeClr val="accent6">
                    <a:lumMod val="75000"/>
                  </a:schemeClr>
                </a:solidFill>
                <a:latin typeface="Times New Roman" pitchFamily="18" charset="0"/>
              </a:defRPr>
            </a:lvl1pPr>
            <a:lvl2pPr>
              <a:defRPr baseline="0">
                <a:latin typeface="Times New Roman" pitchFamily="18" charset="0"/>
              </a:defRPr>
            </a:lvl2pPr>
            <a:lvl3pPr>
              <a:defRPr baseline="0">
                <a:latin typeface="Times New Roman" pitchFamily="18" charset="0"/>
              </a:defRPr>
            </a:lvl3pPr>
            <a:lvl4pPr>
              <a:defRPr baseline="0">
                <a:latin typeface="Times New Roman" pitchFamily="18" charset="0"/>
              </a:defRPr>
            </a:lvl4pPr>
            <a:lvl5pPr>
              <a:defRPr baseline="0">
                <a:latin typeface="Times New Roman" pitchFamily="18" charset="0"/>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9" name="Content Placeholder 8"/>
          <p:cNvSpPr>
            <a:spLocks noGrp="1"/>
          </p:cNvSpPr>
          <p:nvPr>
            <p:ph sz="quarter" idx="15"/>
          </p:nvPr>
        </p:nvSpPr>
        <p:spPr>
          <a:xfrm>
            <a:off x="4724400" y="2133600"/>
            <a:ext cx="3886200" cy="3962400"/>
          </a:xfrm>
        </p:spPr>
        <p:txBody>
          <a:bodyPr/>
          <a:lstStyle>
            <a:lvl1pPr>
              <a:defRPr baseline="0">
                <a:solidFill>
                  <a:schemeClr val="accent6">
                    <a:lumMod val="75000"/>
                  </a:schemeClr>
                </a:solidFill>
                <a:latin typeface="Times New Roman" pitchFamily="18" charset="0"/>
              </a:defRPr>
            </a:lvl1pPr>
            <a:lvl2pPr>
              <a:defRPr baseline="0">
                <a:latin typeface="Times New Roman" pitchFamily="18" charset="0"/>
              </a:defRPr>
            </a:lvl2pPr>
            <a:lvl3pPr>
              <a:defRPr baseline="0">
                <a:latin typeface="Times New Roman" pitchFamily="18" charset="0"/>
              </a:defRPr>
            </a:lvl3pPr>
            <a:lvl4pPr>
              <a:defRPr baseline="0">
                <a:latin typeface="Times New Roman" pitchFamily="18" charset="0"/>
              </a:defRPr>
            </a:lvl4pPr>
            <a:lvl5pPr>
              <a:defRPr baseline="0">
                <a:latin typeface="Times New Roman" pitchFamily="18" charset="0"/>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1370460897"/>
      </p:ext>
    </p:extLst>
  </p:cSld>
  <p:clrMapOvr>
    <a:masterClrMapping/>
  </p:clrMapOvr>
  <p:timing>
    <p:tnLst>
      <p:par>
        <p:cTn id="1" dur="indefinite" restart="never" nodeType="tmRoot"/>
      </p:par>
    </p:tnLst>
  </p:timing>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Level3_2 ColCompare">
    <p:spTree>
      <p:nvGrpSpPr>
        <p:cNvPr id="1" name=""/>
        <p:cNvGrpSpPr/>
        <p:nvPr/>
      </p:nvGrpSpPr>
      <p:grpSpPr>
        <a:xfrm>
          <a:off x="0" y="0"/>
          <a:ext cx="0" cy="0"/>
          <a:chOff x="0" y="0"/>
          <a:chExt cx="0" cy="0"/>
        </a:xfrm>
      </p:grpSpPr>
      <p:cxnSp>
        <p:nvCxnSpPr>
          <p:cNvPr id="18" name="Straight Connector 17"/>
          <p:cNvCxnSpPr/>
          <p:nvPr userDrawn="1"/>
        </p:nvCxnSpPr>
        <p:spPr>
          <a:xfrm>
            <a:off x="609600" y="6324600"/>
            <a:ext cx="8534400" cy="0"/>
          </a:xfrm>
          <a:prstGeom prst="line">
            <a:avLst/>
          </a:prstGeom>
          <a:ln w="25400">
            <a:solidFill>
              <a:srgbClr val="69BE02"/>
            </a:solidFill>
          </a:ln>
        </p:spPr>
        <p:style>
          <a:lnRef idx="1">
            <a:schemeClr val="accent1"/>
          </a:lnRef>
          <a:fillRef idx="0">
            <a:schemeClr val="accent1"/>
          </a:fillRef>
          <a:effectRef idx="0">
            <a:schemeClr val="accent1"/>
          </a:effectRef>
          <a:fontRef idx="minor">
            <a:schemeClr val="tx1"/>
          </a:fontRef>
        </p:style>
      </p:cxnSp>
      <p:sp>
        <p:nvSpPr>
          <p:cNvPr id="12" name="Rectangle 11"/>
          <p:cNvSpPr/>
          <p:nvPr userDrawn="1"/>
        </p:nvSpPr>
        <p:spPr>
          <a:xfrm>
            <a:off x="6781800" y="6362700"/>
            <a:ext cx="2362200" cy="3429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ubtitle 2"/>
          <p:cNvSpPr>
            <a:spLocks noGrp="1"/>
          </p:cNvSpPr>
          <p:nvPr>
            <p:ph type="subTitle" idx="1" hasCustomPrompt="1"/>
          </p:nvPr>
        </p:nvSpPr>
        <p:spPr>
          <a:xfrm>
            <a:off x="457200" y="609600"/>
            <a:ext cx="8229600" cy="914400"/>
          </a:xfrm>
        </p:spPr>
        <p:txBody>
          <a:bodyPr>
            <a:normAutofit/>
          </a:bodyPr>
          <a:lstStyle>
            <a:lvl1pPr marL="0" indent="0" algn="l">
              <a:spcBef>
                <a:spcPts val="600"/>
              </a:spcBef>
              <a:spcAft>
                <a:spcPts val="600"/>
              </a:spcAft>
              <a:buNone/>
              <a:defRPr sz="4800" baseline="0">
                <a:solidFill>
                  <a:srgbClr val="69BE02"/>
                </a:solidFill>
                <a:latin typeface="Rockwell" pitchFamily="18" charset="0"/>
                <a:cs typeface="Times New Roman" pitchFamily="18"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Click to edit Level 3 Topic</a:t>
            </a:r>
            <a:endParaRPr lang="en-US" dirty="0"/>
          </a:p>
        </p:txBody>
      </p:sp>
      <p:sp>
        <p:nvSpPr>
          <p:cNvPr id="6" name="Slide Number Placeholder 5"/>
          <p:cNvSpPr>
            <a:spLocks noGrp="1"/>
          </p:cNvSpPr>
          <p:nvPr>
            <p:ph type="sldNum" sz="quarter" idx="12"/>
          </p:nvPr>
        </p:nvSpPr>
        <p:spPr/>
        <p:txBody>
          <a:bodyPr/>
          <a:lstStyle>
            <a:lvl1pPr>
              <a:defRPr>
                <a:solidFill>
                  <a:schemeClr val="bg1"/>
                </a:solidFill>
              </a:defRPr>
            </a:lvl1pPr>
          </a:lstStyle>
          <a:p>
            <a:fld id="{AC392DC9-9688-4E44-A90B-C333AD8FEA09}" type="slidenum">
              <a:rPr lang="en-US" smtClean="0"/>
              <a:pPr/>
              <a:t>‹#›</a:t>
            </a:fld>
            <a:endParaRPr lang="en-US" dirty="0"/>
          </a:p>
        </p:txBody>
      </p:sp>
      <p:sp>
        <p:nvSpPr>
          <p:cNvPr id="7" name="Rectangle 6"/>
          <p:cNvSpPr/>
          <p:nvPr userDrawn="1"/>
        </p:nvSpPr>
        <p:spPr>
          <a:xfrm>
            <a:off x="0" y="152400"/>
            <a:ext cx="2362200" cy="3429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1" name="Straight Connector 10"/>
          <p:cNvCxnSpPr/>
          <p:nvPr userDrawn="1"/>
        </p:nvCxnSpPr>
        <p:spPr>
          <a:xfrm>
            <a:off x="0" y="1524000"/>
            <a:ext cx="8534400" cy="0"/>
          </a:xfrm>
          <a:prstGeom prst="line">
            <a:avLst/>
          </a:prstGeom>
          <a:ln w="25400">
            <a:solidFill>
              <a:srgbClr val="69BE02"/>
            </a:solidFill>
          </a:ln>
        </p:spPr>
        <p:style>
          <a:lnRef idx="1">
            <a:schemeClr val="accent1"/>
          </a:lnRef>
          <a:fillRef idx="0">
            <a:schemeClr val="accent1"/>
          </a:fillRef>
          <a:effectRef idx="0">
            <a:schemeClr val="accent1"/>
          </a:effectRef>
          <a:fontRef idx="minor">
            <a:schemeClr val="tx1"/>
          </a:fontRef>
        </p:style>
      </p:cxnSp>
      <p:sp>
        <p:nvSpPr>
          <p:cNvPr id="4" name="Content Placeholder 3"/>
          <p:cNvSpPr>
            <a:spLocks noGrp="1"/>
          </p:cNvSpPr>
          <p:nvPr>
            <p:ph sz="quarter" idx="14"/>
          </p:nvPr>
        </p:nvSpPr>
        <p:spPr>
          <a:xfrm>
            <a:off x="457200" y="2209800"/>
            <a:ext cx="4038600" cy="3962400"/>
          </a:xfrm>
        </p:spPr>
        <p:txBody>
          <a:bodyPr/>
          <a:lstStyle>
            <a:lvl1pPr>
              <a:defRPr baseline="0">
                <a:latin typeface="Times New Roman" pitchFamily="18" charset="0"/>
              </a:defRPr>
            </a:lvl1pPr>
            <a:lvl2pPr>
              <a:defRPr baseline="0">
                <a:latin typeface="Times New Roman" pitchFamily="18" charset="0"/>
              </a:defRPr>
            </a:lvl2pPr>
            <a:lvl3pPr>
              <a:defRPr baseline="0">
                <a:latin typeface="Times New Roman" pitchFamily="18" charset="0"/>
              </a:defRPr>
            </a:lvl3pPr>
            <a:lvl4pPr>
              <a:defRPr baseline="0">
                <a:latin typeface="Times New Roman" pitchFamily="18" charset="0"/>
              </a:defRPr>
            </a:lvl4pPr>
            <a:lvl5pPr>
              <a:defRPr baseline="0">
                <a:latin typeface="Times New Roman" pitchFamily="18" charset="0"/>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9" name="Content Placeholder 8"/>
          <p:cNvSpPr>
            <a:spLocks noGrp="1"/>
          </p:cNvSpPr>
          <p:nvPr>
            <p:ph sz="quarter" idx="15"/>
          </p:nvPr>
        </p:nvSpPr>
        <p:spPr>
          <a:xfrm>
            <a:off x="4648200" y="2209800"/>
            <a:ext cx="4038600" cy="3962400"/>
          </a:xfrm>
        </p:spPr>
        <p:txBody>
          <a:bodyPr/>
          <a:lstStyle>
            <a:lvl1pPr>
              <a:defRPr baseline="0">
                <a:latin typeface="Times New Roman" pitchFamily="18" charset="0"/>
              </a:defRPr>
            </a:lvl1pPr>
            <a:lvl2pPr>
              <a:defRPr baseline="0">
                <a:latin typeface="Times New Roman" pitchFamily="18" charset="0"/>
              </a:defRPr>
            </a:lvl2pPr>
            <a:lvl3pPr>
              <a:defRPr baseline="0">
                <a:latin typeface="Times New Roman" pitchFamily="18" charset="0"/>
              </a:defRPr>
            </a:lvl3pPr>
            <a:lvl4pPr>
              <a:defRPr baseline="0">
                <a:latin typeface="Times New Roman" pitchFamily="18" charset="0"/>
              </a:defRPr>
            </a:lvl4pPr>
            <a:lvl5pPr>
              <a:defRPr baseline="0">
                <a:latin typeface="Times New Roman" pitchFamily="18" charset="0"/>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13" name="Text Placeholder 2"/>
          <p:cNvSpPr>
            <a:spLocks noGrp="1"/>
          </p:cNvSpPr>
          <p:nvPr>
            <p:ph type="body" idx="16" hasCustomPrompt="1"/>
          </p:nvPr>
        </p:nvSpPr>
        <p:spPr>
          <a:xfrm>
            <a:off x="457200" y="1600199"/>
            <a:ext cx="4040188" cy="574675"/>
          </a:xfrm>
        </p:spPr>
        <p:txBody>
          <a:bodyPr anchor="b">
            <a:noAutofit/>
          </a:bodyPr>
          <a:lstStyle>
            <a:lvl1pPr marL="0" indent="0">
              <a:buNone/>
              <a:defRPr sz="3600" b="0" baseline="0">
                <a:solidFill>
                  <a:srgbClr val="F17901"/>
                </a:solidFill>
                <a:latin typeface="Rockwell" pitchFamily="18"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smtClean="0"/>
              <a:t>Category 1</a:t>
            </a:r>
          </a:p>
        </p:txBody>
      </p:sp>
      <p:sp>
        <p:nvSpPr>
          <p:cNvPr id="14" name="Text Placeholder 4"/>
          <p:cNvSpPr>
            <a:spLocks noGrp="1"/>
          </p:cNvSpPr>
          <p:nvPr>
            <p:ph type="body" sz="quarter" idx="3" hasCustomPrompt="1"/>
          </p:nvPr>
        </p:nvSpPr>
        <p:spPr>
          <a:xfrm>
            <a:off x="4645025" y="1600199"/>
            <a:ext cx="4041775" cy="574675"/>
          </a:xfrm>
        </p:spPr>
        <p:txBody>
          <a:bodyPr anchor="b">
            <a:noAutofit/>
          </a:bodyPr>
          <a:lstStyle>
            <a:lvl1pPr marL="0" indent="0">
              <a:buNone/>
              <a:defRPr sz="3600" b="0" baseline="0">
                <a:solidFill>
                  <a:srgbClr val="F17901"/>
                </a:solidFill>
                <a:latin typeface="Rockwell" pitchFamily="18"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smtClean="0"/>
              <a:t>Category 2</a:t>
            </a:r>
          </a:p>
        </p:txBody>
      </p:sp>
    </p:spTree>
    <p:extLst>
      <p:ext uri="{BB962C8B-B14F-4D97-AF65-F5344CB8AC3E}">
        <p14:creationId xmlns:p14="http://schemas.microsoft.com/office/powerpoint/2010/main" val="1395806380"/>
      </p:ext>
    </p:extLst>
  </p:cSld>
  <p:clrMapOvr>
    <a:masterClrMapping/>
  </p:clrMapOvr>
  <p:timing>
    <p:tnLst>
      <p:par>
        <p:cTn id="1" dur="indefinite" restart="never" nodeType="tmRoot"/>
      </p:par>
    </p:tnLst>
  </p:timing>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opic Level4">
    <p:spTree>
      <p:nvGrpSpPr>
        <p:cNvPr id="1" name=""/>
        <p:cNvGrpSpPr/>
        <p:nvPr/>
      </p:nvGrpSpPr>
      <p:grpSpPr>
        <a:xfrm>
          <a:off x="0" y="0"/>
          <a:ext cx="0" cy="0"/>
          <a:chOff x="0" y="0"/>
          <a:chExt cx="0" cy="0"/>
        </a:xfrm>
      </p:grpSpPr>
      <p:cxnSp>
        <p:nvCxnSpPr>
          <p:cNvPr id="18" name="Straight Connector 17"/>
          <p:cNvCxnSpPr/>
          <p:nvPr userDrawn="1"/>
        </p:nvCxnSpPr>
        <p:spPr>
          <a:xfrm>
            <a:off x="609600" y="6324600"/>
            <a:ext cx="8534400" cy="0"/>
          </a:xfrm>
          <a:prstGeom prst="line">
            <a:avLst/>
          </a:prstGeom>
          <a:ln w="25400">
            <a:solidFill>
              <a:srgbClr val="F17901"/>
            </a:solidFill>
          </a:ln>
        </p:spPr>
        <p:style>
          <a:lnRef idx="1">
            <a:schemeClr val="accent1"/>
          </a:lnRef>
          <a:fillRef idx="0">
            <a:schemeClr val="accent1"/>
          </a:fillRef>
          <a:effectRef idx="0">
            <a:schemeClr val="accent1"/>
          </a:effectRef>
          <a:fontRef idx="minor">
            <a:schemeClr val="tx1"/>
          </a:fontRef>
        </p:style>
      </p:cxnSp>
      <p:sp>
        <p:nvSpPr>
          <p:cNvPr id="12" name="Rectangle 11"/>
          <p:cNvSpPr/>
          <p:nvPr userDrawn="1"/>
        </p:nvSpPr>
        <p:spPr>
          <a:xfrm>
            <a:off x="6781800" y="6362700"/>
            <a:ext cx="2362200" cy="342900"/>
          </a:xfrm>
          <a:prstGeom prst="rect">
            <a:avLst/>
          </a:prstGeom>
          <a:solidFill>
            <a:srgbClr val="69BE0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ubtitle 2"/>
          <p:cNvSpPr>
            <a:spLocks noGrp="1"/>
          </p:cNvSpPr>
          <p:nvPr>
            <p:ph type="subTitle" idx="1" hasCustomPrompt="1"/>
          </p:nvPr>
        </p:nvSpPr>
        <p:spPr>
          <a:xfrm>
            <a:off x="546728" y="495300"/>
            <a:ext cx="8063871" cy="1485900"/>
          </a:xfrm>
        </p:spPr>
        <p:txBody>
          <a:bodyPr>
            <a:normAutofit/>
          </a:bodyPr>
          <a:lstStyle>
            <a:lvl1pPr marL="0" indent="0" algn="l">
              <a:spcBef>
                <a:spcPts val="600"/>
              </a:spcBef>
              <a:spcAft>
                <a:spcPts val="600"/>
              </a:spcAft>
              <a:buNone/>
              <a:defRPr sz="4800" baseline="0">
                <a:solidFill>
                  <a:srgbClr val="F17901"/>
                </a:solidFill>
                <a:latin typeface="Rockwell" pitchFamily="18" charset="0"/>
                <a:cs typeface="Times New Roman" pitchFamily="18"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Click to edit Level 4 Topic</a:t>
            </a:r>
            <a:endParaRPr lang="en-US" dirty="0"/>
          </a:p>
        </p:txBody>
      </p:sp>
      <p:sp>
        <p:nvSpPr>
          <p:cNvPr id="6" name="Slide Number Placeholder 5"/>
          <p:cNvSpPr>
            <a:spLocks noGrp="1"/>
          </p:cNvSpPr>
          <p:nvPr>
            <p:ph type="sldNum" sz="quarter" idx="12"/>
          </p:nvPr>
        </p:nvSpPr>
        <p:spPr/>
        <p:txBody>
          <a:bodyPr/>
          <a:lstStyle>
            <a:lvl1pPr>
              <a:defRPr>
                <a:solidFill>
                  <a:schemeClr val="bg1"/>
                </a:solidFill>
              </a:defRPr>
            </a:lvl1pPr>
          </a:lstStyle>
          <a:p>
            <a:fld id="{AC392DC9-9688-4E44-A90B-C333AD8FEA09}" type="slidenum">
              <a:rPr lang="en-US" smtClean="0"/>
              <a:pPr/>
              <a:t>‹#›</a:t>
            </a:fld>
            <a:endParaRPr lang="en-US" dirty="0"/>
          </a:p>
        </p:txBody>
      </p:sp>
      <p:sp>
        <p:nvSpPr>
          <p:cNvPr id="7" name="Rectangle 6"/>
          <p:cNvSpPr/>
          <p:nvPr userDrawn="1"/>
        </p:nvSpPr>
        <p:spPr>
          <a:xfrm>
            <a:off x="0" y="152400"/>
            <a:ext cx="2362200" cy="342900"/>
          </a:xfrm>
          <a:prstGeom prst="rect">
            <a:avLst/>
          </a:prstGeom>
          <a:solidFill>
            <a:srgbClr val="69BE0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4"/>
          <p:cNvSpPr>
            <a:spLocks noGrp="1"/>
          </p:cNvSpPr>
          <p:nvPr>
            <p:ph type="body" sz="quarter" idx="13"/>
          </p:nvPr>
        </p:nvSpPr>
        <p:spPr>
          <a:xfrm>
            <a:off x="533400" y="2133600"/>
            <a:ext cx="8153400" cy="3962400"/>
          </a:xfrm>
        </p:spPr>
        <p:txBody>
          <a:bodyPr/>
          <a:lstStyle>
            <a:lvl1pPr>
              <a:defRPr baseline="0">
                <a:solidFill>
                  <a:schemeClr val="tx1"/>
                </a:solidFill>
                <a:latin typeface="Rockwell" pitchFamily="18" charset="0"/>
              </a:defRPr>
            </a:lvl1pPr>
            <a:lvl2pPr>
              <a:defRPr baseline="0">
                <a:latin typeface="Times New Roman" pitchFamily="18" charset="0"/>
              </a:defRPr>
            </a:lvl2pPr>
            <a:lvl3pPr>
              <a:defRPr baseline="0">
                <a:latin typeface="Times New Roman" pitchFamily="18" charset="0"/>
              </a:defRPr>
            </a:lvl3pPr>
            <a:lvl4pPr>
              <a:defRPr baseline="0">
                <a:latin typeface="Times New Roman" pitchFamily="18" charset="0"/>
              </a:defRPr>
            </a:lvl4pPr>
            <a:lvl5pPr>
              <a:defRPr baseline="0">
                <a:latin typeface="Times New Roman" pitchFamily="18" charset="0"/>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cxnSp>
        <p:nvCxnSpPr>
          <p:cNvPr id="11" name="Straight Connector 10"/>
          <p:cNvCxnSpPr/>
          <p:nvPr userDrawn="1"/>
        </p:nvCxnSpPr>
        <p:spPr>
          <a:xfrm>
            <a:off x="0" y="1981200"/>
            <a:ext cx="8534400" cy="0"/>
          </a:xfrm>
          <a:prstGeom prst="line">
            <a:avLst/>
          </a:prstGeom>
          <a:ln w="25400">
            <a:solidFill>
              <a:srgbClr val="F1790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90728648"/>
      </p:ext>
    </p:extLst>
  </p:cSld>
  <p:clrMapOvr>
    <a:masterClrMapping/>
  </p:clrMapOvr>
  <p:timing>
    <p:tnLst>
      <p:par>
        <p:cTn id="1" dur="indefinite" restart="never" nodeType="tmRoot"/>
      </p:par>
    </p:tnLst>
  </p:timing>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opic Level5">
    <p:spTree>
      <p:nvGrpSpPr>
        <p:cNvPr id="1" name=""/>
        <p:cNvGrpSpPr/>
        <p:nvPr/>
      </p:nvGrpSpPr>
      <p:grpSpPr>
        <a:xfrm>
          <a:off x="0" y="0"/>
          <a:ext cx="0" cy="0"/>
          <a:chOff x="0" y="0"/>
          <a:chExt cx="0" cy="0"/>
        </a:xfrm>
      </p:grpSpPr>
      <p:cxnSp>
        <p:nvCxnSpPr>
          <p:cNvPr id="18" name="Straight Connector 17"/>
          <p:cNvCxnSpPr/>
          <p:nvPr userDrawn="1"/>
        </p:nvCxnSpPr>
        <p:spPr>
          <a:xfrm>
            <a:off x="609600" y="6324600"/>
            <a:ext cx="8534400" cy="0"/>
          </a:xfrm>
          <a:prstGeom prst="line">
            <a:avLst/>
          </a:prstGeom>
          <a:ln w="254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12" name="Rectangle 11"/>
          <p:cNvSpPr/>
          <p:nvPr userDrawn="1"/>
        </p:nvSpPr>
        <p:spPr>
          <a:xfrm>
            <a:off x="6781800" y="6362700"/>
            <a:ext cx="2362200" cy="342900"/>
          </a:xfrm>
          <a:prstGeom prst="rect">
            <a:avLst/>
          </a:prstGeom>
          <a:solidFill>
            <a:srgbClr val="F1790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ubtitle 2"/>
          <p:cNvSpPr>
            <a:spLocks noGrp="1"/>
          </p:cNvSpPr>
          <p:nvPr>
            <p:ph type="subTitle" idx="1" hasCustomPrompt="1"/>
          </p:nvPr>
        </p:nvSpPr>
        <p:spPr>
          <a:xfrm>
            <a:off x="546728" y="495300"/>
            <a:ext cx="8063871" cy="1485900"/>
          </a:xfrm>
        </p:spPr>
        <p:txBody>
          <a:bodyPr>
            <a:normAutofit/>
          </a:bodyPr>
          <a:lstStyle>
            <a:lvl1pPr marL="0" indent="0" algn="l">
              <a:spcBef>
                <a:spcPts val="600"/>
              </a:spcBef>
              <a:spcAft>
                <a:spcPts val="600"/>
              </a:spcAft>
              <a:buNone/>
              <a:defRPr sz="4800" baseline="0">
                <a:solidFill>
                  <a:schemeClr val="tx1">
                    <a:lumMod val="65000"/>
                    <a:lumOff val="35000"/>
                  </a:schemeClr>
                </a:solidFill>
                <a:latin typeface="Rockwell" pitchFamily="18" charset="0"/>
                <a:cs typeface="Times New Roman" pitchFamily="18"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Click to edit Level 5 Topic</a:t>
            </a:r>
            <a:endParaRPr lang="en-US" dirty="0"/>
          </a:p>
        </p:txBody>
      </p:sp>
      <p:sp>
        <p:nvSpPr>
          <p:cNvPr id="6" name="Slide Number Placeholder 5"/>
          <p:cNvSpPr>
            <a:spLocks noGrp="1"/>
          </p:cNvSpPr>
          <p:nvPr>
            <p:ph type="sldNum" sz="quarter" idx="12"/>
          </p:nvPr>
        </p:nvSpPr>
        <p:spPr/>
        <p:txBody>
          <a:bodyPr/>
          <a:lstStyle>
            <a:lvl1pPr>
              <a:defRPr>
                <a:solidFill>
                  <a:schemeClr val="bg1"/>
                </a:solidFill>
              </a:defRPr>
            </a:lvl1pPr>
          </a:lstStyle>
          <a:p>
            <a:fld id="{AC392DC9-9688-4E44-A90B-C333AD8FEA09}" type="slidenum">
              <a:rPr lang="en-US" smtClean="0"/>
              <a:pPr/>
              <a:t>‹#›</a:t>
            </a:fld>
            <a:endParaRPr lang="en-US" dirty="0"/>
          </a:p>
        </p:txBody>
      </p:sp>
      <p:sp>
        <p:nvSpPr>
          <p:cNvPr id="7" name="Rectangle 6"/>
          <p:cNvSpPr/>
          <p:nvPr userDrawn="1"/>
        </p:nvSpPr>
        <p:spPr>
          <a:xfrm>
            <a:off x="0" y="152400"/>
            <a:ext cx="2362200" cy="342900"/>
          </a:xfrm>
          <a:prstGeom prst="rect">
            <a:avLst/>
          </a:prstGeom>
          <a:solidFill>
            <a:srgbClr val="F1790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4"/>
          <p:cNvSpPr>
            <a:spLocks noGrp="1"/>
          </p:cNvSpPr>
          <p:nvPr>
            <p:ph type="body" sz="quarter" idx="13"/>
          </p:nvPr>
        </p:nvSpPr>
        <p:spPr>
          <a:xfrm>
            <a:off x="533400" y="2133600"/>
            <a:ext cx="8153400" cy="3962400"/>
          </a:xfrm>
        </p:spPr>
        <p:txBody>
          <a:bodyPr/>
          <a:lstStyle>
            <a:lvl1pPr>
              <a:defRPr baseline="0">
                <a:solidFill>
                  <a:schemeClr val="tx1"/>
                </a:solidFill>
                <a:latin typeface="Rockwell" pitchFamily="18" charset="0"/>
              </a:defRPr>
            </a:lvl1pPr>
            <a:lvl2pPr>
              <a:defRPr baseline="0">
                <a:latin typeface="Times New Roman" pitchFamily="18" charset="0"/>
              </a:defRPr>
            </a:lvl2pPr>
            <a:lvl3pPr>
              <a:defRPr baseline="0">
                <a:latin typeface="Times New Roman" pitchFamily="18" charset="0"/>
              </a:defRPr>
            </a:lvl3pPr>
            <a:lvl4pPr>
              <a:defRPr baseline="0">
                <a:latin typeface="Times New Roman" pitchFamily="18" charset="0"/>
              </a:defRPr>
            </a:lvl4pPr>
            <a:lvl5pPr>
              <a:defRPr baseline="0">
                <a:latin typeface="Times New Roman" pitchFamily="18" charset="0"/>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cxnSp>
        <p:nvCxnSpPr>
          <p:cNvPr id="11" name="Straight Connector 10"/>
          <p:cNvCxnSpPr/>
          <p:nvPr userDrawn="1"/>
        </p:nvCxnSpPr>
        <p:spPr>
          <a:xfrm>
            <a:off x="0" y="1981200"/>
            <a:ext cx="8534400" cy="0"/>
          </a:xfrm>
          <a:prstGeom prst="line">
            <a:avLst/>
          </a:prstGeom>
          <a:ln w="254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36021700"/>
      </p:ext>
    </p:extLst>
  </p:cSld>
  <p:clrMapOvr>
    <a:masterClrMapping/>
  </p:clrMapOvr>
  <p:timing>
    <p:tnLst>
      <p:par>
        <p:cTn id="1" dur="indefinite" restart="never" nodeType="tmRoot"/>
      </p:par>
    </p:tnLst>
  </p:timing>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opic Level4_2 Column">
    <p:spTree>
      <p:nvGrpSpPr>
        <p:cNvPr id="1" name=""/>
        <p:cNvGrpSpPr/>
        <p:nvPr/>
      </p:nvGrpSpPr>
      <p:grpSpPr>
        <a:xfrm>
          <a:off x="0" y="0"/>
          <a:ext cx="0" cy="0"/>
          <a:chOff x="0" y="0"/>
          <a:chExt cx="0" cy="0"/>
        </a:xfrm>
      </p:grpSpPr>
      <p:cxnSp>
        <p:nvCxnSpPr>
          <p:cNvPr id="18" name="Straight Connector 17"/>
          <p:cNvCxnSpPr/>
          <p:nvPr userDrawn="1"/>
        </p:nvCxnSpPr>
        <p:spPr>
          <a:xfrm>
            <a:off x="609600" y="6324600"/>
            <a:ext cx="8534400" cy="0"/>
          </a:xfrm>
          <a:prstGeom prst="line">
            <a:avLst/>
          </a:prstGeom>
          <a:ln w="25400">
            <a:solidFill>
              <a:srgbClr val="F17901"/>
            </a:solidFill>
          </a:ln>
        </p:spPr>
        <p:style>
          <a:lnRef idx="1">
            <a:schemeClr val="accent1"/>
          </a:lnRef>
          <a:fillRef idx="0">
            <a:schemeClr val="accent1"/>
          </a:fillRef>
          <a:effectRef idx="0">
            <a:schemeClr val="accent1"/>
          </a:effectRef>
          <a:fontRef idx="minor">
            <a:schemeClr val="tx1"/>
          </a:fontRef>
        </p:style>
      </p:cxnSp>
      <p:sp>
        <p:nvSpPr>
          <p:cNvPr id="12" name="Rectangle 11"/>
          <p:cNvSpPr/>
          <p:nvPr userDrawn="1"/>
        </p:nvSpPr>
        <p:spPr>
          <a:xfrm>
            <a:off x="6781800" y="6362700"/>
            <a:ext cx="2362200" cy="342900"/>
          </a:xfrm>
          <a:prstGeom prst="rect">
            <a:avLst/>
          </a:prstGeom>
          <a:solidFill>
            <a:srgbClr val="69BE0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ubtitle 2"/>
          <p:cNvSpPr>
            <a:spLocks noGrp="1"/>
          </p:cNvSpPr>
          <p:nvPr>
            <p:ph type="subTitle" idx="1" hasCustomPrompt="1"/>
          </p:nvPr>
        </p:nvSpPr>
        <p:spPr>
          <a:xfrm>
            <a:off x="546728" y="685800"/>
            <a:ext cx="8063871" cy="1066800"/>
          </a:xfrm>
        </p:spPr>
        <p:txBody>
          <a:bodyPr>
            <a:normAutofit/>
          </a:bodyPr>
          <a:lstStyle>
            <a:lvl1pPr marL="0" indent="0" algn="l">
              <a:spcBef>
                <a:spcPts val="600"/>
              </a:spcBef>
              <a:spcAft>
                <a:spcPts val="600"/>
              </a:spcAft>
              <a:buNone/>
              <a:defRPr sz="4800" baseline="0">
                <a:solidFill>
                  <a:srgbClr val="F17901"/>
                </a:solidFill>
                <a:latin typeface="Rockwell" pitchFamily="18" charset="0"/>
                <a:cs typeface="Times New Roman" pitchFamily="18"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Click to edit Level 4 Topic</a:t>
            </a:r>
            <a:endParaRPr lang="en-US" dirty="0"/>
          </a:p>
        </p:txBody>
      </p:sp>
      <p:sp>
        <p:nvSpPr>
          <p:cNvPr id="6" name="Slide Number Placeholder 5"/>
          <p:cNvSpPr>
            <a:spLocks noGrp="1"/>
          </p:cNvSpPr>
          <p:nvPr>
            <p:ph type="sldNum" sz="quarter" idx="12"/>
          </p:nvPr>
        </p:nvSpPr>
        <p:spPr/>
        <p:txBody>
          <a:bodyPr/>
          <a:lstStyle>
            <a:lvl1pPr>
              <a:defRPr>
                <a:solidFill>
                  <a:schemeClr val="bg1"/>
                </a:solidFill>
              </a:defRPr>
            </a:lvl1pPr>
          </a:lstStyle>
          <a:p>
            <a:fld id="{AC392DC9-9688-4E44-A90B-C333AD8FEA09}" type="slidenum">
              <a:rPr lang="en-US" smtClean="0"/>
              <a:pPr/>
              <a:t>‹#›</a:t>
            </a:fld>
            <a:endParaRPr lang="en-US" dirty="0"/>
          </a:p>
        </p:txBody>
      </p:sp>
      <p:sp>
        <p:nvSpPr>
          <p:cNvPr id="7" name="Rectangle 6"/>
          <p:cNvSpPr/>
          <p:nvPr userDrawn="1"/>
        </p:nvSpPr>
        <p:spPr>
          <a:xfrm>
            <a:off x="0" y="152400"/>
            <a:ext cx="2362200" cy="342900"/>
          </a:xfrm>
          <a:prstGeom prst="rect">
            <a:avLst/>
          </a:prstGeom>
          <a:solidFill>
            <a:srgbClr val="69BE0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1" name="Straight Connector 10"/>
          <p:cNvCxnSpPr/>
          <p:nvPr userDrawn="1"/>
        </p:nvCxnSpPr>
        <p:spPr>
          <a:xfrm>
            <a:off x="0" y="1600200"/>
            <a:ext cx="8534400" cy="0"/>
          </a:xfrm>
          <a:prstGeom prst="line">
            <a:avLst/>
          </a:prstGeom>
          <a:ln w="25400">
            <a:solidFill>
              <a:srgbClr val="F17901"/>
            </a:solidFill>
          </a:ln>
        </p:spPr>
        <p:style>
          <a:lnRef idx="1">
            <a:schemeClr val="accent1"/>
          </a:lnRef>
          <a:fillRef idx="0">
            <a:schemeClr val="accent1"/>
          </a:fillRef>
          <a:effectRef idx="0">
            <a:schemeClr val="accent1"/>
          </a:effectRef>
          <a:fontRef idx="minor">
            <a:schemeClr val="tx1"/>
          </a:fontRef>
        </p:style>
      </p:cxnSp>
      <p:sp>
        <p:nvSpPr>
          <p:cNvPr id="4" name="Content Placeholder 3"/>
          <p:cNvSpPr>
            <a:spLocks noGrp="1"/>
          </p:cNvSpPr>
          <p:nvPr>
            <p:ph sz="quarter" idx="14"/>
          </p:nvPr>
        </p:nvSpPr>
        <p:spPr>
          <a:xfrm>
            <a:off x="533400" y="1828800"/>
            <a:ext cx="3886200" cy="4419600"/>
          </a:xfrm>
        </p:spPr>
        <p:txBody>
          <a:bodyPr/>
          <a:lstStyle>
            <a:lvl1pPr>
              <a:defRPr baseline="0">
                <a:latin typeface="Times New Roman" pitchFamily="18" charset="0"/>
              </a:defRPr>
            </a:lvl1pPr>
            <a:lvl2pPr>
              <a:defRPr baseline="0">
                <a:latin typeface="Times New Roman" pitchFamily="18" charset="0"/>
              </a:defRPr>
            </a:lvl2pPr>
            <a:lvl3pPr>
              <a:defRPr baseline="0">
                <a:latin typeface="Times New Roman" pitchFamily="18" charset="0"/>
              </a:defRPr>
            </a:lvl3pPr>
            <a:lvl4pPr>
              <a:defRPr baseline="0">
                <a:latin typeface="Times New Roman" pitchFamily="18" charset="0"/>
              </a:defRPr>
            </a:lvl4pPr>
            <a:lvl5pPr>
              <a:defRPr baseline="0">
                <a:latin typeface="Times New Roman" pitchFamily="18" charset="0"/>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9" name="Content Placeholder 8"/>
          <p:cNvSpPr>
            <a:spLocks noGrp="1"/>
          </p:cNvSpPr>
          <p:nvPr>
            <p:ph sz="quarter" idx="15"/>
          </p:nvPr>
        </p:nvSpPr>
        <p:spPr>
          <a:xfrm>
            <a:off x="4724400" y="1828800"/>
            <a:ext cx="3886200" cy="4419600"/>
          </a:xfrm>
        </p:spPr>
        <p:txBody>
          <a:bodyPr/>
          <a:lstStyle>
            <a:lvl1pPr>
              <a:defRPr baseline="0">
                <a:latin typeface="Times New Roman" pitchFamily="18" charset="0"/>
              </a:defRPr>
            </a:lvl1pPr>
            <a:lvl2pPr>
              <a:defRPr baseline="0">
                <a:latin typeface="Times New Roman" pitchFamily="18" charset="0"/>
              </a:defRPr>
            </a:lvl2pPr>
            <a:lvl3pPr>
              <a:defRPr baseline="0">
                <a:latin typeface="Times New Roman" pitchFamily="18" charset="0"/>
              </a:defRPr>
            </a:lvl3pPr>
            <a:lvl4pPr>
              <a:defRPr baseline="0">
                <a:latin typeface="Times New Roman" pitchFamily="18" charset="0"/>
              </a:defRPr>
            </a:lvl4pPr>
            <a:lvl5pPr>
              <a:defRPr baseline="0">
                <a:latin typeface="Times New Roman" pitchFamily="18" charset="0"/>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84478017"/>
      </p:ext>
    </p:extLst>
  </p:cSld>
  <p:clrMapOvr>
    <a:masterClrMapping/>
  </p:clrMapOvr>
  <p:timing>
    <p:tnLst>
      <p:par>
        <p:cTn id="1" dur="indefinite" restart="never" nodeType="tmRoot"/>
      </p:par>
    </p:tnLst>
  </p:timing>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Level4_2 ColCompare">
    <p:spTree>
      <p:nvGrpSpPr>
        <p:cNvPr id="1" name=""/>
        <p:cNvGrpSpPr/>
        <p:nvPr/>
      </p:nvGrpSpPr>
      <p:grpSpPr>
        <a:xfrm>
          <a:off x="0" y="0"/>
          <a:ext cx="0" cy="0"/>
          <a:chOff x="0" y="0"/>
          <a:chExt cx="0" cy="0"/>
        </a:xfrm>
      </p:grpSpPr>
      <p:cxnSp>
        <p:nvCxnSpPr>
          <p:cNvPr id="18" name="Straight Connector 17"/>
          <p:cNvCxnSpPr/>
          <p:nvPr userDrawn="1"/>
        </p:nvCxnSpPr>
        <p:spPr>
          <a:xfrm>
            <a:off x="609600" y="6324600"/>
            <a:ext cx="8534400" cy="0"/>
          </a:xfrm>
          <a:prstGeom prst="line">
            <a:avLst/>
          </a:prstGeom>
          <a:ln w="25400">
            <a:solidFill>
              <a:srgbClr val="F17901"/>
            </a:solidFill>
          </a:ln>
        </p:spPr>
        <p:style>
          <a:lnRef idx="1">
            <a:schemeClr val="accent1"/>
          </a:lnRef>
          <a:fillRef idx="0">
            <a:schemeClr val="accent1"/>
          </a:fillRef>
          <a:effectRef idx="0">
            <a:schemeClr val="accent1"/>
          </a:effectRef>
          <a:fontRef idx="minor">
            <a:schemeClr val="tx1"/>
          </a:fontRef>
        </p:style>
      </p:cxnSp>
      <p:sp>
        <p:nvSpPr>
          <p:cNvPr id="12" name="Rectangle 11"/>
          <p:cNvSpPr/>
          <p:nvPr userDrawn="1"/>
        </p:nvSpPr>
        <p:spPr>
          <a:xfrm>
            <a:off x="6781800" y="6362700"/>
            <a:ext cx="2362200" cy="342900"/>
          </a:xfrm>
          <a:prstGeom prst="rect">
            <a:avLst/>
          </a:prstGeom>
          <a:solidFill>
            <a:srgbClr val="69BE0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ubtitle 2"/>
          <p:cNvSpPr>
            <a:spLocks noGrp="1"/>
          </p:cNvSpPr>
          <p:nvPr>
            <p:ph type="subTitle" idx="1" hasCustomPrompt="1"/>
          </p:nvPr>
        </p:nvSpPr>
        <p:spPr>
          <a:xfrm>
            <a:off x="457200" y="609600"/>
            <a:ext cx="8229600" cy="914400"/>
          </a:xfrm>
        </p:spPr>
        <p:txBody>
          <a:bodyPr>
            <a:normAutofit/>
          </a:bodyPr>
          <a:lstStyle>
            <a:lvl1pPr marL="0" indent="0" algn="l">
              <a:spcBef>
                <a:spcPts val="600"/>
              </a:spcBef>
              <a:spcAft>
                <a:spcPts val="600"/>
              </a:spcAft>
              <a:buNone/>
              <a:defRPr sz="4800" baseline="0">
                <a:solidFill>
                  <a:srgbClr val="F17901"/>
                </a:solidFill>
                <a:latin typeface="Rockwell" pitchFamily="18" charset="0"/>
                <a:cs typeface="Times New Roman" pitchFamily="18"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Click to edit Level 4 Topic</a:t>
            </a:r>
            <a:endParaRPr lang="en-US" dirty="0"/>
          </a:p>
        </p:txBody>
      </p:sp>
      <p:sp>
        <p:nvSpPr>
          <p:cNvPr id="6" name="Slide Number Placeholder 5"/>
          <p:cNvSpPr>
            <a:spLocks noGrp="1"/>
          </p:cNvSpPr>
          <p:nvPr>
            <p:ph type="sldNum" sz="quarter" idx="12"/>
          </p:nvPr>
        </p:nvSpPr>
        <p:spPr/>
        <p:txBody>
          <a:bodyPr/>
          <a:lstStyle>
            <a:lvl1pPr>
              <a:defRPr>
                <a:solidFill>
                  <a:schemeClr val="bg1"/>
                </a:solidFill>
              </a:defRPr>
            </a:lvl1pPr>
          </a:lstStyle>
          <a:p>
            <a:fld id="{AC392DC9-9688-4E44-A90B-C333AD8FEA09}" type="slidenum">
              <a:rPr lang="en-US" smtClean="0"/>
              <a:pPr/>
              <a:t>‹#›</a:t>
            </a:fld>
            <a:endParaRPr lang="en-US" dirty="0"/>
          </a:p>
        </p:txBody>
      </p:sp>
      <p:sp>
        <p:nvSpPr>
          <p:cNvPr id="7" name="Rectangle 6"/>
          <p:cNvSpPr/>
          <p:nvPr userDrawn="1"/>
        </p:nvSpPr>
        <p:spPr>
          <a:xfrm>
            <a:off x="0" y="152400"/>
            <a:ext cx="2362200" cy="342900"/>
          </a:xfrm>
          <a:prstGeom prst="rect">
            <a:avLst/>
          </a:prstGeom>
          <a:solidFill>
            <a:srgbClr val="69BE0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1" name="Straight Connector 10"/>
          <p:cNvCxnSpPr/>
          <p:nvPr userDrawn="1"/>
        </p:nvCxnSpPr>
        <p:spPr>
          <a:xfrm>
            <a:off x="0" y="1524000"/>
            <a:ext cx="8534400" cy="0"/>
          </a:xfrm>
          <a:prstGeom prst="line">
            <a:avLst/>
          </a:prstGeom>
          <a:ln w="25400">
            <a:solidFill>
              <a:srgbClr val="F17901"/>
            </a:solidFill>
          </a:ln>
        </p:spPr>
        <p:style>
          <a:lnRef idx="1">
            <a:schemeClr val="accent1"/>
          </a:lnRef>
          <a:fillRef idx="0">
            <a:schemeClr val="accent1"/>
          </a:fillRef>
          <a:effectRef idx="0">
            <a:schemeClr val="accent1"/>
          </a:effectRef>
          <a:fontRef idx="minor">
            <a:schemeClr val="tx1"/>
          </a:fontRef>
        </p:style>
      </p:cxnSp>
      <p:sp>
        <p:nvSpPr>
          <p:cNvPr id="4" name="Content Placeholder 3"/>
          <p:cNvSpPr>
            <a:spLocks noGrp="1"/>
          </p:cNvSpPr>
          <p:nvPr>
            <p:ph sz="quarter" idx="14"/>
          </p:nvPr>
        </p:nvSpPr>
        <p:spPr>
          <a:xfrm>
            <a:off x="457200" y="2209800"/>
            <a:ext cx="4038600" cy="3962400"/>
          </a:xfrm>
        </p:spPr>
        <p:txBody>
          <a:bodyPr/>
          <a:lstStyle>
            <a:lvl1pPr>
              <a:defRPr baseline="0">
                <a:latin typeface="Times New Roman" pitchFamily="18" charset="0"/>
              </a:defRPr>
            </a:lvl1pPr>
            <a:lvl2pPr>
              <a:defRPr baseline="0">
                <a:latin typeface="Times New Roman" pitchFamily="18" charset="0"/>
              </a:defRPr>
            </a:lvl2pPr>
            <a:lvl3pPr>
              <a:defRPr baseline="0">
                <a:latin typeface="Times New Roman" pitchFamily="18" charset="0"/>
              </a:defRPr>
            </a:lvl3pPr>
            <a:lvl4pPr>
              <a:defRPr baseline="0">
                <a:latin typeface="Times New Roman" pitchFamily="18" charset="0"/>
              </a:defRPr>
            </a:lvl4pPr>
            <a:lvl5pPr>
              <a:defRPr baseline="0">
                <a:latin typeface="Times New Roman" pitchFamily="18" charset="0"/>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9" name="Content Placeholder 8"/>
          <p:cNvSpPr>
            <a:spLocks noGrp="1"/>
          </p:cNvSpPr>
          <p:nvPr>
            <p:ph sz="quarter" idx="15"/>
          </p:nvPr>
        </p:nvSpPr>
        <p:spPr>
          <a:xfrm>
            <a:off x="4648200" y="2209800"/>
            <a:ext cx="4038600" cy="3962400"/>
          </a:xfrm>
        </p:spPr>
        <p:txBody>
          <a:bodyPr/>
          <a:lstStyle>
            <a:lvl1pPr>
              <a:defRPr baseline="0">
                <a:latin typeface="Times New Roman" pitchFamily="18" charset="0"/>
              </a:defRPr>
            </a:lvl1pPr>
            <a:lvl2pPr>
              <a:defRPr baseline="0">
                <a:latin typeface="Times New Roman" pitchFamily="18" charset="0"/>
              </a:defRPr>
            </a:lvl2pPr>
            <a:lvl3pPr>
              <a:defRPr baseline="0">
                <a:latin typeface="Times New Roman" pitchFamily="18" charset="0"/>
              </a:defRPr>
            </a:lvl3pPr>
            <a:lvl4pPr>
              <a:defRPr baseline="0">
                <a:latin typeface="Times New Roman" pitchFamily="18" charset="0"/>
              </a:defRPr>
            </a:lvl4pPr>
            <a:lvl5pPr>
              <a:defRPr baseline="0">
                <a:latin typeface="Times New Roman" pitchFamily="18" charset="0"/>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13" name="Text Placeholder 2"/>
          <p:cNvSpPr>
            <a:spLocks noGrp="1"/>
          </p:cNvSpPr>
          <p:nvPr>
            <p:ph type="body" idx="16" hasCustomPrompt="1"/>
          </p:nvPr>
        </p:nvSpPr>
        <p:spPr>
          <a:xfrm>
            <a:off x="457200" y="1600199"/>
            <a:ext cx="4040188" cy="574675"/>
          </a:xfrm>
        </p:spPr>
        <p:txBody>
          <a:bodyPr anchor="b">
            <a:noAutofit/>
          </a:bodyPr>
          <a:lstStyle>
            <a:lvl1pPr marL="0" indent="0">
              <a:buNone/>
              <a:defRPr sz="3600" b="0" baseline="0">
                <a:solidFill>
                  <a:schemeClr val="tx1"/>
                </a:solidFill>
                <a:latin typeface="Rockwell" pitchFamily="18"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smtClean="0"/>
              <a:t>Category 1</a:t>
            </a:r>
          </a:p>
        </p:txBody>
      </p:sp>
      <p:sp>
        <p:nvSpPr>
          <p:cNvPr id="14" name="Text Placeholder 4"/>
          <p:cNvSpPr>
            <a:spLocks noGrp="1"/>
          </p:cNvSpPr>
          <p:nvPr>
            <p:ph type="body" sz="quarter" idx="3" hasCustomPrompt="1"/>
          </p:nvPr>
        </p:nvSpPr>
        <p:spPr>
          <a:xfrm>
            <a:off x="4645025" y="1600199"/>
            <a:ext cx="4041775" cy="574675"/>
          </a:xfrm>
        </p:spPr>
        <p:txBody>
          <a:bodyPr anchor="b">
            <a:noAutofit/>
          </a:bodyPr>
          <a:lstStyle>
            <a:lvl1pPr marL="0" indent="0">
              <a:buNone/>
              <a:defRPr sz="3600" b="0" baseline="0">
                <a:solidFill>
                  <a:schemeClr val="tx1"/>
                </a:solidFill>
                <a:latin typeface="Rockwell" pitchFamily="18"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smtClean="0"/>
              <a:t>Category 2</a:t>
            </a:r>
          </a:p>
        </p:txBody>
      </p:sp>
    </p:spTree>
    <p:extLst>
      <p:ext uri="{BB962C8B-B14F-4D97-AF65-F5344CB8AC3E}">
        <p14:creationId xmlns:p14="http://schemas.microsoft.com/office/powerpoint/2010/main" val="752821483"/>
      </p:ext>
    </p:extLst>
  </p:cSld>
  <p:clrMapOvr>
    <a:masterClrMapping/>
  </p:clrMapOvr>
  <p:timing>
    <p:tnLst>
      <p:par>
        <p:cTn id="1" dur="indefinite" restart="never" nodeType="tmRoot"/>
      </p:par>
    </p:tnLst>
  </p:timing>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opic Level5_2 Column">
    <p:spTree>
      <p:nvGrpSpPr>
        <p:cNvPr id="1" name=""/>
        <p:cNvGrpSpPr/>
        <p:nvPr/>
      </p:nvGrpSpPr>
      <p:grpSpPr>
        <a:xfrm>
          <a:off x="0" y="0"/>
          <a:ext cx="0" cy="0"/>
          <a:chOff x="0" y="0"/>
          <a:chExt cx="0" cy="0"/>
        </a:xfrm>
      </p:grpSpPr>
      <p:cxnSp>
        <p:nvCxnSpPr>
          <p:cNvPr id="18" name="Straight Connector 17"/>
          <p:cNvCxnSpPr/>
          <p:nvPr userDrawn="1"/>
        </p:nvCxnSpPr>
        <p:spPr>
          <a:xfrm>
            <a:off x="609600" y="6324600"/>
            <a:ext cx="8534400" cy="0"/>
          </a:xfrm>
          <a:prstGeom prst="line">
            <a:avLst/>
          </a:prstGeom>
          <a:ln w="254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12" name="Rectangle 11"/>
          <p:cNvSpPr/>
          <p:nvPr userDrawn="1"/>
        </p:nvSpPr>
        <p:spPr>
          <a:xfrm>
            <a:off x="6781800" y="6362700"/>
            <a:ext cx="2362200" cy="342900"/>
          </a:xfrm>
          <a:prstGeom prst="rect">
            <a:avLst/>
          </a:prstGeom>
          <a:solidFill>
            <a:srgbClr val="F1790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ubtitle 2"/>
          <p:cNvSpPr>
            <a:spLocks noGrp="1"/>
          </p:cNvSpPr>
          <p:nvPr>
            <p:ph type="subTitle" idx="1" hasCustomPrompt="1"/>
          </p:nvPr>
        </p:nvSpPr>
        <p:spPr>
          <a:xfrm>
            <a:off x="546728" y="685800"/>
            <a:ext cx="8063871" cy="1066800"/>
          </a:xfrm>
        </p:spPr>
        <p:txBody>
          <a:bodyPr>
            <a:normAutofit/>
          </a:bodyPr>
          <a:lstStyle>
            <a:lvl1pPr marL="0" indent="0" algn="l">
              <a:spcBef>
                <a:spcPts val="600"/>
              </a:spcBef>
              <a:spcAft>
                <a:spcPts val="600"/>
              </a:spcAft>
              <a:buNone/>
              <a:defRPr sz="4800" baseline="0">
                <a:solidFill>
                  <a:schemeClr val="tx1">
                    <a:lumMod val="65000"/>
                    <a:lumOff val="35000"/>
                  </a:schemeClr>
                </a:solidFill>
                <a:latin typeface="Rockwell" pitchFamily="18" charset="0"/>
                <a:cs typeface="Times New Roman" pitchFamily="18"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Click to edit Level 5 Topic</a:t>
            </a:r>
            <a:endParaRPr lang="en-US" dirty="0"/>
          </a:p>
        </p:txBody>
      </p:sp>
      <p:sp>
        <p:nvSpPr>
          <p:cNvPr id="6" name="Slide Number Placeholder 5"/>
          <p:cNvSpPr>
            <a:spLocks noGrp="1"/>
          </p:cNvSpPr>
          <p:nvPr>
            <p:ph type="sldNum" sz="quarter" idx="12"/>
          </p:nvPr>
        </p:nvSpPr>
        <p:spPr/>
        <p:txBody>
          <a:bodyPr/>
          <a:lstStyle>
            <a:lvl1pPr>
              <a:defRPr>
                <a:solidFill>
                  <a:schemeClr val="bg1"/>
                </a:solidFill>
              </a:defRPr>
            </a:lvl1pPr>
          </a:lstStyle>
          <a:p>
            <a:fld id="{AC392DC9-9688-4E44-A90B-C333AD8FEA09}" type="slidenum">
              <a:rPr lang="en-US" smtClean="0"/>
              <a:pPr/>
              <a:t>‹#›</a:t>
            </a:fld>
            <a:endParaRPr lang="en-US" dirty="0"/>
          </a:p>
        </p:txBody>
      </p:sp>
      <p:sp>
        <p:nvSpPr>
          <p:cNvPr id="7" name="Rectangle 6"/>
          <p:cNvSpPr/>
          <p:nvPr userDrawn="1"/>
        </p:nvSpPr>
        <p:spPr>
          <a:xfrm>
            <a:off x="0" y="152400"/>
            <a:ext cx="2362200" cy="342900"/>
          </a:xfrm>
          <a:prstGeom prst="rect">
            <a:avLst/>
          </a:prstGeom>
          <a:solidFill>
            <a:srgbClr val="F1790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1" name="Straight Connector 10"/>
          <p:cNvCxnSpPr/>
          <p:nvPr userDrawn="1"/>
        </p:nvCxnSpPr>
        <p:spPr>
          <a:xfrm>
            <a:off x="0" y="1600200"/>
            <a:ext cx="8534400" cy="0"/>
          </a:xfrm>
          <a:prstGeom prst="line">
            <a:avLst/>
          </a:prstGeom>
          <a:ln w="254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4" name="Content Placeholder 3"/>
          <p:cNvSpPr>
            <a:spLocks noGrp="1"/>
          </p:cNvSpPr>
          <p:nvPr>
            <p:ph sz="quarter" idx="14"/>
          </p:nvPr>
        </p:nvSpPr>
        <p:spPr>
          <a:xfrm>
            <a:off x="533400" y="1828800"/>
            <a:ext cx="3886200" cy="4419600"/>
          </a:xfrm>
        </p:spPr>
        <p:txBody>
          <a:bodyPr/>
          <a:lstStyle>
            <a:lvl1pPr>
              <a:defRPr baseline="0">
                <a:latin typeface="Times New Roman" pitchFamily="18" charset="0"/>
              </a:defRPr>
            </a:lvl1pPr>
            <a:lvl2pPr>
              <a:defRPr baseline="0">
                <a:latin typeface="Times New Roman" pitchFamily="18" charset="0"/>
              </a:defRPr>
            </a:lvl2pPr>
            <a:lvl3pPr>
              <a:defRPr baseline="0">
                <a:latin typeface="Times New Roman" pitchFamily="18" charset="0"/>
              </a:defRPr>
            </a:lvl3pPr>
            <a:lvl4pPr>
              <a:defRPr baseline="0">
                <a:latin typeface="Times New Roman" pitchFamily="18" charset="0"/>
              </a:defRPr>
            </a:lvl4pPr>
            <a:lvl5pPr>
              <a:defRPr baseline="0">
                <a:latin typeface="Times New Roman" pitchFamily="18" charset="0"/>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9" name="Content Placeholder 8"/>
          <p:cNvSpPr>
            <a:spLocks noGrp="1"/>
          </p:cNvSpPr>
          <p:nvPr>
            <p:ph sz="quarter" idx="15"/>
          </p:nvPr>
        </p:nvSpPr>
        <p:spPr>
          <a:xfrm>
            <a:off x="4724400" y="1828800"/>
            <a:ext cx="3886200" cy="4419600"/>
          </a:xfrm>
        </p:spPr>
        <p:txBody>
          <a:bodyPr/>
          <a:lstStyle>
            <a:lvl1pPr>
              <a:defRPr baseline="0">
                <a:latin typeface="Times New Roman" pitchFamily="18" charset="0"/>
              </a:defRPr>
            </a:lvl1pPr>
            <a:lvl2pPr>
              <a:defRPr baseline="0">
                <a:latin typeface="Times New Roman" pitchFamily="18" charset="0"/>
              </a:defRPr>
            </a:lvl2pPr>
            <a:lvl3pPr>
              <a:defRPr baseline="0">
                <a:latin typeface="Times New Roman" pitchFamily="18" charset="0"/>
              </a:defRPr>
            </a:lvl3pPr>
            <a:lvl4pPr>
              <a:defRPr baseline="0">
                <a:latin typeface="Times New Roman" pitchFamily="18" charset="0"/>
              </a:defRPr>
            </a:lvl4pPr>
            <a:lvl5pPr>
              <a:defRPr baseline="0">
                <a:latin typeface="Times New Roman" pitchFamily="18" charset="0"/>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3009183561"/>
      </p:ext>
    </p:extLst>
  </p:cSld>
  <p:clrMapOvr>
    <a:masterClrMapping/>
  </p:clrMapOvr>
  <p:timing>
    <p:tnLst>
      <p:par>
        <p:cTn id="1" dur="indefinite" restart="never" nodeType="tmRoot"/>
      </p:par>
    </p:tnLst>
  </p:timing>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opic Level5_3 Column Compare">
    <p:spTree>
      <p:nvGrpSpPr>
        <p:cNvPr id="1" name=""/>
        <p:cNvGrpSpPr/>
        <p:nvPr/>
      </p:nvGrpSpPr>
      <p:grpSpPr>
        <a:xfrm>
          <a:off x="0" y="0"/>
          <a:ext cx="0" cy="0"/>
          <a:chOff x="0" y="0"/>
          <a:chExt cx="0" cy="0"/>
        </a:xfrm>
      </p:grpSpPr>
      <p:cxnSp>
        <p:nvCxnSpPr>
          <p:cNvPr id="18" name="Straight Connector 17"/>
          <p:cNvCxnSpPr/>
          <p:nvPr userDrawn="1"/>
        </p:nvCxnSpPr>
        <p:spPr>
          <a:xfrm>
            <a:off x="609600" y="6324600"/>
            <a:ext cx="8534400" cy="0"/>
          </a:xfrm>
          <a:prstGeom prst="line">
            <a:avLst/>
          </a:prstGeom>
          <a:ln w="254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12" name="Rectangle 11"/>
          <p:cNvSpPr/>
          <p:nvPr userDrawn="1"/>
        </p:nvSpPr>
        <p:spPr>
          <a:xfrm>
            <a:off x="6781800" y="6362700"/>
            <a:ext cx="2362200" cy="342900"/>
          </a:xfrm>
          <a:prstGeom prst="rect">
            <a:avLst/>
          </a:prstGeom>
          <a:solidFill>
            <a:srgbClr val="F1790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ubtitle 2"/>
          <p:cNvSpPr>
            <a:spLocks noGrp="1"/>
          </p:cNvSpPr>
          <p:nvPr>
            <p:ph type="subTitle" idx="1" hasCustomPrompt="1"/>
          </p:nvPr>
        </p:nvSpPr>
        <p:spPr>
          <a:xfrm>
            <a:off x="546728" y="685800"/>
            <a:ext cx="8063871" cy="1066800"/>
          </a:xfrm>
        </p:spPr>
        <p:txBody>
          <a:bodyPr>
            <a:normAutofit/>
          </a:bodyPr>
          <a:lstStyle>
            <a:lvl1pPr marL="0" indent="0" algn="l">
              <a:spcBef>
                <a:spcPts val="600"/>
              </a:spcBef>
              <a:spcAft>
                <a:spcPts val="600"/>
              </a:spcAft>
              <a:buNone/>
              <a:defRPr sz="4800" baseline="0">
                <a:solidFill>
                  <a:schemeClr val="tx1">
                    <a:lumMod val="65000"/>
                    <a:lumOff val="35000"/>
                  </a:schemeClr>
                </a:solidFill>
                <a:latin typeface="Rockwell" pitchFamily="18" charset="0"/>
                <a:cs typeface="Times New Roman" pitchFamily="18"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Click to edit Level 5 Topic</a:t>
            </a:r>
            <a:endParaRPr lang="en-US" dirty="0"/>
          </a:p>
        </p:txBody>
      </p:sp>
      <p:sp>
        <p:nvSpPr>
          <p:cNvPr id="6" name="Slide Number Placeholder 5"/>
          <p:cNvSpPr>
            <a:spLocks noGrp="1"/>
          </p:cNvSpPr>
          <p:nvPr>
            <p:ph type="sldNum" sz="quarter" idx="12"/>
          </p:nvPr>
        </p:nvSpPr>
        <p:spPr/>
        <p:txBody>
          <a:bodyPr/>
          <a:lstStyle>
            <a:lvl1pPr>
              <a:defRPr>
                <a:solidFill>
                  <a:schemeClr val="bg1"/>
                </a:solidFill>
              </a:defRPr>
            </a:lvl1pPr>
          </a:lstStyle>
          <a:p>
            <a:fld id="{AC392DC9-9688-4E44-A90B-C333AD8FEA09}" type="slidenum">
              <a:rPr lang="en-US" smtClean="0"/>
              <a:pPr/>
              <a:t>‹#›</a:t>
            </a:fld>
            <a:endParaRPr lang="en-US" dirty="0"/>
          </a:p>
        </p:txBody>
      </p:sp>
      <p:sp>
        <p:nvSpPr>
          <p:cNvPr id="7" name="Rectangle 6"/>
          <p:cNvSpPr/>
          <p:nvPr userDrawn="1"/>
        </p:nvSpPr>
        <p:spPr>
          <a:xfrm>
            <a:off x="0" y="152400"/>
            <a:ext cx="2362200" cy="342900"/>
          </a:xfrm>
          <a:prstGeom prst="rect">
            <a:avLst/>
          </a:prstGeom>
          <a:solidFill>
            <a:srgbClr val="F1790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1" name="Straight Connector 10"/>
          <p:cNvCxnSpPr/>
          <p:nvPr userDrawn="1"/>
        </p:nvCxnSpPr>
        <p:spPr>
          <a:xfrm>
            <a:off x="0" y="1600200"/>
            <a:ext cx="8534400" cy="0"/>
          </a:xfrm>
          <a:prstGeom prst="line">
            <a:avLst/>
          </a:prstGeom>
          <a:ln w="254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4" name="Content Placeholder 3"/>
          <p:cNvSpPr>
            <a:spLocks noGrp="1"/>
          </p:cNvSpPr>
          <p:nvPr>
            <p:ph sz="quarter" idx="14"/>
          </p:nvPr>
        </p:nvSpPr>
        <p:spPr>
          <a:xfrm>
            <a:off x="533400" y="1828800"/>
            <a:ext cx="2590800" cy="609600"/>
          </a:xfrm>
        </p:spPr>
        <p:txBody>
          <a:bodyPr/>
          <a:lstStyle>
            <a:lvl1pPr marL="0" indent="0">
              <a:buNone/>
              <a:defRPr b="1" baseline="0">
                <a:latin typeface="Times New Roman" pitchFamily="18" charset="0"/>
              </a:defRPr>
            </a:lvl1pPr>
            <a:lvl2pPr>
              <a:defRPr b="1" baseline="0">
                <a:latin typeface="Times New Roman" pitchFamily="18" charset="0"/>
              </a:defRPr>
            </a:lvl2pPr>
            <a:lvl3pPr>
              <a:defRPr b="1" baseline="0">
                <a:latin typeface="Times New Roman" pitchFamily="18" charset="0"/>
              </a:defRPr>
            </a:lvl3pPr>
            <a:lvl4pPr>
              <a:defRPr b="1" baseline="0">
                <a:latin typeface="Times New Roman" pitchFamily="18" charset="0"/>
              </a:defRPr>
            </a:lvl4pPr>
            <a:lvl5pPr>
              <a:defRPr b="1" baseline="0">
                <a:latin typeface="Times New Roman" pitchFamily="18" charset="0"/>
              </a:defRPr>
            </a:lvl5pPr>
          </a:lstStyle>
          <a:p>
            <a:pPr lvl="0"/>
            <a:r>
              <a:rPr lang="en-US" dirty="0" smtClean="0"/>
              <a:t>Click to edit</a:t>
            </a:r>
            <a:endParaRPr lang="en-US" dirty="0"/>
          </a:p>
        </p:txBody>
      </p:sp>
      <p:sp>
        <p:nvSpPr>
          <p:cNvPr id="10" name="Content Placeholder 3"/>
          <p:cNvSpPr>
            <a:spLocks noGrp="1"/>
          </p:cNvSpPr>
          <p:nvPr>
            <p:ph sz="quarter" idx="16"/>
          </p:nvPr>
        </p:nvSpPr>
        <p:spPr>
          <a:xfrm>
            <a:off x="3276600" y="1828800"/>
            <a:ext cx="2590800" cy="609600"/>
          </a:xfrm>
        </p:spPr>
        <p:txBody>
          <a:bodyPr/>
          <a:lstStyle>
            <a:lvl1pPr marL="0" indent="0">
              <a:buNone/>
              <a:defRPr b="1" baseline="0">
                <a:latin typeface="Times New Roman" pitchFamily="18" charset="0"/>
              </a:defRPr>
            </a:lvl1pPr>
            <a:lvl2pPr>
              <a:defRPr baseline="0">
                <a:latin typeface="Times New Roman" pitchFamily="18" charset="0"/>
              </a:defRPr>
            </a:lvl2pPr>
            <a:lvl3pPr>
              <a:defRPr baseline="0">
                <a:latin typeface="Times New Roman" pitchFamily="18" charset="0"/>
              </a:defRPr>
            </a:lvl3pPr>
            <a:lvl4pPr>
              <a:defRPr baseline="0">
                <a:latin typeface="Times New Roman" pitchFamily="18" charset="0"/>
              </a:defRPr>
            </a:lvl4pPr>
            <a:lvl5pPr>
              <a:defRPr baseline="0">
                <a:latin typeface="Times New Roman" pitchFamily="18" charset="0"/>
              </a:defRPr>
            </a:lvl5pPr>
          </a:lstStyle>
          <a:p>
            <a:pPr lvl="0"/>
            <a:r>
              <a:rPr lang="en-US" dirty="0" smtClean="0"/>
              <a:t>Click to edit</a:t>
            </a:r>
            <a:endParaRPr lang="en-US" dirty="0"/>
          </a:p>
        </p:txBody>
      </p:sp>
      <p:sp>
        <p:nvSpPr>
          <p:cNvPr id="14" name="Content Placeholder 3"/>
          <p:cNvSpPr>
            <a:spLocks noGrp="1"/>
          </p:cNvSpPr>
          <p:nvPr>
            <p:ph sz="quarter" idx="17"/>
          </p:nvPr>
        </p:nvSpPr>
        <p:spPr>
          <a:xfrm>
            <a:off x="6029632" y="1828800"/>
            <a:ext cx="2590800" cy="609600"/>
          </a:xfrm>
        </p:spPr>
        <p:txBody>
          <a:bodyPr/>
          <a:lstStyle>
            <a:lvl1pPr marL="0" indent="0">
              <a:buNone/>
              <a:defRPr b="1" baseline="0">
                <a:latin typeface="Times New Roman" pitchFamily="18" charset="0"/>
              </a:defRPr>
            </a:lvl1pPr>
            <a:lvl2pPr>
              <a:defRPr baseline="0">
                <a:latin typeface="Times New Roman" pitchFamily="18" charset="0"/>
              </a:defRPr>
            </a:lvl2pPr>
            <a:lvl3pPr>
              <a:defRPr baseline="0">
                <a:latin typeface="Times New Roman" pitchFamily="18" charset="0"/>
              </a:defRPr>
            </a:lvl3pPr>
            <a:lvl4pPr>
              <a:defRPr baseline="0">
                <a:latin typeface="Times New Roman" pitchFamily="18" charset="0"/>
              </a:defRPr>
            </a:lvl4pPr>
            <a:lvl5pPr>
              <a:defRPr baseline="0">
                <a:latin typeface="Times New Roman" pitchFamily="18" charset="0"/>
              </a:defRPr>
            </a:lvl5pPr>
          </a:lstStyle>
          <a:p>
            <a:pPr lvl="0"/>
            <a:r>
              <a:rPr lang="en-US" dirty="0" smtClean="0"/>
              <a:t>Click to edit </a:t>
            </a:r>
            <a:endParaRPr lang="en-US" dirty="0"/>
          </a:p>
        </p:txBody>
      </p:sp>
      <p:sp>
        <p:nvSpPr>
          <p:cNvPr id="15" name="Content Placeholder 3"/>
          <p:cNvSpPr>
            <a:spLocks noGrp="1"/>
          </p:cNvSpPr>
          <p:nvPr>
            <p:ph sz="quarter" idx="18"/>
          </p:nvPr>
        </p:nvSpPr>
        <p:spPr>
          <a:xfrm>
            <a:off x="533400" y="2408903"/>
            <a:ext cx="2590800" cy="3839497"/>
          </a:xfrm>
        </p:spPr>
        <p:txBody>
          <a:bodyPr/>
          <a:lstStyle>
            <a:lvl1pPr>
              <a:defRPr baseline="0">
                <a:latin typeface="Times New Roman" pitchFamily="18" charset="0"/>
              </a:defRPr>
            </a:lvl1pPr>
            <a:lvl2pPr>
              <a:defRPr baseline="0">
                <a:latin typeface="Times New Roman" pitchFamily="18" charset="0"/>
              </a:defRPr>
            </a:lvl2pPr>
            <a:lvl3pPr>
              <a:defRPr baseline="0">
                <a:latin typeface="Times New Roman" pitchFamily="18" charset="0"/>
              </a:defRPr>
            </a:lvl3pPr>
            <a:lvl4pPr>
              <a:defRPr baseline="0">
                <a:latin typeface="Times New Roman" pitchFamily="18" charset="0"/>
              </a:defRPr>
            </a:lvl4pPr>
            <a:lvl5pPr>
              <a:defRPr baseline="0">
                <a:latin typeface="Times New Roman" pitchFamily="18" charset="0"/>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16" name="Content Placeholder 3"/>
          <p:cNvSpPr>
            <a:spLocks noGrp="1"/>
          </p:cNvSpPr>
          <p:nvPr>
            <p:ph sz="quarter" idx="19"/>
          </p:nvPr>
        </p:nvSpPr>
        <p:spPr>
          <a:xfrm>
            <a:off x="3276600" y="2408903"/>
            <a:ext cx="2590800" cy="3839497"/>
          </a:xfrm>
        </p:spPr>
        <p:txBody>
          <a:bodyPr/>
          <a:lstStyle>
            <a:lvl1pPr>
              <a:defRPr baseline="0">
                <a:latin typeface="Times New Roman" pitchFamily="18" charset="0"/>
              </a:defRPr>
            </a:lvl1pPr>
            <a:lvl2pPr>
              <a:defRPr baseline="0">
                <a:latin typeface="Times New Roman" pitchFamily="18" charset="0"/>
              </a:defRPr>
            </a:lvl2pPr>
            <a:lvl3pPr>
              <a:defRPr baseline="0">
                <a:latin typeface="Times New Roman" pitchFamily="18" charset="0"/>
              </a:defRPr>
            </a:lvl3pPr>
            <a:lvl4pPr>
              <a:defRPr baseline="0">
                <a:latin typeface="Times New Roman" pitchFamily="18" charset="0"/>
              </a:defRPr>
            </a:lvl4pPr>
            <a:lvl5pPr>
              <a:defRPr baseline="0">
                <a:latin typeface="Times New Roman" pitchFamily="18" charset="0"/>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17" name="Content Placeholder 3"/>
          <p:cNvSpPr>
            <a:spLocks noGrp="1"/>
          </p:cNvSpPr>
          <p:nvPr>
            <p:ph sz="quarter" idx="20"/>
          </p:nvPr>
        </p:nvSpPr>
        <p:spPr>
          <a:xfrm>
            <a:off x="6029632" y="2408903"/>
            <a:ext cx="2590800" cy="3839497"/>
          </a:xfrm>
        </p:spPr>
        <p:txBody>
          <a:bodyPr/>
          <a:lstStyle>
            <a:lvl1pPr>
              <a:defRPr baseline="0">
                <a:latin typeface="Times New Roman" pitchFamily="18" charset="0"/>
              </a:defRPr>
            </a:lvl1pPr>
            <a:lvl2pPr>
              <a:defRPr baseline="0">
                <a:latin typeface="Times New Roman" pitchFamily="18" charset="0"/>
              </a:defRPr>
            </a:lvl2pPr>
            <a:lvl3pPr>
              <a:defRPr baseline="0">
                <a:latin typeface="Times New Roman" pitchFamily="18" charset="0"/>
              </a:defRPr>
            </a:lvl3pPr>
            <a:lvl4pPr>
              <a:defRPr baseline="0">
                <a:latin typeface="Times New Roman" pitchFamily="18" charset="0"/>
              </a:defRPr>
            </a:lvl4pPr>
            <a:lvl5pPr>
              <a:defRPr baseline="0">
                <a:latin typeface="Times New Roman" pitchFamily="18" charset="0"/>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3996440903"/>
      </p:ext>
    </p:extLst>
  </p:cSld>
  <p:clrMapOvr>
    <a:masterClrMapping/>
  </p:clrMapOvr>
  <p:timing>
    <p:tnLst>
      <p:par>
        <p:cTn id="1" dur="indefinite" restart="never" nodeType="tmRoot"/>
      </p:par>
    </p:tnLst>
  </p:timing>
</p:sldLayout>
</file>

<file path=ppt/slideLayouts/slideLayout19.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F6C692F6-6F2F-4CFD-A777-05649129AE6F}" type="datetimeFigureOut">
              <a:rPr lang="en-US" smtClean="0"/>
              <a:t>10/1/2015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C392DC9-9688-4E44-A90B-C333AD8FEA09}" type="slidenum">
              <a:rPr lang="en-US" smtClean="0"/>
              <a:t>‹#›</a:t>
            </a:fld>
            <a:endParaRPr lang="en-US"/>
          </a:p>
        </p:txBody>
      </p:sp>
    </p:spTree>
    <p:extLst>
      <p:ext uri="{BB962C8B-B14F-4D97-AF65-F5344CB8AC3E}">
        <p14:creationId xmlns:p14="http://schemas.microsoft.com/office/powerpoint/2010/main" val="2279775888"/>
      </p:ext>
    </p:extLst>
  </p:cSld>
  <p:clrMapOvr>
    <a:masterClrMapping/>
  </p:clrMapOvr>
  <p:timing>
    <p:tnLst>
      <p:par>
        <p:cTn id="1" dur="indefinite" restart="never" nodeType="tmRoot"/>
      </p:par>
    </p:tnLst>
  </p:timing>
</p:sldLayout>
</file>

<file path=ppt/slideLayouts/slideLayout2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F6C692F6-6F2F-4CFD-A777-05649129AE6F}" type="datetimeFigureOut">
              <a:rPr lang="en-US" smtClean="0"/>
              <a:t>10/1/2015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C392DC9-9688-4E44-A90B-C333AD8FEA09}" type="slidenum">
              <a:rPr lang="en-US" smtClean="0"/>
              <a:t>‹#›</a:t>
            </a:fld>
            <a:endParaRPr lang="en-US"/>
          </a:p>
        </p:txBody>
      </p:sp>
    </p:spTree>
    <p:extLst>
      <p:ext uri="{BB962C8B-B14F-4D97-AF65-F5344CB8AC3E}">
        <p14:creationId xmlns:p14="http://schemas.microsoft.com/office/powerpoint/2010/main" val="3321283187"/>
      </p:ext>
    </p:extLst>
  </p:cSld>
  <p:clrMapOvr>
    <a:masterClrMapping/>
  </p:clrMapOvr>
  <p:timing>
    <p:tnLst>
      <p:par>
        <p:cTn id="1" dur="indefinite" restart="never" nodeType="tmRoot"/>
      </p:par>
    </p:tnLst>
  </p:timing>
</p:sldLayout>
</file>

<file path=ppt/slideLayouts/slideLayout21.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F6C692F6-6F2F-4CFD-A777-05649129AE6F}" type="datetimeFigureOut">
              <a:rPr lang="en-US" smtClean="0"/>
              <a:t>10/1/2015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AC392DC9-9688-4E44-A90B-C333AD8FEA09}" type="slidenum">
              <a:rPr lang="en-US" smtClean="0"/>
              <a:t>‹#›</a:t>
            </a:fld>
            <a:endParaRPr lang="en-US"/>
          </a:p>
        </p:txBody>
      </p:sp>
    </p:spTree>
    <p:extLst>
      <p:ext uri="{BB962C8B-B14F-4D97-AF65-F5344CB8AC3E}">
        <p14:creationId xmlns:p14="http://schemas.microsoft.com/office/powerpoint/2010/main" val="1568323516"/>
      </p:ext>
    </p:extLst>
  </p:cSld>
  <p:clrMapOvr>
    <a:masterClrMapping/>
  </p:clrMapOvr>
  <p:timing>
    <p:tnLst>
      <p:par>
        <p:cTn id="1" dur="indefinite" restart="never" nodeType="tmRoot"/>
      </p:par>
    </p:tnLst>
  </p:timing>
</p:sldLayout>
</file>

<file path=ppt/slideLayouts/slideLayout22.xml><?xml version="1.0" encoding="utf-8"?>
<p:sldLayout xmlns:a="http://schemas.openxmlformats.org/drawingml/2006/main" xmlns:r="http://schemas.openxmlformats.org/officeDocument/2006/relationships" xmlns:p="http://schemas.openxmlformats.org/presentationml/2006/main" userDrawn="1">
  <p:cSld name="1_full_slide_background">
    <p:spTree>
      <p:nvGrpSpPr>
        <p:cNvPr id="1" name=""/>
        <p:cNvGrpSpPr/>
        <p:nvPr/>
      </p:nvGrpSpPr>
      <p:grpSpPr>
        <a:xfrm>
          <a:off x="0" y="0"/>
          <a:ext cx="0" cy="0"/>
          <a:chOff x="0" y="0"/>
          <a:chExt cx="0" cy="0"/>
        </a:xfrm>
      </p:grpSpPr>
      <p:cxnSp>
        <p:nvCxnSpPr>
          <p:cNvPr id="2" name="Straight Connector 1"/>
          <p:cNvCxnSpPr/>
          <p:nvPr userDrawn="1"/>
        </p:nvCxnSpPr>
        <p:spPr>
          <a:xfrm>
            <a:off x="609600" y="6705600"/>
            <a:ext cx="8534400" cy="0"/>
          </a:xfrm>
          <a:prstGeom prst="line">
            <a:avLst/>
          </a:prstGeom>
          <a:ln w="25400">
            <a:solidFill>
              <a:srgbClr val="F17901"/>
            </a:solidFill>
          </a:ln>
        </p:spPr>
        <p:style>
          <a:lnRef idx="1">
            <a:schemeClr val="accent1"/>
          </a:lnRef>
          <a:fillRef idx="0">
            <a:schemeClr val="accent1"/>
          </a:fillRef>
          <a:effectRef idx="0">
            <a:schemeClr val="accent1"/>
          </a:effectRef>
          <a:fontRef idx="minor">
            <a:schemeClr val="tx1"/>
          </a:fontRef>
        </p:style>
      </p:cxnSp>
      <p:sp>
        <p:nvSpPr>
          <p:cNvPr id="3" name="Subtitle 2"/>
          <p:cNvSpPr>
            <a:spLocks noGrp="1"/>
          </p:cNvSpPr>
          <p:nvPr>
            <p:ph type="subTitle" idx="1" hasCustomPrompt="1"/>
          </p:nvPr>
        </p:nvSpPr>
        <p:spPr>
          <a:xfrm>
            <a:off x="546728" y="609600"/>
            <a:ext cx="8063871" cy="685800"/>
          </a:xfrm>
        </p:spPr>
        <p:txBody>
          <a:bodyPr>
            <a:normAutofit/>
          </a:bodyPr>
          <a:lstStyle>
            <a:lvl1pPr marL="0" indent="0" algn="l">
              <a:spcBef>
                <a:spcPts val="600"/>
              </a:spcBef>
              <a:spcAft>
                <a:spcPts val="600"/>
              </a:spcAft>
              <a:buNone/>
              <a:defRPr sz="4800" baseline="0">
                <a:solidFill>
                  <a:srgbClr val="F17901"/>
                </a:solidFill>
                <a:latin typeface="Rockwell" pitchFamily="18" charset="0"/>
                <a:cs typeface="Times New Roman" pitchFamily="18"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Click to edit Level 4 Topic</a:t>
            </a:r>
            <a:endParaRPr lang="en-US" dirty="0"/>
          </a:p>
        </p:txBody>
      </p:sp>
      <p:sp>
        <p:nvSpPr>
          <p:cNvPr id="4" name="Rectangle 3"/>
          <p:cNvSpPr/>
          <p:nvPr userDrawn="1"/>
        </p:nvSpPr>
        <p:spPr>
          <a:xfrm>
            <a:off x="0" y="152400"/>
            <a:ext cx="2362200" cy="342900"/>
          </a:xfrm>
          <a:prstGeom prst="rect">
            <a:avLst/>
          </a:prstGeom>
          <a:solidFill>
            <a:srgbClr val="69BE0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 name="Straight Connector 5"/>
          <p:cNvCxnSpPr/>
          <p:nvPr userDrawn="1"/>
        </p:nvCxnSpPr>
        <p:spPr>
          <a:xfrm>
            <a:off x="0" y="1295400"/>
            <a:ext cx="8534400" cy="0"/>
          </a:xfrm>
          <a:prstGeom prst="line">
            <a:avLst/>
          </a:prstGeom>
          <a:ln w="25400">
            <a:solidFill>
              <a:srgbClr val="F17901"/>
            </a:solidFill>
          </a:ln>
        </p:spPr>
        <p:style>
          <a:lnRef idx="1">
            <a:schemeClr val="accent1"/>
          </a:lnRef>
          <a:fillRef idx="0">
            <a:schemeClr val="accent1"/>
          </a:fillRef>
          <a:effectRef idx="0">
            <a:schemeClr val="accent1"/>
          </a:effectRef>
          <a:fontRef idx="minor">
            <a:schemeClr val="tx1"/>
          </a:fontRef>
        </p:style>
      </p:cxnSp>
      <p:sp>
        <p:nvSpPr>
          <p:cNvPr id="7" name="Content Placeholder 3"/>
          <p:cNvSpPr>
            <a:spLocks noGrp="1"/>
          </p:cNvSpPr>
          <p:nvPr>
            <p:ph sz="quarter" idx="14"/>
          </p:nvPr>
        </p:nvSpPr>
        <p:spPr>
          <a:xfrm>
            <a:off x="533400" y="1447800"/>
            <a:ext cx="8153400" cy="5105400"/>
          </a:xfrm>
        </p:spPr>
        <p:txBody>
          <a:bodyPr/>
          <a:lstStyle>
            <a:lvl1pPr>
              <a:defRPr baseline="0">
                <a:solidFill>
                  <a:schemeClr val="accent6">
                    <a:lumMod val="75000"/>
                  </a:schemeClr>
                </a:solidFill>
                <a:latin typeface="Rockwell" pitchFamily="18" charset="0"/>
              </a:defRPr>
            </a:lvl1pPr>
            <a:lvl2pPr>
              <a:defRPr baseline="0">
                <a:latin typeface="Times New Roman" pitchFamily="18" charset="0"/>
              </a:defRPr>
            </a:lvl2pPr>
            <a:lvl3pPr>
              <a:defRPr baseline="0">
                <a:latin typeface="Times New Roman" pitchFamily="18" charset="0"/>
              </a:defRPr>
            </a:lvl3pPr>
            <a:lvl4pPr>
              <a:defRPr baseline="0">
                <a:latin typeface="Times New Roman" pitchFamily="18" charset="0"/>
              </a:defRPr>
            </a:lvl4pPr>
            <a:lvl5pPr>
              <a:defRPr baseline="0">
                <a:latin typeface="Times New Roman" pitchFamily="18" charset="0"/>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1086455765"/>
      </p:ext>
    </p:extLst>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6C692F6-6F2F-4CFD-A777-05649129AE6F}" type="datetimeFigureOut">
              <a:rPr lang="en-US" smtClean="0"/>
              <a:t>10/1/2015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C392DC9-9688-4E44-A90B-C333AD8FEA09}" type="slidenum">
              <a:rPr lang="en-US" smtClean="0"/>
              <a:t>‹#›</a:t>
            </a:fld>
            <a:endParaRPr lang="en-US"/>
          </a:p>
        </p:txBody>
      </p:sp>
    </p:spTree>
    <p:extLst>
      <p:ext uri="{BB962C8B-B14F-4D97-AF65-F5344CB8AC3E}">
        <p14:creationId xmlns:p14="http://schemas.microsoft.com/office/powerpoint/2010/main" val="291864165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60" r:id="rId3"/>
    <p:sldLayoutId id="2147483661" r:id="rId4"/>
    <p:sldLayoutId id="2147483675" r:id="rId5"/>
    <p:sldLayoutId id="2147483654" r:id="rId6"/>
    <p:sldLayoutId id="2147483662" r:id="rId7"/>
    <p:sldLayoutId id="2147483671" r:id="rId8"/>
    <p:sldLayoutId id="2147483663" r:id="rId9"/>
    <p:sldLayoutId id="2147483664" r:id="rId10"/>
    <p:sldLayoutId id="2147483665" r:id="rId11"/>
    <p:sldLayoutId id="2147483667" r:id="rId12"/>
    <p:sldLayoutId id="2147483668" r:id="rId13"/>
    <p:sldLayoutId id="2147483672" r:id="rId14"/>
    <p:sldLayoutId id="2147483669" r:id="rId15"/>
    <p:sldLayoutId id="2147483670" r:id="rId16"/>
    <p:sldLayoutId id="2147483673" r:id="rId17"/>
    <p:sldLayoutId id="2147483674" r:id="rId18"/>
    <p:sldLayoutId id="2147483651" r:id="rId19"/>
    <p:sldLayoutId id="2147483652" r:id="rId20"/>
    <p:sldLayoutId id="2147483653" r:id="rId21"/>
    <p:sldLayoutId id="2147483676" r:id="rId22"/>
  </p:sldLayoutIdLst>
  <p:timing>
    <p:tnLst>
      <p:par>
        <p:cTn id="1" dur="indefinite" restart="never" nodeType="tmRoot"/>
      </p:par>
    </p:tnLst>
  </p:timing>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0.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2.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0.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9.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0.xml"/></Relationships>
</file>

<file path=ppt/slides/_rels/slide2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2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4.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4.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4.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4.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3.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3.xml"/></Relationships>
</file>

<file path=ppt/slides/_rels/slide40.xml.rels><?xml version="1.0" encoding="UTF-8" standalone="yes"?>
<Relationships xmlns="http://schemas.openxmlformats.org/package/2006/relationships"><Relationship Id="rId3" Type="http://schemas.openxmlformats.org/officeDocument/2006/relationships/hyperlink" Target="http://one.laptop.org/" TargetMode="External"/><Relationship Id="rId2" Type="http://schemas.openxmlformats.org/officeDocument/2006/relationships/notesSlide" Target="../notesSlides/notesSlide17.xml"/><Relationship Id="rId1" Type="http://schemas.openxmlformats.org/officeDocument/2006/relationships/slideLayout" Target="../slideLayouts/slideLayout14.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8" Type="http://schemas.openxmlformats.org/officeDocument/2006/relationships/hyperlink" Target="http://www.kiva.org/" TargetMode="External"/><Relationship Id="rId3" Type="http://schemas.openxmlformats.org/officeDocument/2006/relationships/hyperlink" Target="http://www.giftflow.org/" TargetMode="External"/><Relationship Id="rId7" Type="http://schemas.openxmlformats.org/officeDocument/2006/relationships/hyperlink" Target="http://www.collaborativeconsumption.com/" TargetMode="External"/><Relationship Id="rId2" Type="http://schemas.openxmlformats.org/officeDocument/2006/relationships/hyperlink" Target="http://www.patientslikeme.com/" TargetMode="External"/><Relationship Id="rId1" Type="http://schemas.openxmlformats.org/officeDocument/2006/relationships/slideLayout" Target="../slideLayouts/slideLayout14.xml"/><Relationship Id="rId6" Type="http://schemas.openxmlformats.org/officeDocument/2006/relationships/hyperlink" Target="http://www.thredup.com/" TargetMode="External"/><Relationship Id="rId5" Type="http://schemas.openxmlformats.org/officeDocument/2006/relationships/hyperlink" Target="http://www.sparked.com/" TargetMode="External"/><Relationship Id="rId4" Type="http://schemas.openxmlformats.org/officeDocument/2006/relationships/hyperlink" Target="http://www.ourgoods.org/" TargetMode="External"/><Relationship Id="rId9" Type="http://schemas.openxmlformats.org/officeDocument/2006/relationships/hyperlink" Target="http://www.donorschooce.org/" TargetMode="Externa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46.xml.rels><?xml version="1.0" encoding="UTF-8" standalone="yes"?>
<Relationships xmlns="http://schemas.openxmlformats.org/package/2006/relationships"><Relationship Id="rId3" Type="http://schemas.openxmlformats.org/officeDocument/2006/relationships/hyperlink" Target="http://www.bodymetrics.com/" TargetMode="External"/><Relationship Id="rId2" Type="http://schemas.openxmlformats.org/officeDocument/2006/relationships/notesSlide" Target="../notesSlides/notesSlide19.xml"/><Relationship Id="rId1" Type="http://schemas.openxmlformats.org/officeDocument/2006/relationships/slideLayout" Target="../slideLayouts/slideLayout10.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9.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0.xml"/></Relationships>
</file>

<file path=ppt/slides/_rels/slide5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3.xml"/><Relationship Id="rId1" Type="http://schemas.openxmlformats.org/officeDocument/2006/relationships/slideLayout" Target="../slideLayouts/slideLayout2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0.xml"/></Relationships>
</file>

<file path=ppt/slides/_rels/slide5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5.xml"/><Relationship Id="rId1" Type="http://schemas.openxmlformats.org/officeDocument/2006/relationships/slideLayout" Target="../slideLayouts/slideLayout2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3.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3.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0.xml"/></Relationships>
</file>

<file path=ppt/slides/_rels/slide5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9.xml"/><Relationship Id="rId1" Type="http://schemas.openxmlformats.org/officeDocument/2006/relationships/slideLayout" Target="../slideLayouts/slideLayout2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idx="1"/>
          </p:nvPr>
        </p:nvSpPr>
        <p:spPr/>
        <p:txBody>
          <a:bodyPr>
            <a:normAutofit fontScale="92500" lnSpcReduction="10000"/>
          </a:bodyPr>
          <a:lstStyle/>
          <a:p>
            <a:r>
              <a:rPr lang="en-US" dirty="0" smtClean="0"/>
              <a:t>Organizational Strategy, Competitive Advantage, and Information Systems</a:t>
            </a:r>
            <a:endParaRPr lang="en-US" dirty="0"/>
          </a:p>
        </p:txBody>
      </p:sp>
      <p:sp>
        <p:nvSpPr>
          <p:cNvPr id="3" name="Text Placeholder 2"/>
          <p:cNvSpPr>
            <a:spLocks noGrp="1"/>
          </p:cNvSpPr>
          <p:nvPr>
            <p:ph type="body" sz="quarter" idx="13"/>
          </p:nvPr>
        </p:nvSpPr>
        <p:spPr>
          <a:xfrm>
            <a:off x="5410200" y="1295400"/>
            <a:ext cx="1752600" cy="1752600"/>
          </a:xfrm>
        </p:spPr>
        <p:txBody>
          <a:bodyPr/>
          <a:lstStyle/>
          <a:p>
            <a:r>
              <a:rPr lang="en-US" dirty="0" smtClean="0"/>
              <a:t>2</a:t>
            </a:r>
            <a:endParaRPr lang="en-US" dirty="0"/>
          </a:p>
        </p:txBody>
      </p:sp>
    </p:spTree>
    <p:extLst>
      <p:ext uri="{BB962C8B-B14F-4D97-AF65-F5344CB8AC3E}">
        <p14:creationId xmlns:p14="http://schemas.microsoft.com/office/powerpoint/2010/main" val="3757025723"/>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85000" lnSpcReduction="10000"/>
          </a:bodyPr>
          <a:lstStyle/>
          <a:p>
            <a:r>
              <a:rPr lang="en-US" dirty="0"/>
              <a:t>Discuss ways in which information systems enable cross-functional business processes and business processes for a single functional area.</a:t>
            </a:r>
          </a:p>
          <a:p>
            <a:r>
              <a:rPr lang="en-US" dirty="0"/>
              <a:t>Differentiate between business process reengineering, business process improvement, and business process management</a:t>
            </a:r>
            <a:r>
              <a:rPr lang="en-US" dirty="0" smtClean="0"/>
              <a:t>.</a:t>
            </a:r>
          </a:p>
          <a:p>
            <a:r>
              <a:rPr lang="en-US" dirty="0" smtClean="0"/>
              <a:t>Identify </a:t>
            </a:r>
            <a:r>
              <a:rPr lang="en-US" dirty="0"/>
              <a:t>effective IT responses to different kinds of business pressures.</a:t>
            </a:r>
          </a:p>
          <a:p>
            <a:r>
              <a:rPr lang="en-US" dirty="0"/>
              <a:t>Describe the strategies that organizations typically adopt to counter Porter’s five competitive forces</a:t>
            </a:r>
            <a:r>
              <a:rPr lang="en-US" dirty="0" smtClean="0"/>
              <a:t>.</a:t>
            </a:r>
            <a:endParaRPr lang="en-US" dirty="0"/>
          </a:p>
        </p:txBody>
      </p:sp>
      <p:sp>
        <p:nvSpPr>
          <p:cNvPr id="4" name="Title 1"/>
          <p:cNvSpPr txBox="1">
            <a:spLocks/>
          </p:cNvSpPr>
          <p:nvPr/>
        </p:nvSpPr>
        <p:spPr>
          <a:xfrm>
            <a:off x="457200" y="533400"/>
            <a:ext cx="8229600" cy="1143000"/>
          </a:xfrm>
          <a:prstGeom prst="rect">
            <a:avLst/>
          </a:prstGeom>
        </p:spPr>
        <p:txBody>
          <a:bodyPr>
            <a:noAutofit/>
          </a:bodyPr>
          <a:lstStyle>
            <a:lvl1pPr algn="ctr" defTabSz="914400" rtl="0" eaLnBrk="1" latinLnBrk="0" hangingPunct="1">
              <a:spcBef>
                <a:spcPct val="0"/>
              </a:spcBef>
              <a:buNone/>
              <a:defRPr sz="5000" kern="1200" baseline="0">
                <a:solidFill>
                  <a:schemeClr val="tx1"/>
                </a:solidFill>
                <a:latin typeface="Times New Roman" pitchFamily="18" charset="0"/>
                <a:ea typeface="+mj-ea"/>
                <a:cs typeface="+mj-cs"/>
              </a:defRPr>
            </a:lvl1pPr>
          </a:lstStyle>
          <a:p>
            <a:r>
              <a:rPr lang="en-US" dirty="0" smtClean="0"/>
              <a:t>[ LEARNING OBJECTIVES]</a:t>
            </a:r>
            <a:endParaRPr lang="en-US" dirty="0"/>
          </a:p>
        </p:txBody>
      </p:sp>
    </p:spTree>
    <p:extLst>
      <p:ext uri="{BB962C8B-B14F-4D97-AF65-F5344CB8AC3E}">
        <p14:creationId xmlns:p14="http://schemas.microsoft.com/office/powerpoint/2010/main" val="4227378996"/>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92500"/>
          </a:bodyPr>
          <a:lstStyle/>
          <a:p>
            <a:r>
              <a:rPr lang="en-US" dirty="0"/>
              <a:t>Business Processes</a:t>
            </a:r>
          </a:p>
          <a:p>
            <a:r>
              <a:rPr lang="en-US" dirty="0"/>
              <a:t>Business Process Reengineering, Business Process Improvement, and Business Process Management</a:t>
            </a:r>
          </a:p>
          <a:p>
            <a:r>
              <a:rPr lang="en-US" dirty="0"/>
              <a:t>Business Pressures, Organizational Responses, and Information Technology Support</a:t>
            </a:r>
          </a:p>
          <a:p>
            <a:r>
              <a:rPr lang="en-US" dirty="0"/>
              <a:t>Competitive Advantage and Strategic Information </a:t>
            </a:r>
            <a:r>
              <a:rPr lang="en-US" dirty="0" smtClean="0"/>
              <a:t>Systems</a:t>
            </a:r>
            <a:endParaRPr lang="en-US" dirty="0"/>
          </a:p>
        </p:txBody>
      </p:sp>
      <p:sp>
        <p:nvSpPr>
          <p:cNvPr id="4" name="Title 1"/>
          <p:cNvSpPr txBox="1">
            <a:spLocks/>
          </p:cNvSpPr>
          <p:nvPr/>
        </p:nvSpPr>
        <p:spPr>
          <a:xfrm>
            <a:off x="457200" y="533400"/>
            <a:ext cx="8229600" cy="1143000"/>
          </a:xfrm>
          <a:prstGeom prst="rect">
            <a:avLst/>
          </a:prstGeom>
        </p:spPr>
        <p:txBody>
          <a:bodyPr>
            <a:normAutofit/>
          </a:bodyPr>
          <a:lstStyle>
            <a:lvl1pPr algn="ctr" defTabSz="914400" rtl="0" eaLnBrk="1" latinLnBrk="0" hangingPunct="1">
              <a:spcBef>
                <a:spcPct val="0"/>
              </a:spcBef>
              <a:buNone/>
              <a:defRPr sz="5000" kern="1200" baseline="0">
                <a:solidFill>
                  <a:schemeClr val="tx1"/>
                </a:solidFill>
                <a:latin typeface="Times New Roman" pitchFamily="18" charset="0"/>
                <a:ea typeface="+mj-ea"/>
                <a:cs typeface="+mj-cs"/>
              </a:defRPr>
            </a:lvl1pPr>
          </a:lstStyle>
          <a:p>
            <a:r>
              <a:rPr lang="en-US" dirty="0" smtClean="0"/>
              <a:t>[ CHAPTER OUTLINE ]</a:t>
            </a:r>
            <a:endParaRPr lang="en-US" dirty="0"/>
          </a:p>
        </p:txBody>
      </p:sp>
    </p:spTree>
    <p:extLst>
      <p:ext uri="{BB962C8B-B14F-4D97-AF65-F5344CB8AC3E}">
        <p14:creationId xmlns:p14="http://schemas.microsoft.com/office/powerpoint/2010/main" val="1876503753"/>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p:txBody>
          <a:bodyPr>
            <a:normAutofit fontScale="92500" lnSpcReduction="10000"/>
          </a:bodyPr>
          <a:lstStyle/>
          <a:p>
            <a:r>
              <a:rPr lang="en-US" dirty="0"/>
              <a:t>Student PowerPoints for note taking</a:t>
            </a:r>
          </a:p>
          <a:p>
            <a:r>
              <a:rPr lang="en-US" b="1" dirty="0" err="1" smtClean="0">
                <a:solidFill>
                  <a:srgbClr val="FD9B0B"/>
                </a:solidFill>
                <a:latin typeface="Tahoma" panose="020B0604030504040204" pitchFamily="34" charset="0"/>
                <a:ea typeface="Tahoma" panose="020B0604030504040204" pitchFamily="34" charset="0"/>
                <a:cs typeface="Tahoma" panose="020B0604030504040204" pitchFamily="34" charset="0"/>
              </a:rPr>
              <a:t>WileyPLUS</a:t>
            </a:r>
            <a:r>
              <a:rPr lang="en-US" b="1" dirty="0" smtClean="0">
                <a:solidFill>
                  <a:srgbClr val="FD9B0B"/>
                </a:solidFill>
                <a:latin typeface="Tahoma" panose="020B0604030504040204" pitchFamily="34" charset="0"/>
                <a:ea typeface="Tahoma" panose="020B0604030504040204" pitchFamily="34" charset="0"/>
                <a:cs typeface="Tahoma" panose="020B0604030504040204" pitchFamily="34" charset="0"/>
              </a:rPr>
              <a:t> Learning Space</a:t>
            </a:r>
          </a:p>
          <a:p>
            <a:pPr lvl="1"/>
            <a:r>
              <a:rPr lang="en-US" dirty="0"/>
              <a:t>E-Book</a:t>
            </a:r>
          </a:p>
          <a:p>
            <a:pPr lvl="1"/>
            <a:r>
              <a:rPr lang="en-US" dirty="0"/>
              <a:t>Author video lecture for each chapter section</a:t>
            </a:r>
          </a:p>
          <a:p>
            <a:pPr lvl="1"/>
            <a:r>
              <a:rPr lang="en-US" dirty="0"/>
              <a:t>Practice quizzes</a:t>
            </a:r>
          </a:p>
          <a:p>
            <a:pPr lvl="1"/>
            <a:r>
              <a:rPr lang="en-US" dirty="0"/>
              <a:t>Flash Cards for vocabulary review</a:t>
            </a:r>
          </a:p>
          <a:p>
            <a:pPr lvl="1"/>
            <a:r>
              <a:rPr lang="en-US" dirty="0"/>
              <a:t>Additional “What’s in IT for Me?” cases</a:t>
            </a:r>
          </a:p>
          <a:p>
            <a:pPr lvl="1"/>
            <a:r>
              <a:rPr lang="en-US" dirty="0"/>
              <a:t>Video interviews with managers</a:t>
            </a:r>
          </a:p>
          <a:p>
            <a:pPr lvl="1"/>
            <a:r>
              <a:rPr lang="en-US" dirty="0"/>
              <a:t>Lab Manuals - Microsoft Office 2010 &amp; </a:t>
            </a:r>
            <a:r>
              <a:rPr lang="en-US" dirty="0" smtClean="0"/>
              <a:t>2013</a:t>
            </a:r>
            <a:endParaRPr lang="en-US" dirty="0"/>
          </a:p>
        </p:txBody>
      </p:sp>
      <p:sp>
        <p:nvSpPr>
          <p:cNvPr id="6" name="Title 1"/>
          <p:cNvSpPr>
            <a:spLocks noGrp="1"/>
          </p:cNvSpPr>
          <p:nvPr>
            <p:ph type="title" idx="4294967295"/>
          </p:nvPr>
        </p:nvSpPr>
        <p:spPr>
          <a:xfrm>
            <a:off x="457200" y="350838"/>
            <a:ext cx="8229600" cy="1143000"/>
          </a:xfrm>
        </p:spPr>
        <p:txBody>
          <a:bodyPr>
            <a:normAutofit/>
          </a:bodyPr>
          <a:lstStyle>
            <a:lvl1pPr>
              <a:defRPr sz="5000" baseline="0">
                <a:latin typeface="Times New Roman" pitchFamily="18" charset="0"/>
              </a:defRPr>
            </a:lvl1pPr>
          </a:lstStyle>
          <a:p>
            <a:r>
              <a:rPr lang="en-US" dirty="0" smtClean="0"/>
              <a:t>[ WEB RESOURCES]</a:t>
            </a:r>
            <a:endParaRPr lang="en-US" dirty="0"/>
          </a:p>
        </p:txBody>
      </p:sp>
    </p:spTree>
    <p:extLst>
      <p:ext uri="{BB962C8B-B14F-4D97-AF65-F5344CB8AC3E}">
        <p14:creationId xmlns:p14="http://schemas.microsoft.com/office/powerpoint/2010/main" val="302712650"/>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5300" dirty="0">
                <a:solidFill>
                  <a:schemeClr val="accent6">
                    <a:lumMod val="50000"/>
                  </a:schemeClr>
                </a:solidFill>
              </a:rPr>
              <a:t>[ </a:t>
            </a:r>
            <a:r>
              <a:rPr lang="en-US" dirty="0">
                <a:solidFill>
                  <a:schemeClr val="accent1">
                    <a:lumMod val="75000"/>
                  </a:schemeClr>
                </a:solidFill>
              </a:rPr>
              <a:t>Opening Case </a:t>
            </a:r>
            <a:r>
              <a:rPr lang="en-US" dirty="0" smtClean="0"/>
              <a:t>Grub Hub</a:t>
            </a:r>
            <a:r>
              <a:rPr lang="en-US" sz="5300" dirty="0" smtClean="0">
                <a:solidFill>
                  <a:schemeClr val="accent6">
                    <a:lumMod val="50000"/>
                  </a:schemeClr>
                </a:solidFill>
              </a:rPr>
              <a:t>]</a:t>
            </a:r>
            <a:endParaRPr lang="en-US" dirty="0"/>
          </a:p>
        </p:txBody>
      </p:sp>
      <p:sp>
        <p:nvSpPr>
          <p:cNvPr id="3" name="Text Placeholder 2"/>
          <p:cNvSpPr>
            <a:spLocks noGrp="1"/>
          </p:cNvSpPr>
          <p:nvPr>
            <p:ph type="body" sz="quarter" idx="13"/>
          </p:nvPr>
        </p:nvSpPr>
        <p:spPr/>
        <p:txBody>
          <a:bodyPr>
            <a:normAutofit/>
          </a:bodyPr>
          <a:lstStyle/>
          <a:p>
            <a:pPr marL="0" indent="0">
              <a:buNone/>
            </a:pPr>
            <a:r>
              <a:rPr lang="en-US" dirty="0"/>
              <a:t>Questions</a:t>
            </a:r>
          </a:p>
          <a:p>
            <a:pPr marL="514350" indent="-514350">
              <a:buFont typeface="+mj-lt"/>
              <a:buAutoNum type="arabicPeriod"/>
            </a:pPr>
            <a:r>
              <a:rPr lang="en-US" b="0" dirty="0" smtClean="0"/>
              <a:t>Look </a:t>
            </a:r>
            <a:r>
              <a:rPr lang="en-US" b="0" dirty="0"/>
              <a:t>ahead in this chapter. Which one of Porter’s strategies for competitive advantage is </a:t>
            </a:r>
            <a:r>
              <a:rPr lang="en-US" b="0" dirty="0" err="1"/>
              <a:t>GrubHub</a:t>
            </a:r>
            <a:r>
              <a:rPr lang="en-US" b="0" dirty="0"/>
              <a:t> pursuing? Explain your answer.</a:t>
            </a:r>
          </a:p>
          <a:p>
            <a:pPr marL="514350" indent="-514350">
              <a:buFont typeface="+mj-lt"/>
              <a:buAutoNum type="arabicPeriod"/>
            </a:pPr>
            <a:r>
              <a:rPr lang="en-US" b="0" dirty="0" smtClean="0"/>
              <a:t>Propose </a:t>
            </a:r>
            <a:r>
              <a:rPr lang="en-US" b="0" dirty="0"/>
              <a:t>additional applications that </a:t>
            </a:r>
            <a:r>
              <a:rPr lang="en-US" b="0" dirty="0" err="1"/>
              <a:t>GrubHub</a:t>
            </a:r>
            <a:r>
              <a:rPr lang="en-US" b="0" dirty="0"/>
              <a:t> could develop to gain a competitive advantage in the marketplace.</a:t>
            </a:r>
          </a:p>
          <a:p>
            <a:endParaRPr lang="en-US" dirty="0"/>
          </a:p>
        </p:txBody>
      </p:sp>
    </p:spTree>
    <p:extLst>
      <p:ext uri="{BB962C8B-B14F-4D97-AF65-F5344CB8AC3E}">
        <p14:creationId xmlns:p14="http://schemas.microsoft.com/office/powerpoint/2010/main" val="4022389247"/>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idx="1"/>
          </p:nvPr>
        </p:nvSpPr>
        <p:spPr/>
        <p:txBody>
          <a:bodyPr/>
          <a:lstStyle/>
          <a:p>
            <a:r>
              <a:rPr lang="en-US" dirty="0" smtClean="0"/>
              <a:t>Business Processes</a:t>
            </a:r>
            <a:endParaRPr lang="en-US" dirty="0"/>
          </a:p>
        </p:txBody>
      </p:sp>
      <p:sp>
        <p:nvSpPr>
          <p:cNvPr id="3" name="Text Placeholder 2"/>
          <p:cNvSpPr>
            <a:spLocks noGrp="1"/>
          </p:cNvSpPr>
          <p:nvPr>
            <p:ph type="body" sz="quarter" idx="14"/>
          </p:nvPr>
        </p:nvSpPr>
        <p:spPr/>
        <p:txBody>
          <a:bodyPr/>
          <a:lstStyle/>
          <a:p>
            <a:r>
              <a:rPr lang="en-US" dirty="0" smtClean="0"/>
              <a:t>2.1</a:t>
            </a:r>
            <a:endParaRPr lang="en-US" dirty="0"/>
          </a:p>
        </p:txBody>
      </p:sp>
      <p:sp>
        <p:nvSpPr>
          <p:cNvPr id="4" name="Content Placeholder 3"/>
          <p:cNvSpPr>
            <a:spLocks noGrp="1"/>
          </p:cNvSpPr>
          <p:nvPr>
            <p:ph sz="quarter" idx="15"/>
          </p:nvPr>
        </p:nvSpPr>
        <p:spPr/>
        <p:txBody>
          <a:bodyPr/>
          <a:lstStyle/>
          <a:p>
            <a:r>
              <a:rPr lang="en-US" dirty="0" smtClean="0"/>
              <a:t>Cross-Functional Processes</a:t>
            </a:r>
          </a:p>
          <a:p>
            <a:r>
              <a:rPr lang="en-US" dirty="0" smtClean="0"/>
              <a:t>Information Systems and Business Processes</a:t>
            </a:r>
            <a:endParaRPr lang="en-US" dirty="0"/>
          </a:p>
        </p:txBody>
      </p:sp>
    </p:spTree>
    <p:extLst>
      <p:ext uri="{BB962C8B-B14F-4D97-AF65-F5344CB8AC3E}">
        <p14:creationId xmlns:p14="http://schemas.microsoft.com/office/powerpoint/2010/main" val="415064953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idx="1"/>
          </p:nvPr>
        </p:nvSpPr>
        <p:spPr/>
        <p:txBody>
          <a:bodyPr/>
          <a:lstStyle/>
          <a:p>
            <a:r>
              <a:rPr lang="en-US" dirty="0" smtClean="0"/>
              <a:t>Business Processes</a:t>
            </a:r>
            <a:endParaRPr lang="en-US" dirty="0"/>
          </a:p>
        </p:txBody>
      </p:sp>
      <p:sp>
        <p:nvSpPr>
          <p:cNvPr id="3" name="Content Placeholder 2"/>
          <p:cNvSpPr>
            <a:spLocks noGrp="1"/>
          </p:cNvSpPr>
          <p:nvPr>
            <p:ph sz="quarter" idx="14"/>
          </p:nvPr>
        </p:nvSpPr>
        <p:spPr/>
        <p:txBody>
          <a:bodyPr>
            <a:normAutofit fontScale="92500" lnSpcReduction="10000"/>
          </a:bodyPr>
          <a:lstStyle/>
          <a:p>
            <a:r>
              <a:rPr lang="en-US" dirty="0" smtClean="0"/>
              <a:t>A </a:t>
            </a:r>
            <a:r>
              <a:rPr lang="en-US" b="1" u="sng" dirty="0" smtClean="0"/>
              <a:t>business process</a:t>
            </a:r>
            <a:r>
              <a:rPr lang="en-US" b="1" dirty="0" smtClean="0"/>
              <a:t> </a:t>
            </a:r>
            <a:r>
              <a:rPr lang="en-US" dirty="0" smtClean="0"/>
              <a:t>is:</a:t>
            </a:r>
          </a:p>
          <a:p>
            <a:pPr lvl="1"/>
            <a:r>
              <a:rPr lang="en-US" dirty="0" smtClean="0"/>
              <a:t> an ongoing collection of related activities that create a product or service of value to the organization, its business partners, and/or its customers.</a:t>
            </a:r>
          </a:p>
          <a:p>
            <a:r>
              <a:rPr lang="en-US" dirty="0" smtClean="0"/>
              <a:t>Comprised of three elements:</a:t>
            </a:r>
          </a:p>
          <a:p>
            <a:pPr lvl="1"/>
            <a:r>
              <a:rPr lang="en-US" dirty="0" smtClean="0"/>
              <a:t>Inputs</a:t>
            </a:r>
          </a:p>
          <a:p>
            <a:pPr lvl="1"/>
            <a:r>
              <a:rPr lang="en-US" dirty="0" smtClean="0"/>
              <a:t>Resources</a:t>
            </a:r>
          </a:p>
          <a:p>
            <a:pPr lvl="1"/>
            <a:r>
              <a:rPr lang="en-US" dirty="0" smtClean="0"/>
              <a:t>Outputs</a:t>
            </a:r>
          </a:p>
          <a:p>
            <a:r>
              <a:rPr lang="en-US" dirty="0" smtClean="0"/>
              <a:t>Efficiency vs. Effectiveness</a:t>
            </a:r>
            <a:endParaRPr lang="en-US" dirty="0"/>
          </a:p>
        </p:txBody>
      </p:sp>
    </p:spTree>
    <p:extLst>
      <p:ext uri="{BB962C8B-B14F-4D97-AF65-F5344CB8AC3E}">
        <p14:creationId xmlns:p14="http://schemas.microsoft.com/office/powerpoint/2010/main" val="290675761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idx="1"/>
          </p:nvPr>
        </p:nvSpPr>
        <p:spPr/>
        <p:txBody>
          <a:bodyPr>
            <a:normAutofit fontScale="85000" lnSpcReduction="10000"/>
          </a:bodyPr>
          <a:lstStyle/>
          <a:p>
            <a:r>
              <a:rPr lang="en-US" dirty="0" smtClean="0"/>
              <a:t>Examples of Business Processes</a:t>
            </a:r>
            <a:endParaRPr lang="en-US" dirty="0"/>
          </a:p>
        </p:txBody>
      </p:sp>
      <p:sp>
        <p:nvSpPr>
          <p:cNvPr id="3" name="Text Placeholder 2"/>
          <p:cNvSpPr>
            <a:spLocks noGrp="1"/>
          </p:cNvSpPr>
          <p:nvPr>
            <p:ph type="body" sz="quarter" idx="4294967295"/>
          </p:nvPr>
        </p:nvSpPr>
        <p:spPr>
          <a:xfrm>
            <a:off x="533400" y="1447800"/>
            <a:ext cx="8153400" cy="5105400"/>
          </a:xfrm>
        </p:spPr>
        <p:txBody>
          <a:bodyPr/>
          <a:lstStyle/>
          <a:p>
            <a:endParaRPr lang="en-US"/>
          </a:p>
        </p:txBody>
      </p:sp>
      <p:pic>
        <p:nvPicPr>
          <p:cNvPr id="5" name="Picture 2"/>
          <p:cNvPicPr>
            <a:picLocks noGrp="1" noChangeAspect="1" noChangeArrowheads="1"/>
          </p:cNvPicPr>
          <p:nvPr>
            <p:ph sz="quarter" idx="4294967295"/>
          </p:nvPr>
        </p:nvPicPr>
        <p:blipFill>
          <a:blip r:embed="rId2">
            <a:extLst>
              <a:ext uri="{28A0092B-C50C-407E-A947-70E740481C1C}">
                <a14:useLocalDpi xmlns:a14="http://schemas.microsoft.com/office/drawing/2010/main" val="0"/>
              </a:ext>
            </a:extLst>
          </a:blip>
          <a:srcRect/>
          <a:stretch>
            <a:fillRect/>
          </a:stretch>
        </p:blipFill>
        <p:spPr bwMode="auto">
          <a:xfrm>
            <a:off x="228600" y="1603616"/>
            <a:ext cx="8610600" cy="47209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46404316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idx="1"/>
          </p:nvPr>
        </p:nvSpPr>
        <p:spPr/>
        <p:txBody>
          <a:bodyPr>
            <a:normAutofit fontScale="62500" lnSpcReduction="20000"/>
          </a:bodyPr>
          <a:lstStyle/>
          <a:p>
            <a:r>
              <a:rPr lang="en-US" dirty="0" smtClean="0"/>
              <a:t>Examples of Business Processes (Continued)</a:t>
            </a:r>
            <a:endParaRPr lang="en-US" dirty="0"/>
          </a:p>
        </p:txBody>
      </p:sp>
      <p:sp>
        <p:nvSpPr>
          <p:cNvPr id="3" name="Text Placeholder 2"/>
          <p:cNvSpPr>
            <a:spLocks noGrp="1"/>
          </p:cNvSpPr>
          <p:nvPr>
            <p:ph type="body" sz="quarter" idx="4294967295"/>
          </p:nvPr>
        </p:nvSpPr>
        <p:spPr>
          <a:xfrm>
            <a:off x="533400" y="1447800"/>
            <a:ext cx="8153400" cy="5105400"/>
          </a:xfrm>
        </p:spPr>
        <p:txBody>
          <a:bodyPr/>
          <a:lstStyle/>
          <a:p>
            <a:endParaRPr lang="en-US" dirty="0"/>
          </a:p>
        </p:txBody>
      </p:sp>
      <p:pic>
        <p:nvPicPr>
          <p:cNvPr id="5" name="Picture 2"/>
          <p:cNvPicPr>
            <a:picLocks noGrp="1" noChangeAspect="1" noChangeArrowheads="1"/>
          </p:cNvPicPr>
          <p:nvPr>
            <p:ph sz="quarter" idx="4294967295"/>
          </p:nvPr>
        </p:nvPicPr>
        <p:blipFill>
          <a:blip r:embed="rId2">
            <a:extLst>
              <a:ext uri="{28A0092B-C50C-407E-A947-70E740481C1C}">
                <a14:useLocalDpi xmlns:a14="http://schemas.microsoft.com/office/drawing/2010/main" val="0"/>
              </a:ext>
            </a:extLst>
          </a:blip>
          <a:srcRect/>
          <a:stretch>
            <a:fillRect/>
          </a:stretch>
        </p:blipFill>
        <p:spPr bwMode="auto">
          <a:xfrm>
            <a:off x="609600" y="1424994"/>
            <a:ext cx="7848600" cy="50987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73711470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idx="1"/>
          </p:nvPr>
        </p:nvSpPr>
        <p:spPr/>
        <p:txBody>
          <a:bodyPr/>
          <a:lstStyle/>
          <a:p>
            <a:r>
              <a:rPr lang="en-US" dirty="0" smtClean="0"/>
              <a:t>Cross-Functional Processes</a:t>
            </a:r>
            <a:endParaRPr lang="en-US" dirty="0"/>
          </a:p>
        </p:txBody>
      </p:sp>
      <p:sp>
        <p:nvSpPr>
          <p:cNvPr id="3" name="Content Placeholder 2"/>
          <p:cNvSpPr>
            <a:spLocks noGrp="1"/>
          </p:cNvSpPr>
          <p:nvPr>
            <p:ph sz="quarter" idx="14"/>
          </p:nvPr>
        </p:nvSpPr>
        <p:spPr/>
        <p:txBody>
          <a:bodyPr/>
          <a:lstStyle/>
          <a:p>
            <a:r>
              <a:rPr lang="en-US" dirty="0" smtClean="0"/>
              <a:t>No single functional area is responsible</a:t>
            </a:r>
          </a:p>
          <a:p>
            <a:r>
              <a:rPr lang="en-US" dirty="0" smtClean="0"/>
              <a:t>steps executed in a coordinated, collaborative way</a:t>
            </a:r>
          </a:p>
          <a:p>
            <a:r>
              <a:rPr lang="en-US" dirty="0" smtClean="0"/>
              <a:t>Procurement &amp; Fulfillment Cross-functional processes</a:t>
            </a:r>
          </a:p>
        </p:txBody>
      </p:sp>
    </p:spTree>
    <p:extLst>
      <p:ext uri="{BB962C8B-B14F-4D97-AF65-F5344CB8AC3E}">
        <p14:creationId xmlns:p14="http://schemas.microsoft.com/office/powerpoint/2010/main" val="353382779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 name="Rectangle 107"/>
          <p:cNvSpPr/>
          <p:nvPr/>
        </p:nvSpPr>
        <p:spPr>
          <a:xfrm>
            <a:off x="3048000" y="0"/>
            <a:ext cx="6096000" cy="6858000"/>
          </a:xfrm>
          <a:prstGeom prst="rect">
            <a:avLst/>
          </a:prstGeom>
        </p:spPr>
        <p:style>
          <a:lnRef idx="1">
            <a:schemeClr val="accent1"/>
          </a:lnRef>
          <a:fillRef idx="2">
            <a:schemeClr val="accent1"/>
          </a:fillRef>
          <a:effectRef idx="1">
            <a:schemeClr val="accent1"/>
          </a:effectRef>
          <a:fontRef idx="minor">
            <a:schemeClr val="dk1"/>
          </a:fontRef>
        </p:style>
        <p:txBody>
          <a:bodyPr anchor="ctr"/>
          <a:lstStyle/>
          <a:p>
            <a:pPr algn="ctr">
              <a:defRPr/>
            </a:pPr>
            <a:endParaRPr lang="en-US"/>
          </a:p>
        </p:txBody>
      </p:sp>
      <p:sp>
        <p:nvSpPr>
          <p:cNvPr id="107" name="Rectangle 106"/>
          <p:cNvSpPr/>
          <p:nvPr/>
        </p:nvSpPr>
        <p:spPr>
          <a:xfrm>
            <a:off x="0" y="0"/>
            <a:ext cx="3124200" cy="6858000"/>
          </a:xfrm>
          <a:prstGeom prst="rect">
            <a:avLst/>
          </a:prstGeom>
        </p:spPr>
        <p:style>
          <a:lnRef idx="1">
            <a:schemeClr val="accent6"/>
          </a:lnRef>
          <a:fillRef idx="2">
            <a:schemeClr val="accent6"/>
          </a:fillRef>
          <a:effectRef idx="1">
            <a:schemeClr val="accent6"/>
          </a:effectRef>
          <a:fontRef idx="minor">
            <a:schemeClr val="dk1"/>
          </a:fontRef>
        </p:style>
        <p:txBody>
          <a:bodyPr anchor="ctr"/>
          <a:lstStyle/>
          <a:p>
            <a:pPr algn="ctr">
              <a:defRPr/>
            </a:pPr>
            <a:endParaRPr lang="en-US" dirty="0"/>
          </a:p>
        </p:txBody>
      </p:sp>
      <p:sp>
        <p:nvSpPr>
          <p:cNvPr id="44" name="Flowchart: Process 43"/>
          <p:cNvSpPr/>
          <p:nvPr/>
        </p:nvSpPr>
        <p:spPr>
          <a:xfrm>
            <a:off x="6372225" y="1073150"/>
            <a:ext cx="2286000" cy="381000"/>
          </a:xfrm>
          <a:prstGeom prst="flowChartProcess">
            <a:avLst/>
          </a:prstGeom>
        </p:spPr>
        <p:style>
          <a:lnRef idx="1">
            <a:schemeClr val="accent6"/>
          </a:lnRef>
          <a:fillRef idx="2">
            <a:schemeClr val="accent6"/>
          </a:fillRef>
          <a:effectRef idx="1">
            <a:schemeClr val="accent6"/>
          </a:effectRef>
          <a:fontRef idx="minor">
            <a:schemeClr val="dk1"/>
          </a:fontRef>
        </p:style>
        <p:txBody>
          <a:bodyPr anchor="ctr"/>
          <a:lstStyle/>
          <a:p>
            <a:pPr algn="ctr">
              <a:defRPr/>
            </a:pPr>
            <a:r>
              <a:rPr lang="en-US" dirty="0"/>
              <a:t>Notify Traveler</a:t>
            </a:r>
          </a:p>
        </p:txBody>
      </p:sp>
      <p:sp>
        <p:nvSpPr>
          <p:cNvPr id="4" name="Flowchart: Process 3"/>
          <p:cNvSpPr/>
          <p:nvPr/>
        </p:nvSpPr>
        <p:spPr>
          <a:xfrm>
            <a:off x="3352800" y="0"/>
            <a:ext cx="2286000" cy="533400"/>
          </a:xfrm>
          <a:prstGeom prst="flowChartProcess">
            <a:avLst/>
          </a:prstGeom>
        </p:spPr>
        <p:style>
          <a:lnRef idx="1">
            <a:schemeClr val="accent6"/>
          </a:lnRef>
          <a:fillRef idx="2">
            <a:schemeClr val="accent6"/>
          </a:fillRef>
          <a:effectRef idx="1">
            <a:schemeClr val="accent6"/>
          </a:effectRef>
          <a:fontRef idx="minor">
            <a:schemeClr val="dk1"/>
          </a:fontRef>
        </p:style>
        <p:txBody>
          <a:bodyPr anchor="ctr"/>
          <a:lstStyle/>
          <a:p>
            <a:pPr algn="ctr">
              <a:defRPr/>
            </a:pPr>
            <a:r>
              <a:rPr lang="en-US" dirty="0"/>
              <a:t>Receive Ticket Order</a:t>
            </a:r>
          </a:p>
        </p:txBody>
      </p:sp>
      <p:sp>
        <p:nvSpPr>
          <p:cNvPr id="21" name="Flowchart: Process 20"/>
          <p:cNvSpPr/>
          <p:nvPr/>
        </p:nvSpPr>
        <p:spPr>
          <a:xfrm>
            <a:off x="3352800" y="1993900"/>
            <a:ext cx="2286000" cy="381000"/>
          </a:xfrm>
          <a:prstGeom prst="flowChartProcess">
            <a:avLst/>
          </a:prstGeom>
        </p:spPr>
        <p:style>
          <a:lnRef idx="1">
            <a:schemeClr val="accent6"/>
          </a:lnRef>
          <a:fillRef idx="2">
            <a:schemeClr val="accent6"/>
          </a:fillRef>
          <a:effectRef idx="1">
            <a:schemeClr val="accent6"/>
          </a:effectRef>
          <a:fontRef idx="minor">
            <a:schemeClr val="dk1"/>
          </a:fontRef>
        </p:style>
        <p:txBody>
          <a:bodyPr anchor="ctr"/>
          <a:lstStyle/>
          <a:p>
            <a:pPr algn="ctr">
              <a:defRPr/>
            </a:pPr>
            <a:r>
              <a:rPr lang="en-US" dirty="0"/>
              <a:t>Reserve Seats</a:t>
            </a:r>
          </a:p>
        </p:txBody>
      </p:sp>
      <p:sp>
        <p:nvSpPr>
          <p:cNvPr id="22" name="Flowchart: Process 21"/>
          <p:cNvSpPr/>
          <p:nvPr/>
        </p:nvSpPr>
        <p:spPr>
          <a:xfrm>
            <a:off x="3352800" y="3833813"/>
            <a:ext cx="2286000" cy="381000"/>
          </a:xfrm>
          <a:prstGeom prst="flowChartProcess">
            <a:avLst/>
          </a:prstGeom>
        </p:spPr>
        <p:style>
          <a:lnRef idx="1">
            <a:schemeClr val="accent6"/>
          </a:lnRef>
          <a:fillRef idx="2">
            <a:schemeClr val="accent6"/>
          </a:fillRef>
          <a:effectRef idx="1">
            <a:schemeClr val="accent6"/>
          </a:effectRef>
          <a:fontRef idx="minor">
            <a:schemeClr val="dk1"/>
          </a:fontRef>
        </p:style>
        <p:txBody>
          <a:bodyPr anchor="ctr"/>
          <a:lstStyle/>
          <a:p>
            <a:pPr algn="ctr">
              <a:defRPr/>
            </a:pPr>
            <a:r>
              <a:rPr lang="en-US" dirty="0"/>
              <a:t>Charge Credit Card</a:t>
            </a:r>
          </a:p>
        </p:txBody>
      </p:sp>
      <p:sp>
        <p:nvSpPr>
          <p:cNvPr id="23" name="Flowchart: Process 22"/>
          <p:cNvSpPr/>
          <p:nvPr/>
        </p:nvSpPr>
        <p:spPr>
          <a:xfrm>
            <a:off x="3352800" y="5675313"/>
            <a:ext cx="2286000" cy="381000"/>
          </a:xfrm>
          <a:prstGeom prst="flowChartProcess">
            <a:avLst/>
          </a:prstGeom>
        </p:spPr>
        <p:style>
          <a:lnRef idx="1">
            <a:schemeClr val="accent6"/>
          </a:lnRef>
          <a:fillRef idx="2">
            <a:schemeClr val="accent6"/>
          </a:fillRef>
          <a:effectRef idx="1">
            <a:schemeClr val="accent6"/>
          </a:effectRef>
          <a:fontRef idx="minor">
            <a:schemeClr val="dk1"/>
          </a:fontRef>
        </p:style>
        <p:txBody>
          <a:bodyPr anchor="ctr"/>
          <a:lstStyle/>
          <a:p>
            <a:pPr algn="ctr">
              <a:defRPr/>
            </a:pPr>
            <a:r>
              <a:rPr lang="en-US" dirty="0"/>
              <a:t>Confirm Flight(s)</a:t>
            </a:r>
          </a:p>
        </p:txBody>
      </p:sp>
      <p:sp>
        <p:nvSpPr>
          <p:cNvPr id="24" name="Flowchart: Process 23"/>
          <p:cNvSpPr/>
          <p:nvPr/>
        </p:nvSpPr>
        <p:spPr>
          <a:xfrm>
            <a:off x="3352800" y="6289675"/>
            <a:ext cx="2286000" cy="381000"/>
          </a:xfrm>
          <a:prstGeom prst="flowChartProcess">
            <a:avLst/>
          </a:prstGeom>
        </p:spPr>
        <p:style>
          <a:lnRef idx="1">
            <a:schemeClr val="accent6"/>
          </a:lnRef>
          <a:fillRef idx="2">
            <a:schemeClr val="accent6"/>
          </a:fillRef>
          <a:effectRef idx="1">
            <a:schemeClr val="accent6"/>
          </a:effectRef>
          <a:fontRef idx="minor">
            <a:schemeClr val="dk1"/>
          </a:fontRef>
        </p:style>
        <p:txBody>
          <a:bodyPr anchor="ctr"/>
          <a:lstStyle/>
          <a:p>
            <a:pPr algn="ctr">
              <a:defRPr/>
            </a:pPr>
            <a:r>
              <a:rPr lang="en-US" dirty="0"/>
              <a:t>Issue e-Ticket</a:t>
            </a:r>
          </a:p>
        </p:txBody>
      </p:sp>
      <p:sp>
        <p:nvSpPr>
          <p:cNvPr id="25" name="Flowchart: Process 24"/>
          <p:cNvSpPr/>
          <p:nvPr/>
        </p:nvSpPr>
        <p:spPr>
          <a:xfrm>
            <a:off x="449263" y="1219200"/>
            <a:ext cx="2286000" cy="381000"/>
          </a:xfrm>
          <a:prstGeom prst="flowChartProcess">
            <a:avLst/>
          </a:prstGeom>
        </p:spPr>
        <p:style>
          <a:lnRef idx="1">
            <a:schemeClr val="accent1"/>
          </a:lnRef>
          <a:fillRef idx="2">
            <a:schemeClr val="accent1"/>
          </a:fillRef>
          <a:effectRef idx="1">
            <a:schemeClr val="accent1"/>
          </a:effectRef>
          <a:fontRef idx="minor">
            <a:schemeClr val="dk1"/>
          </a:fontRef>
        </p:style>
        <p:txBody>
          <a:bodyPr anchor="ctr"/>
          <a:lstStyle/>
          <a:p>
            <a:pPr algn="ctr">
              <a:defRPr/>
            </a:pPr>
            <a:r>
              <a:rPr lang="en-US" dirty="0"/>
              <a:t>Plan Trip</a:t>
            </a:r>
          </a:p>
        </p:txBody>
      </p:sp>
      <p:sp>
        <p:nvSpPr>
          <p:cNvPr id="26" name="Flowchart: Process 25"/>
          <p:cNvSpPr/>
          <p:nvPr/>
        </p:nvSpPr>
        <p:spPr>
          <a:xfrm>
            <a:off x="449263" y="2057400"/>
            <a:ext cx="2286000" cy="381000"/>
          </a:xfrm>
          <a:prstGeom prst="flowChartProcess">
            <a:avLst/>
          </a:prstGeom>
        </p:spPr>
        <p:style>
          <a:lnRef idx="1">
            <a:schemeClr val="accent1"/>
          </a:lnRef>
          <a:fillRef idx="2">
            <a:schemeClr val="accent1"/>
          </a:fillRef>
          <a:effectRef idx="1">
            <a:schemeClr val="accent1"/>
          </a:effectRef>
          <a:fontRef idx="minor">
            <a:schemeClr val="dk1"/>
          </a:fontRef>
        </p:style>
        <p:txBody>
          <a:bodyPr anchor="ctr"/>
          <a:lstStyle/>
          <a:p>
            <a:pPr algn="ctr">
              <a:defRPr/>
            </a:pPr>
            <a:r>
              <a:rPr lang="en-US" dirty="0"/>
              <a:t>Check Flights</a:t>
            </a:r>
          </a:p>
        </p:txBody>
      </p:sp>
      <p:sp>
        <p:nvSpPr>
          <p:cNvPr id="27" name="Flowchart: Process 26"/>
          <p:cNvSpPr/>
          <p:nvPr/>
        </p:nvSpPr>
        <p:spPr>
          <a:xfrm>
            <a:off x="449263" y="4343400"/>
            <a:ext cx="2286000" cy="381000"/>
          </a:xfrm>
          <a:prstGeom prst="flowChartProcess">
            <a:avLst/>
          </a:prstGeom>
        </p:spPr>
        <p:style>
          <a:lnRef idx="1">
            <a:schemeClr val="accent1"/>
          </a:lnRef>
          <a:fillRef idx="2">
            <a:schemeClr val="accent1"/>
          </a:fillRef>
          <a:effectRef idx="1">
            <a:schemeClr val="accent1"/>
          </a:effectRef>
          <a:fontRef idx="minor">
            <a:schemeClr val="dk1"/>
          </a:fontRef>
        </p:style>
        <p:txBody>
          <a:bodyPr anchor="ctr"/>
          <a:lstStyle/>
          <a:p>
            <a:pPr algn="ctr">
              <a:defRPr/>
            </a:pPr>
            <a:r>
              <a:rPr lang="en-US" dirty="0"/>
              <a:t>Submit Ticket Order</a:t>
            </a:r>
          </a:p>
        </p:txBody>
      </p:sp>
      <p:sp>
        <p:nvSpPr>
          <p:cNvPr id="28" name="Flowchart: Process 27"/>
          <p:cNvSpPr/>
          <p:nvPr/>
        </p:nvSpPr>
        <p:spPr>
          <a:xfrm>
            <a:off x="449263" y="5257800"/>
            <a:ext cx="2286000" cy="381000"/>
          </a:xfrm>
          <a:prstGeom prst="flowChartProcess">
            <a:avLst/>
          </a:prstGeom>
        </p:spPr>
        <p:style>
          <a:lnRef idx="1">
            <a:schemeClr val="accent1"/>
          </a:lnRef>
          <a:fillRef idx="2">
            <a:schemeClr val="accent1"/>
          </a:fillRef>
          <a:effectRef idx="1">
            <a:schemeClr val="accent1"/>
          </a:effectRef>
          <a:fontRef idx="minor">
            <a:schemeClr val="dk1"/>
          </a:fontRef>
        </p:style>
        <p:txBody>
          <a:bodyPr anchor="ctr"/>
          <a:lstStyle/>
          <a:p>
            <a:pPr algn="ctr">
              <a:defRPr/>
            </a:pPr>
            <a:r>
              <a:rPr lang="en-US" dirty="0"/>
              <a:t>Receive  e-Ticket</a:t>
            </a:r>
          </a:p>
        </p:txBody>
      </p:sp>
      <p:sp>
        <p:nvSpPr>
          <p:cNvPr id="30" name="Flowchart: Decision 29"/>
          <p:cNvSpPr/>
          <p:nvPr/>
        </p:nvSpPr>
        <p:spPr>
          <a:xfrm>
            <a:off x="3352800" y="768350"/>
            <a:ext cx="2286000" cy="990600"/>
          </a:xfrm>
          <a:prstGeom prst="flowChartDecision">
            <a:avLst/>
          </a:prstGeom>
        </p:spPr>
        <p:style>
          <a:lnRef idx="1">
            <a:schemeClr val="accent6"/>
          </a:lnRef>
          <a:fillRef idx="2">
            <a:schemeClr val="accent6"/>
          </a:fillRef>
          <a:effectRef idx="1">
            <a:schemeClr val="accent6"/>
          </a:effectRef>
          <a:fontRef idx="minor">
            <a:schemeClr val="dk1"/>
          </a:fontRef>
        </p:style>
        <p:txBody>
          <a:bodyPr anchor="ctr"/>
          <a:lstStyle/>
          <a:p>
            <a:pPr algn="ctr">
              <a:defRPr/>
            </a:pPr>
            <a:r>
              <a:rPr lang="en-US" dirty="0"/>
              <a:t>Seats Available</a:t>
            </a:r>
          </a:p>
        </p:txBody>
      </p:sp>
      <p:sp>
        <p:nvSpPr>
          <p:cNvPr id="31" name="Flowchart: Decision 30"/>
          <p:cNvSpPr/>
          <p:nvPr/>
        </p:nvSpPr>
        <p:spPr>
          <a:xfrm>
            <a:off x="3352800" y="2590800"/>
            <a:ext cx="2286000" cy="990600"/>
          </a:xfrm>
          <a:prstGeom prst="flowChartDecision">
            <a:avLst/>
          </a:prstGeom>
        </p:spPr>
        <p:style>
          <a:lnRef idx="1">
            <a:schemeClr val="accent6"/>
          </a:lnRef>
          <a:fillRef idx="2">
            <a:schemeClr val="accent6"/>
          </a:fillRef>
          <a:effectRef idx="1">
            <a:schemeClr val="accent6"/>
          </a:effectRef>
          <a:fontRef idx="minor">
            <a:schemeClr val="dk1"/>
          </a:fontRef>
        </p:style>
        <p:txBody>
          <a:bodyPr anchor="ctr"/>
          <a:lstStyle/>
          <a:p>
            <a:pPr algn="ctr">
              <a:defRPr/>
            </a:pPr>
            <a:r>
              <a:rPr lang="en-US" dirty="0"/>
              <a:t>Use Credit Card?</a:t>
            </a:r>
          </a:p>
        </p:txBody>
      </p:sp>
      <p:sp>
        <p:nvSpPr>
          <p:cNvPr id="32" name="Flowchart: Decision 31"/>
          <p:cNvSpPr/>
          <p:nvPr/>
        </p:nvSpPr>
        <p:spPr>
          <a:xfrm>
            <a:off x="3352800" y="4449763"/>
            <a:ext cx="2286000" cy="990600"/>
          </a:xfrm>
          <a:prstGeom prst="flowChartDecision">
            <a:avLst/>
          </a:prstGeom>
        </p:spPr>
        <p:style>
          <a:lnRef idx="1">
            <a:schemeClr val="accent6"/>
          </a:lnRef>
          <a:fillRef idx="2">
            <a:schemeClr val="accent6"/>
          </a:fillRef>
          <a:effectRef idx="1">
            <a:schemeClr val="accent6"/>
          </a:effectRef>
          <a:fontRef idx="minor">
            <a:schemeClr val="dk1"/>
          </a:fontRef>
        </p:style>
        <p:txBody>
          <a:bodyPr anchor="ctr"/>
          <a:lstStyle/>
          <a:p>
            <a:pPr algn="ctr">
              <a:defRPr/>
            </a:pPr>
            <a:r>
              <a:rPr lang="en-US" dirty="0"/>
              <a:t>Charge OK?</a:t>
            </a:r>
          </a:p>
        </p:txBody>
      </p:sp>
      <p:sp>
        <p:nvSpPr>
          <p:cNvPr id="34" name="Flowchart: Decision 33"/>
          <p:cNvSpPr/>
          <p:nvPr/>
        </p:nvSpPr>
        <p:spPr>
          <a:xfrm>
            <a:off x="457200" y="2895600"/>
            <a:ext cx="2286000" cy="990600"/>
          </a:xfrm>
          <a:prstGeom prst="flowChartDecision">
            <a:avLst/>
          </a:prstGeom>
        </p:spPr>
        <p:style>
          <a:lnRef idx="1">
            <a:schemeClr val="accent1"/>
          </a:lnRef>
          <a:fillRef idx="2">
            <a:schemeClr val="accent1"/>
          </a:fillRef>
          <a:effectRef idx="1">
            <a:schemeClr val="accent1"/>
          </a:effectRef>
          <a:fontRef idx="minor">
            <a:schemeClr val="dk1"/>
          </a:fontRef>
        </p:style>
        <p:txBody>
          <a:bodyPr anchor="ctr"/>
          <a:lstStyle/>
          <a:p>
            <a:pPr algn="ctr">
              <a:defRPr/>
            </a:pPr>
            <a:r>
              <a:rPr lang="en-US" dirty="0"/>
              <a:t>Seats Available?</a:t>
            </a:r>
          </a:p>
        </p:txBody>
      </p:sp>
      <p:sp>
        <p:nvSpPr>
          <p:cNvPr id="46" name="Flowchart: Process 45"/>
          <p:cNvSpPr/>
          <p:nvPr/>
        </p:nvSpPr>
        <p:spPr>
          <a:xfrm>
            <a:off x="6372225" y="4754563"/>
            <a:ext cx="2286000" cy="381000"/>
          </a:xfrm>
          <a:prstGeom prst="flowChartProcess">
            <a:avLst/>
          </a:prstGeom>
        </p:spPr>
        <p:style>
          <a:lnRef idx="1">
            <a:schemeClr val="accent6"/>
          </a:lnRef>
          <a:fillRef idx="2">
            <a:schemeClr val="accent6"/>
          </a:fillRef>
          <a:effectRef idx="1">
            <a:schemeClr val="accent6"/>
          </a:effectRef>
          <a:fontRef idx="minor">
            <a:schemeClr val="dk1"/>
          </a:fontRef>
        </p:style>
        <p:txBody>
          <a:bodyPr anchor="ctr"/>
          <a:lstStyle/>
          <a:p>
            <a:pPr algn="ctr">
              <a:defRPr/>
            </a:pPr>
            <a:r>
              <a:rPr lang="en-US" dirty="0"/>
              <a:t>Notify Traveler</a:t>
            </a:r>
          </a:p>
        </p:txBody>
      </p:sp>
      <p:sp>
        <p:nvSpPr>
          <p:cNvPr id="50" name="Flowchart: Decision 49"/>
          <p:cNvSpPr/>
          <p:nvPr/>
        </p:nvSpPr>
        <p:spPr>
          <a:xfrm>
            <a:off x="6019800" y="2438400"/>
            <a:ext cx="2989263" cy="1295400"/>
          </a:xfrm>
          <a:prstGeom prst="flowChartDecision">
            <a:avLst/>
          </a:prstGeom>
        </p:spPr>
        <p:style>
          <a:lnRef idx="1">
            <a:schemeClr val="accent6"/>
          </a:lnRef>
          <a:fillRef idx="2">
            <a:schemeClr val="accent6"/>
          </a:fillRef>
          <a:effectRef idx="1">
            <a:schemeClr val="accent6"/>
          </a:effectRef>
          <a:fontRef idx="minor">
            <a:schemeClr val="dk1"/>
          </a:fontRef>
        </p:style>
        <p:txBody>
          <a:bodyPr anchor="ctr"/>
          <a:lstStyle/>
          <a:p>
            <a:pPr algn="ctr">
              <a:defRPr/>
            </a:pPr>
            <a:r>
              <a:rPr lang="en-US" dirty="0"/>
              <a:t>Frequent Flyer Mileage Sufficient?</a:t>
            </a:r>
          </a:p>
        </p:txBody>
      </p:sp>
      <p:sp>
        <p:nvSpPr>
          <p:cNvPr id="51" name="Flowchart: Process 50"/>
          <p:cNvSpPr/>
          <p:nvPr/>
        </p:nvSpPr>
        <p:spPr>
          <a:xfrm>
            <a:off x="6372225" y="4114800"/>
            <a:ext cx="2286000" cy="381000"/>
          </a:xfrm>
          <a:prstGeom prst="flowChartProcess">
            <a:avLst/>
          </a:prstGeom>
        </p:spPr>
        <p:style>
          <a:lnRef idx="1">
            <a:schemeClr val="accent6"/>
          </a:lnRef>
          <a:fillRef idx="2">
            <a:schemeClr val="accent6"/>
          </a:fillRef>
          <a:effectRef idx="1">
            <a:schemeClr val="accent6"/>
          </a:effectRef>
          <a:fontRef idx="minor">
            <a:schemeClr val="dk1"/>
          </a:fontRef>
        </p:style>
        <p:txBody>
          <a:bodyPr anchor="ctr"/>
          <a:lstStyle/>
          <a:p>
            <a:pPr algn="ctr">
              <a:defRPr/>
            </a:pPr>
            <a:r>
              <a:rPr lang="en-US" dirty="0"/>
              <a:t>Subtract Mileage</a:t>
            </a:r>
          </a:p>
        </p:txBody>
      </p:sp>
      <p:sp>
        <p:nvSpPr>
          <p:cNvPr id="52" name="TextBox 51"/>
          <p:cNvSpPr txBox="1"/>
          <p:nvPr/>
        </p:nvSpPr>
        <p:spPr>
          <a:xfrm>
            <a:off x="5762625" y="914400"/>
            <a:ext cx="492125" cy="369888"/>
          </a:xfrm>
          <a:prstGeom prst="rect">
            <a:avLst/>
          </a:prstGeom>
          <a:noFill/>
        </p:spPr>
        <p:txBody>
          <a:bodyPr wrap="none">
            <a:spAutoFit/>
          </a:bodyPr>
          <a:lstStyle/>
          <a:p>
            <a:pPr>
              <a:defRPr/>
            </a:pPr>
            <a:r>
              <a:rPr lang="en-US" b="1" dirty="0">
                <a:solidFill>
                  <a:schemeClr val="accent6">
                    <a:lumMod val="50000"/>
                  </a:schemeClr>
                </a:solidFill>
                <a:latin typeface="Arial" pitchFamily="34" charset="0"/>
              </a:rPr>
              <a:t>NO</a:t>
            </a:r>
          </a:p>
        </p:txBody>
      </p:sp>
      <p:sp>
        <p:nvSpPr>
          <p:cNvPr id="53" name="TextBox 52"/>
          <p:cNvSpPr txBox="1"/>
          <p:nvPr/>
        </p:nvSpPr>
        <p:spPr>
          <a:xfrm>
            <a:off x="4745038" y="1600200"/>
            <a:ext cx="523875" cy="369888"/>
          </a:xfrm>
          <a:prstGeom prst="rect">
            <a:avLst/>
          </a:prstGeom>
          <a:noFill/>
        </p:spPr>
        <p:txBody>
          <a:bodyPr wrap="none">
            <a:spAutoFit/>
          </a:bodyPr>
          <a:lstStyle/>
          <a:p>
            <a:pPr>
              <a:defRPr/>
            </a:pPr>
            <a:r>
              <a:rPr lang="en-US" b="1" dirty="0">
                <a:solidFill>
                  <a:schemeClr val="accent6">
                    <a:lumMod val="50000"/>
                  </a:schemeClr>
                </a:solidFill>
                <a:latin typeface="Arial" pitchFamily="34" charset="0"/>
              </a:rPr>
              <a:t>YES</a:t>
            </a:r>
          </a:p>
        </p:txBody>
      </p:sp>
      <p:cxnSp>
        <p:nvCxnSpPr>
          <p:cNvPr id="55" name="Straight Arrow Connector 54"/>
          <p:cNvCxnSpPr>
            <a:stCxn id="4" idx="2"/>
            <a:endCxn id="30" idx="0"/>
          </p:cNvCxnSpPr>
          <p:nvPr/>
        </p:nvCxnSpPr>
        <p:spPr>
          <a:xfrm rot="5400000">
            <a:off x="4379120" y="650081"/>
            <a:ext cx="233362" cy="3175"/>
          </a:xfrm>
          <a:prstGeom prst="straightConnector1">
            <a:avLst/>
          </a:prstGeom>
          <a:ln>
            <a:tailEnd type="arrow"/>
          </a:ln>
        </p:spPr>
        <p:style>
          <a:lnRef idx="2">
            <a:schemeClr val="accent2"/>
          </a:lnRef>
          <a:fillRef idx="0">
            <a:schemeClr val="accent2"/>
          </a:fillRef>
          <a:effectRef idx="1">
            <a:schemeClr val="accent2"/>
          </a:effectRef>
          <a:fontRef idx="minor">
            <a:schemeClr val="tx1"/>
          </a:fontRef>
        </p:style>
      </p:cxnSp>
      <p:cxnSp>
        <p:nvCxnSpPr>
          <p:cNvPr id="57" name="Straight Arrow Connector 56"/>
          <p:cNvCxnSpPr>
            <a:stCxn id="30" idx="2"/>
            <a:endCxn id="21" idx="0"/>
          </p:cNvCxnSpPr>
          <p:nvPr/>
        </p:nvCxnSpPr>
        <p:spPr>
          <a:xfrm rot="5400000">
            <a:off x="4378326" y="1874837"/>
            <a:ext cx="234950" cy="3175"/>
          </a:xfrm>
          <a:prstGeom prst="straightConnector1">
            <a:avLst/>
          </a:prstGeom>
          <a:ln>
            <a:tailEnd type="arrow"/>
          </a:ln>
        </p:spPr>
        <p:style>
          <a:lnRef idx="2">
            <a:schemeClr val="accent2"/>
          </a:lnRef>
          <a:fillRef idx="0">
            <a:schemeClr val="accent2"/>
          </a:fillRef>
          <a:effectRef idx="1">
            <a:schemeClr val="accent2"/>
          </a:effectRef>
          <a:fontRef idx="minor">
            <a:schemeClr val="tx1"/>
          </a:fontRef>
        </p:style>
      </p:cxnSp>
      <p:cxnSp>
        <p:nvCxnSpPr>
          <p:cNvPr id="61" name="Straight Arrow Connector 60"/>
          <p:cNvCxnSpPr>
            <a:stCxn id="21" idx="2"/>
            <a:endCxn id="31" idx="0"/>
          </p:cNvCxnSpPr>
          <p:nvPr/>
        </p:nvCxnSpPr>
        <p:spPr>
          <a:xfrm rot="5400000">
            <a:off x="4388644" y="2482056"/>
            <a:ext cx="215900" cy="1588"/>
          </a:xfrm>
          <a:prstGeom prst="straightConnector1">
            <a:avLst/>
          </a:prstGeom>
          <a:ln>
            <a:tailEnd type="arrow"/>
          </a:ln>
        </p:spPr>
        <p:style>
          <a:lnRef idx="2">
            <a:schemeClr val="accent2"/>
          </a:lnRef>
          <a:fillRef idx="0">
            <a:schemeClr val="accent2"/>
          </a:fillRef>
          <a:effectRef idx="1">
            <a:schemeClr val="accent2"/>
          </a:effectRef>
          <a:fontRef idx="minor">
            <a:schemeClr val="tx1"/>
          </a:fontRef>
        </p:style>
      </p:cxnSp>
      <p:cxnSp>
        <p:nvCxnSpPr>
          <p:cNvPr id="63" name="Straight Arrow Connector 62"/>
          <p:cNvCxnSpPr>
            <a:stCxn id="31" idx="2"/>
            <a:endCxn id="22" idx="0"/>
          </p:cNvCxnSpPr>
          <p:nvPr/>
        </p:nvCxnSpPr>
        <p:spPr>
          <a:xfrm rot="5400000">
            <a:off x="4369594" y="3707606"/>
            <a:ext cx="254000" cy="1588"/>
          </a:xfrm>
          <a:prstGeom prst="straightConnector1">
            <a:avLst/>
          </a:prstGeom>
          <a:ln>
            <a:tailEnd type="arrow"/>
          </a:ln>
        </p:spPr>
        <p:style>
          <a:lnRef idx="2">
            <a:schemeClr val="accent2"/>
          </a:lnRef>
          <a:fillRef idx="0">
            <a:schemeClr val="accent2"/>
          </a:fillRef>
          <a:effectRef idx="1">
            <a:schemeClr val="accent2"/>
          </a:effectRef>
          <a:fontRef idx="minor">
            <a:schemeClr val="tx1"/>
          </a:fontRef>
        </p:style>
      </p:cxnSp>
      <p:cxnSp>
        <p:nvCxnSpPr>
          <p:cNvPr id="65" name="Straight Arrow Connector 64"/>
          <p:cNvCxnSpPr>
            <a:stCxn id="22" idx="2"/>
            <a:endCxn id="32" idx="0"/>
          </p:cNvCxnSpPr>
          <p:nvPr/>
        </p:nvCxnSpPr>
        <p:spPr>
          <a:xfrm rot="5400000">
            <a:off x="4379119" y="4331494"/>
            <a:ext cx="233363" cy="3175"/>
          </a:xfrm>
          <a:prstGeom prst="straightConnector1">
            <a:avLst/>
          </a:prstGeom>
          <a:ln>
            <a:tailEnd type="arrow"/>
          </a:ln>
        </p:spPr>
        <p:style>
          <a:lnRef idx="2">
            <a:schemeClr val="accent2"/>
          </a:lnRef>
          <a:fillRef idx="0">
            <a:schemeClr val="accent2"/>
          </a:fillRef>
          <a:effectRef idx="1">
            <a:schemeClr val="accent2"/>
          </a:effectRef>
          <a:fontRef idx="minor">
            <a:schemeClr val="tx1"/>
          </a:fontRef>
        </p:style>
      </p:cxnSp>
      <p:cxnSp>
        <p:nvCxnSpPr>
          <p:cNvPr id="67" name="Straight Arrow Connector 66"/>
          <p:cNvCxnSpPr>
            <a:stCxn id="32" idx="2"/>
            <a:endCxn id="23" idx="0"/>
          </p:cNvCxnSpPr>
          <p:nvPr/>
        </p:nvCxnSpPr>
        <p:spPr>
          <a:xfrm rot="5400000">
            <a:off x="4378326" y="5556250"/>
            <a:ext cx="234950" cy="3175"/>
          </a:xfrm>
          <a:prstGeom prst="straightConnector1">
            <a:avLst/>
          </a:prstGeom>
          <a:ln>
            <a:tailEnd type="arrow"/>
          </a:ln>
        </p:spPr>
        <p:style>
          <a:lnRef idx="2">
            <a:schemeClr val="accent2"/>
          </a:lnRef>
          <a:fillRef idx="0">
            <a:schemeClr val="accent2"/>
          </a:fillRef>
          <a:effectRef idx="1">
            <a:schemeClr val="accent2"/>
          </a:effectRef>
          <a:fontRef idx="minor">
            <a:schemeClr val="tx1"/>
          </a:fontRef>
        </p:style>
      </p:cxnSp>
      <p:cxnSp>
        <p:nvCxnSpPr>
          <p:cNvPr id="69" name="Straight Arrow Connector 68"/>
          <p:cNvCxnSpPr>
            <a:stCxn id="23" idx="2"/>
            <a:endCxn id="24" idx="0"/>
          </p:cNvCxnSpPr>
          <p:nvPr/>
        </p:nvCxnSpPr>
        <p:spPr>
          <a:xfrm rot="5400000">
            <a:off x="4378326" y="6172200"/>
            <a:ext cx="234950" cy="3175"/>
          </a:xfrm>
          <a:prstGeom prst="straightConnector1">
            <a:avLst/>
          </a:prstGeom>
          <a:ln>
            <a:tailEnd type="arrow"/>
          </a:ln>
        </p:spPr>
        <p:style>
          <a:lnRef idx="2">
            <a:schemeClr val="accent2"/>
          </a:lnRef>
          <a:fillRef idx="0">
            <a:schemeClr val="accent2"/>
          </a:fillRef>
          <a:effectRef idx="1">
            <a:schemeClr val="accent2"/>
          </a:effectRef>
          <a:fontRef idx="minor">
            <a:schemeClr val="tx1"/>
          </a:fontRef>
        </p:style>
      </p:cxnSp>
      <p:cxnSp>
        <p:nvCxnSpPr>
          <p:cNvPr id="71" name="Straight Arrow Connector 70"/>
          <p:cNvCxnSpPr>
            <a:stCxn id="30" idx="3"/>
            <a:endCxn id="44" idx="1"/>
          </p:cNvCxnSpPr>
          <p:nvPr/>
        </p:nvCxnSpPr>
        <p:spPr>
          <a:xfrm>
            <a:off x="5638800" y="1263650"/>
            <a:ext cx="733425" cy="1588"/>
          </a:xfrm>
          <a:prstGeom prst="straightConnector1">
            <a:avLst/>
          </a:prstGeom>
          <a:ln>
            <a:tailEnd type="arrow"/>
          </a:ln>
        </p:spPr>
        <p:style>
          <a:lnRef idx="2">
            <a:schemeClr val="accent2"/>
          </a:lnRef>
          <a:fillRef idx="0">
            <a:schemeClr val="accent2"/>
          </a:fillRef>
          <a:effectRef idx="1">
            <a:schemeClr val="accent2"/>
          </a:effectRef>
          <a:fontRef idx="minor">
            <a:schemeClr val="tx1"/>
          </a:fontRef>
        </p:style>
      </p:cxnSp>
      <p:cxnSp>
        <p:nvCxnSpPr>
          <p:cNvPr id="73" name="Straight Arrow Connector 72"/>
          <p:cNvCxnSpPr>
            <a:stCxn id="31" idx="3"/>
            <a:endCxn id="50" idx="1"/>
          </p:cNvCxnSpPr>
          <p:nvPr/>
        </p:nvCxnSpPr>
        <p:spPr>
          <a:xfrm>
            <a:off x="5638800" y="3086100"/>
            <a:ext cx="381000" cy="0"/>
          </a:xfrm>
          <a:prstGeom prst="straightConnector1">
            <a:avLst/>
          </a:prstGeom>
          <a:ln>
            <a:tailEnd type="arrow"/>
          </a:ln>
        </p:spPr>
        <p:style>
          <a:lnRef idx="2">
            <a:schemeClr val="accent2"/>
          </a:lnRef>
          <a:fillRef idx="0">
            <a:schemeClr val="accent2"/>
          </a:fillRef>
          <a:effectRef idx="1">
            <a:schemeClr val="accent2"/>
          </a:effectRef>
          <a:fontRef idx="minor">
            <a:schemeClr val="tx1"/>
          </a:fontRef>
        </p:style>
      </p:cxnSp>
      <p:cxnSp>
        <p:nvCxnSpPr>
          <p:cNvPr id="75" name="Straight Arrow Connector 74"/>
          <p:cNvCxnSpPr>
            <a:stCxn id="50" idx="0"/>
            <a:endCxn id="44" idx="2"/>
          </p:cNvCxnSpPr>
          <p:nvPr/>
        </p:nvCxnSpPr>
        <p:spPr>
          <a:xfrm rot="16200000" flipV="1">
            <a:off x="7023100" y="1946275"/>
            <a:ext cx="984250" cy="0"/>
          </a:xfrm>
          <a:prstGeom prst="straightConnector1">
            <a:avLst/>
          </a:prstGeom>
          <a:ln>
            <a:tailEnd type="arrow"/>
          </a:ln>
        </p:spPr>
        <p:style>
          <a:lnRef idx="2">
            <a:schemeClr val="accent2"/>
          </a:lnRef>
          <a:fillRef idx="0">
            <a:schemeClr val="accent2"/>
          </a:fillRef>
          <a:effectRef idx="1">
            <a:schemeClr val="accent2"/>
          </a:effectRef>
          <a:fontRef idx="minor">
            <a:schemeClr val="tx1"/>
          </a:fontRef>
        </p:style>
      </p:cxnSp>
      <p:cxnSp>
        <p:nvCxnSpPr>
          <p:cNvPr id="77" name="Straight Arrow Connector 76"/>
          <p:cNvCxnSpPr>
            <a:stCxn id="50" idx="2"/>
            <a:endCxn id="51" idx="0"/>
          </p:cNvCxnSpPr>
          <p:nvPr/>
        </p:nvCxnSpPr>
        <p:spPr>
          <a:xfrm rot="5400000">
            <a:off x="7324725" y="3924300"/>
            <a:ext cx="381000" cy="0"/>
          </a:xfrm>
          <a:prstGeom prst="straightConnector1">
            <a:avLst/>
          </a:prstGeom>
          <a:ln>
            <a:tailEnd type="arrow"/>
          </a:ln>
        </p:spPr>
        <p:style>
          <a:lnRef idx="2">
            <a:schemeClr val="accent2"/>
          </a:lnRef>
          <a:fillRef idx="0">
            <a:schemeClr val="accent2"/>
          </a:fillRef>
          <a:effectRef idx="1">
            <a:schemeClr val="accent2"/>
          </a:effectRef>
          <a:fontRef idx="minor">
            <a:schemeClr val="tx1"/>
          </a:fontRef>
        </p:style>
      </p:cxnSp>
      <p:cxnSp>
        <p:nvCxnSpPr>
          <p:cNvPr id="79" name="Straight Arrow Connector 78"/>
          <p:cNvCxnSpPr>
            <a:stCxn id="32" idx="3"/>
            <a:endCxn id="46" idx="1"/>
          </p:cNvCxnSpPr>
          <p:nvPr/>
        </p:nvCxnSpPr>
        <p:spPr>
          <a:xfrm>
            <a:off x="5638800" y="4945063"/>
            <a:ext cx="733425" cy="1587"/>
          </a:xfrm>
          <a:prstGeom prst="straightConnector1">
            <a:avLst/>
          </a:prstGeom>
          <a:ln>
            <a:tailEnd type="arrow"/>
          </a:ln>
        </p:spPr>
        <p:style>
          <a:lnRef idx="2">
            <a:schemeClr val="accent2"/>
          </a:lnRef>
          <a:fillRef idx="0">
            <a:schemeClr val="accent2"/>
          </a:fillRef>
          <a:effectRef idx="1">
            <a:schemeClr val="accent2"/>
          </a:effectRef>
          <a:fontRef idx="minor">
            <a:schemeClr val="tx1"/>
          </a:fontRef>
        </p:style>
      </p:cxnSp>
      <p:sp>
        <p:nvSpPr>
          <p:cNvPr id="80" name="TextBox 79"/>
          <p:cNvSpPr txBox="1"/>
          <p:nvPr/>
        </p:nvSpPr>
        <p:spPr>
          <a:xfrm>
            <a:off x="7585075" y="2144713"/>
            <a:ext cx="492125" cy="369887"/>
          </a:xfrm>
          <a:prstGeom prst="rect">
            <a:avLst/>
          </a:prstGeom>
          <a:noFill/>
        </p:spPr>
        <p:txBody>
          <a:bodyPr wrap="none">
            <a:spAutoFit/>
          </a:bodyPr>
          <a:lstStyle/>
          <a:p>
            <a:pPr>
              <a:defRPr/>
            </a:pPr>
            <a:r>
              <a:rPr lang="en-US" b="1" dirty="0">
                <a:solidFill>
                  <a:schemeClr val="accent6">
                    <a:lumMod val="50000"/>
                  </a:schemeClr>
                </a:solidFill>
                <a:latin typeface="Arial" pitchFamily="34" charset="0"/>
              </a:rPr>
              <a:t>NO</a:t>
            </a:r>
          </a:p>
        </p:txBody>
      </p:sp>
      <p:sp>
        <p:nvSpPr>
          <p:cNvPr id="81" name="TextBox 80"/>
          <p:cNvSpPr txBox="1"/>
          <p:nvPr/>
        </p:nvSpPr>
        <p:spPr>
          <a:xfrm>
            <a:off x="4745038" y="3463925"/>
            <a:ext cx="523875" cy="368300"/>
          </a:xfrm>
          <a:prstGeom prst="rect">
            <a:avLst/>
          </a:prstGeom>
          <a:noFill/>
        </p:spPr>
        <p:txBody>
          <a:bodyPr wrap="none">
            <a:spAutoFit/>
          </a:bodyPr>
          <a:lstStyle/>
          <a:p>
            <a:pPr>
              <a:defRPr/>
            </a:pPr>
            <a:r>
              <a:rPr lang="en-US" b="1" dirty="0">
                <a:solidFill>
                  <a:schemeClr val="accent6">
                    <a:lumMod val="50000"/>
                  </a:schemeClr>
                </a:solidFill>
                <a:latin typeface="Arial" pitchFamily="34" charset="0"/>
              </a:rPr>
              <a:t>YES</a:t>
            </a:r>
          </a:p>
        </p:txBody>
      </p:sp>
      <p:sp>
        <p:nvSpPr>
          <p:cNvPr id="82" name="TextBox 81"/>
          <p:cNvSpPr txBox="1"/>
          <p:nvPr/>
        </p:nvSpPr>
        <p:spPr>
          <a:xfrm>
            <a:off x="5762625" y="4572000"/>
            <a:ext cx="492125" cy="369888"/>
          </a:xfrm>
          <a:prstGeom prst="rect">
            <a:avLst/>
          </a:prstGeom>
          <a:noFill/>
        </p:spPr>
        <p:txBody>
          <a:bodyPr wrap="none">
            <a:spAutoFit/>
          </a:bodyPr>
          <a:lstStyle/>
          <a:p>
            <a:pPr>
              <a:defRPr/>
            </a:pPr>
            <a:r>
              <a:rPr lang="en-US" b="1" dirty="0">
                <a:solidFill>
                  <a:schemeClr val="accent6">
                    <a:lumMod val="50000"/>
                  </a:schemeClr>
                </a:solidFill>
                <a:latin typeface="Arial" pitchFamily="34" charset="0"/>
              </a:rPr>
              <a:t>NO</a:t>
            </a:r>
          </a:p>
        </p:txBody>
      </p:sp>
      <p:sp>
        <p:nvSpPr>
          <p:cNvPr id="83" name="TextBox 82"/>
          <p:cNvSpPr txBox="1"/>
          <p:nvPr/>
        </p:nvSpPr>
        <p:spPr>
          <a:xfrm>
            <a:off x="4745038" y="5257800"/>
            <a:ext cx="523875" cy="369888"/>
          </a:xfrm>
          <a:prstGeom prst="rect">
            <a:avLst/>
          </a:prstGeom>
          <a:noFill/>
        </p:spPr>
        <p:txBody>
          <a:bodyPr wrap="none">
            <a:spAutoFit/>
          </a:bodyPr>
          <a:lstStyle/>
          <a:p>
            <a:pPr>
              <a:defRPr/>
            </a:pPr>
            <a:r>
              <a:rPr lang="en-US" b="1" dirty="0">
                <a:solidFill>
                  <a:schemeClr val="accent6">
                    <a:lumMod val="50000"/>
                  </a:schemeClr>
                </a:solidFill>
                <a:latin typeface="Arial" pitchFamily="34" charset="0"/>
              </a:rPr>
              <a:t>YES</a:t>
            </a:r>
          </a:p>
        </p:txBody>
      </p:sp>
      <p:cxnSp>
        <p:nvCxnSpPr>
          <p:cNvPr id="87" name="Elbow Connector 86"/>
          <p:cNvCxnSpPr>
            <a:stCxn id="51" idx="3"/>
            <a:endCxn id="23" idx="3"/>
          </p:cNvCxnSpPr>
          <p:nvPr/>
        </p:nvCxnSpPr>
        <p:spPr>
          <a:xfrm flipH="1">
            <a:off x="5638800" y="4305300"/>
            <a:ext cx="3019425" cy="1560513"/>
          </a:xfrm>
          <a:prstGeom prst="bentConnector3">
            <a:avLst>
              <a:gd name="adj1" fmla="val -7573"/>
            </a:avLst>
          </a:prstGeom>
          <a:ln>
            <a:tailEnd type="arrow"/>
          </a:ln>
        </p:spPr>
        <p:style>
          <a:lnRef idx="2">
            <a:schemeClr val="accent2"/>
          </a:lnRef>
          <a:fillRef idx="0">
            <a:schemeClr val="accent2"/>
          </a:fillRef>
          <a:effectRef idx="1">
            <a:schemeClr val="accent2"/>
          </a:effectRef>
          <a:fontRef idx="minor">
            <a:schemeClr val="tx1"/>
          </a:fontRef>
        </p:style>
      </p:cxnSp>
      <p:cxnSp>
        <p:nvCxnSpPr>
          <p:cNvPr id="91" name="Straight Arrow Connector 90"/>
          <p:cNvCxnSpPr>
            <a:stCxn id="25" idx="2"/>
            <a:endCxn id="26" idx="0"/>
          </p:cNvCxnSpPr>
          <p:nvPr/>
        </p:nvCxnSpPr>
        <p:spPr>
          <a:xfrm rot="5400000">
            <a:off x="1364457" y="1829594"/>
            <a:ext cx="457200" cy="1587"/>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93" name="Straight Arrow Connector 92"/>
          <p:cNvCxnSpPr>
            <a:stCxn id="26" idx="2"/>
            <a:endCxn id="34" idx="0"/>
          </p:cNvCxnSpPr>
          <p:nvPr/>
        </p:nvCxnSpPr>
        <p:spPr>
          <a:xfrm rot="16200000" flipH="1">
            <a:off x="1367632" y="2663031"/>
            <a:ext cx="457200" cy="7937"/>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95" name="Straight Arrow Connector 94"/>
          <p:cNvCxnSpPr>
            <a:stCxn id="34" idx="2"/>
            <a:endCxn id="27" idx="0"/>
          </p:cNvCxnSpPr>
          <p:nvPr/>
        </p:nvCxnSpPr>
        <p:spPr>
          <a:xfrm rot="5400000">
            <a:off x="1367632" y="4110831"/>
            <a:ext cx="457200" cy="7937"/>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97" name="Elbow Connector 96"/>
          <p:cNvCxnSpPr>
            <a:stCxn id="27" idx="3"/>
            <a:endCxn id="4" idx="1"/>
          </p:cNvCxnSpPr>
          <p:nvPr/>
        </p:nvCxnSpPr>
        <p:spPr>
          <a:xfrm flipV="1">
            <a:off x="2735263" y="266700"/>
            <a:ext cx="617537" cy="4267200"/>
          </a:xfrm>
          <a:prstGeom prst="bentConnector3">
            <a:avLst>
              <a:gd name="adj1" fmla="val 50000"/>
            </a:avLst>
          </a:prstGeom>
          <a:ln>
            <a:tailEnd type="arrow"/>
          </a:ln>
        </p:spPr>
        <p:style>
          <a:lnRef idx="3">
            <a:schemeClr val="accent1"/>
          </a:lnRef>
          <a:fillRef idx="0">
            <a:schemeClr val="accent1"/>
          </a:fillRef>
          <a:effectRef idx="2">
            <a:schemeClr val="accent1"/>
          </a:effectRef>
          <a:fontRef idx="minor">
            <a:schemeClr val="tx1"/>
          </a:fontRef>
        </p:style>
      </p:cxnSp>
      <p:cxnSp>
        <p:nvCxnSpPr>
          <p:cNvPr id="99" name="Elbow Connector 98"/>
          <p:cNvCxnSpPr>
            <a:stCxn id="34" idx="1"/>
            <a:endCxn id="26" idx="1"/>
          </p:cNvCxnSpPr>
          <p:nvPr/>
        </p:nvCxnSpPr>
        <p:spPr>
          <a:xfrm rot="10800000">
            <a:off x="449263" y="2247900"/>
            <a:ext cx="7937" cy="1143000"/>
          </a:xfrm>
          <a:prstGeom prst="bentConnector3">
            <a:avLst>
              <a:gd name="adj1" fmla="val 3200081"/>
            </a:avLst>
          </a:prstGeom>
          <a:ln>
            <a:tailEnd type="arrow"/>
          </a:ln>
        </p:spPr>
        <p:style>
          <a:lnRef idx="2">
            <a:schemeClr val="accent1"/>
          </a:lnRef>
          <a:fillRef idx="0">
            <a:schemeClr val="accent1"/>
          </a:fillRef>
          <a:effectRef idx="1">
            <a:schemeClr val="accent1"/>
          </a:effectRef>
          <a:fontRef idx="minor">
            <a:schemeClr val="tx1"/>
          </a:fontRef>
        </p:style>
      </p:cxnSp>
      <p:sp>
        <p:nvSpPr>
          <p:cNvPr id="100" name="TextBox 99"/>
          <p:cNvSpPr txBox="1"/>
          <p:nvPr/>
        </p:nvSpPr>
        <p:spPr>
          <a:xfrm>
            <a:off x="276225" y="2982913"/>
            <a:ext cx="530225" cy="369887"/>
          </a:xfrm>
          <a:prstGeom prst="rect">
            <a:avLst/>
          </a:prstGeom>
          <a:noFill/>
        </p:spPr>
        <p:txBody>
          <a:bodyPr wrap="none">
            <a:spAutoFit/>
          </a:bodyPr>
          <a:lstStyle/>
          <a:p>
            <a:pPr>
              <a:defRPr/>
            </a:pPr>
            <a:r>
              <a:rPr lang="en-US" b="1" dirty="0">
                <a:solidFill>
                  <a:schemeClr val="tx2">
                    <a:lumMod val="75000"/>
                  </a:schemeClr>
                </a:solidFill>
                <a:latin typeface="Arial" pitchFamily="34" charset="0"/>
              </a:rPr>
              <a:t>NO</a:t>
            </a:r>
          </a:p>
        </p:txBody>
      </p:sp>
      <p:sp>
        <p:nvSpPr>
          <p:cNvPr id="101" name="TextBox 100"/>
          <p:cNvSpPr txBox="1"/>
          <p:nvPr/>
        </p:nvSpPr>
        <p:spPr>
          <a:xfrm>
            <a:off x="1676400" y="3897313"/>
            <a:ext cx="523875" cy="369887"/>
          </a:xfrm>
          <a:prstGeom prst="rect">
            <a:avLst/>
          </a:prstGeom>
          <a:noFill/>
        </p:spPr>
        <p:txBody>
          <a:bodyPr wrap="none">
            <a:spAutoFit/>
          </a:bodyPr>
          <a:lstStyle/>
          <a:p>
            <a:pPr>
              <a:defRPr/>
            </a:pPr>
            <a:r>
              <a:rPr lang="en-US" b="1" dirty="0">
                <a:solidFill>
                  <a:schemeClr val="tx2">
                    <a:lumMod val="75000"/>
                  </a:schemeClr>
                </a:solidFill>
                <a:latin typeface="Arial" pitchFamily="34" charset="0"/>
              </a:rPr>
              <a:t>YES</a:t>
            </a:r>
          </a:p>
        </p:txBody>
      </p:sp>
      <p:sp>
        <p:nvSpPr>
          <p:cNvPr id="112" name="TextBox 111"/>
          <p:cNvSpPr txBox="1"/>
          <p:nvPr/>
        </p:nvSpPr>
        <p:spPr>
          <a:xfrm>
            <a:off x="228600" y="304800"/>
            <a:ext cx="1757363" cy="584200"/>
          </a:xfrm>
          <a:prstGeom prst="rect">
            <a:avLst/>
          </a:prstGeom>
          <a:noFill/>
        </p:spPr>
        <p:txBody>
          <a:bodyPr wrap="none">
            <a:spAutoFit/>
          </a:bodyPr>
          <a:lstStyle/>
          <a:p>
            <a:pPr>
              <a:defRPr/>
            </a:pPr>
            <a:r>
              <a:rPr lang="en-US" sz="3200" b="1" dirty="0">
                <a:solidFill>
                  <a:schemeClr val="tx2">
                    <a:lumMod val="75000"/>
                  </a:schemeClr>
                </a:solidFill>
                <a:latin typeface="Arial" pitchFamily="34" charset="0"/>
              </a:rPr>
              <a:t>Traveler</a:t>
            </a:r>
          </a:p>
        </p:txBody>
      </p:sp>
      <p:sp>
        <p:nvSpPr>
          <p:cNvPr id="113" name="TextBox 112"/>
          <p:cNvSpPr txBox="1"/>
          <p:nvPr/>
        </p:nvSpPr>
        <p:spPr>
          <a:xfrm>
            <a:off x="6054725" y="304800"/>
            <a:ext cx="3089275" cy="1246188"/>
          </a:xfrm>
          <a:prstGeom prst="rect">
            <a:avLst/>
          </a:prstGeom>
          <a:noFill/>
        </p:spPr>
        <p:txBody>
          <a:bodyPr>
            <a:spAutoFit/>
          </a:bodyPr>
          <a:lstStyle/>
          <a:p>
            <a:pPr>
              <a:lnSpc>
                <a:spcPts val="3000"/>
              </a:lnSpc>
              <a:defRPr/>
            </a:pPr>
            <a:r>
              <a:rPr lang="en-US" sz="2800" b="1" dirty="0">
                <a:solidFill>
                  <a:schemeClr val="accent6">
                    <a:lumMod val="50000"/>
                  </a:schemeClr>
                </a:solidFill>
                <a:latin typeface="Arial" pitchFamily="34" charset="0"/>
              </a:rPr>
              <a:t>Airline Web Site</a:t>
            </a:r>
          </a:p>
          <a:p>
            <a:pPr>
              <a:lnSpc>
                <a:spcPts val="3000"/>
              </a:lnSpc>
              <a:defRPr/>
            </a:pPr>
            <a:r>
              <a:rPr lang="en-US" sz="3200" b="1" dirty="0">
                <a:solidFill>
                  <a:schemeClr val="accent6">
                    <a:lumMod val="50000"/>
                  </a:schemeClr>
                </a:solidFill>
                <a:latin typeface="Arial" pitchFamily="34" charset="0"/>
              </a:rPr>
              <a:t> </a:t>
            </a:r>
          </a:p>
          <a:p>
            <a:pPr>
              <a:lnSpc>
                <a:spcPts val="3000"/>
              </a:lnSpc>
              <a:defRPr/>
            </a:pPr>
            <a:endParaRPr lang="en-US" sz="3200" b="1" dirty="0">
              <a:solidFill>
                <a:schemeClr val="accent6">
                  <a:lumMod val="50000"/>
                </a:schemeClr>
              </a:solidFill>
              <a:latin typeface="Arial" pitchFamily="34" charset="0"/>
            </a:endParaRPr>
          </a:p>
        </p:txBody>
      </p:sp>
      <p:cxnSp>
        <p:nvCxnSpPr>
          <p:cNvPr id="121" name="Elbow Connector 120"/>
          <p:cNvCxnSpPr>
            <a:stCxn id="24" idx="1"/>
            <a:endCxn id="28" idx="3"/>
          </p:cNvCxnSpPr>
          <p:nvPr/>
        </p:nvCxnSpPr>
        <p:spPr>
          <a:xfrm rot="10800000">
            <a:off x="2735263" y="5448300"/>
            <a:ext cx="617537" cy="1031875"/>
          </a:xfrm>
          <a:prstGeom prst="bentConnector3">
            <a:avLst>
              <a:gd name="adj1" fmla="val 59562"/>
            </a:avLst>
          </a:prstGeom>
          <a:ln>
            <a:tailEnd type="arrow"/>
          </a:ln>
        </p:spPr>
        <p:style>
          <a:lnRef idx="3">
            <a:schemeClr val="accent2"/>
          </a:lnRef>
          <a:fillRef idx="0">
            <a:schemeClr val="accent2"/>
          </a:fillRef>
          <a:effectRef idx="2">
            <a:schemeClr val="accent2"/>
          </a:effectRef>
          <a:fontRef idx="minor">
            <a:schemeClr val="tx1"/>
          </a:fontRef>
        </p:style>
      </p:cxnSp>
      <p:sp>
        <p:nvSpPr>
          <p:cNvPr id="126" name="TextBox 125"/>
          <p:cNvSpPr txBox="1"/>
          <p:nvPr/>
        </p:nvSpPr>
        <p:spPr>
          <a:xfrm>
            <a:off x="7585075" y="3716338"/>
            <a:ext cx="523875" cy="368300"/>
          </a:xfrm>
          <a:prstGeom prst="rect">
            <a:avLst/>
          </a:prstGeom>
          <a:noFill/>
        </p:spPr>
        <p:txBody>
          <a:bodyPr wrap="none">
            <a:spAutoFit/>
          </a:bodyPr>
          <a:lstStyle/>
          <a:p>
            <a:pPr>
              <a:defRPr/>
            </a:pPr>
            <a:r>
              <a:rPr lang="en-US" b="1" dirty="0">
                <a:solidFill>
                  <a:schemeClr val="accent6">
                    <a:lumMod val="50000"/>
                  </a:schemeClr>
                </a:solidFill>
                <a:latin typeface="Arial" pitchFamily="34" charset="0"/>
              </a:rPr>
              <a:t>YES</a:t>
            </a:r>
          </a:p>
        </p:txBody>
      </p:sp>
      <p:sp>
        <p:nvSpPr>
          <p:cNvPr id="127" name="TextBox 126"/>
          <p:cNvSpPr txBox="1"/>
          <p:nvPr/>
        </p:nvSpPr>
        <p:spPr>
          <a:xfrm>
            <a:off x="5527675" y="2678113"/>
            <a:ext cx="492125" cy="369887"/>
          </a:xfrm>
          <a:prstGeom prst="rect">
            <a:avLst/>
          </a:prstGeom>
          <a:noFill/>
        </p:spPr>
        <p:txBody>
          <a:bodyPr wrap="none">
            <a:spAutoFit/>
          </a:bodyPr>
          <a:lstStyle/>
          <a:p>
            <a:pPr>
              <a:defRPr/>
            </a:pPr>
            <a:r>
              <a:rPr lang="en-US" b="1" dirty="0">
                <a:solidFill>
                  <a:schemeClr val="accent6">
                    <a:lumMod val="50000"/>
                  </a:schemeClr>
                </a:solidFill>
                <a:latin typeface="Arial" pitchFamily="34" charset="0"/>
              </a:rPr>
              <a:t>NO</a:t>
            </a:r>
          </a:p>
        </p:txBody>
      </p:sp>
    </p:spTree>
    <p:extLst>
      <p:ext uri="{BB962C8B-B14F-4D97-AF65-F5344CB8AC3E}">
        <p14:creationId xmlns:p14="http://schemas.microsoft.com/office/powerpoint/2010/main" val="3395049632"/>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idx="1"/>
          </p:nvPr>
        </p:nvSpPr>
        <p:spPr/>
        <p:txBody>
          <a:bodyPr>
            <a:normAutofit fontScale="92500" lnSpcReduction="10000"/>
          </a:bodyPr>
          <a:lstStyle/>
          <a:p>
            <a:r>
              <a:rPr lang="en-US" dirty="0" smtClean="0"/>
              <a:t>Information Systems &amp; Business Processes</a:t>
            </a:r>
            <a:endParaRPr lang="en-US" dirty="0"/>
          </a:p>
        </p:txBody>
      </p:sp>
      <p:sp>
        <p:nvSpPr>
          <p:cNvPr id="3" name="Content Placeholder 2"/>
          <p:cNvSpPr>
            <a:spLocks noGrp="1"/>
          </p:cNvSpPr>
          <p:nvPr>
            <p:ph sz="quarter" idx="14"/>
          </p:nvPr>
        </p:nvSpPr>
        <p:spPr/>
        <p:txBody>
          <a:bodyPr/>
          <a:lstStyle/>
          <a:p>
            <a:r>
              <a:rPr lang="en-US" dirty="0" smtClean="0"/>
              <a:t>IS’s vital role in three areas of business processes</a:t>
            </a:r>
          </a:p>
          <a:p>
            <a:pPr lvl="1"/>
            <a:r>
              <a:rPr lang="en-US" dirty="0" smtClean="0"/>
              <a:t>Executing the process</a:t>
            </a:r>
          </a:p>
          <a:p>
            <a:pPr lvl="1"/>
            <a:r>
              <a:rPr lang="en-US" dirty="0" smtClean="0"/>
              <a:t>Capturing and storing process data</a:t>
            </a:r>
          </a:p>
          <a:p>
            <a:pPr lvl="1"/>
            <a:r>
              <a:rPr lang="en-US" dirty="0" smtClean="0"/>
              <a:t>Monitoring process performance</a:t>
            </a:r>
            <a:endParaRPr lang="en-US" dirty="0"/>
          </a:p>
        </p:txBody>
      </p:sp>
    </p:spTree>
    <p:extLst>
      <p:ext uri="{BB962C8B-B14F-4D97-AF65-F5344CB8AC3E}">
        <p14:creationId xmlns:p14="http://schemas.microsoft.com/office/powerpoint/2010/main" val="128927603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3"/>
          <p:cNvSpPr>
            <a:spLocks noGrp="1"/>
          </p:cNvSpPr>
          <p:nvPr>
            <p:ph type="subTitle" idx="1"/>
          </p:nvPr>
        </p:nvSpPr>
        <p:spPr/>
        <p:txBody>
          <a:bodyPr/>
          <a:lstStyle/>
          <a:p>
            <a:r>
              <a:rPr lang="en-US" dirty="0" smtClean="0"/>
              <a:t>NASCAR Uses IT in Its Pre-Race Inspection</a:t>
            </a:r>
            <a:endParaRPr lang="en-US" dirty="0"/>
          </a:p>
        </p:txBody>
      </p:sp>
      <p:sp>
        <p:nvSpPr>
          <p:cNvPr id="5" name="Text Placeholder 4"/>
          <p:cNvSpPr>
            <a:spLocks noGrp="1"/>
          </p:cNvSpPr>
          <p:nvPr>
            <p:ph type="body" sz="quarter" idx="13"/>
          </p:nvPr>
        </p:nvSpPr>
        <p:spPr/>
        <p:txBody>
          <a:bodyPr/>
          <a:lstStyle/>
          <a:p>
            <a:endParaRPr lang="en-US"/>
          </a:p>
        </p:txBody>
      </p:sp>
      <p:sp>
        <p:nvSpPr>
          <p:cNvPr id="6" name="ClipArt Placeholder 5"/>
          <p:cNvSpPr>
            <a:spLocks noGrp="1"/>
          </p:cNvSpPr>
          <p:nvPr>
            <p:ph type="clipArt" sz="quarter" idx="14"/>
          </p:nvPr>
        </p:nvSpPr>
        <p:spPr/>
      </p:sp>
      <p:sp>
        <p:nvSpPr>
          <p:cNvPr id="7" name="Text Placeholder 6"/>
          <p:cNvSpPr>
            <a:spLocks noGrp="1"/>
          </p:cNvSpPr>
          <p:nvPr>
            <p:ph type="body" sz="quarter" idx="15"/>
          </p:nvPr>
        </p:nvSpPr>
        <p:spPr/>
        <p:txBody>
          <a:bodyPr/>
          <a:lstStyle/>
          <a:p>
            <a:r>
              <a:rPr lang="en-US" dirty="0" smtClean="0"/>
              <a:t>2.1</a:t>
            </a:r>
            <a:endParaRPr lang="en-US" dirty="0"/>
          </a:p>
        </p:txBody>
      </p:sp>
    </p:spTree>
    <p:extLst>
      <p:ext uri="{BB962C8B-B14F-4D97-AF65-F5344CB8AC3E}">
        <p14:creationId xmlns:p14="http://schemas.microsoft.com/office/powerpoint/2010/main" val="23839075"/>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3"/>
          <p:cNvSpPr>
            <a:spLocks noGrp="1"/>
          </p:cNvSpPr>
          <p:nvPr>
            <p:ph type="subTitle" idx="1"/>
          </p:nvPr>
        </p:nvSpPr>
        <p:spPr/>
        <p:txBody>
          <a:bodyPr/>
          <a:lstStyle/>
          <a:p>
            <a:r>
              <a:rPr lang="en-US" dirty="0" smtClean="0"/>
              <a:t>Executing the Process</a:t>
            </a:r>
            <a:endParaRPr lang="en-US" dirty="0"/>
          </a:p>
        </p:txBody>
      </p:sp>
      <p:sp>
        <p:nvSpPr>
          <p:cNvPr id="5" name="Text Placeholder 4"/>
          <p:cNvSpPr>
            <a:spLocks noGrp="1"/>
          </p:cNvSpPr>
          <p:nvPr>
            <p:ph type="body" sz="quarter" idx="13"/>
          </p:nvPr>
        </p:nvSpPr>
        <p:spPr/>
        <p:txBody>
          <a:bodyPr/>
          <a:lstStyle/>
          <a:p>
            <a:r>
              <a:rPr lang="en-US" dirty="0" smtClean="0"/>
              <a:t>IS’s help Execute the Process by:</a:t>
            </a:r>
          </a:p>
          <a:p>
            <a:pPr lvl="1"/>
            <a:r>
              <a:rPr lang="en-US" dirty="0" smtClean="0"/>
              <a:t>Informing employees when it is time to complete a task</a:t>
            </a:r>
          </a:p>
          <a:p>
            <a:pPr lvl="1"/>
            <a:r>
              <a:rPr lang="en-US" dirty="0" smtClean="0"/>
              <a:t>Providing required data</a:t>
            </a:r>
          </a:p>
          <a:p>
            <a:pPr lvl="1"/>
            <a:r>
              <a:rPr lang="en-US" dirty="0" smtClean="0"/>
              <a:t>Providing a means to complete the task</a:t>
            </a:r>
            <a:endParaRPr lang="en-US" dirty="0"/>
          </a:p>
        </p:txBody>
      </p:sp>
    </p:spTree>
    <p:extLst>
      <p:ext uri="{BB962C8B-B14F-4D97-AF65-F5344CB8AC3E}">
        <p14:creationId xmlns:p14="http://schemas.microsoft.com/office/powerpoint/2010/main" val="396139464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idx="1"/>
          </p:nvPr>
        </p:nvSpPr>
        <p:spPr/>
        <p:txBody>
          <a:bodyPr>
            <a:normAutofit lnSpcReduction="10000"/>
          </a:bodyPr>
          <a:lstStyle/>
          <a:p>
            <a:r>
              <a:rPr lang="en-US" dirty="0" smtClean="0"/>
              <a:t>Capturing &amp; Storing Process Data</a:t>
            </a:r>
            <a:endParaRPr lang="en-US" dirty="0"/>
          </a:p>
        </p:txBody>
      </p:sp>
      <p:sp>
        <p:nvSpPr>
          <p:cNvPr id="3" name="Text Placeholder 2"/>
          <p:cNvSpPr>
            <a:spLocks noGrp="1"/>
          </p:cNvSpPr>
          <p:nvPr>
            <p:ph type="body" sz="quarter" idx="13"/>
          </p:nvPr>
        </p:nvSpPr>
        <p:spPr/>
        <p:txBody>
          <a:bodyPr/>
          <a:lstStyle/>
          <a:p>
            <a:r>
              <a:rPr lang="en-US" dirty="0" smtClean="0"/>
              <a:t>Processes generate data</a:t>
            </a:r>
          </a:p>
          <a:p>
            <a:pPr lvl="1"/>
            <a:r>
              <a:rPr lang="en-US" dirty="0" smtClean="0"/>
              <a:t>Dates, times, product numbers, quantities, prices, addresses, names, employee actions</a:t>
            </a:r>
          </a:p>
          <a:p>
            <a:r>
              <a:rPr lang="en-US" dirty="0" smtClean="0"/>
              <a:t>IS’s capture &amp; store </a:t>
            </a:r>
            <a:r>
              <a:rPr lang="en-US" b="1" dirty="0" smtClean="0"/>
              <a:t>process data </a:t>
            </a:r>
            <a:r>
              <a:rPr lang="en-US" dirty="0" smtClean="0"/>
              <a:t>(aka, </a:t>
            </a:r>
            <a:r>
              <a:rPr lang="en-US" b="1" dirty="0" smtClean="0"/>
              <a:t>transaction data</a:t>
            </a:r>
            <a:r>
              <a:rPr lang="en-US" dirty="0" smtClean="0"/>
              <a:t>)</a:t>
            </a:r>
          </a:p>
          <a:p>
            <a:r>
              <a:rPr lang="en-US" dirty="0" smtClean="0"/>
              <a:t>Capturing &amp; storing data provides immediate, ‘real time’ feedback</a:t>
            </a:r>
            <a:endParaRPr lang="en-US" dirty="0"/>
          </a:p>
        </p:txBody>
      </p:sp>
    </p:spTree>
    <p:extLst>
      <p:ext uri="{BB962C8B-B14F-4D97-AF65-F5344CB8AC3E}">
        <p14:creationId xmlns:p14="http://schemas.microsoft.com/office/powerpoint/2010/main" val="160001359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idx="1"/>
          </p:nvPr>
        </p:nvSpPr>
        <p:spPr/>
        <p:txBody>
          <a:bodyPr>
            <a:normAutofit lnSpcReduction="10000"/>
          </a:bodyPr>
          <a:lstStyle/>
          <a:p>
            <a:r>
              <a:rPr lang="en-US" dirty="0" smtClean="0"/>
              <a:t>Monitoring Process Performance</a:t>
            </a:r>
            <a:endParaRPr lang="en-US" dirty="0"/>
          </a:p>
        </p:txBody>
      </p:sp>
      <p:sp>
        <p:nvSpPr>
          <p:cNvPr id="3" name="Text Placeholder 2"/>
          <p:cNvSpPr>
            <a:spLocks noGrp="1"/>
          </p:cNvSpPr>
          <p:nvPr>
            <p:ph type="body" sz="quarter" idx="13"/>
          </p:nvPr>
        </p:nvSpPr>
        <p:spPr/>
        <p:txBody>
          <a:bodyPr>
            <a:normAutofit/>
          </a:bodyPr>
          <a:lstStyle/>
          <a:p>
            <a:r>
              <a:rPr lang="en-US" dirty="0" smtClean="0"/>
              <a:t>IS evaluates information to determine how well a process is being executed</a:t>
            </a:r>
          </a:p>
          <a:p>
            <a:r>
              <a:rPr lang="en-US" dirty="0" smtClean="0"/>
              <a:t>Evaluations occur at two levels</a:t>
            </a:r>
          </a:p>
          <a:p>
            <a:pPr lvl="1"/>
            <a:r>
              <a:rPr lang="en-US" dirty="0" smtClean="0"/>
              <a:t>Process level</a:t>
            </a:r>
          </a:p>
          <a:p>
            <a:pPr lvl="1"/>
            <a:r>
              <a:rPr lang="en-US" dirty="0" smtClean="0"/>
              <a:t>Instance level</a:t>
            </a:r>
          </a:p>
          <a:p>
            <a:r>
              <a:rPr lang="en-US" dirty="0" smtClean="0"/>
              <a:t>Monitoring identifies problems for process improvement</a:t>
            </a:r>
          </a:p>
        </p:txBody>
      </p:sp>
    </p:spTree>
    <p:extLst>
      <p:ext uri="{BB962C8B-B14F-4D97-AF65-F5344CB8AC3E}">
        <p14:creationId xmlns:p14="http://schemas.microsoft.com/office/powerpoint/2010/main" val="253810477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idx="1"/>
          </p:nvPr>
        </p:nvSpPr>
        <p:spPr>
          <a:xfrm>
            <a:off x="1779232" y="762000"/>
            <a:ext cx="6831367" cy="2438400"/>
          </a:xfrm>
        </p:spPr>
        <p:txBody>
          <a:bodyPr>
            <a:normAutofit fontScale="85000" lnSpcReduction="10000"/>
          </a:bodyPr>
          <a:lstStyle/>
          <a:p>
            <a:r>
              <a:rPr lang="en-US" dirty="0" smtClean="0"/>
              <a:t>Business Process Reengineering, Business Process Improvement, and Business Process Management</a:t>
            </a:r>
            <a:endParaRPr lang="en-US" dirty="0"/>
          </a:p>
        </p:txBody>
      </p:sp>
      <p:sp>
        <p:nvSpPr>
          <p:cNvPr id="3" name="Text Placeholder 2"/>
          <p:cNvSpPr>
            <a:spLocks noGrp="1"/>
          </p:cNvSpPr>
          <p:nvPr>
            <p:ph type="body" sz="quarter" idx="14"/>
          </p:nvPr>
        </p:nvSpPr>
        <p:spPr/>
        <p:txBody>
          <a:bodyPr/>
          <a:lstStyle/>
          <a:p>
            <a:r>
              <a:rPr lang="en-US" dirty="0" smtClean="0"/>
              <a:t>2.2</a:t>
            </a:r>
            <a:endParaRPr lang="en-US" dirty="0"/>
          </a:p>
        </p:txBody>
      </p:sp>
      <p:sp>
        <p:nvSpPr>
          <p:cNvPr id="4" name="Content Placeholder 3"/>
          <p:cNvSpPr>
            <a:spLocks noGrp="1"/>
          </p:cNvSpPr>
          <p:nvPr>
            <p:ph sz="quarter" idx="15"/>
          </p:nvPr>
        </p:nvSpPr>
        <p:spPr>
          <a:xfrm>
            <a:off x="1752600" y="3352800"/>
            <a:ext cx="6858000" cy="2895600"/>
          </a:xfrm>
        </p:spPr>
        <p:txBody>
          <a:bodyPr/>
          <a:lstStyle/>
          <a:p>
            <a:r>
              <a:rPr lang="en-US" dirty="0" smtClean="0"/>
              <a:t>Reengineering</a:t>
            </a:r>
          </a:p>
          <a:p>
            <a:r>
              <a:rPr lang="en-US" dirty="0" smtClean="0"/>
              <a:t>Improvement</a:t>
            </a:r>
          </a:p>
          <a:p>
            <a:r>
              <a:rPr lang="en-US" dirty="0" smtClean="0"/>
              <a:t>Management</a:t>
            </a:r>
            <a:endParaRPr lang="en-US" dirty="0"/>
          </a:p>
        </p:txBody>
      </p:sp>
    </p:spTree>
    <p:extLst>
      <p:ext uri="{BB962C8B-B14F-4D97-AF65-F5344CB8AC3E}">
        <p14:creationId xmlns:p14="http://schemas.microsoft.com/office/powerpoint/2010/main" val="425665907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idx="1"/>
          </p:nvPr>
        </p:nvSpPr>
        <p:spPr/>
        <p:txBody>
          <a:bodyPr>
            <a:normAutofit fontScale="92500"/>
          </a:bodyPr>
          <a:lstStyle/>
          <a:p>
            <a:r>
              <a:rPr lang="en-US" dirty="0" smtClean="0"/>
              <a:t>Measures of Excellence in Executing Business Processes</a:t>
            </a:r>
            <a:endParaRPr lang="en-US" dirty="0"/>
          </a:p>
        </p:txBody>
      </p:sp>
      <p:sp>
        <p:nvSpPr>
          <p:cNvPr id="3" name="Text Placeholder 2"/>
          <p:cNvSpPr>
            <a:spLocks noGrp="1"/>
          </p:cNvSpPr>
          <p:nvPr>
            <p:ph type="body" sz="quarter" idx="13"/>
          </p:nvPr>
        </p:nvSpPr>
        <p:spPr/>
        <p:txBody>
          <a:bodyPr/>
          <a:lstStyle/>
          <a:p>
            <a:r>
              <a:rPr lang="en-US" dirty="0" smtClean="0"/>
              <a:t>Customer Satisfaction</a:t>
            </a:r>
          </a:p>
          <a:p>
            <a:r>
              <a:rPr lang="en-US" dirty="0" smtClean="0"/>
              <a:t>Cost Reduction</a:t>
            </a:r>
          </a:p>
          <a:p>
            <a:r>
              <a:rPr lang="en-US" dirty="0" smtClean="0"/>
              <a:t>Cycle and fulfillment time reduction</a:t>
            </a:r>
          </a:p>
          <a:p>
            <a:r>
              <a:rPr lang="en-US" dirty="0" smtClean="0"/>
              <a:t>Quality</a:t>
            </a:r>
          </a:p>
          <a:p>
            <a:r>
              <a:rPr lang="en-US" dirty="0" smtClean="0"/>
              <a:t>Differentiation</a:t>
            </a:r>
          </a:p>
          <a:p>
            <a:r>
              <a:rPr lang="en-US" dirty="0" smtClean="0"/>
              <a:t>Productivity</a:t>
            </a:r>
            <a:endParaRPr lang="en-US" dirty="0"/>
          </a:p>
        </p:txBody>
      </p:sp>
    </p:spTree>
    <p:extLst>
      <p:ext uri="{BB962C8B-B14F-4D97-AF65-F5344CB8AC3E}">
        <p14:creationId xmlns:p14="http://schemas.microsoft.com/office/powerpoint/2010/main" val="12213461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idx="1"/>
          </p:nvPr>
        </p:nvSpPr>
        <p:spPr/>
        <p:txBody>
          <a:bodyPr>
            <a:normAutofit fontScale="92500" lnSpcReduction="10000"/>
          </a:bodyPr>
          <a:lstStyle/>
          <a:p>
            <a:r>
              <a:rPr lang="en-US" dirty="0" smtClean="0"/>
              <a:t>Business Process Reengineering (BPR)</a:t>
            </a:r>
            <a:endParaRPr lang="en-US" dirty="0"/>
          </a:p>
        </p:txBody>
      </p:sp>
      <p:sp>
        <p:nvSpPr>
          <p:cNvPr id="3" name="Content Placeholder 2"/>
          <p:cNvSpPr>
            <a:spLocks noGrp="1"/>
          </p:cNvSpPr>
          <p:nvPr>
            <p:ph sz="quarter" idx="14"/>
          </p:nvPr>
        </p:nvSpPr>
        <p:spPr/>
        <p:txBody>
          <a:bodyPr/>
          <a:lstStyle/>
          <a:p>
            <a:r>
              <a:rPr lang="en-US" dirty="0" smtClean="0"/>
              <a:t>Michael Hammer &amp; James </a:t>
            </a:r>
            <a:r>
              <a:rPr lang="en-US" dirty="0" err="1" smtClean="0"/>
              <a:t>Champy</a:t>
            </a:r>
            <a:r>
              <a:rPr lang="en-US" dirty="0" smtClean="0"/>
              <a:t>, 1993, </a:t>
            </a:r>
            <a:r>
              <a:rPr lang="en-US" i="1" u="sng" dirty="0" smtClean="0"/>
              <a:t>Reengineering the Corporation</a:t>
            </a:r>
          </a:p>
          <a:p>
            <a:r>
              <a:rPr lang="en-US" dirty="0" smtClean="0"/>
              <a:t>BPR </a:t>
            </a:r>
          </a:p>
          <a:p>
            <a:pPr lvl="1"/>
            <a:r>
              <a:rPr lang="en-US" dirty="0" smtClean="0"/>
              <a:t>A radical redesign of an organization’s business processes to increase productivity and profitability</a:t>
            </a:r>
          </a:p>
          <a:p>
            <a:pPr lvl="1"/>
            <a:r>
              <a:rPr lang="en-US" dirty="0" smtClean="0"/>
              <a:t>Examines business processes with a “clean slate” approach</a:t>
            </a:r>
            <a:endParaRPr lang="en-US" dirty="0"/>
          </a:p>
        </p:txBody>
      </p:sp>
    </p:spTree>
    <p:extLst>
      <p:ext uri="{BB962C8B-B14F-4D97-AF65-F5344CB8AC3E}">
        <p14:creationId xmlns:p14="http://schemas.microsoft.com/office/powerpoint/2010/main" val="306809494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idx="1"/>
          </p:nvPr>
        </p:nvSpPr>
        <p:spPr/>
        <p:txBody>
          <a:bodyPr>
            <a:normAutofit fontScale="92500" lnSpcReduction="10000"/>
          </a:bodyPr>
          <a:lstStyle/>
          <a:p>
            <a:r>
              <a:rPr lang="en-US" dirty="0" smtClean="0"/>
              <a:t>Business Process Improvement (BPI)</a:t>
            </a:r>
            <a:endParaRPr lang="en-US" dirty="0"/>
          </a:p>
        </p:txBody>
      </p:sp>
      <p:sp>
        <p:nvSpPr>
          <p:cNvPr id="3" name="Content Placeholder 2"/>
          <p:cNvSpPr>
            <a:spLocks noGrp="1"/>
          </p:cNvSpPr>
          <p:nvPr>
            <p:ph sz="quarter" idx="14"/>
          </p:nvPr>
        </p:nvSpPr>
        <p:spPr/>
        <p:txBody>
          <a:bodyPr/>
          <a:lstStyle/>
          <a:p>
            <a:r>
              <a:rPr lang="en-US" dirty="0" smtClean="0"/>
              <a:t>BPI</a:t>
            </a:r>
          </a:p>
          <a:p>
            <a:pPr lvl="1"/>
            <a:r>
              <a:rPr lang="en-US" dirty="0" smtClean="0"/>
              <a:t>An incremental approach to move an organization toward business process centered operations</a:t>
            </a:r>
          </a:p>
          <a:p>
            <a:pPr lvl="1"/>
            <a:r>
              <a:rPr lang="en-US" dirty="0" smtClean="0"/>
              <a:t>Focuses on reducing variation in process outputs by identifying the underlying cause of the variation</a:t>
            </a:r>
          </a:p>
          <a:p>
            <a:r>
              <a:rPr lang="en-US" dirty="0" smtClean="0"/>
              <a:t>Six Sigma is a popular methodology for BPI</a:t>
            </a:r>
            <a:endParaRPr lang="en-US" dirty="0"/>
          </a:p>
        </p:txBody>
      </p:sp>
    </p:spTree>
    <p:extLst>
      <p:ext uri="{BB962C8B-B14F-4D97-AF65-F5344CB8AC3E}">
        <p14:creationId xmlns:p14="http://schemas.microsoft.com/office/powerpoint/2010/main" val="240931051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idx="1"/>
          </p:nvPr>
        </p:nvSpPr>
        <p:spPr/>
        <p:txBody>
          <a:bodyPr>
            <a:normAutofit fontScale="92500" lnSpcReduction="10000"/>
          </a:bodyPr>
          <a:lstStyle/>
          <a:p>
            <a:r>
              <a:rPr lang="en-US" dirty="0" smtClean="0"/>
              <a:t>Business Process Improvement (BPI) </a:t>
            </a:r>
            <a:endParaRPr lang="en-US" dirty="0"/>
          </a:p>
        </p:txBody>
      </p:sp>
      <p:sp>
        <p:nvSpPr>
          <p:cNvPr id="3" name="Content Placeholder 2"/>
          <p:cNvSpPr>
            <a:spLocks noGrp="1"/>
          </p:cNvSpPr>
          <p:nvPr>
            <p:ph sz="quarter" idx="14"/>
          </p:nvPr>
        </p:nvSpPr>
        <p:spPr/>
        <p:txBody>
          <a:bodyPr/>
          <a:lstStyle/>
          <a:p>
            <a:r>
              <a:rPr lang="en-US" dirty="0" smtClean="0"/>
              <a:t>Five basic phases of successful BPI</a:t>
            </a:r>
          </a:p>
          <a:p>
            <a:pPr lvl="1"/>
            <a:r>
              <a:rPr lang="en-US" dirty="0" smtClean="0"/>
              <a:t>Define</a:t>
            </a:r>
          </a:p>
          <a:p>
            <a:pPr lvl="1"/>
            <a:r>
              <a:rPr lang="en-US" dirty="0" smtClean="0"/>
              <a:t>Measure</a:t>
            </a:r>
          </a:p>
          <a:p>
            <a:pPr lvl="1"/>
            <a:r>
              <a:rPr lang="en-US" dirty="0" smtClean="0"/>
              <a:t>Analyze</a:t>
            </a:r>
          </a:p>
          <a:p>
            <a:pPr lvl="1"/>
            <a:r>
              <a:rPr lang="en-US" dirty="0" smtClean="0"/>
              <a:t>Improve</a:t>
            </a:r>
          </a:p>
          <a:p>
            <a:pPr lvl="1"/>
            <a:r>
              <a:rPr lang="en-US" dirty="0" smtClean="0"/>
              <a:t>Control</a:t>
            </a:r>
            <a:endParaRPr lang="en-US" dirty="0"/>
          </a:p>
        </p:txBody>
      </p:sp>
    </p:spTree>
    <p:extLst>
      <p:ext uri="{BB962C8B-B14F-4D97-AF65-F5344CB8AC3E}">
        <p14:creationId xmlns:p14="http://schemas.microsoft.com/office/powerpoint/2010/main" val="409650832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3"/>
          <p:cNvSpPr>
            <a:spLocks noGrp="1"/>
          </p:cNvSpPr>
          <p:nvPr>
            <p:ph type="subTitle" idx="1"/>
          </p:nvPr>
        </p:nvSpPr>
        <p:spPr/>
        <p:txBody>
          <a:bodyPr/>
          <a:lstStyle/>
          <a:p>
            <a:r>
              <a:rPr lang="en-US" dirty="0" smtClean="0"/>
              <a:t>BPR, BPI, and BPM at Chevron</a:t>
            </a:r>
            <a:endParaRPr lang="en-US" dirty="0"/>
          </a:p>
        </p:txBody>
      </p:sp>
      <p:sp>
        <p:nvSpPr>
          <p:cNvPr id="5" name="Text Placeholder 4"/>
          <p:cNvSpPr>
            <a:spLocks noGrp="1"/>
          </p:cNvSpPr>
          <p:nvPr>
            <p:ph type="body" sz="quarter" idx="13"/>
          </p:nvPr>
        </p:nvSpPr>
        <p:spPr/>
        <p:txBody>
          <a:bodyPr/>
          <a:lstStyle/>
          <a:p>
            <a:endParaRPr lang="en-US"/>
          </a:p>
        </p:txBody>
      </p:sp>
      <p:sp>
        <p:nvSpPr>
          <p:cNvPr id="6" name="ClipArt Placeholder 5"/>
          <p:cNvSpPr>
            <a:spLocks noGrp="1"/>
          </p:cNvSpPr>
          <p:nvPr>
            <p:ph type="clipArt" sz="quarter" idx="14"/>
          </p:nvPr>
        </p:nvSpPr>
        <p:spPr/>
      </p:sp>
      <p:sp>
        <p:nvSpPr>
          <p:cNvPr id="7" name="Text Placeholder 6"/>
          <p:cNvSpPr>
            <a:spLocks noGrp="1"/>
          </p:cNvSpPr>
          <p:nvPr>
            <p:ph type="body" sz="quarter" idx="15"/>
          </p:nvPr>
        </p:nvSpPr>
        <p:spPr/>
        <p:txBody>
          <a:bodyPr/>
          <a:lstStyle/>
          <a:p>
            <a:r>
              <a:rPr lang="en-US" dirty="0" smtClean="0"/>
              <a:t>2.2</a:t>
            </a:r>
            <a:endParaRPr lang="en-US" dirty="0"/>
          </a:p>
        </p:txBody>
      </p:sp>
    </p:spTree>
    <p:extLst>
      <p:ext uri="{BB962C8B-B14F-4D97-AF65-F5344CB8AC3E}">
        <p14:creationId xmlns:p14="http://schemas.microsoft.com/office/powerpoint/2010/main" val="1768467149"/>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idx="1"/>
          </p:nvPr>
        </p:nvSpPr>
        <p:spPr/>
        <p:txBody>
          <a:bodyPr>
            <a:normAutofit/>
          </a:bodyPr>
          <a:lstStyle/>
          <a:p>
            <a:r>
              <a:rPr lang="en-US" dirty="0" smtClean="0"/>
              <a:t>BPR versus BPI</a:t>
            </a:r>
            <a:endParaRPr lang="en-US" dirty="0"/>
          </a:p>
        </p:txBody>
      </p:sp>
      <p:sp>
        <p:nvSpPr>
          <p:cNvPr id="3" name="Content Placeholder 2"/>
          <p:cNvSpPr>
            <a:spLocks noGrp="1"/>
          </p:cNvSpPr>
          <p:nvPr>
            <p:ph sz="quarter" idx="14"/>
          </p:nvPr>
        </p:nvSpPr>
        <p:spPr/>
        <p:txBody>
          <a:bodyPr>
            <a:normAutofit lnSpcReduction="10000"/>
          </a:bodyPr>
          <a:lstStyle/>
          <a:p>
            <a:r>
              <a:rPr lang="en-US" dirty="0" smtClean="0"/>
              <a:t>Low risk / low cost</a:t>
            </a:r>
          </a:p>
          <a:p>
            <a:r>
              <a:rPr lang="en-US" dirty="0" smtClean="0"/>
              <a:t>Incremental change</a:t>
            </a:r>
          </a:p>
          <a:p>
            <a:r>
              <a:rPr lang="en-US" dirty="0"/>
              <a:t>Bottom-up </a:t>
            </a:r>
            <a:r>
              <a:rPr lang="en-US" dirty="0" smtClean="0"/>
              <a:t>approach</a:t>
            </a:r>
            <a:endParaRPr lang="en-US" dirty="0"/>
          </a:p>
          <a:p>
            <a:r>
              <a:rPr lang="en-US" dirty="0" smtClean="0"/>
              <a:t>Takes </a:t>
            </a:r>
            <a:r>
              <a:rPr lang="en-US" dirty="0"/>
              <a:t>less time</a:t>
            </a:r>
          </a:p>
          <a:p>
            <a:r>
              <a:rPr lang="en-US" dirty="0" smtClean="0"/>
              <a:t>Quantifiable results</a:t>
            </a:r>
          </a:p>
          <a:p>
            <a:r>
              <a:rPr lang="en-US" dirty="0" smtClean="0"/>
              <a:t>All employees trained in BPI</a:t>
            </a:r>
          </a:p>
          <a:p>
            <a:endParaRPr lang="en-US" dirty="0" smtClean="0"/>
          </a:p>
        </p:txBody>
      </p:sp>
      <p:sp>
        <p:nvSpPr>
          <p:cNvPr id="5" name="Content Placeholder 4"/>
          <p:cNvSpPr>
            <a:spLocks noGrp="1"/>
          </p:cNvSpPr>
          <p:nvPr>
            <p:ph sz="quarter" idx="15"/>
          </p:nvPr>
        </p:nvSpPr>
        <p:spPr/>
        <p:txBody>
          <a:bodyPr>
            <a:normAutofit lnSpcReduction="10000"/>
          </a:bodyPr>
          <a:lstStyle/>
          <a:p>
            <a:r>
              <a:rPr lang="en-US" dirty="0" smtClean="0"/>
              <a:t>High risk / high cost</a:t>
            </a:r>
          </a:p>
          <a:p>
            <a:r>
              <a:rPr lang="en-US" dirty="0" smtClean="0"/>
              <a:t>Radical redesign</a:t>
            </a:r>
          </a:p>
          <a:p>
            <a:r>
              <a:rPr lang="en-US" dirty="0" smtClean="0"/>
              <a:t>Top-down approach</a:t>
            </a:r>
          </a:p>
          <a:p>
            <a:r>
              <a:rPr lang="en-US" dirty="0" smtClean="0"/>
              <a:t>Time consuming</a:t>
            </a:r>
          </a:p>
          <a:p>
            <a:r>
              <a:rPr lang="en-US" dirty="0" smtClean="0"/>
              <a:t>Impacts can be overwhelming</a:t>
            </a:r>
          </a:p>
          <a:p>
            <a:r>
              <a:rPr lang="en-US" dirty="0"/>
              <a:t>High failure </a:t>
            </a:r>
            <a:r>
              <a:rPr lang="en-US" dirty="0" smtClean="0"/>
              <a:t>rate</a:t>
            </a:r>
            <a:endParaRPr lang="en-US" dirty="0"/>
          </a:p>
        </p:txBody>
      </p:sp>
      <p:sp>
        <p:nvSpPr>
          <p:cNvPr id="6" name="Text Placeholder 5"/>
          <p:cNvSpPr>
            <a:spLocks noGrp="1"/>
          </p:cNvSpPr>
          <p:nvPr>
            <p:ph type="body" idx="16"/>
          </p:nvPr>
        </p:nvSpPr>
        <p:spPr/>
        <p:txBody>
          <a:bodyPr/>
          <a:lstStyle/>
          <a:p>
            <a:r>
              <a:rPr lang="en-US" dirty="0" smtClean="0"/>
              <a:t>BPI</a:t>
            </a:r>
            <a:endParaRPr lang="en-US" dirty="0"/>
          </a:p>
        </p:txBody>
      </p:sp>
      <p:sp>
        <p:nvSpPr>
          <p:cNvPr id="4" name="Text Placeholder 3"/>
          <p:cNvSpPr>
            <a:spLocks noGrp="1"/>
          </p:cNvSpPr>
          <p:nvPr>
            <p:ph type="body" sz="quarter" idx="3"/>
          </p:nvPr>
        </p:nvSpPr>
        <p:spPr/>
        <p:txBody>
          <a:bodyPr/>
          <a:lstStyle/>
          <a:p>
            <a:r>
              <a:rPr lang="en-US" dirty="0" smtClean="0"/>
              <a:t>BPR</a:t>
            </a:r>
            <a:endParaRPr lang="en-US" dirty="0"/>
          </a:p>
        </p:txBody>
      </p:sp>
    </p:spTree>
    <p:extLst>
      <p:ext uri="{BB962C8B-B14F-4D97-AF65-F5344CB8AC3E}">
        <p14:creationId xmlns:p14="http://schemas.microsoft.com/office/powerpoint/2010/main" val="416046795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idx="1"/>
          </p:nvPr>
        </p:nvSpPr>
        <p:spPr/>
        <p:txBody>
          <a:bodyPr>
            <a:normAutofit fontScale="92500" lnSpcReduction="10000"/>
          </a:bodyPr>
          <a:lstStyle/>
          <a:p>
            <a:r>
              <a:rPr lang="en-US" dirty="0" smtClean="0"/>
              <a:t>Business Process Management (BPM)</a:t>
            </a:r>
            <a:endParaRPr lang="en-US" dirty="0"/>
          </a:p>
        </p:txBody>
      </p:sp>
      <p:sp>
        <p:nvSpPr>
          <p:cNvPr id="3" name="Content Placeholder 2"/>
          <p:cNvSpPr>
            <a:spLocks noGrp="1"/>
          </p:cNvSpPr>
          <p:nvPr>
            <p:ph sz="quarter" idx="14"/>
          </p:nvPr>
        </p:nvSpPr>
        <p:spPr/>
        <p:txBody>
          <a:bodyPr/>
          <a:lstStyle/>
          <a:p>
            <a:r>
              <a:rPr lang="en-US" dirty="0" smtClean="0"/>
              <a:t>A management system used to support continuous BPI initiatives for core business processes over time</a:t>
            </a:r>
          </a:p>
          <a:p>
            <a:r>
              <a:rPr lang="en-US" dirty="0" smtClean="0"/>
              <a:t>Important components of BPM:</a:t>
            </a:r>
          </a:p>
          <a:p>
            <a:pPr lvl="1"/>
            <a:r>
              <a:rPr lang="en-US" dirty="0" smtClean="0"/>
              <a:t>Process modeling</a:t>
            </a:r>
          </a:p>
          <a:p>
            <a:pPr lvl="1"/>
            <a:r>
              <a:rPr lang="en-US" dirty="0" smtClean="0"/>
              <a:t>Web-enabled technologies</a:t>
            </a:r>
          </a:p>
          <a:p>
            <a:pPr lvl="1"/>
            <a:r>
              <a:rPr lang="en-US" dirty="0" smtClean="0"/>
              <a:t>Business Activity Monitoring (BAM)</a:t>
            </a:r>
          </a:p>
        </p:txBody>
      </p:sp>
    </p:spTree>
    <p:extLst>
      <p:ext uri="{BB962C8B-B14F-4D97-AF65-F5344CB8AC3E}">
        <p14:creationId xmlns:p14="http://schemas.microsoft.com/office/powerpoint/2010/main" val="78190936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idx="1"/>
          </p:nvPr>
        </p:nvSpPr>
        <p:spPr/>
        <p:txBody>
          <a:bodyPr>
            <a:normAutofit fontScale="92500" lnSpcReduction="10000"/>
          </a:bodyPr>
          <a:lstStyle/>
          <a:p>
            <a:r>
              <a:rPr lang="en-US" dirty="0" smtClean="0"/>
              <a:t>Business Process Management (BPM) </a:t>
            </a:r>
            <a:endParaRPr lang="en-US" dirty="0"/>
          </a:p>
        </p:txBody>
      </p:sp>
      <p:sp>
        <p:nvSpPr>
          <p:cNvPr id="3" name="Content Placeholder 2"/>
          <p:cNvSpPr>
            <a:spLocks noGrp="1"/>
          </p:cNvSpPr>
          <p:nvPr>
            <p:ph sz="quarter" idx="14"/>
          </p:nvPr>
        </p:nvSpPr>
        <p:spPr/>
        <p:txBody>
          <a:bodyPr/>
          <a:lstStyle/>
          <a:p>
            <a:r>
              <a:rPr lang="en-US" dirty="0" smtClean="0"/>
              <a:t>Business Process Management Suite (BPMS)</a:t>
            </a:r>
          </a:p>
          <a:p>
            <a:pPr lvl="1"/>
            <a:r>
              <a:rPr lang="en-US" dirty="0" smtClean="0"/>
              <a:t>An integrated set of applications used for BPM</a:t>
            </a:r>
          </a:p>
          <a:p>
            <a:r>
              <a:rPr lang="en-US" dirty="0" smtClean="0"/>
              <a:t>Emerging Trend of Social BPM</a:t>
            </a:r>
          </a:p>
          <a:p>
            <a:pPr lvl="1"/>
            <a:r>
              <a:rPr lang="en-US" dirty="0" smtClean="0"/>
              <a:t>Technologies enabling employees to collaborate across functions internally and externally using social media tools</a:t>
            </a:r>
          </a:p>
        </p:txBody>
      </p:sp>
    </p:spTree>
    <p:extLst>
      <p:ext uri="{BB962C8B-B14F-4D97-AF65-F5344CB8AC3E}">
        <p14:creationId xmlns:p14="http://schemas.microsoft.com/office/powerpoint/2010/main" val="404744806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idx="1"/>
          </p:nvPr>
        </p:nvSpPr>
        <p:spPr/>
        <p:txBody>
          <a:bodyPr>
            <a:normAutofit fontScale="77500" lnSpcReduction="20000"/>
          </a:bodyPr>
          <a:lstStyle/>
          <a:p>
            <a:r>
              <a:rPr lang="en-US" dirty="0" smtClean="0"/>
              <a:t>Business Pressures, Organizational Responses, and Information Technology Support</a:t>
            </a:r>
            <a:endParaRPr lang="en-US" dirty="0"/>
          </a:p>
        </p:txBody>
      </p:sp>
      <p:sp>
        <p:nvSpPr>
          <p:cNvPr id="3" name="Text Placeholder 2"/>
          <p:cNvSpPr>
            <a:spLocks noGrp="1"/>
          </p:cNvSpPr>
          <p:nvPr>
            <p:ph type="body" sz="quarter" idx="14"/>
          </p:nvPr>
        </p:nvSpPr>
        <p:spPr/>
        <p:txBody>
          <a:bodyPr/>
          <a:lstStyle/>
          <a:p>
            <a:r>
              <a:rPr lang="en-US" dirty="0" smtClean="0"/>
              <a:t>2.3</a:t>
            </a:r>
            <a:endParaRPr lang="en-US" dirty="0"/>
          </a:p>
        </p:txBody>
      </p:sp>
      <p:sp>
        <p:nvSpPr>
          <p:cNvPr id="4" name="Content Placeholder 3"/>
          <p:cNvSpPr>
            <a:spLocks noGrp="1"/>
          </p:cNvSpPr>
          <p:nvPr>
            <p:ph sz="quarter" idx="15"/>
          </p:nvPr>
        </p:nvSpPr>
        <p:spPr/>
        <p:txBody>
          <a:bodyPr/>
          <a:lstStyle/>
          <a:p>
            <a:r>
              <a:rPr lang="en-US" dirty="0" smtClean="0"/>
              <a:t>Business Pressures</a:t>
            </a:r>
          </a:p>
          <a:p>
            <a:r>
              <a:rPr lang="en-US" dirty="0" smtClean="0"/>
              <a:t>Organizational Responses</a:t>
            </a:r>
            <a:endParaRPr lang="en-US" dirty="0"/>
          </a:p>
        </p:txBody>
      </p:sp>
    </p:spTree>
    <p:extLst>
      <p:ext uri="{BB962C8B-B14F-4D97-AF65-F5344CB8AC3E}">
        <p14:creationId xmlns:p14="http://schemas.microsoft.com/office/powerpoint/2010/main" val="56781660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idx="1"/>
          </p:nvPr>
        </p:nvSpPr>
        <p:spPr/>
        <p:txBody>
          <a:bodyPr/>
          <a:lstStyle/>
          <a:p>
            <a:r>
              <a:rPr lang="en-US" dirty="0" smtClean="0"/>
              <a:t>Business Pressures</a:t>
            </a:r>
            <a:endParaRPr lang="en-US" dirty="0"/>
          </a:p>
        </p:txBody>
      </p:sp>
      <p:sp>
        <p:nvSpPr>
          <p:cNvPr id="3" name="Content Placeholder 2"/>
          <p:cNvSpPr>
            <a:spLocks noGrp="1"/>
          </p:cNvSpPr>
          <p:nvPr>
            <p:ph sz="quarter" idx="14"/>
          </p:nvPr>
        </p:nvSpPr>
        <p:spPr/>
        <p:txBody>
          <a:bodyPr/>
          <a:lstStyle/>
          <a:p>
            <a:r>
              <a:rPr lang="en-US" dirty="0" smtClean="0"/>
              <a:t>Market Pressures</a:t>
            </a:r>
          </a:p>
          <a:p>
            <a:r>
              <a:rPr lang="en-US" dirty="0" smtClean="0"/>
              <a:t>Technology Pressures</a:t>
            </a:r>
          </a:p>
          <a:p>
            <a:r>
              <a:rPr lang="en-US" dirty="0" smtClean="0"/>
              <a:t>Societal/Political/Legal Pressures</a:t>
            </a:r>
            <a:endParaRPr lang="en-US" dirty="0"/>
          </a:p>
        </p:txBody>
      </p:sp>
    </p:spTree>
    <p:extLst>
      <p:ext uri="{BB962C8B-B14F-4D97-AF65-F5344CB8AC3E}">
        <p14:creationId xmlns:p14="http://schemas.microsoft.com/office/powerpoint/2010/main" val="268204567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220" name="Picture 4"/>
          <p:cNvPicPr>
            <a:picLocks noChangeAspect="1" noChangeArrowheads="1"/>
          </p:cNvPicPr>
          <p:nvPr/>
        </p:nvPicPr>
        <p:blipFill rotWithShape="1">
          <a:blip r:embed="rId3">
            <a:extLst>
              <a:ext uri="{28A0092B-C50C-407E-A947-70E740481C1C}">
                <a14:useLocalDpi xmlns:a14="http://schemas.microsoft.com/office/drawing/2010/main" val="0"/>
              </a:ext>
            </a:extLst>
          </a:blip>
          <a:srcRect b="9614"/>
          <a:stretch/>
        </p:blipFill>
        <p:spPr bwMode="auto">
          <a:xfrm>
            <a:off x="533400" y="575985"/>
            <a:ext cx="8184058" cy="60534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92518196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idx="1"/>
          </p:nvPr>
        </p:nvSpPr>
        <p:spPr/>
        <p:txBody>
          <a:bodyPr/>
          <a:lstStyle/>
          <a:p>
            <a:r>
              <a:rPr lang="en-US" dirty="0" smtClean="0"/>
              <a:t>Market Pressures</a:t>
            </a:r>
            <a:endParaRPr lang="en-US" dirty="0"/>
          </a:p>
        </p:txBody>
      </p:sp>
      <p:sp>
        <p:nvSpPr>
          <p:cNvPr id="3" name="Text Placeholder 2"/>
          <p:cNvSpPr>
            <a:spLocks noGrp="1"/>
          </p:cNvSpPr>
          <p:nvPr>
            <p:ph type="body" sz="quarter" idx="13"/>
          </p:nvPr>
        </p:nvSpPr>
        <p:spPr/>
        <p:txBody>
          <a:bodyPr/>
          <a:lstStyle/>
          <a:p>
            <a:r>
              <a:rPr lang="en-US" dirty="0" smtClean="0"/>
              <a:t>Globalization</a:t>
            </a:r>
          </a:p>
          <a:p>
            <a:r>
              <a:rPr lang="en-US" dirty="0" smtClean="0"/>
              <a:t>Changing Nature of the Workforce</a:t>
            </a:r>
          </a:p>
          <a:p>
            <a:r>
              <a:rPr lang="en-US" dirty="0" smtClean="0"/>
              <a:t>Powerful Customers</a:t>
            </a:r>
          </a:p>
          <a:p>
            <a:endParaRPr lang="en-US" dirty="0"/>
          </a:p>
        </p:txBody>
      </p:sp>
    </p:spTree>
    <p:extLst>
      <p:ext uri="{BB962C8B-B14F-4D97-AF65-F5344CB8AC3E}">
        <p14:creationId xmlns:p14="http://schemas.microsoft.com/office/powerpoint/2010/main" val="381083620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idx="1"/>
          </p:nvPr>
        </p:nvSpPr>
        <p:spPr/>
        <p:txBody>
          <a:bodyPr/>
          <a:lstStyle/>
          <a:p>
            <a:r>
              <a:rPr lang="en-US" dirty="0" smtClean="0"/>
              <a:t>Globalization</a:t>
            </a:r>
            <a:endParaRPr lang="en-US" dirty="0"/>
          </a:p>
        </p:txBody>
      </p:sp>
      <p:sp>
        <p:nvSpPr>
          <p:cNvPr id="3" name="Text Placeholder 2"/>
          <p:cNvSpPr>
            <a:spLocks noGrp="1"/>
          </p:cNvSpPr>
          <p:nvPr>
            <p:ph type="body" sz="quarter" idx="13"/>
          </p:nvPr>
        </p:nvSpPr>
        <p:spPr/>
        <p:txBody>
          <a:bodyPr/>
          <a:lstStyle/>
          <a:p>
            <a:r>
              <a:rPr lang="en-US" dirty="0" smtClean="0"/>
              <a:t>The integration and interdependence of economic, social, cultural, and ecological facets of life, made possible by rapid advances in IT.</a:t>
            </a:r>
          </a:p>
        </p:txBody>
      </p:sp>
    </p:spTree>
    <p:extLst>
      <p:ext uri="{BB962C8B-B14F-4D97-AF65-F5344CB8AC3E}">
        <p14:creationId xmlns:p14="http://schemas.microsoft.com/office/powerpoint/2010/main" val="110249228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idx="1"/>
          </p:nvPr>
        </p:nvSpPr>
        <p:spPr/>
        <p:txBody>
          <a:bodyPr/>
          <a:lstStyle/>
          <a:p>
            <a:r>
              <a:rPr lang="en-US" dirty="0" smtClean="0"/>
              <a:t>Globalization </a:t>
            </a:r>
            <a:endParaRPr lang="en-US" dirty="0"/>
          </a:p>
        </p:txBody>
      </p:sp>
      <p:sp>
        <p:nvSpPr>
          <p:cNvPr id="3" name="Text Placeholder 2"/>
          <p:cNvSpPr>
            <a:spLocks noGrp="1"/>
          </p:cNvSpPr>
          <p:nvPr>
            <p:ph type="body" sz="quarter" idx="13"/>
          </p:nvPr>
        </p:nvSpPr>
        <p:spPr/>
        <p:txBody>
          <a:bodyPr/>
          <a:lstStyle/>
          <a:p>
            <a:r>
              <a:rPr lang="en-US" i="1" u="sng" dirty="0"/>
              <a:t>The World is Flat</a:t>
            </a:r>
            <a:r>
              <a:rPr lang="en-US" dirty="0"/>
              <a:t>, by Thomas Friedman</a:t>
            </a:r>
          </a:p>
          <a:p>
            <a:pPr lvl="1"/>
            <a:r>
              <a:rPr lang="en-US" dirty="0"/>
              <a:t>Technology is leveling global competition making the world “Flat</a:t>
            </a:r>
            <a:r>
              <a:rPr lang="en-US" dirty="0" smtClean="0"/>
              <a:t>”</a:t>
            </a:r>
          </a:p>
          <a:p>
            <a:r>
              <a:rPr lang="en-US" dirty="0" smtClean="0"/>
              <a:t>Friedman’s Three Eras of Globalization</a:t>
            </a:r>
          </a:p>
          <a:p>
            <a:pPr lvl="1"/>
            <a:r>
              <a:rPr lang="en-US" dirty="0" smtClean="0"/>
              <a:t>Globalization 1.0</a:t>
            </a:r>
          </a:p>
          <a:p>
            <a:pPr lvl="1"/>
            <a:r>
              <a:rPr lang="en-US" dirty="0" smtClean="0"/>
              <a:t>Globalization 2.0</a:t>
            </a:r>
          </a:p>
          <a:p>
            <a:pPr lvl="1"/>
            <a:r>
              <a:rPr lang="en-US" dirty="0" smtClean="0"/>
              <a:t>Globalization 3.0</a:t>
            </a:r>
            <a:endParaRPr lang="en-US" dirty="0"/>
          </a:p>
          <a:p>
            <a:endParaRPr lang="en-US" dirty="0"/>
          </a:p>
        </p:txBody>
      </p:sp>
    </p:spTree>
    <p:extLst>
      <p:ext uri="{BB962C8B-B14F-4D97-AF65-F5344CB8AC3E}">
        <p14:creationId xmlns:p14="http://schemas.microsoft.com/office/powerpoint/2010/main" val="305257445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idx="1"/>
          </p:nvPr>
        </p:nvSpPr>
        <p:spPr/>
        <p:txBody>
          <a:bodyPr>
            <a:normAutofit fontScale="92500" lnSpcReduction="10000"/>
          </a:bodyPr>
          <a:lstStyle/>
          <a:p>
            <a:r>
              <a:rPr lang="en-US" dirty="0" smtClean="0"/>
              <a:t>Globalization 1.0 (1</a:t>
            </a:r>
            <a:r>
              <a:rPr lang="en-US" baseline="30000" dirty="0" smtClean="0"/>
              <a:t>st</a:t>
            </a:r>
            <a:r>
              <a:rPr lang="en-US" dirty="0" smtClean="0"/>
              <a:t> Era)</a:t>
            </a:r>
          </a:p>
          <a:p>
            <a:r>
              <a:rPr lang="en-US" dirty="0" smtClean="0"/>
              <a:t>1492 - 1800</a:t>
            </a:r>
            <a:endParaRPr lang="en-US" dirty="0"/>
          </a:p>
        </p:txBody>
      </p:sp>
      <p:sp>
        <p:nvSpPr>
          <p:cNvPr id="9" name="Text Placeholder 8"/>
          <p:cNvSpPr>
            <a:spLocks noGrp="1"/>
          </p:cNvSpPr>
          <p:nvPr>
            <p:ph type="body" sz="quarter" idx="13"/>
          </p:nvPr>
        </p:nvSpPr>
        <p:spPr/>
        <p:txBody>
          <a:bodyPr/>
          <a:lstStyle/>
          <a:p>
            <a:r>
              <a:rPr lang="en-US" dirty="0" smtClean="0"/>
              <a:t>Focus:</a:t>
            </a:r>
          </a:p>
          <a:p>
            <a:pPr lvl="1"/>
            <a:r>
              <a:rPr lang="en-US" dirty="0" smtClean="0"/>
              <a:t>Countries</a:t>
            </a:r>
          </a:p>
          <a:p>
            <a:r>
              <a:rPr lang="en-US" dirty="0" smtClean="0"/>
              <a:t>Drivers:</a:t>
            </a:r>
          </a:p>
          <a:p>
            <a:pPr lvl="1"/>
            <a:r>
              <a:rPr lang="en-US" dirty="0" smtClean="0"/>
              <a:t>Muscle</a:t>
            </a:r>
          </a:p>
          <a:p>
            <a:pPr lvl="1"/>
            <a:r>
              <a:rPr lang="en-US" dirty="0" smtClean="0"/>
              <a:t>Horse power</a:t>
            </a:r>
          </a:p>
          <a:p>
            <a:pPr lvl="1"/>
            <a:r>
              <a:rPr lang="en-US" dirty="0" smtClean="0"/>
              <a:t>Wind power</a:t>
            </a:r>
          </a:p>
          <a:p>
            <a:pPr lvl="1"/>
            <a:r>
              <a:rPr lang="en-US" dirty="0" smtClean="0"/>
              <a:t>Steam power</a:t>
            </a:r>
            <a:endParaRPr lang="en-US" dirty="0"/>
          </a:p>
        </p:txBody>
      </p:sp>
    </p:spTree>
    <p:extLst>
      <p:ext uri="{BB962C8B-B14F-4D97-AF65-F5344CB8AC3E}">
        <p14:creationId xmlns:p14="http://schemas.microsoft.com/office/powerpoint/2010/main" val="227151830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idx="1"/>
          </p:nvPr>
        </p:nvSpPr>
        <p:spPr/>
        <p:txBody>
          <a:bodyPr>
            <a:normAutofit lnSpcReduction="10000"/>
          </a:bodyPr>
          <a:lstStyle/>
          <a:p>
            <a:r>
              <a:rPr lang="en-US" dirty="0" smtClean="0"/>
              <a:t>Globalization 2.0 (2</a:t>
            </a:r>
            <a:r>
              <a:rPr lang="en-US" baseline="30000" dirty="0" smtClean="0"/>
              <a:t>nd</a:t>
            </a:r>
            <a:r>
              <a:rPr lang="en-US" dirty="0" smtClean="0"/>
              <a:t> Era) 1800 - 2000</a:t>
            </a:r>
            <a:endParaRPr lang="en-US" dirty="0"/>
          </a:p>
        </p:txBody>
      </p:sp>
      <p:sp>
        <p:nvSpPr>
          <p:cNvPr id="9" name="Text Placeholder 8"/>
          <p:cNvSpPr>
            <a:spLocks noGrp="1"/>
          </p:cNvSpPr>
          <p:nvPr>
            <p:ph type="body" sz="quarter" idx="13"/>
          </p:nvPr>
        </p:nvSpPr>
        <p:spPr/>
        <p:txBody>
          <a:bodyPr>
            <a:normAutofit fontScale="92500" lnSpcReduction="10000"/>
          </a:bodyPr>
          <a:lstStyle/>
          <a:p>
            <a:r>
              <a:rPr lang="en-US" dirty="0" smtClean="0"/>
              <a:t>Focus:</a:t>
            </a:r>
          </a:p>
          <a:p>
            <a:pPr lvl="1"/>
            <a:r>
              <a:rPr lang="en-US" dirty="0" smtClean="0"/>
              <a:t>Companies</a:t>
            </a:r>
          </a:p>
          <a:p>
            <a:r>
              <a:rPr lang="en-US" dirty="0" smtClean="0"/>
              <a:t>Main Driver:</a:t>
            </a:r>
          </a:p>
          <a:p>
            <a:pPr lvl="1"/>
            <a:r>
              <a:rPr lang="en-US" dirty="0" smtClean="0"/>
              <a:t>Multinational Companies</a:t>
            </a:r>
          </a:p>
          <a:p>
            <a:r>
              <a:rPr lang="en-US" dirty="0" smtClean="0"/>
              <a:t>First Half of 2.0</a:t>
            </a:r>
          </a:p>
          <a:p>
            <a:pPr lvl="1"/>
            <a:r>
              <a:rPr lang="en-US" dirty="0" smtClean="0"/>
              <a:t>Driver: Falling transport costs</a:t>
            </a:r>
          </a:p>
          <a:p>
            <a:r>
              <a:rPr lang="en-US" dirty="0" smtClean="0"/>
              <a:t>Second Half of 2.0</a:t>
            </a:r>
          </a:p>
          <a:p>
            <a:pPr lvl="1"/>
            <a:r>
              <a:rPr lang="en-US" dirty="0" smtClean="0"/>
              <a:t>Driver: Falling telecom costs</a:t>
            </a:r>
          </a:p>
        </p:txBody>
      </p:sp>
    </p:spTree>
    <p:extLst>
      <p:ext uri="{BB962C8B-B14F-4D97-AF65-F5344CB8AC3E}">
        <p14:creationId xmlns:p14="http://schemas.microsoft.com/office/powerpoint/2010/main" val="289567353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idx="1"/>
          </p:nvPr>
        </p:nvSpPr>
        <p:spPr/>
        <p:txBody>
          <a:bodyPr>
            <a:normAutofit fontScale="92500" lnSpcReduction="10000"/>
          </a:bodyPr>
          <a:lstStyle/>
          <a:p>
            <a:r>
              <a:rPr lang="en-US" dirty="0" smtClean="0"/>
              <a:t>Globalization 3.0 (3</a:t>
            </a:r>
            <a:r>
              <a:rPr lang="en-US" baseline="30000" dirty="0" smtClean="0"/>
              <a:t>rd</a:t>
            </a:r>
            <a:r>
              <a:rPr lang="en-US" dirty="0" smtClean="0"/>
              <a:t> Era)</a:t>
            </a:r>
          </a:p>
          <a:p>
            <a:r>
              <a:rPr lang="en-US" dirty="0" smtClean="0"/>
              <a:t>2000 - Present</a:t>
            </a:r>
            <a:endParaRPr lang="en-US" dirty="0"/>
          </a:p>
        </p:txBody>
      </p:sp>
      <p:sp>
        <p:nvSpPr>
          <p:cNvPr id="9" name="Text Placeholder 8"/>
          <p:cNvSpPr>
            <a:spLocks noGrp="1"/>
          </p:cNvSpPr>
          <p:nvPr>
            <p:ph type="body" sz="quarter" idx="13"/>
          </p:nvPr>
        </p:nvSpPr>
        <p:spPr/>
        <p:txBody>
          <a:bodyPr>
            <a:normAutofit/>
          </a:bodyPr>
          <a:lstStyle/>
          <a:p>
            <a:r>
              <a:rPr lang="en-US" dirty="0" smtClean="0"/>
              <a:t>Focus: </a:t>
            </a:r>
          </a:p>
          <a:p>
            <a:pPr lvl="1"/>
            <a:r>
              <a:rPr lang="en-US" dirty="0" smtClean="0"/>
              <a:t>Groups &amp; Individuals</a:t>
            </a:r>
          </a:p>
          <a:p>
            <a:r>
              <a:rPr lang="en-US" dirty="0" smtClean="0"/>
              <a:t>Drivers:</a:t>
            </a:r>
          </a:p>
          <a:p>
            <a:pPr lvl="1"/>
            <a:r>
              <a:rPr lang="en-US" dirty="0" smtClean="0"/>
              <a:t>Convergence of 10 forces or “Flatteners”</a:t>
            </a:r>
            <a:endParaRPr lang="en-US" dirty="0"/>
          </a:p>
        </p:txBody>
      </p:sp>
    </p:spTree>
    <p:extLst>
      <p:ext uri="{BB962C8B-B14F-4D97-AF65-F5344CB8AC3E}">
        <p14:creationId xmlns:p14="http://schemas.microsoft.com/office/powerpoint/2010/main" val="250114622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idx="1"/>
          </p:nvPr>
        </p:nvSpPr>
        <p:spPr/>
        <p:txBody>
          <a:bodyPr>
            <a:normAutofit/>
          </a:bodyPr>
          <a:lstStyle/>
          <a:p>
            <a:r>
              <a:rPr lang="en-US" dirty="0" smtClean="0"/>
              <a:t>The Ten “Flatteners”</a:t>
            </a:r>
            <a:endParaRPr lang="en-US" dirty="0"/>
          </a:p>
        </p:txBody>
      </p:sp>
      <p:sp>
        <p:nvSpPr>
          <p:cNvPr id="3" name="Content Placeholder 2"/>
          <p:cNvSpPr>
            <a:spLocks noGrp="1"/>
          </p:cNvSpPr>
          <p:nvPr>
            <p:ph sz="quarter" idx="14"/>
          </p:nvPr>
        </p:nvSpPr>
        <p:spPr>
          <a:xfrm>
            <a:off x="4648200" y="1905000"/>
            <a:ext cx="3886200" cy="4419600"/>
          </a:xfrm>
        </p:spPr>
        <p:txBody>
          <a:bodyPr/>
          <a:lstStyle/>
          <a:p>
            <a:pPr marL="514350" indent="-514350">
              <a:buFont typeface="+mj-lt"/>
              <a:buAutoNum type="arabicPeriod" startAt="5"/>
            </a:pPr>
            <a:r>
              <a:rPr lang="en-US" dirty="0" smtClean="0"/>
              <a:t>Outsourcing</a:t>
            </a:r>
          </a:p>
          <a:p>
            <a:pPr marL="514350" indent="-514350">
              <a:buFont typeface="+mj-lt"/>
              <a:buAutoNum type="arabicPeriod" startAt="5"/>
            </a:pPr>
            <a:r>
              <a:rPr lang="en-US" dirty="0" smtClean="0"/>
              <a:t>Offshoring</a:t>
            </a:r>
          </a:p>
          <a:p>
            <a:pPr marL="514350" indent="-514350">
              <a:buFont typeface="+mj-lt"/>
              <a:buAutoNum type="arabicPeriod" startAt="5"/>
            </a:pPr>
            <a:r>
              <a:rPr lang="en-US" dirty="0" smtClean="0"/>
              <a:t>Supply Chaining</a:t>
            </a:r>
          </a:p>
          <a:p>
            <a:pPr marL="514350" indent="-514350">
              <a:buFont typeface="+mj-lt"/>
              <a:buAutoNum type="arabicPeriod" startAt="5"/>
            </a:pPr>
            <a:r>
              <a:rPr lang="en-US" dirty="0" smtClean="0"/>
              <a:t>Insourcing</a:t>
            </a:r>
          </a:p>
          <a:p>
            <a:pPr marL="514350" indent="-514350">
              <a:buFont typeface="+mj-lt"/>
              <a:buAutoNum type="arabicPeriod" startAt="5"/>
            </a:pPr>
            <a:r>
              <a:rPr lang="en-US" dirty="0" smtClean="0"/>
              <a:t>Informing</a:t>
            </a:r>
          </a:p>
          <a:p>
            <a:pPr marL="514350" indent="-514350">
              <a:buFont typeface="+mj-lt"/>
              <a:buAutoNum type="arabicPeriod" startAt="5"/>
            </a:pPr>
            <a:r>
              <a:rPr lang="en-US" dirty="0" smtClean="0"/>
              <a:t>The </a:t>
            </a:r>
            <a:r>
              <a:rPr lang="en-US" dirty="0" err="1" smtClean="0"/>
              <a:t>Steriods</a:t>
            </a:r>
            <a:endParaRPr lang="en-US" dirty="0"/>
          </a:p>
        </p:txBody>
      </p:sp>
      <p:sp>
        <p:nvSpPr>
          <p:cNvPr id="9" name="Text Placeholder 8"/>
          <p:cNvSpPr>
            <a:spLocks noGrp="1"/>
          </p:cNvSpPr>
          <p:nvPr>
            <p:ph sz="quarter" idx="15"/>
          </p:nvPr>
        </p:nvSpPr>
        <p:spPr>
          <a:xfrm>
            <a:off x="533400" y="1828800"/>
            <a:ext cx="3886200" cy="4419600"/>
          </a:xfrm>
        </p:spPr>
        <p:txBody>
          <a:bodyPr>
            <a:normAutofit/>
          </a:bodyPr>
          <a:lstStyle/>
          <a:p>
            <a:pPr marL="514350" indent="-514350">
              <a:buFont typeface="+mj-lt"/>
              <a:buAutoNum type="arabicPeriod"/>
            </a:pPr>
            <a:r>
              <a:rPr lang="en-US" dirty="0" smtClean="0"/>
              <a:t>11/9/1989: Berlin Wall Falls</a:t>
            </a:r>
          </a:p>
          <a:p>
            <a:pPr marL="514350" indent="-514350">
              <a:buFont typeface="+mj-lt"/>
              <a:buAutoNum type="arabicPeriod"/>
            </a:pPr>
            <a:r>
              <a:rPr lang="en-US" dirty="0" smtClean="0"/>
              <a:t>8/9/1995: Netscape Goes Public</a:t>
            </a:r>
          </a:p>
          <a:p>
            <a:pPr marL="514350" indent="-514350">
              <a:buFont typeface="+mj-lt"/>
              <a:buAutoNum type="arabicPeriod"/>
            </a:pPr>
            <a:r>
              <a:rPr lang="en-US" dirty="0" smtClean="0"/>
              <a:t>Development of Workflow Software</a:t>
            </a:r>
          </a:p>
          <a:p>
            <a:pPr marL="514350" indent="-514350">
              <a:buFont typeface="+mj-lt"/>
              <a:buAutoNum type="arabicPeriod"/>
            </a:pPr>
            <a:r>
              <a:rPr lang="en-US" dirty="0" smtClean="0"/>
              <a:t>Uploading</a:t>
            </a:r>
          </a:p>
        </p:txBody>
      </p:sp>
    </p:spTree>
    <p:extLst>
      <p:ext uri="{BB962C8B-B14F-4D97-AF65-F5344CB8AC3E}">
        <p14:creationId xmlns:p14="http://schemas.microsoft.com/office/powerpoint/2010/main" val="4049163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idx="1"/>
          </p:nvPr>
        </p:nvSpPr>
        <p:spPr/>
        <p:txBody>
          <a:bodyPr>
            <a:normAutofit lnSpcReduction="10000"/>
          </a:bodyPr>
          <a:lstStyle/>
          <a:p>
            <a:r>
              <a:rPr lang="en-US" dirty="0" smtClean="0"/>
              <a:t>Changing Nature of the Workforce</a:t>
            </a:r>
            <a:endParaRPr lang="en-US" dirty="0"/>
          </a:p>
        </p:txBody>
      </p:sp>
      <p:sp>
        <p:nvSpPr>
          <p:cNvPr id="3" name="Text Placeholder 2"/>
          <p:cNvSpPr>
            <a:spLocks noGrp="1"/>
          </p:cNvSpPr>
          <p:nvPr>
            <p:ph type="body" sz="quarter" idx="13"/>
          </p:nvPr>
        </p:nvSpPr>
        <p:spPr/>
        <p:txBody>
          <a:bodyPr/>
          <a:lstStyle/>
          <a:p>
            <a:r>
              <a:rPr lang="en-US" dirty="0" smtClean="0"/>
              <a:t>Workforce is Becoming More Diversified</a:t>
            </a:r>
          </a:p>
          <a:p>
            <a:pPr lvl="1"/>
            <a:r>
              <a:rPr lang="en-US" dirty="0" smtClean="0"/>
              <a:t>Women</a:t>
            </a:r>
          </a:p>
          <a:p>
            <a:pPr lvl="1"/>
            <a:r>
              <a:rPr lang="en-US" dirty="0" smtClean="0"/>
              <a:t>Single Parents</a:t>
            </a:r>
          </a:p>
          <a:p>
            <a:pPr lvl="1"/>
            <a:r>
              <a:rPr lang="en-US" dirty="0" smtClean="0"/>
              <a:t>Minorities</a:t>
            </a:r>
          </a:p>
          <a:p>
            <a:pPr lvl="1"/>
            <a:r>
              <a:rPr lang="en-US" dirty="0" smtClean="0"/>
              <a:t>Persons with Disabilities</a:t>
            </a:r>
          </a:p>
          <a:p>
            <a:r>
              <a:rPr lang="en-US" dirty="0" smtClean="0"/>
              <a:t>IT is Enabling Telecommuting Employees</a:t>
            </a:r>
          </a:p>
        </p:txBody>
      </p:sp>
    </p:spTree>
    <p:extLst>
      <p:ext uri="{BB962C8B-B14F-4D97-AF65-F5344CB8AC3E}">
        <p14:creationId xmlns:p14="http://schemas.microsoft.com/office/powerpoint/2010/main" val="140852854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idx="1"/>
          </p:nvPr>
        </p:nvSpPr>
        <p:spPr/>
        <p:txBody>
          <a:bodyPr>
            <a:normAutofit/>
          </a:bodyPr>
          <a:lstStyle/>
          <a:p>
            <a:r>
              <a:rPr lang="en-US" dirty="0" smtClean="0"/>
              <a:t>Powerful Customers</a:t>
            </a:r>
            <a:endParaRPr lang="en-US" dirty="0"/>
          </a:p>
        </p:txBody>
      </p:sp>
      <p:sp>
        <p:nvSpPr>
          <p:cNvPr id="3" name="Text Placeholder 2"/>
          <p:cNvSpPr>
            <a:spLocks noGrp="1"/>
          </p:cNvSpPr>
          <p:nvPr>
            <p:ph type="body" sz="quarter" idx="13"/>
          </p:nvPr>
        </p:nvSpPr>
        <p:spPr/>
        <p:txBody>
          <a:bodyPr/>
          <a:lstStyle/>
          <a:p>
            <a:r>
              <a:rPr lang="en-US" dirty="0" smtClean="0"/>
              <a:t>Increasing consumer sophistication &amp; expectations</a:t>
            </a:r>
          </a:p>
          <a:p>
            <a:r>
              <a:rPr lang="en-US" dirty="0" smtClean="0"/>
              <a:t>Consumer more knowledgeable about</a:t>
            </a:r>
          </a:p>
          <a:p>
            <a:pPr lvl="1"/>
            <a:r>
              <a:rPr lang="en-US" dirty="0" smtClean="0"/>
              <a:t>Products and services</a:t>
            </a:r>
          </a:p>
          <a:p>
            <a:pPr lvl="1"/>
            <a:r>
              <a:rPr lang="en-US" dirty="0" smtClean="0"/>
              <a:t>Price comparisons</a:t>
            </a:r>
          </a:p>
          <a:p>
            <a:pPr lvl="1"/>
            <a:r>
              <a:rPr lang="en-US" dirty="0" smtClean="0"/>
              <a:t>Electronic auctions</a:t>
            </a:r>
          </a:p>
          <a:p>
            <a:r>
              <a:rPr lang="en-US" dirty="0" smtClean="0"/>
              <a:t>Customer Relationship Management</a:t>
            </a:r>
          </a:p>
        </p:txBody>
      </p:sp>
    </p:spTree>
    <p:extLst>
      <p:ext uri="{BB962C8B-B14F-4D97-AF65-F5344CB8AC3E}">
        <p14:creationId xmlns:p14="http://schemas.microsoft.com/office/powerpoint/2010/main" val="426088433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idx="1"/>
          </p:nvPr>
        </p:nvSpPr>
        <p:spPr/>
        <p:txBody>
          <a:bodyPr/>
          <a:lstStyle/>
          <a:p>
            <a:r>
              <a:rPr lang="en-US" dirty="0" smtClean="0"/>
              <a:t>Technology Pressures</a:t>
            </a:r>
            <a:endParaRPr lang="en-US" dirty="0"/>
          </a:p>
        </p:txBody>
      </p:sp>
      <p:sp>
        <p:nvSpPr>
          <p:cNvPr id="3" name="Text Placeholder 2"/>
          <p:cNvSpPr>
            <a:spLocks noGrp="1"/>
          </p:cNvSpPr>
          <p:nvPr>
            <p:ph type="body" sz="quarter" idx="13"/>
          </p:nvPr>
        </p:nvSpPr>
        <p:spPr/>
        <p:txBody>
          <a:bodyPr>
            <a:normAutofit/>
          </a:bodyPr>
          <a:lstStyle/>
          <a:p>
            <a:r>
              <a:rPr lang="en-US" dirty="0" smtClean="0"/>
              <a:t>Technological Innovation &amp; Obsolescence</a:t>
            </a:r>
          </a:p>
          <a:p>
            <a:pPr lvl="1"/>
            <a:r>
              <a:rPr lang="en-US" dirty="0" smtClean="0"/>
              <a:t>Rapid development of both New and Substitute Products &amp; Services</a:t>
            </a:r>
          </a:p>
          <a:p>
            <a:r>
              <a:rPr lang="en-US" dirty="0" smtClean="0"/>
              <a:t>Information Overload</a:t>
            </a:r>
          </a:p>
          <a:p>
            <a:pPr lvl="1"/>
            <a:r>
              <a:rPr lang="en-US" dirty="0" smtClean="0"/>
              <a:t>Vast stores of data, information, &amp; knowledge</a:t>
            </a:r>
          </a:p>
          <a:p>
            <a:pPr lvl="1"/>
            <a:r>
              <a:rPr lang="en-US" dirty="0" smtClean="0"/>
              <a:t>Difficulties in managing data for decision making</a:t>
            </a:r>
            <a:endParaRPr lang="en-US" dirty="0"/>
          </a:p>
        </p:txBody>
      </p:sp>
    </p:spTree>
    <p:extLst>
      <p:ext uri="{BB962C8B-B14F-4D97-AF65-F5344CB8AC3E}">
        <p14:creationId xmlns:p14="http://schemas.microsoft.com/office/powerpoint/2010/main" val="86805045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idx="1"/>
          </p:nvPr>
        </p:nvSpPr>
        <p:spPr/>
        <p:txBody>
          <a:bodyPr>
            <a:normAutofit lnSpcReduction="10000"/>
          </a:bodyPr>
          <a:lstStyle/>
          <a:p>
            <a:r>
              <a:rPr lang="en-US" dirty="0" smtClean="0"/>
              <a:t>Societal / Political / Legal Pressures</a:t>
            </a:r>
            <a:endParaRPr lang="en-US" dirty="0"/>
          </a:p>
        </p:txBody>
      </p:sp>
      <p:sp>
        <p:nvSpPr>
          <p:cNvPr id="3" name="Text Placeholder 2"/>
          <p:cNvSpPr>
            <a:spLocks noGrp="1"/>
          </p:cNvSpPr>
          <p:nvPr>
            <p:ph type="body" sz="quarter" idx="13"/>
          </p:nvPr>
        </p:nvSpPr>
        <p:spPr/>
        <p:txBody>
          <a:bodyPr>
            <a:normAutofit/>
          </a:bodyPr>
          <a:lstStyle/>
          <a:p>
            <a:r>
              <a:rPr lang="en-US" dirty="0" smtClean="0"/>
              <a:t>Social Responsibility</a:t>
            </a:r>
          </a:p>
          <a:p>
            <a:r>
              <a:rPr lang="en-US" dirty="0" smtClean="0"/>
              <a:t>Compliance with Government Regulations</a:t>
            </a:r>
          </a:p>
          <a:p>
            <a:r>
              <a:rPr lang="en-US" dirty="0"/>
              <a:t>Protection against Terrorist Attacks</a:t>
            </a:r>
          </a:p>
          <a:p>
            <a:r>
              <a:rPr lang="en-US" dirty="0"/>
              <a:t>Ethical </a:t>
            </a:r>
            <a:r>
              <a:rPr lang="en-US" dirty="0" smtClean="0"/>
              <a:t>Issues</a:t>
            </a:r>
            <a:endParaRPr lang="en-US" dirty="0"/>
          </a:p>
        </p:txBody>
      </p:sp>
    </p:spTree>
    <p:extLst>
      <p:ext uri="{BB962C8B-B14F-4D97-AF65-F5344CB8AC3E}">
        <p14:creationId xmlns:p14="http://schemas.microsoft.com/office/powerpoint/2010/main" val="399821928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idx="1"/>
          </p:nvPr>
        </p:nvSpPr>
        <p:spPr/>
        <p:txBody>
          <a:bodyPr>
            <a:normAutofit/>
          </a:bodyPr>
          <a:lstStyle/>
          <a:p>
            <a:r>
              <a:rPr lang="en-US" dirty="0" smtClean="0"/>
              <a:t>Social Responsibility</a:t>
            </a:r>
            <a:endParaRPr lang="en-US" dirty="0"/>
          </a:p>
        </p:txBody>
      </p:sp>
      <p:sp>
        <p:nvSpPr>
          <p:cNvPr id="4" name="Text Placeholder 3"/>
          <p:cNvSpPr>
            <a:spLocks noGrp="1"/>
          </p:cNvSpPr>
          <p:nvPr>
            <p:ph type="body" sz="quarter" idx="13"/>
          </p:nvPr>
        </p:nvSpPr>
        <p:spPr/>
        <p:txBody>
          <a:bodyPr>
            <a:normAutofit lnSpcReduction="10000"/>
          </a:bodyPr>
          <a:lstStyle/>
          <a:p>
            <a:r>
              <a:rPr lang="en-US" dirty="0"/>
              <a:t>Green IT</a:t>
            </a:r>
          </a:p>
          <a:p>
            <a:pPr lvl="1"/>
            <a:r>
              <a:rPr lang="en-US" dirty="0"/>
              <a:t>Facilities design and management</a:t>
            </a:r>
          </a:p>
          <a:p>
            <a:pPr lvl="1"/>
            <a:r>
              <a:rPr lang="en-US" dirty="0"/>
              <a:t>Carbon management</a:t>
            </a:r>
          </a:p>
          <a:p>
            <a:pPr lvl="1"/>
            <a:r>
              <a:rPr lang="en-US" dirty="0"/>
              <a:t>International and U.S. state environmental laws</a:t>
            </a:r>
          </a:p>
          <a:p>
            <a:pPr lvl="1"/>
            <a:r>
              <a:rPr lang="en-US" dirty="0"/>
              <a:t>Energy </a:t>
            </a:r>
            <a:r>
              <a:rPr lang="en-US" dirty="0" smtClean="0"/>
              <a:t>management</a:t>
            </a:r>
          </a:p>
          <a:p>
            <a:r>
              <a:rPr lang="en-US" dirty="0" smtClean="0"/>
              <a:t>Digital Divide</a:t>
            </a:r>
          </a:p>
          <a:p>
            <a:pPr lvl="1"/>
            <a:r>
              <a:rPr lang="en-US" dirty="0" smtClean="0"/>
              <a:t>One Laptop per Child (OLPC) </a:t>
            </a:r>
            <a:r>
              <a:rPr lang="en-US" dirty="0" smtClean="0">
                <a:hlinkClick r:id="rId3"/>
              </a:rPr>
              <a:t>http://one.laptop.org</a:t>
            </a:r>
            <a:r>
              <a:rPr lang="en-US" dirty="0" smtClean="0"/>
              <a:t> </a:t>
            </a:r>
            <a:endParaRPr lang="en-US" dirty="0"/>
          </a:p>
        </p:txBody>
      </p:sp>
    </p:spTree>
    <p:extLst>
      <p:ext uri="{BB962C8B-B14F-4D97-AF65-F5344CB8AC3E}">
        <p14:creationId xmlns:p14="http://schemas.microsoft.com/office/powerpoint/2010/main" val="45172414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3"/>
          <p:cNvSpPr>
            <a:spLocks noGrp="1"/>
          </p:cNvSpPr>
          <p:nvPr>
            <p:ph type="subTitle" idx="1"/>
          </p:nvPr>
        </p:nvSpPr>
        <p:spPr/>
        <p:txBody>
          <a:bodyPr/>
          <a:lstStyle/>
          <a:p>
            <a:r>
              <a:rPr lang="en-US" dirty="0" smtClean="0"/>
              <a:t>Solar-Powered Tablets in Ethiopia</a:t>
            </a:r>
            <a:endParaRPr lang="en-US" dirty="0"/>
          </a:p>
        </p:txBody>
      </p:sp>
      <p:sp>
        <p:nvSpPr>
          <p:cNvPr id="5" name="Text Placeholder 4"/>
          <p:cNvSpPr>
            <a:spLocks noGrp="1"/>
          </p:cNvSpPr>
          <p:nvPr>
            <p:ph type="body" sz="quarter" idx="13"/>
          </p:nvPr>
        </p:nvSpPr>
        <p:spPr/>
        <p:txBody>
          <a:bodyPr/>
          <a:lstStyle/>
          <a:p>
            <a:endParaRPr lang="en-US"/>
          </a:p>
        </p:txBody>
      </p:sp>
      <p:sp>
        <p:nvSpPr>
          <p:cNvPr id="6" name="ClipArt Placeholder 5"/>
          <p:cNvSpPr>
            <a:spLocks noGrp="1"/>
          </p:cNvSpPr>
          <p:nvPr>
            <p:ph type="clipArt" sz="quarter" idx="14"/>
          </p:nvPr>
        </p:nvSpPr>
        <p:spPr/>
      </p:sp>
      <p:sp>
        <p:nvSpPr>
          <p:cNvPr id="7" name="Text Placeholder 6"/>
          <p:cNvSpPr>
            <a:spLocks noGrp="1"/>
          </p:cNvSpPr>
          <p:nvPr>
            <p:ph type="body" sz="quarter" idx="15"/>
          </p:nvPr>
        </p:nvSpPr>
        <p:spPr/>
        <p:txBody>
          <a:bodyPr/>
          <a:lstStyle/>
          <a:p>
            <a:r>
              <a:rPr lang="en-US" dirty="0" smtClean="0"/>
              <a:t>2.3</a:t>
            </a:r>
            <a:endParaRPr lang="en-US" dirty="0"/>
          </a:p>
        </p:txBody>
      </p:sp>
    </p:spTree>
    <p:extLst>
      <p:ext uri="{BB962C8B-B14F-4D97-AF65-F5344CB8AC3E}">
        <p14:creationId xmlns:p14="http://schemas.microsoft.com/office/powerpoint/2010/main" val="1768467149"/>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idx="1"/>
          </p:nvPr>
        </p:nvSpPr>
        <p:spPr/>
        <p:txBody>
          <a:bodyPr>
            <a:normAutofit lnSpcReduction="10000"/>
          </a:bodyPr>
          <a:lstStyle/>
          <a:p>
            <a:r>
              <a:rPr lang="en-US" dirty="0" smtClean="0"/>
              <a:t>Social Responsibility &amp; Philanthropy in Business</a:t>
            </a:r>
            <a:endParaRPr lang="en-US" dirty="0"/>
          </a:p>
        </p:txBody>
      </p:sp>
      <p:sp>
        <p:nvSpPr>
          <p:cNvPr id="3" name="Text Placeholder 2"/>
          <p:cNvSpPr>
            <a:spLocks noGrp="1"/>
          </p:cNvSpPr>
          <p:nvPr>
            <p:ph type="body" sz="quarter" idx="13"/>
          </p:nvPr>
        </p:nvSpPr>
        <p:spPr/>
        <p:txBody>
          <a:bodyPr>
            <a:normAutofit fontScale="92500" lnSpcReduction="20000"/>
          </a:bodyPr>
          <a:lstStyle/>
          <a:p>
            <a:r>
              <a:rPr lang="en-US" dirty="0" smtClean="0">
                <a:hlinkClick r:id="rId2"/>
              </a:rPr>
              <a:t>www.patientslikeme.com</a:t>
            </a:r>
            <a:endParaRPr lang="en-US" dirty="0" smtClean="0"/>
          </a:p>
          <a:p>
            <a:r>
              <a:rPr lang="en-US" dirty="0" smtClean="0">
                <a:hlinkClick r:id="rId3"/>
              </a:rPr>
              <a:t>www.giftflow.org</a:t>
            </a:r>
            <a:endParaRPr lang="en-US" dirty="0" smtClean="0"/>
          </a:p>
          <a:p>
            <a:r>
              <a:rPr lang="en-US" dirty="0" smtClean="0">
                <a:hlinkClick r:id="rId4"/>
              </a:rPr>
              <a:t>www.ourgoods.org</a:t>
            </a:r>
            <a:endParaRPr lang="en-US" dirty="0" smtClean="0"/>
          </a:p>
          <a:p>
            <a:r>
              <a:rPr lang="en-US" dirty="0" smtClean="0">
                <a:hlinkClick r:id="rId5"/>
              </a:rPr>
              <a:t>www.sparked.com</a:t>
            </a:r>
            <a:endParaRPr lang="en-US" dirty="0" smtClean="0"/>
          </a:p>
          <a:p>
            <a:r>
              <a:rPr lang="en-US" dirty="0" smtClean="0">
                <a:hlinkClick r:id="rId6"/>
              </a:rPr>
              <a:t>www.thredup.com</a:t>
            </a:r>
            <a:endParaRPr lang="en-US" dirty="0" smtClean="0"/>
          </a:p>
          <a:p>
            <a:r>
              <a:rPr lang="en-US" dirty="0" smtClean="0">
                <a:hlinkClick r:id="rId7"/>
              </a:rPr>
              <a:t>www.collaborativeconsumption.com</a:t>
            </a:r>
            <a:endParaRPr lang="en-US" dirty="0" smtClean="0"/>
          </a:p>
          <a:p>
            <a:r>
              <a:rPr lang="en-US" dirty="0" smtClean="0">
                <a:hlinkClick r:id="rId8"/>
              </a:rPr>
              <a:t>www.kiva.org</a:t>
            </a:r>
            <a:endParaRPr lang="en-US" dirty="0" smtClean="0"/>
          </a:p>
          <a:p>
            <a:r>
              <a:rPr lang="en-US" dirty="0" smtClean="0">
                <a:hlinkClick r:id="rId9"/>
              </a:rPr>
              <a:t>www.donorschooce.org</a:t>
            </a:r>
            <a:r>
              <a:rPr lang="en-US" dirty="0" smtClean="0"/>
              <a:t> </a:t>
            </a:r>
          </a:p>
        </p:txBody>
      </p:sp>
    </p:spTree>
    <p:extLst>
      <p:ext uri="{BB962C8B-B14F-4D97-AF65-F5344CB8AC3E}">
        <p14:creationId xmlns:p14="http://schemas.microsoft.com/office/powerpoint/2010/main" val="162235778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idx="1"/>
          </p:nvPr>
        </p:nvSpPr>
        <p:spPr/>
        <p:txBody>
          <a:bodyPr>
            <a:normAutofit lnSpcReduction="10000"/>
          </a:bodyPr>
          <a:lstStyle/>
          <a:p>
            <a:r>
              <a:rPr lang="en-US" dirty="0" smtClean="0"/>
              <a:t>Compliance with Government Regulations</a:t>
            </a:r>
            <a:endParaRPr lang="en-US" dirty="0"/>
          </a:p>
        </p:txBody>
      </p:sp>
      <p:sp>
        <p:nvSpPr>
          <p:cNvPr id="3" name="Text Placeholder 2"/>
          <p:cNvSpPr>
            <a:spLocks noGrp="1"/>
          </p:cNvSpPr>
          <p:nvPr>
            <p:ph type="body" sz="quarter" idx="13"/>
          </p:nvPr>
        </p:nvSpPr>
        <p:spPr/>
        <p:txBody>
          <a:bodyPr/>
          <a:lstStyle/>
          <a:p>
            <a:r>
              <a:rPr lang="en-US" dirty="0" smtClean="0"/>
              <a:t>Sarbanes-Oxley Act</a:t>
            </a:r>
          </a:p>
          <a:p>
            <a:r>
              <a:rPr lang="en-US" dirty="0" smtClean="0"/>
              <a:t>USA PATRIOT act</a:t>
            </a:r>
          </a:p>
          <a:p>
            <a:r>
              <a:rPr lang="en-US" dirty="0" smtClean="0"/>
              <a:t>Gramm-Leach-Bliley Act</a:t>
            </a:r>
          </a:p>
          <a:p>
            <a:r>
              <a:rPr lang="en-US" dirty="0" smtClean="0"/>
              <a:t>Health Insurance Portability &amp; Accountability Act (HIPAA)</a:t>
            </a:r>
            <a:endParaRPr lang="en-US" dirty="0"/>
          </a:p>
        </p:txBody>
      </p:sp>
    </p:spTree>
    <p:extLst>
      <p:ext uri="{BB962C8B-B14F-4D97-AF65-F5344CB8AC3E}">
        <p14:creationId xmlns:p14="http://schemas.microsoft.com/office/powerpoint/2010/main" val="418257620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idx="1"/>
          </p:nvPr>
        </p:nvSpPr>
        <p:spPr/>
        <p:txBody>
          <a:bodyPr>
            <a:normAutofit lnSpcReduction="10000"/>
          </a:bodyPr>
          <a:lstStyle/>
          <a:p>
            <a:r>
              <a:rPr lang="en-US" dirty="0" smtClean="0"/>
              <a:t>Protection against Terrorist Attacks</a:t>
            </a:r>
            <a:endParaRPr lang="en-US" dirty="0"/>
          </a:p>
        </p:txBody>
      </p:sp>
      <p:sp>
        <p:nvSpPr>
          <p:cNvPr id="3" name="Text Placeholder 2"/>
          <p:cNvSpPr>
            <a:spLocks noGrp="1"/>
          </p:cNvSpPr>
          <p:nvPr>
            <p:ph type="body" sz="quarter" idx="13"/>
          </p:nvPr>
        </p:nvSpPr>
        <p:spPr/>
        <p:txBody>
          <a:bodyPr>
            <a:normAutofit lnSpcReduction="10000"/>
          </a:bodyPr>
          <a:lstStyle/>
          <a:p>
            <a:r>
              <a:rPr lang="en-US" dirty="0" smtClean="0"/>
              <a:t>Employees in military reserves called to active duty</a:t>
            </a:r>
          </a:p>
          <a:p>
            <a:r>
              <a:rPr lang="en-US" dirty="0" smtClean="0"/>
              <a:t>Information Technology used to identify and protect against terrorists and </a:t>
            </a:r>
            <a:r>
              <a:rPr lang="en-US" dirty="0" err="1" smtClean="0"/>
              <a:t>cyberattacks</a:t>
            </a:r>
            <a:endParaRPr lang="en-US" dirty="0" smtClean="0"/>
          </a:p>
          <a:p>
            <a:r>
              <a:rPr lang="en-US" dirty="0" smtClean="0"/>
              <a:t>Department of Homeland Security’s (DHS) US-VISIT program</a:t>
            </a:r>
          </a:p>
          <a:p>
            <a:pPr lvl="1"/>
            <a:r>
              <a:rPr lang="en-US" dirty="0" smtClean="0"/>
              <a:t>Network of biometric-screening systems</a:t>
            </a:r>
            <a:endParaRPr lang="en-US" dirty="0"/>
          </a:p>
        </p:txBody>
      </p:sp>
    </p:spTree>
    <p:extLst>
      <p:ext uri="{BB962C8B-B14F-4D97-AF65-F5344CB8AC3E}">
        <p14:creationId xmlns:p14="http://schemas.microsoft.com/office/powerpoint/2010/main" val="147851511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idx="1"/>
          </p:nvPr>
        </p:nvSpPr>
        <p:spPr/>
        <p:txBody>
          <a:bodyPr/>
          <a:lstStyle/>
          <a:p>
            <a:r>
              <a:rPr lang="en-US" dirty="0" smtClean="0"/>
              <a:t>Ethical Issues</a:t>
            </a:r>
            <a:endParaRPr lang="en-US" dirty="0"/>
          </a:p>
        </p:txBody>
      </p:sp>
      <p:sp>
        <p:nvSpPr>
          <p:cNvPr id="3" name="Text Placeholder 2"/>
          <p:cNvSpPr>
            <a:spLocks noGrp="1"/>
          </p:cNvSpPr>
          <p:nvPr>
            <p:ph type="body" sz="quarter" idx="13"/>
          </p:nvPr>
        </p:nvSpPr>
        <p:spPr/>
        <p:txBody>
          <a:bodyPr/>
          <a:lstStyle/>
          <a:p>
            <a:r>
              <a:rPr lang="en-US" dirty="0" smtClean="0"/>
              <a:t>General standards of right and wrong</a:t>
            </a:r>
          </a:p>
          <a:p>
            <a:pPr lvl="1"/>
            <a:r>
              <a:rPr lang="en-US" dirty="0" smtClean="0"/>
              <a:t>Information-processing activities</a:t>
            </a:r>
          </a:p>
          <a:p>
            <a:pPr lvl="1"/>
            <a:r>
              <a:rPr lang="en-US" dirty="0" smtClean="0"/>
              <a:t>Monitoring employee email</a:t>
            </a:r>
          </a:p>
          <a:p>
            <a:pPr lvl="1"/>
            <a:r>
              <a:rPr lang="en-US" dirty="0" smtClean="0"/>
              <a:t>Monitoring employee Internet activity at work</a:t>
            </a:r>
          </a:p>
          <a:p>
            <a:pPr lvl="1"/>
            <a:r>
              <a:rPr lang="en-US" dirty="0" smtClean="0"/>
              <a:t>Privacy of customer data</a:t>
            </a:r>
            <a:endParaRPr lang="en-US" dirty="0"/>
          </a:p>
        </p:txBody>
      </p:sp>
    </p:spTree>
    <p:extLst>
      <p:ext uri="{BB962C8B-B14F-4D97-AF65-F5344CB8AC3E}">
        <p14:creationId xmlns:p14="http://schemas.microsoft.com/office/powerpoint/2010/main" val="209136214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3"/>
          <p:cNvSpPr>
            <a:spLocks noGrp="1"/>
          </p:cNvSpPr>
          <p:nvPr>
            <p:ph type="subTitle" idx="1"/>
          </p:nvPr>
        </p:nvSpPr>
        <p:spPr/>
        <p:txBody>
          <a:bodyPr/>
          <a:lstStyle/>
          <a:p>
            <a:r>
              <a:rPr lang="en-US" dirty="0" smtClean="0"/>
              <a:t>Organizational Responses</a:t>
            </a:r>
            <a:endParaRPr lang="en-US" dirty="0"/>
          </a:p>
        </p:txBody>
      </p:sp>
      <p:sp>
        <p:nvSpPr>
          <p:cNvPr id="5" name="Content Placeholder 4"/>
          <p:cNvSpPr>
            <a:spLocks noGrp="1"/>
          </p:cNvSpPr>
          <p:nvPr>
            <p:ph sz="quarter" idx="14"/>
          </p:nvPr>
        </p:nvSpPr>
        <p:spPr/>
        <p:txBody>
          <a:bodyPr/>
          <a:lstStyle/>
          <a:p>
            <a:r>
              <a:rPr lang="en-US" dirty="0" smtClean="0"/>
              <a:t>Strategic Systems</a:t>
            </a:r>
          </a:p>
          <a:p>
            <a:r>
              <a:rPr lang="en-US" dirty="0" smtClean="0"/>
              <a:t>Customer Focus</a:t>
            </a:r>
          </a:p>
          <a:p>
            <a:r>
              <a:rPr lang="en-US" dirty="0" smtClean="0"/>
              <a:t>Make-to-Order and Mass Customization</a:t>
            </a:r>
          </a:p>
          <a:p>
            <a:pPr lvl="1"/>
            <a:r>
              <a:rPr lang="en-US" dirty="0" err="1" smtClean="0"/>
              <a:t>Bodymetrics</a:t>
            </a:r>
            <a:r>
              <a:rPr lang="en-US" dirty="0" smtClean="0"/>
              <a:t> (</a:t>
            </a:r>
            <a:r>
              <a:rPr lang="en-US" dirty="0" smtClean="0">
                <a:hlinkClick r:id="rId3"/>
              </a:rPr>
              <a:t>www.bodymetrics.com</a:t>
            </a:r>
            <a:r>
              <a:rPr lang="en-US" dirty="0" smtClean="0"/>
              <a:t>) </a:t>
            </a:r>
          </a:p>
          <a:p>
            <a:r>
              <a:rPr lang="en-US" dirty="0" smtClean="0"/>
              <a:t>E-Business &amp; E-Commerce</a:t>
            </a:r>
          </a:p>
          <a:p>
            <a:endParaRPr lang="en-US" dirty="0"/>
          </a:p>
        </p:txBody>
      </p:sp>
    </p:spTree>
    <p:extLst>
      <p:ext uri="{BB962C8B-B14F-4D97-AF65-F5344CB8AC3E}">
        <p14:creationId xmlns:p14="http://schemas.microsoft.com/office/powerpoint/2010/main" val="332973625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3"/>
          <p:cNvSpPr>
            <a:spLocks noGrp="1"/>
          </p:cNvSpPr>
          <p:nvPr>
            <p:ph type="subTitle" idx="1"/>
          </p:nvPr>
        </p:nvSpPr>
        <p:spPr/>
        <p:txBody>
          <a:bodyPr/>
          <a:lstStyle/>
          <a:p>
            <a:r>
              <a:rPr lang="en-US" dirty="0" smtClean="0"/>
              <a:t>The Weather Channel</a:t>
            </a:r>
            <a:endParaRPr lang="en-US" dirty="0"/>
          </a:p>
        </p:txBody>
      </p:sp>
      <p:sp>
        <p:nvSpPr>
          <p:cNvPr id="5" name="Text Placeholder 4"/>
          <p:cNvSpPr>
            <a:spLocks noGrp="1"/>
          </p:cNvSpPr>
          <p:nvPr>
            <p:ph type="body" sz="quarter" idx="13"/>
          </p:nvPr>
        </p:nvSpPr>
        <p:spPr/>
        <p:txBody>
          <a:bodyPr/>
          <a:lstStyle/>
          <a:p>
            <a:endParaRPr lang="en-US"/>
          </a:p>
        </p:txBody>
      </p:sp>
      <p:sp>
        <p:nvSpPr>
          <p:cNvPr id="6" name="ClipArt Placeholder 5"/>
          <p:cNvSpPr>
            <a:spLocks noGrp="1"/>
          </p:cNvSpPr>
          <p:nvPr>
            <p:ph type="clipArt" sz="quarter" idx="14"/>
          </p:nvPr>
        </p:nvSpPr>
        <p:spPr/>
      </p:sp>
      <p:sp>
        <p:nvSpPr>
          <p:cNvPr id="7" name="Text Placeholder 6"/>
          <p:cNvSpPr>
            <a:spLocks noGrp="1"/>
          </p:cNvSpPr>
          <p:nvPr>
            <p:ph type="body" sz="quarter" idx="15"/>
          </p:nvPr>
        </p:nvSpPr>
        <p:spPr/>
        <p:txBody>
          <a:bodyPr/>
          <a:lstStyle/>
          <a:p>
            <a:r>
              <a:rPr lang="en-US" dirty="0" smtClean="0"/>
              <a:t>2.4</a:t>
            </a:r>
            <a:endParaRPr lang="en-US" dirty="0"/>
          </a:p>
        </p:txBody>
      </p:sp>
    </p:spTree>
    <p:extLst>
      <p:ext uri="{BB962C8B-B14F-4D97-AF65-F5344CB8AC3E}">
        <p14:creationId xmlns:p14="http://schemas.microsoft.com/office/powerpoint/2010/main" val="1768467149"/>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idx="1"/>
          </p:nvPr>
        </p:nvSpPr>
        <p:spPr>
          <a:xfrm>
            <a:off x="1779232" y="762000"/>
            <a:ext cx="6831367" cy="1981200"/>
          </a:xfrm>
        </p:spPr>
        <p:txBody>
          <a:bodyPr>
            <a:normAutofit fontScale="92500" lnSpcReduction="10000"/>
          </a:bodyPr>
          <a:lstStyle/>
          <a:p>
            <a:r>
              <a:rPr lang="en-US" dirty="0" smtClean="0"/>
              <a:t>Competitive Advantage and Strategic Information Systems</a:t>
            </a:r>
            <a:endParaRPr lang="en-US" dirty="0"/>
          </a:p>
        </p:txBody>
      </p:sp>
      <p:sp>
        <p:nvSpPr>
          <p:cNvPr id="3" name="Text Placeholder 2"/>
          <p:cNvSpPr>
            <a:spLocks noGrp="1"/>
          </p:cNvSpPr>
          <p:nvPr>
            <p:ph type="body" sz="quarter" idx="14"/>
          </p:nvPr>
        </p:nvSpPr>
        <p:spPr/>
        <p:txBody>
          <a:bodyPr/>
          <a:lstStyle/>
          <a:p>
            <a:r>
              <a:rPr lang="en-US" dirty="0" smtClean="0"/>
              <a:t>2.4</a:t>
            </a:r>
            <a:endParaRPr lang="en-US" dirty="0"/>
          </a:p>
        </p:txBody>
      </p:sp>
      <p:sp>
        <p:nvSpPr>
          <p:cNvPr id="4" name="Content Placeholder 3"/>
          <p:cNvSpPr>
            <a:spLocks noGrp="1"/>
          </p:cNvSpPr>
          <p:nvPr>
            <p:ph sz="quarter" idx="15"/>
          </p:nvPr>
        </p:nvSpPr>
        <p:spPr>
          <a:xfrm>
            <a:off x="1752600" y="2895600"/>
            <a:ext cx="6858000" cy="3352800"/>
          </a:xfrm>
        </p:spPr>
        <p:txBody>
          <a:bodyPr/>
          <a:lstStyle/>
          <a:p>
            <a:r>
              <a:rPr lang="en-US" dirty="0" smtClean="0"/>
              <a:t>Porter’s Competitive Forces Model</a:t>
            </a:r>
          </a:p>
          <a:p>
            <a:r>
              <a:rPr lang="en-US" dirty="0" smtClean="0"/>
              <a:t>Porter’s Value Chain Model</a:t>
            </a:r>
          </a:p>
          <a:p>
            <a:r>
              <a:rPr lang="en-US" dirty="0" smtClean="0"/>
              <a:t>Strategies for Competitive Advantage</a:t>
            </a:r>
            <a:endParaRPr lang="en-US" dirty="0"/>
          </a:p>
        </p:txBody>
      </p:sp>
    </p:spTree>
    <p:extLst>
      <p:ext uri="{BB962C8B-B14F-4D97-AF65-F5344CB8AC3E}">
        <p14:creationId xmlns:p14="http://schemas.microsoft.com/office/powerpoint/2010/main" val="5427913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idx="1"/>
          </p:nvPr>
        </p:nvSpPr>
        <p:spPr>
          <a:xfrm>
            <a:off x="1779232" y="762000"/>
            <a:ext cx="6831367" cy="1981200"/>
          </a:xfrm>
        </p:spPr>
        <p:txBody>
          <a:bodyPr>
            <a:normAutofit fontScale="92500" lnSpcReduction="10000"/>
          </a:bodyPr>
          <a:lstStyle/>
          <a:p>
            <a:r>
              <a:rPr lang="en-US" dirty="0" smtClean="0"/>
              <a:t>Competitive Advantage and Strategic Information Systems </a:t>
            </a:r>
            <a:endParaRPr lang="en-US" dirty="0"/>
          </a:p>
        </p:txBody>
      </p:sp>
      <p:sp>
        <p:nvSpPr>
          <p:cNvPr id="3" name="Text Placeholder 2"/>
          <p:cNvSpPr>
            <a:spLocks noGrp="1"/>
          </p:cNvSpPr>
          <p:nvPr>
            <p:ph type="body" sz="quarter" idx="14"/>
          </p:nvPr>
        </p:nvSpPr>
        <p:spPr/>
        <p:txBody>
          <a:bodyPr/>
          <a:lstStyle/>
          <a:p>
            <a:r>
              <a:rPr lang="en-US" dirty="0" smtClean="0"/>
              <a:t>2.4</a:t>
            </a:r>
            <a:endParaRPr lang="en-US" dirty="0"/>
          </a:p>
        </p:txBody>
      </p:sp>
      <p:sp>
        <p:nvSpPr>
          <p:cNvPr id="4" name="Content Placeholder 3"/>
          <p:cNvSpPr>
            <a:spLocks noGrp="1"/>
          </p:cNvSpPr>
          <p:nvPr>
            <p:ph sz="quarter" idx="15"/>
          </p:nvPr>
        </p:nvSpPr>
        <p:spPr>
          <a:xfrm>
            <a:off x="1752600" y="2895600"/>
            <a:ext cx="6858000" cy="3352800"/>
          </a:xfrm>
        </p:spPr>
        <p:txBody>
          <a:bodyPr>
            <a:normAutofit/>
          </a:bodyPr>
          <a:lstStyle/>
          <a:p>
            <a:r>
              <a:rPr lang="en-US" dirty="0" smtClean="0"/>
              <a:t>Competitive Strategy</a:t>
            </a:r>
          </a:p>
          <a:p>
            <a:pPr lvl="1"/>
            <a:r>
              <a:rPr lang="en-US" dirty="0" smtClean="0"/>
              <a:t>A statement identifying a business’s approach to compete, it’s goals, and the plans and policies required to attain those goals.</a:t>
            </a:r>
            <a:endParaRPr lang="en-US" dirty="0"/>
          </a:p>
        </p:txBody>
      </p:sp>
    </p:spTree>
    <p:extLst>
      <p:ext uri="{BB962C8B-B14F-4D97-AF65-F5344CB8AC3E}">
        <p14:creationId xmlns:p14="http://schemas.microsoft.com/office/powerpoint/2010/main" val="1872879193"/>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idx="1"/>
          </p:nvPr>
        </p:nvSpPr>
        <p:spPr>
          <a:xfrm>
            <a:off x="1779232" y="762000"/>
            <a:ext cx="6831367" cy="1981200"/>
          </a:xfrm>
        </p:spPr>
        <p:txBody>
          <a:bodyPr>
            <a:normAutofit fontScale="92500" lnSpcReduction="10000"/>
          </a:bodyPr>
          <a:lstStyle/>
          <a:p>
            <a:r>
              <a:rPr lang="en-US" dirty="0" smtClean="0"/>
              <a:t>Competitive Advantage and Strategic Information Systems </a:t>
            </a:r>
            <a:endParaRPr lang="en-US" dirty="0"/>
          </a:p>
        </p:txBody>
      </p:sp>
      <p:sp>
        <p:nvSpPr>
          <p:cNvPr id="3" name="Text Placeholder 2"/>
          <p:cNvSpPr>
            <a:spLocks noGrp="1"/>
          </p:cNvSpPr>
          <p:nvPr>
            <p:ph type="body" sz="quarter" idx="14"/>
          </p:nvPr>
        </p:nvSpPr>
        <p:spPr/>
        <p:txBody>
          <a:bodyPr/>
          <a:lstStyle/>
          <a:p>
            <a:r>
              <a:rPr lang="en-US" dirty="0" smtClean="0"/>
              <a:t>2.4</a:t>
            </a:r>
            <a:endParaRPr lang="en-US" dirty="0"/>
          </a:p>
        </p:txBody>
      </p:sp>
      <p:sp>
        <p:nvSpPr>
          <p:cNvPr id="4" name="Content Placeholder 3"/>
          <p:cNvSpPr>
            <a:spLocks noGrp="1"/>
          </p:cNvSpPr>
          <p:nvPr>
            <p:ph sz="quarter" idx="15"/>
          </p:nvPr>
        </p:nvSpPr>
        <p:spPr>
          <a:xfrm>
            <a:off x="1752600" y="2895600"/>
            <a:ext cx="6858000" cy="3352800"/>
          </a:xfrm>
        </p:spPr>
        <p:txBody>
          <a:bodyPr>
            <a:normAutofit/>
          </a:bodyPr>
          <a:lstStyle/>
          <a:p>
            <a:r>
              <a:rPr lang="en-US" dirty="0" smtClean="0"/>
              <a:t>Strategic Information Systems (SIS)</a:t>
            </a:r>
          </a:p>
          <a:p>
            <a:pPr lvl="1"/>
            <a:r>
              <a:rPr lang="en-US" dirty="0" smtClean="0"/>
              <a:t>An information system that helps an organization achieve and maintain a competitive advantages</a:t>
            </a:r>
            <a:endParaRPr lang="en-US" dirty="0"/>
          </a:p>
        </p:txBody>
      </p:sp>
    </p:spTree>
    <p:extLst>
      <p:ext uri="{BB962C8B-B14F-4D97-AF65-F5344CB8AC3E}">
        <p14:creationId xmlns:p14="http://schemas.microsoft.com/office/powerpoint/2010/main" val="4075606641"/>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idx="1"/>
          </p:nvPr>
        </p:nvSpPr>
        <p:spPr/>
        <p:txBody>
          <a:bodyPr>
            <a:normAutofit fontScale="92500" lnSpcReduction="10000"/>
          </a:bodyPr>
          <a:lstStyle/>
          <a:p>
            <a:r>
              <a:rPr lang="en-US" dirty="0" smtClean="0"/>
              <a:t>Porter’s Competitive Forces Model </a:t>
            </a:r>
            <a:endParaRPr lang="en-US" dirty="0"/>
          </a:p>
        </p:txBody>
      </p:sp>
      <p:sp>
        <p:nvSpPr>
          <p:cNvPr id="3" name="Content Placeholder 2"/>
          <p:cNvSpPr>
            <a:spLocks noGrp="1"/>
          </p:cNvSpPr>
          <p:nvPr>
            <p:ph sz="quarter" idx="14"/>
          </p:nvPr>
        </p:nvSpPr>
        <p:spPr/>
        <p:txBody>
          <a:bodyPr/>
          <a:lstStyle/>
          <a:p>
            <a:pPr marL="514350" indent="-514350">
              <a:buFont typeface="+mj-lt"/>
              <a:buAutoNum type="arabicPeriod"/>
            </a:pPr>
            <a:r>
              <a:rPr lang="en-US" dirty="0" smtClean="0"/>
              <a:t>Threat of Entry of New Competitors</a:t>
            </a:r>
          </a:p>
          <a:p>
            <a:pPr marL="514350" indent="-514350">
              <a:buFont typeface="+mj-lt"/>
              <a:buAutoNum type="arabicPeriod"/>
            </a:pPr>
            <a:r>
              <a:rPr lang="en-US" dirty="0" smtClean="0"/>
              <a:t>Bargaining Power of Suppliers</a:t>
            </a:r>
          </a:p>
          <a:p>
            <a:pPr marL="514350" indent="-514350">
              <a:buFont typeface="+mj-lt"/>
              <a:buAutoNum type="arabicPeriod"/>
            </a:pPr>
            <a:r>
              <a:rPr lang="en-US" dirty="0" smtClean="0"/>
              <a:t>Bargaining Power of Customers/Buyers</a:t>
            </a:r>
          </a:p>
          <a:p>
            <a:pPr marL="514350" indent="-514350">
              <a:buFont typeface="+mj-lt"/>
              <a:buAutoNum type="arabicPeriod"/>
            </a:pPr>
            <a:r>
              <a:rPr lang="en-US" dirty="0" smtClean="0"/>
              <a:t>Threat of Substitute Products or Services</a:t>
            </a:r>
          </a:p>
          <a:p>
            <a:pPr marL="514350" indent="-514350">
              <a:buFont typeface="+mj-lt"/>
              <a:buAutoNum type="arabicPeriod"/>
            </a:pPr>
            <a:r>
              <a:rPr lang="en-US" dirty="0" smtClean="0"/>
              <a:t>Rivalry Among Existing Firms within the Industry</a:t>
            </a:r>
          </a:p>
          <a:p>
            <a:pPr marL="514350" indent="-514350">
              <a:buFont typeface="+mj-lt"/>
              <a:buAutoNum type="arabicPeriod"/>
            </a:pPr>
            <a:endParaRPr lang="en-US" dirty="0" smtClean="0"/>
          </a:p>
        </p:txBody>
      </p:sp>
    </p:spTree>
    <p:extLst>
      <p:ext uri="{BB962C8B-B14F-4D97-AF65-F5344CB8AC3E}">
        <p14:creationId xmlns:p14="http://schemas.microsoft.com/office/powerpoint/2010/main" val="3248976460"/>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idx="1"/>
          </p:nvPr>
        </p:nvSpPr>
        <p:spPr/>
        <p:txBody>
          <a:bodyPr>
            <a:normAutofit fontScale="77500" lnSpcReduction="20000"/>
          </a:bodyPr>
          <a:lstStyle/>
          <a:p>
            <a:r>
              <a:rPr lang="en-US" dirty="0" smtClean="0"/>
              <a:t>Porter’s Competitive Forces Model</a:t>
            </a:r>
            <a:endParaRPr lang="en-US" dirty="0"/>
          </a:p>
        </p:txBody>
      </p:sp>
      <p:pic>
        <p:nvPicPr>
          <p:cNvPr id="9" name="Picture 2"/>
          <p:cNvPicPr>
            <a:picLocks noGrp="1" noChangeAspect="1" noChangeArrowheads="1"/>
          </p:cNvPicPr>
          <p:nvPr>
            <p:ph sz="quarter" idx="14"/>
          </p:nvPr>
        </p:nvPicPr>
        <p:blipFill>
          <a:blip r:embed="rId3">
            <a:extLst>
              <a:ext uri="{28A0092B-C50C-407E-A947-70E740481C1C}">
                <a14:useLocalDpi xmlns:a14="http://schemas.microsoft.com/office/drawing/2010/main" val="0"/>
              </a:ext>
            </a:extLst>
          </a:blip>
          <a:srcRect/>
          <a:stretch>
            <a:fillRect/>
          </a:stretch>
        </p:blipFill>
        <p:spPr bwMode="auto">
          <a:xfrm>
            <a:off x="533400" y="1528687"/>
            <a:ext cx="8153400" cy="49436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985115231"/>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idx="1"/>
          </p:nvPr>
        </p:nvSpPr>
        <p:spPr/>
        <p:txBody>
          <a:bodyPr>
            <a:normAutofit/>
          </a:bodyPr>
          <a:lstStyle/>
          <a:p>
            <a:r>
              <a:rPr lang="en-US" dirty="0" smtClean="0"/>
              <a:t>Porter’s Value Chain Model </a:t>
            </a:r>
            <a:endParaRPr lang="en-US" dirty="0"/>
          </a:p>
        </p:txBody>
      </p:sp>
      <p:sp>
        <p:nvSpPr>
          <p:cNvPr id="3" name="Content Placeholder 2"/>
          <p:cNvSpPr>
            <a:spLocks noGrp="1"/>
          </p:cNvSpPr>
          <p:nvPr>
            <p:ph sz="quarter" idx="14"/>
          </p:nvPr>
        </p:nvSpPr>
        <p:spPr/>
        <p:txBody>
          <a:bodyPr>
            <a:normAutofit fontScale="92500" lnSpcReduction="20000"/>
          </a:bodyPr>
          <a:lstStyle/>
          <a:p>
            <a:r>
              <a:rPr lang="en-US" dirty="0" smtClean="0"/>
              <a:t>Value Chain</a:t>
            </a:r>
          </a:p>
          <a:p>
            <a:pPr lvl="1"/>
            <a:r>
              <a:rPr lang="en-US" dirty="0" smtClean="0"/>
              <a:t>A sequence of activities through which the organization’s inputs are transformed into valuable outputs.</a:t>
            </a:r>
          </a:p>
          <a:p>
            <a:r>
              <a:rPr lang="en-US" dirty="0" smtClean="0"/>
              <a:t>Primary Activities</a:t>
            </a:r>
          </a:p>
          <a:p>
            <a:pPr lvl="1"/>
            <a:r>
              <a:rPr lang="en-US" dirty="0" smtClean="0"/>
              <a:t>Relate to Production &amp; Distribution of Products &amp; Services</a:t>
            </a:r>
          </a:p>
          <a:p>
            <a:r>
              <a:rPr lang="en-US" dirty="0" smtClean="0"/>
              <a:t>Support Activities</a:t>
            </a:r>
          </a:p>
          <a:p>
            <a:pPr lvl="1"/>
            <a:r>
              <a:rPr lang="en-US" dirty="0" smtClean="0"/>
              <a:t>Support Primary Activities Contributing to Competitive Advantage</a:t>
            </a:r>
            <a:endParaRPr lang="en-US" dirty="0"/>
          </a:p>
        </p:txBody>
      </p:sp>
    </p:spTree>
    <p:extLst>
      <p:ext uri="{BB962C8B-B14F-4D97-AF65-F5344CB8AC3E}">
        <p14:creationId xmlns:p14="http://schemas.microsoft.com/office/powerpoint/2010/main" val="3941170038"/>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42"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2759" y="609600"/>
            <a:ext cx="8728841" cy="5867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99734277"/>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idx="1"/>
          </p:nvPr>
        </p:nvSpPr>
        <p:spPr/>
        <p:txBody>
          <a:bodyPr>
            <a:normAutofit/>
          </a:bodyPr>
          <a:lstStyle/>
          <a:p>
            <a:r>
              <a:rPr lang="en-US" dirty="0" smtClean="0"/>
              <a:t>Primary Activities</a:t>
            </a:r>
            <a:endParaRPr lang="en-US" dirty="0"/>
          </a:p>
        </p:txBody>
      </p:sp>
      <p:sp>
        <p:nvSpPr>
          <p:cNvPr id="3" name="Content Placeholder 2"/>
          <p:cNvSpPr>
            <a:spLocks noGrp="1"/>
          </p:cNvSpPr>
          <p:nvPr>
            <p:ph type="body" sz="quarter" idx="13"/>
          </p:nvPr>
        </p:nvSpPr>
        <p:spPr/>
        <p:txBody>
          <a:bodyPr>
            <a:normAutofit/>
          </a:bodyPr>
          <a:lstStyle/>
          <a:p>
            <a:r>
              <a:rPr lang="en-US" dirty="0" smtClean="0"/>
              <a:t>Five Primary Activities for Manufacturing</a:t>
            </a:r>
          </a:p>
          <a:p>
            <a:pPr marL="971550" lvl="1" indent="-514350">
              <a:buFont typeface="+mj-lt"/>
              <a:buAutoNum type="arabicPeriod"/>
            </a:pPr>
            <a:r>
              <a:rPr lang="en-US" dirty="0" smtClean="0"/>
              <a:t>Inbound Logistics (inputs)</a:t>
            </a:r>
          </a:p>
          <a:p>
            <a:pPr marL="971550" lvl="1" indent="-514350">
              <a:buFont typeface="+mj-lt"/>
              <a:buAutoNum type="arabicPeriod"/>
            </a:pPr>
            <a:r>
              <a:rPr lang="en-US" dirty="0" smtClean="0"/>
              <a:t>Operations (manufacturing &amp; testing)</a:t>
            </a:r>
          </a:p>
          <a:p>
            <a:pPr marL="971550" lvl="1" indent="-514350">
              <a:buFont typeface="+mj-lt"/>
              <a:buAutoNum type="arabicPeriod"/>
            </a:pPr>
            <a:r>
              <a:rPr lang="en-US" dirty="0" smtClean="0"/>
              <a:t>Outbound Logistics (storage &amp; distribution)</a:t>
            </a:r>
          </a:p>
          <a:p>
            <a:pPr marL="971550" lvl="1" indent="-514350">
              <a:buFont typeface="+mj-lt"/>
              <a:buAutoNum type="arabicPeriod"/>
            </a:pPr>
            <a:r>
              <a:rPr lang="en-US" dirty="0" smtClean="0"/>
              <a:t>Marketing &amp; Sales</a:t>
            </a:r>
          </a:p>
          <a:p>
            <a:pPr marL="971550" lvl="1" indent="-514350">
              <a:buFont typeface="+mj-lt"/>
              <a:buAutoNum type="arabicPeriod"/>
            </a:pPr>
            <a:r>
              <a:rPr lang="en-US" dirty="0" smtClean="0"/>
              <a:t>After Sales Services</a:t>
            </a:r>
            <a:endParaRPr lang="en-US" dirty="0"/>
          </a:p>
        </p:txBody>
      </p:sp>
    </p:spTree>
    <p:extLst>
      <p:ext uri="{BB962C8B-B14F-4D97-AF65-F5344CB8AC3E}">
        <p14:creationId xmlns:p14="http://schemas.microsoft.com/office/powerpoint/2010/main" val="61790002"/>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idx="1"/>
          </p:nvPr>
        </p:nvSpPr>
        <p:spPr/>
        <p:txBody>
          <a:bodyPr>
            <a:normAutofit/>
          </a:bodyPr>
          <a:lstStyle/>
          <a:p>
            <a:r>
              <a:rPr lang="en-US" dirty="0" smtClean="0"/>
              <a:t>Support Activities</a:t>
            </a:r>
            <a:endParaRPr lang="en-US" dirty="0"/>
          </a:p>
        </p:txBody>
      </p:sp>
      <p:sp>
        <p:nvSpPr>
          <p:cNvPr id="3" name="Content Placeholder 2"/>
          <p:cNvSpPr>
            <a:spLocks noGrp="1"/>
          </p:cNvSpPr>
          <p:nvPr>
            <p:ph type="body" sz="quarter" idx="13"/>
          </p:nvPr>
        </p:nvSpPr>
        <p:spPr/>
        <p:txBody>
          <a:bodyPr>
            <a:normAutofit/>
          </a:bodyPr>
          <a:lstStyle/>
          <a:p>
            <a:r>
              <a:rPr lang="en-US" dirty="0" smtClean="0"/>
              <a:t>Four Support Activities</a:t>
            </a:r>
          </a:p>
          <a:p>
            <a:pPr marL="971550" lvl="1" indent="-514350">
              <a:buFont typeface="+mj-lt"/>
              <a:buAutoNum type="arabicPeriod"/>
            </a:pPr>
            <a:r>
              <a:rPr lang="en-US" dirty="0" smtClean="0"/>
              <a:t>Firm’s Infrastructure (accounting, finance, management)</a:t>
            </a:r>
          </a:p>
          <a:p>
            <a:pPr marL="971550" lvl="1" indent="-514350">
              <a:buFont typeface="+mj-lt"/>
              <a:buAutoNum type="arabicPeriod"/>
            </a:pPr>
            <a:r>
              <a:rPr lang="en-US" dirty="0" smtClean="0"/>
              <a:t>Human Resources Management</a:t>
            </a:r>
          </a:p>
          <a:p>
            <a:pPr marL="971550" lvl="1" indent="-514350">
              <a:buFont typeface="+mj-lt"/>
              <a:buAutoNum type="arabicPeriod"/>
            </a:pPr>
            <a:r>
              <a:rPr lang="en-US" dirty="0" smtClean="0"/>
              <a:t>Product &amp; Technology Development (R&amp;D)</a:t>
            </a:r>
          </a:p>
          <a:p>
            <a:pPr marL="971550" lvl="1" indent="-514350">
              <a:buFont typeface="+mj-lt"/>
              <a:buAutoNum type="arabicPeriod"/>
            </a:pPr>
            <a:r>
              <a:rPr lang="en-US" dirty="0" smtClean="0"/>
              <a:t>Procurement</a:t>
            </a:r>
            <a:endParaRPr lang="en-US" dirty="0"/>
          </a:p>
        </p:txBody>
      </p:sp>
    </p:spTree>
    <p:extLst>
      <p:ext uri="{BB962C8B-B14F-4D97-AF65-F5344CB8AC3E}">
        <p14:creationId xmlns:p14="http://schemas.microsoft.com/office/powerpoint/2010/main" val="3900540312"/>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idx="1"/>
          </p:nvPr>
        </p:nvSpPr>
        <p:spPr/>
        <p:txBody>
          <a:bodyPr>
            <a:normAutofit fontScale="92500" lnSpcReduction="10000"/>
          </a:bodyPr>
          <a:lstStyle/>
          <a:p>
            <a:r>
              <a:rPr lang="en-US" dirty="0" smtClean="0"/>
              <a:t>Strategies for Competitive Advantage</a:t>
            </a:r>
            <a:endParaRPr lang="en-US" dirty="0"/>
          </a:p>
        </p:txBody>
      </p:sp>
      <p:sp>
        <p:nvSpPr>
          <p:cNvPr id="3" name="Content Placeholder 2"/>
          <p:cNvSpPr>
            <a:spLocks noGrp="1"/>
          </p:cNvSpPr>
          <p:nvPr>
            <p:ph sz="quarter" idx="14"/>
          </p:nvPr>
        </p:nvSpPr>
        <p:spPr/>
        <p:txBody>
          <a:bodyPr/>
          <a:lstStyle/>
          <a:p>
            <a:r>
              <a:rPr lang="en-US" dirty="0" smtClean="0"/>
              <a:t>Cost Leadership</a:t>
            </a:r>
          </a:p>
          <a:p>
            <a:r>
              <a:rPr lang="en-US" dirty="0" smtClean="0"/>
              <a:t>Differentiation</a:t>
            </a:r>
          </a:p>
          <a:p>
            <a:r>
              <a:rPr lang="en-US" dirty="0" smtClean="0"/>
              <a:t>Innovation</a:t>
            </a:r>
          </a:p>
          <a:p>
            <a:r>
              <a:rPr lang="en-US" dirty="0" smtClean="0"/>
              <a:t>Operational Effectiveness</a:t>
            </a:r>
          </a:p>
          <a:p>
            <a:r>
              <a:rPr lang="en-US" dirty="0" smtClean="0"/>
              <a:t>Customer-Orientation</a:t>
            </a:r>
            <a:endParaRPr lang="en-US" dirty="0"/>
          </a:p>
        </p:txBody>
      </p:sp>
    </p:spTree>
    <p:extLst>
      <p:ext uri="{BB962C8B-B14F-4D97-AF65-F5344CB8AC3E}">
        <p14:creationId xmlns:p14="http://schemas.microsoft.com/office/powerpoint/2010/main" val="3803325859"/>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idx="1"/>
          </p:nvPr>
        </p:nvSpPr>
        <p:spPr/>
        <p:txBody>
          <a:bodyPr>
            <a:normAutofit fontScale="55000" lnSpcReduction="20000"/>
          </a:bodyPr>
          <a:lstStyle/>
          <a:p>
            <a:r>
              <a:rPr lang="en-US" b="1" dirty="0"/>
              <a:t>FIGURE 2.5 </a:t>
            </a:r>
            <a:r>
              <a:rPr lang="en-US" dirty="0"/>
              <a:t>Strategies for competitive advantage</a:t>
            </a:r>
            <a:r>
              <a:rPr lang="en-US" dirty="0" smtClean="0"/>
              <a:t>.</a:t>
            </a:r>
            <a:endParaRPr lang="en-US" dirty="0"/>
          </a:p>
        </p:txBody>
      </p:sp>
      <p:pic>
        <p:nvPicPr>
          <p:cNvPr id="5" name="Picture 2"/>
          <p:cNvPicPr>
            <a:picLocks noGrp="1" noChangeAspect="1" noChangeArrowheads="1"/>
          </p:cNvPicPr>
          <p:nvPr>
            <p:ph sz="quarter" idx="14"/>
          </p:nvPr>
        </p:nvPicPr>
        <p:blipFill>
          <a:blip r:embed="rId3">
            <a:extLst>
              <a:ext uri="{28A0092B-C50C-407E-A947-70E740481C1C}">
                <a14:useLocalDpi xmlns:a14="http://schemas.microsoft.com/office/drawing/2010/main" val="0"/>
              </a:ext>
            </a:extLst>
          </a:blip>
          <a:srcRect/>
          <a:stretch>
            <a:fillRect/>
          </a:stretch>
        </p:blipFill>
        <p:spPr bwMode="auto">
          <a:xfrm>
            <a:off x="1087681" y="1447800"/>
            <a:ext cx="7044838" cy="5105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303291432"/>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3"/>
          <p:cNvSpPr>
            <a:spLocks noGrp="1"/>
          </p:cNvSpPr>
          <p:nvPr>
            <p:ph type="subTitle" idx="1"/>
          </p:nvPr>
        </p:nvSpPr>
        <p:spPr/>
        <p:txBody>
          <a:bodyPr>
            <a:normAutofit lnSpcReduction="10000"/>
          </a:bodyPr>
          <a:lstStyle/>
          <a:p>
            <a:r>
              <a:rPr lang="en-US" dirty="0" smtClean="0"/>
              <a:t>The University of Pittsburgh Medical Center Makes Effective Use of IT</a:t>
            </a:r>
            <a:endParaRPr lang="en-US" dirty="0"/>
          </a:p>
        </p:txBody>
      </p:sp>
      <p:sp>
        <p:nvSpPr>
          <p:cNvPr id="5" name="Text Placeholder 4"/>
          <p:cNvSpPr>
            <a:spLocks noGrp="1"/>
          </p:cNvSpPr>
          <p:nvPr>
            <p:ph type="body" sz="quarter" idx="13"/>
          </p:nvPr>
        </p:nvSpPr>
        <p:spPr/>
        <p:txBody>
          <a:bodyPr/>
          <a:lstStyle/>
          <a:p>
            <a:endParaRPr lang="en-US"/>
          </a:p>
        </p:txBody>
      </p:sp>
      <p:sp>
        <p:nvSpPr>
          <p:cNvPr id="6" name="ClipArt Placeholder 5"/>
          <p:cNvSpPr>
            <a:spLocks noGrp="1"/>
          </p:cNvSpPr>
          <p:nvPr>
            <p:ph type="clipArt" sz="quarter" idx="14"/>
          </p:nvPr>
        </p:nvSpPr>
        <p:spPr/>
      </p:sp>
      <p:sp>
        <p:nvSpPr>
          <p:cNvPr id="7" name="Text Placeholder 6"/>
          <p:cNvSpPr>
            <a:spLocks noGrp="1"/>
          </p:cNvSpPr>
          <p:nvPr>
            <p:ph type="body" sz="quarter" idx="15"/>
          </p:nvPr>
        </p:nvSpPr>
        <p:spPr/>
        <p:txBody>
          <a:bodyPr/>
          <a:lstStyle/>
          <a:p>
            <a:r>
              <a:rPr lang="en-US" dirty="0" smtClean="0"/>
              <a:t>2.5</a:t>
            </a:r>
            <a:endParaRPr lang="en-US" dirty="0"/>
          </a:p>
        </p:txBody>
      </p:sp>
    </p:spTree>
    <p:extLst>
      <p:ext uri="{BB962C8B-B14F-4D97-AF65-F5344CB8AC3E}">
        <p14:creationId xmlns:p14="http://schemas.microsoft.com/office/powerpoint/2010/main" val="1768467149"/>
      </p:ext>
    </p:extLst>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5300" dirty="0">
                <a:solidFill>
                  <a:schemeClr val="accent6">
                    <a:lumMod val="50000"/>
                  </a:schemeClr>
                </a:solidFill>
              </a:rPr>
              <a:t>[</a:t>
            </a:r>
            <a:r>
              <a:rPr lang="en-US" dirty="0"/>
              <a:t> </a:t>
            </a:r>
            <a:r>
              <a:rPr lang="en-US" dirty="0">
                <a:solidFill>
                  <a:schemeClr val="accent1">
                    <a:lumMod val="75000"/>
                  </a:schemeClr>
                </a:solidFill>
              </a:rPr>
              <a:t>Closing Case </a:t>
            </a:r>
            <a:r>
              <a:rPr lang="en-US" dirty="0" smtClean="0"/>
              <a:t>IBM’s Watson</a:t>
            </a:r>
            <a:r>
              <a:rPr lang="en-US" sz="5300" dirty="0" smtClean="0">
                <a:solidFill>
                  <a:schemeClr val="accent6">
                    <a:lumMod val="50000"/>
                  </a:schemeClr>
                </a:solidFill>
              </a:rPr>
              <a:t>]</a:t>
            </a:r>
            <a:endParaRPr lang="en-US" dirty="0"/>
          </a:p>
        </p:txBody>
      </p:sp>
      <p:sp>
        <p:nvSpPr>
          <p:cNvPr id="3" name="Text Placeholder 2"/>
          <p:cNvSpPr>
            <a:spLocks noGrp="1"/>
          </p:cNvSpPr>
          <p:nvPr>
            <p:ph type="body" sz="quarter" idx="13"/>
          </p:nvPr>
        </p:nvSpPr>
        <p:spPr/>
        <p:txBody>
          <a:bodyPr>
            <a:normAutofit/>
          </a:bodyPr>
          <a:lstStyle/>
          <a:p>
            <a:r>
              <a:rPr lang="en-US" dirty="0" smtClean="0"/>
              <a:t>The </a:t>
            </a:r>
            <a:r>
              <a:rPr lang="en-US" dirty="0" smtClean="0">
                <a:solidFill>
                  <a:schemeClr val="tx1">
                    <a:lumMod val="65000"/>
                    <a:lumOff val="35000"/>
                  </a:schemeClr>
                </a:solidFill>
              </a:rPr>
              <a:t>Business Problem</a:t>
            </a:r>
          </a:p>
          <a:p>
            <a:r>
              <a:rPr lang="en-US" dirty="0" smtClean="0"/>
              <a:t>An Interesting IT </a:t>
            </a:r>
            <a:r>
              <a:rPr lang="en-US" dirty="0" smtClean="0">
                <a:solidFill>
                  <a:schemeClr val="tx1">
                    <a:lumMod val="65000"/>
                    <a:lumOff val="35000"/>
                  </a:schemeClr>
                </a:solidFill>
              </a:rPr>
              <a:t>Solution</a:t>
            </a:r>
          </a:p>
          <a:p>
            <a:r>
              <a:rPr lang="en-US" dirty="0"/>
              <a:t>The </a:t>
            </a:r>
            <a:r>
              <a:rPr lang="en-US" dirty="0" smtClean="0">
                <a:solidFill>
                  <a:schemeClr val="tx1">
                    <a:lumMod val="65000"/>
                    <a:lumOff val="35000"/>
                  </a:schemeClr>
                </a:solidFill>
              </a:rPr>
              <a:t>Results</a:t>
            </a:r>
            <a:endParaRPr lang="en-US" dirty="0">
              <a:solidFill>
                <a:schemeClr val="tx1">
                  <a:lumMod val="65000"/>
                  <a:lumOff val="35000"/>
                </a:schemeClr>
              </a:solidFill>
            </a:endParaRPr>
          </a:p>
        </p:txBody>
      </p:sp>
    </p:spTree>
    <p:extLst>
      <p:ext uri="{BB962C8B-B14F-4D97-AF65-F5344CB8AC3E}">
        <p14:creationId xmlns:p14="http://schemas.microsoft.com/office/powerpoint/2010/main" val="346593816"/>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16046</TotalTime>
  <Words>4613</Words>
  <Application>Microsoft Office PowerPoint</Application>
  <PresentationFormat>On-screen Show (4:3)</PresentationFormat>
  <Paragraphs>515</Paragraphs>
  <Slides>60</Slides>
  <Notes>31</Notes>
  <HiddenSlides>0</HiddenSlides>
  <MMClips>0</MMClips>
  <ScaleCrop>false</ScaleCrop>
  <HeadingPairs>
    <vt:vector size="4" baseType="variant">
      <vt:variant>
        <vt:lpstr>Theme</vt:lpstr>
      </vt:variant>
      <vt:variant>
        <vt:i4>1</vt:i4>
      </vt:variant>
      <vt:variant>
        <vt:lpstr>Slide Titles</vt:lpstr>
      </vt:variant>
      <vt:variant>
        <vt:i4>60</vt:i4>
      </vt:variant>
    </vt:vector>
  </HeadingPairs>
  <TitlesOfParts>
    <vt:vector size="61" baseType="lpstr">
      <vt:lpstr>Office Theme</vt:lpstr>
      <vt:lpstr>PowerPoint Presentation</vt:lpstr>
      <vt:lpstr>PowerPoint Presentation</vt:lpstr>
      <vt:lpstr>PowerPoint Presentation</vt:lpstr>
      <vt:lpstr>[ WEB RESOURCES]</vt:lpstr>
      <vt:lpstr>[ Opening Case Grub Hub]</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 Closing Case IBM’s Watson]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Rainer_6e_Chapter2_Slides</dc:title>
  <dc:creator>John Kenneth Corley</dc:creator>
  <cp:lastModifiedBy>techsupport</cp:lastModifiedBy>
  <cp:revision>472</cp:revision>
  <dcterms:created xsi:type="dcterms:W3CDTF">2013-08-07T23:49:12Z</dcterms:created>
  <dcterms:modified xsi:type="dcterms:W3CDTF">2015-10-01T20:04:28Z</dcterms:modified>
</cp:coreProperties>
</file>