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59" r:id="rId4"/>
    <p:sldId id="260" r:id="rId5"/>
    <p:sldId id="261" r:id="rId6"/>
    <p:sldId id="266" r:id="rId7"/>
    <p:sldId id="262" r:id="rId8"/>
    <p:sldId id="267" r:id="rId9"/>
    <p:sldId id="269" r:id="rId10"/>
    <p:sldId id="270" r:id="rId11"/>
    <p:sldId id="271" r:id="rId12"/>
    <p:sldId id="263" r:id="rId13"/>
    <p:sldId id="264" r:id="rId14"/>
    <p:sldId id="265" r:id="rId15"/>
    <p:sldId id="268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>
        <p:scale>
          <a:sx n="95" d="100"/>
          <a:sy n="95" d="100"/>
        </p:scale>
        <p:origin x="-38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644"/>
    </p:cViewPr>
  </p:sorterViewPr>
  <p:notesViewPr>
    <p:cSldViewPr>
      <p:cViewPr varScale="1">
        <p:scale>
          <a:sx n="71" d="100"/>
          <a:sy n="71" d="100"/>
        </p:scale>
        <p:origin x="-325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0E9CF-DDAF-49EC-A515-EA06D0CC3F7E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4396E-E768-4B71-9DF1-DC4BD80F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5603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41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***new slide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862CF-955A-48D0-8351-3D03ADE6E08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***new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862CF-955A-48D0-8351-3D03ADE6E08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556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4796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50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795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1581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7915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1607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151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837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B97A1-97CF-4519-8A52-EF9DC7364546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381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err="1" smtClean="0">
                <a:solidFill>
                  <a:schemeClr val="tx1"/>
                </a:solidFill>
              </a:rPr>
              <a:t>Bygrave</a:t>
            </a:r>
            <a:r>
              <a:rPr lang="en-US" sz="1000" dirty="0" smtClean="0">
                <a:solidFill>
                  <a:schemeClr val="tx1"/>
                </a:solidFill>
              </a:rPr>
              <a:t>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0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Novecento wide Book"/>
              </a:rPr>
              <a:t>ENTREPRENEURIAL MARKETING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vecento wide Book" pitchFamily="50" charset="0"/>
              </a:rPr>
              <a:t>Chapter 5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Novecento wide Book"/>
              </a:rPr>
              <a:t>Marketing defined…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457200" y="1787209"/>
            <a:ext cx="8382000" cy="27674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	An organizational function and a set of processes for creating, communicating, and delivering value to customers and for managing customer relationships in ways that benefit the organization and its stake holders.</a:t>
            </a:r>
          </a:p>
          <a:p>
            <a:pPr marL="1417320" lvl="3" algn="r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American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Marketing 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4876800"/>
            <a:ext cx="7010400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Marketing practices vary depending on the type of company and the products and services it sells.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6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Marketing is Critical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457200" y="1752600"/>
            <a:ext cx="8229600" cy="248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Establishes a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Differentiates</a:t>
            </a:r>
            <a:r>
              <a:rPr lang="en-US" altLang="zh-CN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900" dirty="0">
                <a:latin typeface="Arial" panose="020B0604020202020204" pitchFamily="34" charset="0"/>
                <a:cs typeface="Arial" panose="020B0604020202020204" pitchFamily="34" charset="0"/>
              </a:rPr>
              <a:t>product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or service to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Gains customer acceptance, trust and loyalty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Incites trial and usage</a:t>
            </a:r>
          </a:p>
          <a:p>
            <a:endParaRPr lang="en-US" sz="2200" b="1" dirty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4648200"/>
            <a:ext cx="7391400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SzPct val="60000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Companies must be able to switch marketing gears quickly to attract new customer segments</a:t>
            </a:r>
          </a:p>
        </p:txBody>
      </p:sp>
    </p:spTree>
    <p:extLst>
      <p:ext uri="{BB962C8B-B14F-4D97-AF65-F5344CB8AC3E}">
        <p14:creationId xmlns:p14="http://schemas.microsoft.com/office/powerpoint/2010/main" val="54839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04800"/>
            <a:ext cx="8382000" cy="9906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Entrepreneurs face unique marketing challenges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609600" y="1798543"/>
            <a:ext cx="8229600" cy="427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Limited by: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Financial and managerial resources 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Market information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Muddling decision-making with personal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biases and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beliefs</a:t>
            </a:r>
            <a:endParaRPr lang="en-US" altLang="zh-CN" sz="2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altLang="zh-CN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Establishes poor </a:t>
            </a:r>
            <a:r>
              <a:rPr lang="en-US" altLang="zh-CN" sz="2900" dirty="0">
                <a:latin typeface="Arial" panose="020B0604020202020204" pitchFamily="34" charset="0"/>
                <a:cs typeface="Arial" panose="020B0604020202020204" pitchFamily="34" charset="0"/>
              </a:rPr>
              <a:t>relations with multiple </a:t>
            </a:r>
            <a:r>
              <a:rPr lang="en-US" altLang="zh-CN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audiences </a:t>
            </a:r>
            <a:endParaRPr lang="en-US" altLang="zh-CN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sz="2200" b="1" dirty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49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Entrepreneurs must acquire market data &amp; information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609600" y="1692151"/>
            <a:ext cx="8229600" cy="4198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20040" indent="-274320">
              <a:spcBef>
                <a:spcPts val="6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Four main categories</a:t>
            </a:r>
            <a:r>
              <a:rPr lang="en-US" altLang="zh-CN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2900" b="1" dirty="0" smtClean="0"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attributes important to </a:t>
            </a: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 behavior indicating a willingness to pay</a:t>
            </a: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Trends</a:t>
            </a: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 preference locations   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altLang="zh-CN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Two main types:</a:t>
            </a:r>
            <a:endParaRPr lang="en-US" altLang="zh-CN" b="1" dirty="0" smtClean="0"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Secondary – economical, already published</a:t>
            </a:r>
          </a:p>
          <a:p>
            <a:pPr marL="640080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Primary – collected directly for specific purposes</a:t>
            </a:r>
          </a:p>
          <a:p>
            <a:pPr marL="10972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Groups, survey’s, &amp; experiments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2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57200"/>
            <a:ext cx="8686800" cy="990600"/>
          </a:xfrm>
        </p:spPr>
        <p:txBody>
          <a:bodyPr>
            <a:noAutofit/>
          </a:bodyPr>
          <a:lstStyle/>
          <a:p>
            <a:r>
              <a:rPr lang="en-US" sz="4800" dirty="0">
                <a:latin typeface="Novecento wide Book"/>
                <a:cs typeface="Tw Cen MT"/>
              </a:rPr>
              <a:t>U</a:t>
            </a:r>
            <a:r>
              <a:rPr lang="en-US" sz="4800" dirty="0" smtClean="0">
                <a:latin typeface="Novecento wide Book"/>
                <a:cs typeface="Tw Cen MT"/>
              </a:rPr>
              <a:t>nderstand the customer choice process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835373"/>
            <a:ext cx="6248400" cy="434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97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81000"/>
            <a:ext cx="8382000" cy="9906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Marketing strategy means aligning ends, ways, &amp; means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28600" y="1600200"/>
            <a:ext cx="8628313" cy="3200400"/>
            <a:chOff x="0" y="3048000"/>
            <a:chExt cx="8628313" cy="3200400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3048000"/>
              <a:ext cx="7239000" cy="3200400"/>
              <a:chOff x="762000" y="2209800"/>
              <a:chExt cx="7239000" cy="320040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219200" y="2587524"/>
                <a:ext cx="6781800" cy="2365476"/>
                <a:chOff x="1676400" y="3464582"/>
                <a:chExt cx="6781800" cy="2365476"/>
              </a:xfrm>
            </p:grpSpPr>
            <p:sp>
              <p:nvSpPr>
                <p:cNvPr id="2" name="Isosceles Triangle 1"/>
                <p:cNvSpPr/>
                <p:nvPr/>
              </p:nvSpPr>
              <p:spPr>
                <a:xfrm>
                  <a:off x="4419600" y="4915658"/>
                  <a:ext cx="914400" cy="914400"/>
                </a:xfrm>
                <a:prstGeom prst="triangl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Rectangle 2"/>
                <p:cNvSpPr/>
                <p:nvPr/>
              </p:nvSpPr>
              <p:spPr>
                <a:xfrm rot="21083797">
                  <a:off x="1676400" y="4800600"/>
                  <a:ext cx="6477000" cy="88295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Oval 3"/>
                <p:cNvSpPr>
                  <a:spLocks noChangeAspect="1"/>
                </p:cNvSpPr>
                <p:nvPr/>
              </p:nvSpPr>
              <p:spPr>
                <a:xfrm>
                  <a:off x="7010400" y="3464582"/>
                  <a:ext cx="914400" cy="914400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/>
                <p:cNvSpPr>
                  <a:spLocks noChangeAspect="1"/>
                </p:cNvSpPr>
                <p:nvPr/>
              </p:nvSpPr>
              <p:spPr>
                <a:xfrm>
                  <a:off x="1706236" y="4255105"/>
                  <a:ext cx="914400" cy="914400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ight Brace 4"/>
                <p:cNvSpPr/>
                <p:nvPr/>
              </p:nvSpPr>
              <p:spPr>
                <a:xfrm>
                  <a:off x="8229600" y="4343400"/>
                  <a:ext cx="228600" cy="565453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" name="Straight Connector 6"/>
                <p:cNvCxnSpPr>
                  <a:stCxn id="2" idx="0"/>
                </p:cNvCxnSpPr>
                <p:nvPr/>
              </p:nvCxnSpPr>
              <p:spPr>
                <a:xfrm>
                  <a:off x="4876800" y="4915658"/>
                  <a:ext cx="324676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Rectangle 10"/>
              <p:cNvSpPr/>
              <p:nvPr/>
            </p:nvSpPr>
            <p:spPr>
              <a:xfrm>
                <a:off x="762000" y="2971800"/>
                <a:ext cx="185863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ENDS</a:t>
                </a:r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096000" y="2209800"/>
                <a:ext cx="185863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MEANS</a:t>
                </a:r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505200" y="4953000"/>
                <a:ext cx="185863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WAYS</a:t>
                </a:r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7315200" y="4128655"/>
              <a:ext cx="1313113" cy="1001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Marketing Strategy Gap or Risk</a:t>
              </a:r>
              <a:endPara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28601" y="4800600"/>
            <a:ext cx="86283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20040" indent="-274320">
              <a:spcBef>
                <a:spcPts val="6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entrepreneurs’ resources &amp; capabilities (</a:t>
            </a:r>
            <a:r>
              <a:rPr lang="en-US" altLang="zh-C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), and objectives (</a:t>
            </a:r>
            <a:r>
              <a:rPr lang="en-US" altLang="zh-C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ends</a:t>
            </a: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differ from those of established companies, therefore they must employ different strategies (</a:t>
            </a:r>
            <a:r>
              <a:rPr lang="en-US" altLang="zh-CN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ways</a:t>
            </a: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400" b="1" dirty="0" smtClean="0"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38400" y="2293740"/>
            <a:ext cx="2918782" cy="373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Variables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Be attentive to consumer adoption behavior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304800" y="5168205"/>
            <a:ext cx="8686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Particularly applies to innovative products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Adoption rate can vary (i.e. slower for complex products)</a:t>
            </a:r>
            <a:endParaRPr lang="en-US" sz="2400" b="1" dirty="0">
              <a:solidFill>
                <a:schemeClr val="folHlink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1371600" y="1675101"/>
            <a:ext cx="6317352" cy="3354099"/>
            <a:chOff x="1981200" y="1749425"/>
            <a:chExt cx="5029200" cy="26701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749425"/>
              <a:ext cx="5029200" cy="2670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048000" y="1785937"/>
              <a:ext cx="2895600" cy="26511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Product Diffusion Curve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7742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533400"/>
            <a:ext cx="8382000" cy="12954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Segmentation, Targeting, and Positioning frame strategic ‘ends’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52400" y="2461260"/>
            <a:ext cx="2514600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Detect customer </a:t>
            </a:r>
            <a:r>
              <a:rPr lang="en-US" altLang="zh-CN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segments</a:t>
            </a:r>
            <a:r>
              <a:rPr lang="en-US" altLang="zh-C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 your market</a:t>
            </a:r>
            <a:endParaRPr lang="en-US" altLang="zh-C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Decide which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profitable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segments to 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altLang="zh-C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osition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your offering in the </a:t>
            </a:r>
            <a:r>
              <a:rPr lang="en-US" altLang="zh-C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minds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of your target segments</a:t>
            </a:r>
          </a:p>
        </p:txBody>
      </p: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2971800" y="2590800"/>
            <a:ext cx="4677011" cy="3507758"/>
            <a:chOff x="0" y="0"/>
            <a:chExt cx="9525000" cy="7143750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525000" cy="7143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7162800" y="6477000"/>
              <a:ext cx="2290466" cy="590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24000"/>
            <a:ext cx="280082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32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24000"/>
            <a:ext cx="280082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47950"/>
            <a:ext cx="4724400" cy="354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2461260"/>
            <a:ext cx="2514600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Detect customer 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segments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in your market</a:t>
            </a: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Decide which </a:t>
            </a:r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profitable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segments to </a:t>
            </a:r>
            <a:r>
              <a:rPr lang="en-US" altLang="zh-CN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altLang="zh-CN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osition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your offering in the </a:t>
            </a:r>
            <a:r>
              <a:rPr lang="en-US" altLang="zh-C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minds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of your target segments</a:t>
            </a:r>
          </a:p>
        </p:txBody>
      </p:sp>
      <p:sp>
        <p:nvSpPr>
          <p:cNvPr id="9" name="Title 7"/>
          <p:cNvSpPr>
            <a:spLocks noGrp="1"/>
          </p:cNvSpPr>
          <p:nvPr>
            <p:ph type="title"/>
          </p:nvPr>
        </p:nvSpPr>
        <p:spPr>
          <a:xfrm>
            <a:off x="609600" y="533400"/>
            <a:ext cx="8382000" cy="12954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Segmentation, Targeting, and Positioning frame strategic ‘ends’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24000"/>
            <a:ext cx="280082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71750"/>
            <a:ext cx="5219169" cy="349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2438400"/>
            <a:ext cx="2514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Detect customer 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segments</a:t>
            </a:r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in your market</a:t>
            </a: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Decide which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profitable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segments to </a:t>
            </a:r>
            <a:r>
              <a:rPr lang="en-US" altLang="zh-CN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altLang="zh-C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spcBef>
                <a:spcPts val="6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osition</a:t>
            </a:r>
            <a:r>
              <a:rPr lang="en-US" altLang="zh-C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your offering in the </a:t>
            </a:r>
            <a:r>
              <a:rPr lang="en-US" altLang="zh-CN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minds</a:t>
            </a:r>
            <a:r>
              <a:rPr lang="en-US" altLang="zh-C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of your target segments</a:t>
            </a:r>
          </a:p>
        </p:txBody>
      </p:sp>
      <p:sp>
        <p:nvSpPr>
          <p:cNvPr id="9" name="Title 7"/>
          <p:cNvSpPr>
            <a:spLocks noGrp="1"/>
          </p:cNvSpPr>
          <p:nvPr>
            <p:ph type="title"/>
          </p:nvPr>
        </p:nvSpPr>
        <p:spPr>
          <a:xfrm>
            <a:off x="609600" y="533400"/>
            <a:ext cx="8382000" cy="12954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Segmentation, Targeting, and Positioning frame strategic ‘ends’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81000" y="457200"/>
            <a:ext cx="8839200" cy="9906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Marketing mix = </a:t>
            </a:r>
            <a:r>
              <a:rPr lang="en-US" sz="4800" i="1" dirty="0" smtClean="0">
                <a:latin typeface="Novecento wide Book"/>
                <a:cs typeface="Tw Cen MT"/>
              </a:rPr>
              <a:t>Ways</a:t>
            </a:r>
            <a:r>
              <a:rPr lang="en-US" sz="4800" dirty="0" smtClean="0">
                <a:latin typeface="Novecento wide Book"/>
                <a:cs typeface="Tw Cen MT"/>
              </a:rPr>
              <a:t> you employ </a:t>
            </a:r>
            <a:r>
              <a:rPr lang="en-US" sz="4800" i="1" dirty="0" smtClean="0">
                <a:latin typeface="Novecento wide Book"/>
                <a:cs typeface="Tw Cen MT"/>
              </a:rPr>
              <a:t>Mean</a:t>
            </a:r>
            <a:r>
              <a:rPr lang="en-US" sz="4800" dirty="0" smtClean="0">
                <a:latin typeface="Novecento wide Book"/>
                <a:cs typeface="Tw Cen MT"/>
              </a:rPr>
              <a:t>s to achieve </a:t>
            </a:r>
            <a:r>
              <a:rPr lang="en-US" sz="4800" i="1" dirty="0">
                <a:latin typeface="Novecento wide Book"/>
                <a:cs typeface="Tw Cen MT"/>
              </a:rPr>
              <a:t>E</a:t>
            </a:r>
            <a:r>
              <a:rPr lang="en-US" sz="4800" i="1" dirty="0" smtClean="0">
                <a:latin typeface="Novecento wide Book"/>
                <a:cs typeface="Tw Cen MT"/>
              </a:rPr>
              <a:t>nds</a:t>
            </a:r>
            <a:endParaRPr lang="en-US" sz="4800" i="1" dirty="0">
              <a:latin typeface="Novecento wide Book"/>
              <a:cs typeface="Tw Cen M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5090"/>
            <a:ext cx="4800600" cy="47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10200" y="2800350"/>
            <a:ext cx="3599622" cy="3067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4-P’s are derived from your choice of target segment &amp; positioning</a:t>
            </a:r>
          </a:p>
          <a:p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4 variables are interdependent…a change to one, may require a change to the others.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2600"/>
            <a:ext cx="280082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534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Guerilla marketing is often used by entrepreneurs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4495800" y="4664839"/>
            <a:ext cx="4381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Why? - Fewer resources require each effort to yield out-sized impact.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6400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0500" y="1676400"/>
            <a:ext cx="4381500" cy="202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is non-traditional, grassroots, captivating, &amp; viral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creates word-of mouth &amp; buzz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2400" y="3733800"/>
            <a:ext cx="4191000" cy="2624364"/>
            <a:chOff x="152400" y="3733800"/>
            <a:chExt cx="4191000" cy="262436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3733800"/>
              <a:ext cx="4191000" cy="2624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90600" y="6019800"/>
              <a:ext cx="22860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Think this got anyone’s attention?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946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Skills for Managing Growth</a:t>
            </a: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533400" y="1905000"/>
            <a:ext cx="8534400" cy="357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Understanding and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 listening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to the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 customer</a:t>
            </a:r>
          </a:p>
          <a:p>
            <a:pPr marL="960120" lvl="1" indent="-45720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Obtain information to understand customer behavior and expectations related to the 4P’s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uilding the brand</a:t>
            </a:r>
          </a:p>
          <a:p>
            <a:pPr marL="960120" lvl="1" indent="-45720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Awareness – ability to recall brand upon cue</a:t>
            </a:r>
          </a:p>
          <a:p>
            <a:pPr marL="960120" lvl="1" indent="-45720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Equity – effect of brand awareness on customer</a:t>
            </a:r>
          </a:p>
        </p:txBody>
      </p:sp>
    </p:spTree>
    <p:extLst>
      <p:ext uri="{BB962C8B-B14F-4D97-AF65-F5344CB8AC3E}">
        <p14:creationId xmlns:p14="http://schemas.microsoft.com/office/powerpoint/2010/main" val="175362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199" y="838200"/>
            <a:ext cx="8405147" cy="1143000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Novecento wide Book"/>
                <a:cs typeface="Tw Cen MT"/>
              </a:rPr>
              <a:t>Recap: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Marketing is a delicate balance of art and science.</a:t>
            </a: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800" dirty="0">
              <a:latin typeface="Novecento wide Book"/>
              <a:cs typeface="Tw Cen M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A5DD8-1136-4C66-B798-45316FA1853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609600" y="2297351"/>
            <a:ext cx="4191000" cy="339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Have a solid, consistent strategy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Adapt your tactics as conditions change (scale)</a:t>
            </a: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Focus on the fundamentals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2303318"/>
            <a:ext cx="4061747" cy="3048000"/>
            <a:chOff x="2491453" y="2895600"/>
            <a:chExt cx="4061747" cy="3048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1453" y="2895600"/>
              <a:ext cx="4061747" cy="3048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124200" y="5562600"/>
              <a:ext cx="838200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</a:t>
              </a: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410200" y="4932218"/>
              <a:ext cx="990600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SCIENCE</a:t>
              </a: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20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7.0&quot;&gt;&lt;object type=&quot;1&quot; unique_id=&quot;10001&quot;&gt;&lt;object type=&quot;2&quot; unique_id=&quot;10548&quot;&gt;&lt;object type=&quot;3&quot; unique_id=&quot;10549&quot;&gt;&lt;property id=&quot;20148&quot; value=&quot;5&quot;/&gt;&lt;property id=&quot;20300&quot; value=&quot;Slide 1&quot;/&gt;&lt;property id=&quot;20307&quot; value=&quot;256&quot;/&gt;&lt;/object&gt;&lt;object type=&quot;3&quot; unique_id=&quot;10772&quot;&gt;&lt;property id=&quot;20148&quot; value=&quot;5&quot;/&gt;&lt;property id=&quot;20300&quot; value=&quot;Slide 2 - &amp;quot;Marketing defined…&amp;quot;&quot;/&gt;&lt;property id=&quot;20307&quot; value=&quot;258&quot;/&gt;&lt;/object&gt;&lt;object type=&quot;3&quot; unique_id=&quot;10773&quot;&gt;&lt;property id=&quot;20148&quot; value=&quot;5&quot;/&gt;&lt;property id=&quot;20300&quot; value=&quot;Slide 3 - &amp;quot;Marketing is Critical&amp;quot;&quot;/&gt;&lt;property id=&quot;20307&quot; value=&quot;259&quot;/&gt;&lt;/object&gt;&lt;object type=&quot;3&quot; unique_id=&quot;10774&quot;&gt;&lt;property id=&quot;20148&quot; value=&quot;5&quot;/&gt;&lt;property id=&quot;20300&quot; value=&quot;Slide 4 - &amp;quot;Entrepreneurs face unique marketing challenges&amp;quot;&quot;/&gt;&lt;property id=&quot;20307&quot; value=&quot;260&quot;/&gt;&lt;/object&gt;&lt;object type=&quot;3&quot; unique_id=&quot;10775&quot;&gt;&lt;property id=&quot;20148&quot; value=&quot;5&quot;/&gt;&lt;property id=&quot;20300&quot; value=&quot;Slide 5 - &amp;quot;Entrepreneurs must acquire market data &amp;amp; information&amp;quot;&quot;/&gt;&lt;property id=&quot;20307&quot; value=&quot;261&quot;/&gt;&lt;/object&gt;&lt;object type=&quot;3&quot; unique_id=&quot;10776&quot;&gt;&lt;property id=&quot;20148&quot; value=&quot;5&quot;/&gt;&lt;property id=&quot;20300&quot; value=&quot;Slide 7 - &amp;quot;Marketing strategy means aligning ends, ways, &amp;amp; means&amp;quot;&quot;/&gt;&lt;property id=&quot;20307&quot; value=&quot;262&quot;/&gt;&lt;/object&gt;&lt;object type=&quot;3&quot; unique_id=&quot;10777&quot;&gt;&lt;property id=&quot;20148&quot; value=&quot;5&quot;/&gt;&lt;property id=&quot;20300&quot; value=&quot;Slide 12 - &amp;quot;Marketing mix = Ways you employ Means to achieve Ends&amp;quot;&quot;/&gt;&lt;property id=&quot;20307&quot; value=&quot;263&quot;/&gt;&lt;/object&gt;&lt;object type=&quot;3&quot; unique_id=&quot;10778&quot;&gt;&lt;property id=&quot;20148&quot; value=&quot;5&quot;/&gt;&lt;property id=&quot;20300&quot; value=&quot;Slide 13 - &amp;quot;Guerilla marketing is often used by entrepreneurs&amp;quot;&quot;/&gt;&lt;property id=&quot;20307&quot; value=&quot;264&quot;/&gt;&lt;/object&gt;&lt;object type=&quot;3&quot; unique_id=&quot;10779&quot;&gt;&lt;property id=&quot;20148&quot; value=&quot;5&quot;/&gt;&lt;property id=&quot;20300&quot; value=&quot;Slide 14 - &amp;quot;Skills for Managing Growth&amp;quot;&quot;/&gt;&lt;property id=&quot;20307&quot; value=&quot;265&quot;/&gt;&lt;/object&gt;&lt;object type=&quot;3&quot; unique_id=&quot;10780&quot;&gt;&lt;property id=&quot;20148&quot; value=&quot;5&quot;/&gt;&lt;property id=&quot;20300&quot; value=&quot;Slide 6 - &amp;quot;Understand the customer choice process&amp;quot;&quot;/&gt;&lt;property id=&quot;20307&quot; value=&quot;266&quot;/&gt;&lt;/object&gt;&lt;object type=&quot;3&quot; unique_id=&quot;10781&quot;&gt;&lt;property id=&quot;20148&quot; value=&quot;5&quot;/&gt;&lt;property id=&quot;20300&quot; value=&quot;Slide 8 - &amp;quot;Be attentive to consumer adoption behavior&amp;quot;&quot;/&gt;&lt;property id=&quot;20307&quot; value=&quot;267&quot;/&gt;&lt;/object&gt;&lt;object type=&quot;3&quot; unique_id=&quot;10782&quot;&gt;&lt;property id=&quot;20148&quot; value=&quot;5&quot;/&gt;&lt;property id=&quot;20300&quot; value=&quot;Slide 15 - &amp;quot;Recap: Marketing is a delicate balance of art and science.&amp;#x0D;&amp;#x0A;&amp;quot;&quot;/&gt;&lt;property id=&quot;20307&quot; value=&quot;268&quot;/&gt;&lt;/object&gt;&lt;object type=&quot;3&quot; unique_id=&quot;11055&quot;&gt;&lt;property id=&quot;20148&quot; value=&quot;5&quot;/&gt;&lt;property id=&quot;20300&quot; value=&quot;Slide 9 - &amp;quot;Segmentation, Targeting, and Positioning frame strategic ‘ends’&amp;quot;&quot;/&gt;&lt;property id=&quot;20307&quot; value=&quot;269&quot;/&gt;&lt;/object&gt;&lt;object type=&quot;3&quot; unique_id=&quot;11056&quot;&gt;&lt;property id=&quot;20148&quot; value=&quot;5&quot;/&gt;&lt;property id=&quot;20300&quot; value=&quot;Slide 10 - &amp;quot;Segmentation, Targeting, and Positioning frame strategic ‘ends’&amp;quot;&quot;/&gt;&lt;property id=&quot;20307&quot; value=&quot;270&quot;/&gt;&lt;/object&gt;&lt;object type=&quot;3&quot; unique_id=&quot;11057&quot;&gt;&lt;property id=&quot;20148&quot; value=&quot;5&quot;/&gt;&lt;property id=&quot;20300&quot; value=&quot;Slide 11 - &amp;quot;Segmentation, Targeting, and Positioning frame strategic ‘ends’&amp;quot;&quot;/&gt;&lt;property id=&quot;20307&quot; value=&quot;271&quot;/&gt;&lt;/object&gt;&lt;/object&gt;&lt;object type=&quot;8&quot; unique_id=&quot;1057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5276</TotalTime>
  <Words>669</Words>
  <Application>Microsoft Office PowerPoint</Application>
  <PresentationFormat>On-screen Show (4:3)</PresentationFormat>
  <Paragraphs>112</Paragraphs>
  <Slides>15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Marketing defined…</vt:lpstr>
      <vt:lpstr>Marketing is Critical</vt:lpstr>
      <vt:lpstr>Entrepreneurs face unique marketing challenges</vt:lpstr>
      <vt:lpstr>Entrepreneurs must acquire market data &amp; information</vt:lpstr>
      <vt:lpstr>Understand the customer choice process</vt:lpstr>
      <vt:lpstr>Marketing strategy means aligning ends, ways, &amp; means</vt:lpstr>
      <vt:lpstr>Be attentive to consumer adoption behavior</vt:lpstr>
      <vt:lpstr>Segmentation, Targeting, and Positioning frame strategic ‘ends’</vt:lpstr>
      <vt:lpstr>Segmentation, Targeting, and Positioning frame strategic ‘ends’</vt:lpstr>
      <vt:lpstr>Segmentation, Targeting, and Positioning frame strategic ‘ends’</vt:lpstr>
      <vt:lpstr>Marketing mix = Ways you employ Means to achieve Ends</vt:lpstr>
      <vt:lpstr>Guerilla marketing is often used by entrepreneurs</vt:lpstr>
      <vt:lpstr>Skills for Managing Growth</vt:lpstr>
      <vt:lpstr>Recap: Marketing is a delicate balance of art and science.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57</cp:revision>
  <dcterms:created xsi:type="dcterms:W3CDTF">2013-10-12T04:14:45Z</dcterms:created>
  <dcterms:modified xsi:type="dcterms:W3CDTF">2015-03-02T20:38:13Z</dcterms:modified>
</cp:coreProperties>
</file>