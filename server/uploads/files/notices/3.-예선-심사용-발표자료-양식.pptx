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9" r:id="rId2"/>
    <p:sldId id="257" r:id="rId3"/>
    <p:sldId id="263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90" r:id="rId13"/>
    <p:sldId id="291" r:id="rId14"/>
    <p:sldId id="266" r:id="rId15"/>
    <p:sldId id="292" r:id="rId16"/>
    <p:sldId id="262" r:id="rId17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21">
          <p15:clr>
            <a:srgbClr val="A4A3A4"/>
          </p15:clr>
        </p15:guide>
        <p15:guide id="2" pos="24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659B"/>
    <a:srgbClr val="064989"/>
    <a:srgbClr val="004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6" d="100"/>
          <a:sy n="136" d="100"/>
        </p:scale>
        <p:origin x="894" y="126"/>
      </p:cViewPr>
      <p:guideLst>
        <p:guide orient="horz" pos="1121"/>
        <p:guide pos="24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14C02A-4B10-4920-AEE7-623B6C6BADF2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1BB8-410B-448A-9DFD-326C74CE89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5945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1BB8-410B-448A-9DFD-326C74CE892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090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1BB8-410B-448A-9DFD-326C74CE892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3893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1BB8-410B-448A-9DFD-326C74CE892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513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1BB8-410B-448A-9DFD-326C74CE892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17333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1BB8-410B-448A-9DFD-326C74CE892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4917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1BB8-410B-448A-9DFD-326C74CE892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1741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1BB8-410B-448A-9DFD-326C74CE892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8452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1BB8-410B-448A-9DFD-326C74CE892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9568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1BB8-410B-448A-9DFD-326C74CE892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3736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1BB8-410B-448A-9DFD-326C74CE892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53571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1BB8-410B-448A-9DFD-326C74CE892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85736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1BB8-410B-448A-9DFD-326C74CE8926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138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59D37-41FD-4873-95AE-EFFD808B0208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F3F13-0FB9-47BC-BEC9-3C89F320EE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2669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59D37-41FD-4873-95AE-EFFD808B0208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F3F13-0FB9-47BC-BEC9-3C89F320EE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53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59D37-41FD-4873-95AE-EFFD808B0208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170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59D37-41FD-4873-95AE-EFFD808B0208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4643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59D37-41FD-4873-95AE-EFFD808B0208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894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59D37-41FD-4873-95AE-EFFD808B0208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398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07" y="0"/>
            <a:ext cx="9141293" cy="51435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288" y="4529260"/>
            <a:ext cx="1331919" cy="11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732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53" y="0"/>
            <a:ext cx="9141293" cy="51435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827584" y="1019512"/>
            <a:ext cx="22322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r">
              <a:defRPr sz="2400" b="1" spc="-150">
                <a:solidFill>
                  <a:srgbClr val="004989"/>
                </a:solidFill>
              </a:defRPr>
            </a:lvl1pPr>
          </a:lstStyle>
          <a:p>
            <a:pPr algn="l"/>
            <a:r>
              <a:rPr lang="en-US" altLang="ko-KR" sz="2200" dirty="0" smtClean="0"/>
              <a:t>Contents</a:t>
            </a:r>
            <a:endParaRPr lang="en-US" altLang="ko-KR" sz="2200" dirty="0"/>
          </a:p>
        </p:txBody>
      </p:sp>
    </p:spTree>
    <p:extLst>
      <p:ext uri="{BB962C8B-B14F-4D97-AF65-F5344CB8AC3E}">
        <p14:creationId xmlns:p14="http://schemas.microsoft.com/office/powerpoint/2010/main" val="4007198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53" y="0"/>
            <a:ext cx="9141293" cy="51435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706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 userDrawn="1"/>
        </p:nvGrpSpPr>
        <p:grpSpPr>
          <a:xfrm>
            <a:off x="1354" y="0"/>
            <a:ext cx="9141293" cy="5143500"/>
            <a:chOff x="1354" y="0"/>
            <a:chExt cx="9141293" cy="5143500"/>
          </a:xfrm>
        </p:grpSpPr>
        <p:pic>
          <p:nvPicPr>
            <p:cNvPr id="6" name="그림 5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54" y="0"/>
              <a:ext cx="9141293" cy="5143500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90400" y="339502"/>
              <a:ext cx="1331919" cy="1116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22968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54" y="0"/>
            <a:ext cx="9141293" cy="51435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1979712" y="124151"/>
            <a:ext cx="6336704" cy="327025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5674603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59D37-41FD-4873-95AE-EFFD808B0208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74567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59D37-41FD-4873-95AE-EFFD808B0208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073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59D37-41FD-4873-95AE-EFFD808B0208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3F3F13-0FB9-47BC-BEC9-3C89F320EE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007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61" r:id="rId10"/>
    <p:sldLayoutId id="2147483657" r:id="rId11"/>
    <p:sldLayoutId id="2147483658" r:id="rId12"/>
    <p:sldLayoutId id="2147483659" r:id="rId1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50437" y="1635646"/>
            <a:ext cx="6097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 smtClean="0">
                <a:solidFill>
                  <a:srgbClr val="00DCFF"/>
                </a:solidFill>
              </a:rPr>
              <a:t>프로젝트명</a:t>
            </a:r>
            <a:r>
              <a:rPr lang="en-US" altLang="ko-KR" sz="2800" b="1" dirty="0" smtClean="0">
                <a:solidFill>
                  <a:srgbClr val="00DCFF"/>
                </a:solidFill>
              </a:rPr>
              <a:t>:</a:t>
            </a:r>
            <a:endParaRPr lang="en-US" altLang="ko-KR" sz="3200" b="1" dirty="0">
              <a:solidFill>
                <a:srgbClr val="00DCFF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288" y="4529260"/>
            <a:ext cx="1331919" cy="1116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9552" y="411510"/>
            <a:ext cx="60978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rgbClr val="064989"/>
                </a:solidFill>
              </a:rPr>
              <a:t>제 </a:t>
            </a:r>
            <a:r>
              <a:rPr lang="en-US" altLang="ko-KR" sz="2800" b="1" dirty="0" smtClean="0">
                <a:solidFill>
                  <a:srgbClr val="064989"/>
                </a:solidFill>
              </a:rPr>
              <a:t>17</a:t>
            </a:r>
            <a:r>
              <a:rPr lang="ko-KR" altLang="en-US" sz="2800" b="1" dirty="0" smtClean="0">
                <a:solidFill>
                  <a:srgbClr val="064989"/>
                </a:solidFill>
              </a:rPr>
              <a:t>차  </a:t>
            </a:r>
            <a:r>
              <a:rPr lang="en-US" altLang="ko-KR" sz="3200" b="1" dirty="0">
                <a:solidFill>
                  <a:srgbClr val="064989"/>
                </a:solidFill>
              </a:rPr>
              <a:t>Capstone Design Fair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437" y="3075806"/>
            <a:ext cx="5334000" cy="136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>
                <a:solidFill>
                  <a:srgbClr val="00DCFF"/>
                </a:solidFill>
              </a:rPr>
              <a:t>전공</a:t>
            </a:r>
            <a:r>
              <a:rPr lang="en-US" altLang="ko-KR" b="1" dirty="0">
                <a:solidFill>
                  <a:srgbClr val="00DCFF"/>
                </a:solidFill>
              </a:rPr>
              <a:t> :  </a:t>
            </a:r>
          </a:p>
          <a:p>
            <a:pPr>
              <a:lnSpc>
                <a:spcPct val="120000"/>
              </a:lnSpc>
            </a:pPr>
            <a:r>
              <a:rPr lang="ko-KR" altLang="en-US" b="1" dirty="0">
                <a:solidFill>
                  <a:srgbClr val="00DCFF"/>
                </a:solidFill>
              </a:rPr>
              <a:t>담당교수 </a:t>
            </a:r>
            <a:r>
              <a:rPr lang="en-US" altLang="ko-KR" b="1" dirty="0">
                <a:solidFill>
                  <a:srgbClr val="00DCFF"/>
                </a:solidFill>
              </a:rPr>
              <a:t>:  </a:t>
            </a:r>
          </a:p>
          <a:p>
            <a:pPr>
              <a:lnSpc>
                <a:spcPct val="120000"/>
              </a:lnSpc>
            </a:pPr>
            <a:r>
              <a:rPr lang="ko-KR" altLang="en-US" b="1" dirty="0">
                <a:solidFill>
                  <a:srgbClr val="00DCFF"/>
                </a:solidFill>
              </a:rPr>
              <a:t>팀원 </a:t>
            </a:r>
            <a:r>
              <a:rPr lang="en-US" altLang="ko-KR" b="1" dirty="0">
                <a:solidFill>
                  <a:srgbClr val="00DCFF"/>
                </a:solidFill>
              </a:rPr>
              <a:t>:  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8134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275856" y="861556"/>
            <a:ext cx="374441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</a:t>
            </a:r>
            <a:r>
              <a:rPr lang="ko-KR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주제 선정 </a:t>
            </a:r>
            <a:r>
              <a:rPr lang="ko-KR" alt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배경 및 필요성 </a:t>
            </a:r>
            <a:endParaRPr lang="en-US" altLang="ko-KR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2. </a:t>
            </a:r>
            <a:r>
              <a:rPr lang="ko-KR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주제의 속성 </a:t>
            </a:r>
            <a:r>
              <a:rPr lang="ko-KR" alt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분석</a:t>
            </a:r>
            <a:endParaRPr lang="en-US" altLang="ko-KR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3. </a:t>
            </a:r>
            <a:r>
              <a:rPr lang="ko-KR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현실적 제한조건 분석</a:t>
            </a:r>
            <a:endParaRPr lang="en-US" altLang="ko-KR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4. </a:t>
            </a:r>
            <a:r>
              <a:rPr lang="ko-KR" alt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결과 </a:t>
            </a:r>
            <a:r>
              <a:rPr lang="ko-KR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및 고찰</a:t>
            </a:r>
            <a:endParaRPr lang="en-US" altLang="ko-KR" b="1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ko-KR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5</a:t>
            </a:r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</a:t>
            </a:r>
            <a:r>
              <a:rPr lang="ko-KR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결론 </a:t>
            </a:r>
            <a:r>
              <a:rPr lang="ko-KR" altLang="en-US" b="1" dirty="0" smtClean="0">
                <a:solidFill>
                  <a:schemeClr val="bg1">
                    <a:lumMod val="50000"/>
                  </a:schemeClr>
                </a:solidFill>
              </a:rPr>
              <a:t>및 기대효과</a:t>
            </a:r>
            <a:endParaRPr lang="en-US" altLang="ko-KR" sz="28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45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683568" y="915566"/>
            <a:ext cx="79560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+mn-ea"/>
              </a:rPr>
              <a:t>최신 정보와 </a:t>
            </a:r>
            <a:r>
              <a:rPr lang="ko-KR" altLang="en-US" dirty="0" smtClean="0">
                <a:latin typeface="+mn-ea"/>
              </a:rPr>
              <a:t>관련 </a:t>
            </a:r>
            <a:r>
              <a:rPr lang="ko-KR" altLang="en-US" dirty="0">
                <a:latin typeface="+mn-ea"/>
              </a:rPr>
              <a:t>연구결과를 </a:t>
            </a:r>
            <a:r>
              <a:rPr lang="ko-KR" altLang="en-US" dirty="0" smtClean="0">
                <a:latin typeface="+mn-ea"/>
              </a:rPr>
              <a:t>활용한 주제</a:t>
            </a:r>
            <a:r>
              <a:rPr lang="en-US" altLang="ko-KR" dirty="0" smtClean="0">
                <a:latin typeface="+mn-ea"/>
              </a:rPr>
              <a:t>(</a:t>
            </a:r>
            <a:r>
              <a:rPr lang="ko-KR" altLang="en-US" dirty="0" smtClean="0">
                <a:latin typeface="+mn-ea"/>
              </a:rPr>
              <a:t>문제</a:t>
            </a:r>
            <a:r>
              <a:rPr lang="en-US" altLang="ko-KR" dirty="0" smtClean="0">
                <a:latin typeface="+mn-ea"/>
              </a:rPr>
              <a:t>)</a:t>
            </a:r>
            <a:r>
              <a:rPr lang="ko-KR" altLang="en-US" dirty="0" smtClean="0">
                <a:latin typeface="+mn-ea"/>
              </a:rPr>
              <a:t>를 다루었음을 설명하세요</a:t>
            </a:r>
            <a:r>
              <a:rPr lang="en-US" altLang="ko-KR" dirty="0" smtClean="0">
                <a:latin typeface="+mn-ea"/>
              </a:rPr>
              <a:t>.</a:t>
            </a:r>
            <a:r>
              <a:rPr lang="ko-KR" altLang="en-US" dirty="0" smtClean="0">
                <a:latin typeface="+mn-ea"/>
              </a:rPr>
              <a:t> 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en-US" altLang="ko-KR" smtClean="0"/>
              <a:t>1. </a:t>
            </a:r>
            <a:r>
              <a:rPr lang="ko-KR" altLang="en-US" smtClean="0"/>
              <a:t>주제 선정 배경 및 필요성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228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en-US" altLang="ko-KR" smtClean="0"/>
              <a:t>2. </a:t>
            </a:r>
            <a:r>
              <a:rPr lang="ko-KR" altLang="en-US" smtClean="0"/>
              <a:t>주제의 속성 분석</a:t>
            </a:r>
            <a:endParaRPr lang="ko-KR" altLang="en-US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824205"/>
              </p:ext>
            </p:extLst>
          </p:nvPr>
        </p:nvGraphicFramePr>
        <p:xfrm>
          <a:off x="587597" y="790678"/>
          <a:ext cx="8147248" cy="3881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3704">
                  <a:extLst>
                    <a:ext uri="{9D8B030D-6E8A-4147-A177-3AD203B41FA5}">
                      <a16:colId xmlns:a16="http://schemas.microsoft.com/office/drawing/2014/main" val="1445318852"/>
                    </a:ext>
                  </a:extLst>
                </a:gridCol>
                <a:gridCol w="3353544">
                  <a:extLst>
                    <a:ext uri="{9D8B030D-6E8A-4147-A177-3AD203B41FA5}">
                      <a16:colId xmlns:a16="http://schemas.microsoft.com/office/drawing/2014/main" val="3739285714"/>
                    </a:ext>
                  </a:extLst>
                </a:gridCol>
              </a:tblGrid>
              <a:tr h="4327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+mn-ea"/>
                          <a:ea typeface="+mn-ea"/>
                        </a:rPr>
                        <a:t>Capstone design</a:t>
                      </a:r>
                      <a:r>
                        <a:rPr lang="ko-KR" altLang="en-US" sz="1800" dirty="0" smtClean="0">
                          <a:latin typeface="+mn-ea"/>
                          <a:ea typeface="+mn-ea"/>
                        </a:rPr>
                        <a:t>의</a:t>
                      </a:r>
                      <a:r>
                        <a:rPr lang="en-US" altLang="ko-KR" sz="18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800" dirty="0" smtClean="0">
                          <a:latin typeface="+mn-ea"/>
                          <a:ea typeface="+mn-ea"/>
                        </a:rPr>
                        <a:t>문제 속성</a:t>
                      </a:r>
                      <a:endParaRPr lang="ko-KR" altLang="en-US" sz="1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 smtClean="0"/>
                        <a:t>7</a:t>
                      </a:r>
                      <a:r>
                        <a:rPr lang="ko-KR" altLang="en-US" sz="1400" dirty="0" smtClean="0"/>
                        <a:t>개 문제 속성 중 해당되는 속성에 </a:t>
                      </a:r>
                      <a:r>
                        <a:rPr lang="ko-KR" altLang="en-US" sz="1400" dirty="0" err="1" smtClean="0"/>
                        <a:t>만족여부</a:t>
                      </a:r>
                      <a:r>
                        <a:rPr lang="en-US" altLang="ko-KR" sz="1400" dirty="0" smtClean="0"/>
                        <a:t>(O/X</a:t>
                      </a:r>
                      <a:r>
                        <a:rPr lang="ko-KR" altLang="en-US" sz="1400" dirty="0" smtClean="0"/>
                        <a:t>로 표시</a:t>
                      </a:r>
                      <a:r>
                        <a:rPr lang="en-US" altLang="ko-KR" sz="1400" dirty="0" smtClean="0"/>
                        <a:t>)</a:t>
                      </a:r>
                      <a:r>
                        <a:rPr lang="ko-KR" altLang="en-US" sz="1400" dirty="0" smtClean="0"/>
                        <a:t>를 표시하고 </a:t>
                      </a:r>
                      <a:r>
                        <a:rPr lang="en-US" altLang="ko-KR" sz="1400" dirty="0" smtClean="0"/>
                        <a:t>O</a:t>
                      </a:r>
                      <a:r>
                        <a:rPr lang="ko-KR" altLang="en-US" sz="1400" dirty="0" smtClean="0"/>
                        <a:t>인 항목에 대하여 다음 장에 설명하세요</a:t>
                      </a:r>
                      <a:r>
                        <a:rPr lang="en-US" altLang="ko-KR" sz="1400" dirty="0" smtClean="0"/>
                        <a:t>.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610092"/>
                  </a:ext>
                </a:extLst>
              </a:tr>
              <a:tr h="3386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6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상충되는 기술적 문제를 다룬 문제 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smtClean="0"/>
                        <a:t>O / X</a:t>
                      </a:r>
                      <a:endParaRPr lang="ko-KR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295643"/>
                  </a:ext>
                </a:extLst>
              </a:tr>
              <a:tr h="36372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600" dirty="0" smtClean="0">
                          <a:latin typeface="+mn-ea"/>
                          <a:ea typeface="+mn-ea"/>
                        </a:rPr>
                        <a:t>확실한 해결책이 없는 문제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/>
                        <a:t>O / X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740005"/>
                  </a:ext>
                </a:extLst>
              </a:tr>
              <a:tr h="4191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600" dirty="0" smtClean="0">
                          <a:latin typeface="+mn-ea"/>
                          <a:ea typeface="+mn-ea"/>
                        </a:rPr>
                        <a:t>생소한 주제를 다룬 문제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/>
                        <a:t>O / X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1393305"/>
                  </a:ext>
                </a:extLst>
              </a:tr>
              <a:tr h="5154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6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현행 표준 및 법규에 포함되지 않는 문제 해결을</a:t>
                      </a:r>
                      <a:endParaRPr lang="en-US" altLang="ko-KR" sz="160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6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16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다룬 문제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/>
                        <a:t>O / X</a:t>
                      </a:r>
                      <a:endParaRPr lang="ko-KR" altLang="en-US" sz="1400" b="1" dirty="0" smtClean="0"/>
                    </a:p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300535"/>
                  </a:ext>
                </a:extLst>
              </a:tr>
              <a:tr h="4408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5. </a:t>
                      </a:r>
                      <a:r>
                        <a:rPr lang="ko-KR" altLang="en-US" sz="16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다양한 이해관계자들의 요구사항을 다룬 문제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/>
                        <a:t>O / X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542953"/>
                  </a:ext>
                </a:extLst>
              </a:tr>
              <a:tr h="57724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6. </a:t>
                      </a:r>
                      <a:r>
                        <a:rPr lang="ko-KR" altLang="en-US" sz="16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상호 의존적인 세부문제들이 결합된 종합적인  </a:t>
                      </a:r>
                      <a:endParaRPr lang="en-US" altLang="ko-KR" sz="160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6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16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문제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/>
                        <a:t>O / X</a:t>
                      </a:r>
                      <a:endParaRPr lang="ko-KR" altLang="en-US" sz="1400" b="1" dirty="0" smtClean="0"/>
                    </a:p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0002"/>
                  </a:ext>
                </a:extLst>
              </a:tr>
              <a:tr h="42899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>
                          <a:latin typeface="+mn-ea"/>
                          <a:ea typeface="+mn-ea"/>
                        </a:rPr>
                        <a:t>7. </a:t>
                      </a:r>
                      <a:r>
                        <a:rPr lang="ko-KR" altLang="en-US" sz="1600" dirty="0" smtClean="0">
                          <a:latin typeface="+mn-ea"/>
                          <a:ea typeface="+mn-ea"/>
                        </a:rPr>
                        <a:t>다양한 분야에 미치는 영향을 고려한 문제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 smtClean="0"/>
                        <a:t>O / X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491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4400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en-US" altLang="ko-KR" smtClean="0"/>
              <a:t>2-1 </a:t>
            </a:r>
            <a:r>
              <a:rPr lang="ko-KR" altLang="en-US"/>
              <a:t>상충되는 기술적 문제를 다룬 주제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6185" y="900660"/>
            <a:ext cx="8071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예를 들어</a:t>
            </a:r>
            <a:r>
              <a:rPr lang="en-US" altLang="ko-KR" dirty="0" smtClean="0"/>
              <a:t>, 4</a:t>
            </a:r>
            <a:r>
              <a:rPr lang="ko-KR" altLang="en-US" dirty="0" smtClean="0"/>
              <a:t>륜 구동 자동차의 연비 상승과 같은 상충되는 문제를 다루었음을 기술하세요</a:t>
            </a:r>
            <a:r>
              <a:rPr lang="en-US" altLang="ko-KR" dirty="0" smtClean="0"/>
              <a:t>.</a:t>
            </a:r>
            <a:r>
              <a:rPr lang="ko-KR" altLang="en-US" dirty="0" smtClean="0"/>
              <a:t>  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5096894" y="1685520"/>
            <a:ext cx="402391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smtClean="0">
                <a:solidFill>
                  <a:srgbClr val="000000"/>
                </a:solidFill>
                <a:latin typeface="+mn-ea"/>
              </a:rPr>
              <a:t>2-1 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</a:rPr>
              <a:t>상충되는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기술적 문제를 다룬 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</a:rPr>
              <a:t>문제</a:t>
            </a:r>
            <a:endParaRPr lang="en-US" altLang="ko-KR" sz="1600" dirty="0" smtClean="0">
              <a:solidFill>
                <a:srgbClr val="000000"/>
              </a:solidFill>
              <a:latin typeface="+mn-ea"/>
            </a:endParaRPr>
          </a:p>
          <a:p>
            <a:r>
              <a:rPr lang="en-US" altLang="ko-KR" sz="1600" dirty="0" smtClean="0">
                <a:latin typeface="+mn-ea"/>
              </a:rPr>
              <a:t>2-2 </a:t>
            </a:r>
            <a:r>
              <a:rPr lang="ko-KR" altLang="en-US" sz="1600" dirty="0" smtClean="0">
                <a:latin typeface="+mn-ea"/>
              </a:rPr>
              <a:t>생소한 </a:t>
            </a:r>
            <a:r>
              <a:rPr lang="ko-KR" altLang="en-US" sz="1600" dirty="0">
                <a:latin typeface="+mn-ea"/>
              </a:rPr>
              <a:t>주제를 다룬 문제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+mn-ea"/>
              </a:rPr>
              <a:t>2-3 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</a:rPr>
              <a:t>다양한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이해관계자들의 요구사항을 </a:t>
            </a:r>
            <a:endParaRPr lang="en-US" altLang="ko-KR" sz="1600" dirty="0" smtClean="0">
              <a:solidFill>
                <a:srgbClr val="000000"/>
              </a:solidFill>
              <a:latin typeface="+mn-ea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+mn-ea"/>
              </a:rPr>
              <a:t>    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</a:rPr>
              <a:t>다룬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문제</a:t>
            </a:r>
            <a:endParaRPr lang="ko-KR" altLang="en-US" sz="1600" dirty="0">
              <a:latin typeface="+mn-ea"/>
            </a:endParaRPr>
          </a:p>
          <a:p>
            <a:r>
              <a:rPr lang="en-US" altLang="ko-KR" sz="1600" dirty="0" smtClean="0">
                <a:solidFill>
                  <a:srgbClr val="000000"/>
                </a:solidFill>
                <a:latin typeface="+mn-ea"/>
              </a:rPr>
              <a:t>2-4 </a:t>
            </a:r>
            <a:r>
              <a:rPr lang="ko-KR" altLang="en-US" sz="1600" dirty="0" smtClean="0">
                <a:latin typeface="+mn-ea"/>
              </a:rPr>
              <a:t>다양한 분야에 미치는 </a:t>
            </a:r>
            <a:r>
              <a:rPr lang="ko-KR" altLang="en-US" sz="1600" dirty="0">
                <a:latin typeface="+mn-ea"/>
              </a:rPr>
              <a:t>영향을 고려한 </a:t>
            </a:r>
            <a:endParaRPr lang="en-US" altLang="ko-KR" sz="1600" dirty="0" smtClean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 </a:t>
            </a:r>
            <a:r>
              <a:rPr lang="en-US" altLang="ko-KR" sz="1600" dirty="0" smtClean="0">
                <a:latin typeface="+mn-ea"/>
              </a:rPr>
              <a:t>    </a:t>
            </a:r>
            <a:r>
              <a:rPr lang="ko-KR" altLang="en-US" sz="1600" dirty="0" smtClean="0">
                <a:latin typeface="+mn-ea"/>
              </a:rPr>
              <a:t>문제</a:t>
            </a:r>
            <a:endParaRPr lang="ko-KR" altLang="en-US" sz="1600" dirty="0">
              <a:latin typeface="+mn-ea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5016893" y="1707654"/>
            <a:ext cx="3960440" cy="2880320"/>
          </a:xfrm>
          <a:prstGeom prst="roundRect">
            <a:avLst>
              <a:gd name="adj" fmla="val 8845"/>
            </a:avLst>
          </a:prstGeom>
          <a:noFill/>
          <a:ln w="19050">
            <a:solidFill>
              <a:srgbClr val="2D65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오른쪽 화살표 7"/>
          <p:cNvSpPr/>
          <p:nvPr/>
        </p:nvSpPr>
        <p:spPr>
          <a:xfrm>
            <a:off x="4473518" y="3777665"/>
            <a:ext cx="443948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360095" y="1707795"/>
            <a:ext cx="667170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만약 </a:t>
            </a:r>
            <a:endParaRPr lang="en-US" altLang="ko-KR" sz="1600" dirty="0" smtClean="0"/>
          </a:p>
          <a:p>
            <a:r>
              <a:rPr lang="en-US" altLang="ko-KR" sz="1600" dirty="0" smtClean="0"/>
              <a:t>2-1</a:t>
            </a:r>
          </a:p>
          <a:p>
            <a:r>
              <a:rPr lang="en-US" altLang="ko-KR" sz="1600" dirty="0" smtClean="0"/>
              <a:t>2-3</a:t>
            </a:r>
          </a:p>
          <a:p>
            <a:r>
              <a:rPr lang="en-US" altLang="ko-KR" sz="1600" dirty="0" smtClean="0"/>
              <a:t>2-5</a:t>
            </a:r>
          </a:p>
          <a:p>
            <a:r>
              <a:rPr lang="en-US" altLang="ko-KR" sz="1600" dirty="0" smtClean="0"/>
              <a:t>2-7</a:t>
            </a:r>
          </a:p>
          <a:p>
            <a:r>
              <a:rPr lang="ko-KR" altLang="en-US" sz="1600" dirty="0" smtClean="0"/>
              <a:t>항만 </a:t>
            </a:r>
            <a:endParaRPr lang="en-US" altLang="ko-KR" sz="1600" dirty="0" smtClean="0"/>
          </a:p>
          <a:p>
            <a:r>
              <a:rPr lang="ko-KR" altLang="en-US" sz="1600" dirty="0" smtClean="0"/>
              <a:t>다룬</a:t>
            </a:r>
            <a:endParaRPr lang="en-US" altLang="ko-KR" sz="1600" dirty="0" smtClean="0"/>
          </a:p>
          <a:p>
            <a:r>
              <a:rPr lang="ko-KR" altLang="en-US" sz="1600" dirty="0" smtClean="0"/>
              <a:t>다면</a:t>
            </a:r>
            <a:endParaRPr lang="ko-KR" altLang="en-US" sz="1600" dirty="0"/>
          </a:p>
        </p:txBody>
      </p:sp>
      <p:sp>
        <p:nvSpPr>
          <p:cNvPr id="10" name="직사각형 9"/>
          <p:cNvSpPr/>
          <p:nvPr/>
        </p:nvSpPr>
        <p:spPr>
          <a:xfrm>
            <a:off x="440647" y="1685520"/>
            <a:ext cx="4023915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smtClean="0">
                <a:solidFill>
                  <a:srgbClr val="000000"/>
                </a:solidFill>
                <a:latin typeface="+mn-ea"/>
              </a:rPr>
              <a:t>2-1 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</a:rPr>
              <a:t>상충되는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기술적 문제를 다룬 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</a:rPr>
              <a:t>문제</a:t>
            </a:r>
            <a:endParaRPr lang="en-US" altLang="ko-KR" sz="1600" dirty="0" smtClean="0">
              <a:solidFill>
                <a:srgbClr val="000000"/>
              </a:solidFill>
              <a:latin typeface="+mn-ea"/>
            </a:endParaRPr>
          </a:p>
          <a:p>
            <a:r>
              <a:rPr lang="en-US" altLang="ko-KR" sz="1600" dirty="0" smtClean="0">
                <a:latin typeface="+mn-ea"/>
              </a:rPr>
              <a:t>2-2 </a:t>
            </a:r>
            <a:r>
              <a:rPr lang="ko-KR" altLang="en-US" sz="1600" dirty="0" smtClean="0">
                <a:latin typeface="+mn-ea"/>
              </a:rPr>
              <a:t>확실한 </a:t>
            </a:r>
            <a:r>
              <a:rPr lang="ko-KR" altLang="en-US" sz="1600" dirty="0">
                <a:latin typeface="+mn-ea"/>
              </a:rPr>
              <a:t>해결책이 없는 문제</a:t>
            </a:r>
          </a:p>
          <a:p>
            <a:r>
              <a:rPr lang="en-US" altLang="ko-KR" sz="1600" dirty="0" smtClean="0">
                <a:latin typeface="+mn-ea"/>
              </a:rPr>
              <a:t>2-3 </a:t>
            </a:r>
            <a:r>
              <a:rPr lang="ko-KR" altLang="en-US" sz="1600" dirty="0">
                <a:latin typeface="+mn-ea"/>
              </a:rPr>
              <a:t>생소한 주제를 다룬 문제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+mn-ea"/>
              </a:rPr>
              <a:t>2-4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현행 표준 및 법규에 포함되지 </a:t>
            </a:r>
            <a:endParaRPr lang="en-US" altLang="ko-KR" sz="1600" dirty="0" smtClean="0">
              <a:solidFill>
                <a:srgbClr val="000000"/>
              </a:solidFill>
              <a:latin typeface="+mn-ea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+mn-ea"/>
              </a:rPr>
              <a:t>    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</a:rPr>
              <a:t>않는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문제 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</a:rPr>
              <a:t>해결을 다룬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문제</a:t>
            </a:r>
            <a:endParaRPr lang="ko-KR" altLang="en-US" sz="1600" dirty="0">
              <a:latin typeface="+mn-ea"/>
            </a:endParaRPr>
          </a:p>
          <a:p>
            <a:r>
              <a:rPr lang="en-US" altLang="ko-KR" sz="1600" dirty="0" smtClean="0">
                <a:solidFill>
                  <a:srgbClr val="000000"/>
                </a:solidFill>
                <a:latin typeface="+mn-ea"/>
              </a:rPr>
              <a:t>2-5 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</a:rPr>
              <a:t>다양한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이해관계자들의 요구사항을 </a:t>
            </a:r>
            <a:endParaRPr lang="en-US" altLang="ko-KR" sz="1600" dirty="0" smtClean="0">
              <a:solidFill>
                <a:srgbClr val="000000"/>
              </a:solidFill>
              <a:latin typeface="+mn-ea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+mn-ea"/>
              </a:rPr>
              <a:t>    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</a:rPr>
              <a:t>다룬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문제</a:t>
            </a:r>
            <a:endParaRPr lang="ko-KR" altLang="en-US" sz="1600" dirty="0">
              <a:latin typeface="+mn-ea"/>
            </a:endParaRPr>
          </a:p>
          <a:p>
            <a:r>
              <a:rPr lang="en-US" altLang="ko-KR" sz="1600" dirty="0" smtClean="0">
                <a:solidFill>
                  <a:srgbClr val="000000"/>
                </a:solidFill>
                <a:latin typeface="+mn-ea"/>
              </a:rPr>
              <a:t>2-6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상호 의존적인 세부문제들이 결합된 </a:t>
            </a:r>
            <a:endParaRPr lang="en-US" altLang="ko-KR" sz="1600" dirty="0" smtClean="0">
              <a:solidFill>
                <a:srgbClr val="000000"/>
              </a:solidFill>
              <a:latin typeface="+mn-ea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+mn-ea"/>
              </a:rPr>
              <a:t>    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</a:rPr>
              <a:t>종합적인 문제</a:t>
            </a:r>
            <a:endParaRPr lang="ko-KR" altLang="en-US" sz="1600" dirty="0">
              <a:latin typeface="+mn-ea"/>
            </a:endParaRPr>
          </a:p>
          <a:p>
            <a:r>
              <a:rPr lang="en-US" altLang="ko-KR" sz="1600" dirty="0" smtClean="0">
                <a:latin typeface="+mn-ea"/>
              </a:rPr>
              <a:t>2-7 </a:t>
            </a:r>
            <a:r>
              <a:rPr lang="ko-KR" altLang="en-US" sz="1600" dirty="0" smtClean="0">
                <a:latin typeface="+mn-ea"/>
              </a:rPr>
              <a:t>다양한 </a:t>
            </a:r>
            <a:r>
              <a:rPr lang="ko-KR" altLang="en-US" sz="1600" dirty="0">
                <a:latin typeface="+mn-ea"/>
              </a:rPr>
              <a:t>분야에 미치는 영향을 고려한 </a:t>
            </a:r>
            <a:endParaRPr lang="en-US" altLang="ko-KR" sz="1600" dirty="0" smtClean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 </a:t>
            </a:r>
            <a:r>
              <a:rPr lang="en-US" altLang="ko-KR" sz="1600" dirty="0" smtClean="0">
                <a:latin typeface="+mn-ea"/>
              </a:rPr>
              <a:t>    </a:t>
            </a:r>
            <a:r>
              <a:rPr lang="ko-KR" altLang="en-US" sz="1600" dirty="0" smtClean="0">
                <a:latin typeface="+mn-ea"/>
              </a:rPr>
              <a:t>문제</a:t>
            </a:r>
            <a:endParaRPr lang="ko-KR" altLang="en-US" sz="1600" dirty="0">
              <a:latin typeface="+mn-ea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372006" y="1707654"/>
            <a:ext cx="3960440" cy="2880320"/>
          </a:xfrm>
          <a:prstGeom prst="roundRect">
            <a:avLst>
              <a:gd name="adj" fmla="val 8845"/>
            </a:avLst>
          </a:prstGeom>
          <a:noFill/>
          <a:ln w="19050">
            <a:solidFill>
              <a:srgbClr val="2D65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5189564" y="3756206"/>
            <a:ext cx="3595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이외 해당 없는 슬라이드는 지웁니다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83726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1979712" y="125054"/>
            <a:ext cx="6336704" cy="327025"/>
          </a:xfrm>
        </p:spPr>
        <p:txBody>
          <a:bodyPr>
            <a:noAutofit/>
          </a:bodyPr>
          <a:lstStyle/>
          <a:p>
            <a:r>
              <a:rPr lang="en-US" altLang="ko-KR" smtClean="0"/>
              <a:t>2-2 </a:t>
            </a:r>
            <a:r>
              <a:rPr lang="ko-KR" altLang="en-US"/>
              <a:t>확실한 해결책이 없는 문제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4042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1979712" y="125054"/>
            <a:ext cx="6336704" cy="327025"/>
          </a:xfrm>
        </p:spPr>
        <p:txBody>
          <a:bodyPr>
            <a:noAutofit/>
          </a:bodyPr>
          <a:lstStyle/>
          <a:p>
            <a:r>
              <a:rPr lang="en-US" altLang="ko-KR" smtClean="0"/>
              <a:t>2-3 </a:t>
            </a:r>
            <a:r>
              <a:rPr lang="ko-KR" altLang="en-US" smtClean="0"/>
              <a:t>생소한 주제를 다룬 문제</a:t>
            </a:r>
            <a:endParaRPr lang="en-US" altLang="ko-KR" smtClean="0"/>
          </a:p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170590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1763688" y="175989"/>
            <a:ext cx="7416824" cy="327025"/>
          </a:xfrm>
        </p:spPr>
        <p:txBody>
          <a:bodyPr>
            <a:noAutofit/>
          </a:bodyPr>
          <a:lstStyle/>
          <a:p>
            <a:r>
              <a:rPr lang="en-US" altLang="ko-KR" smtClean="0"/>
              <a:t>2-4 </a:t>
            </a:r>
            <a:r>
              <a:rPr lang="ko-KR" altLang="en-US"/>
              <a:t>현행 표준 및 법규에 포함되지 않는 문제 해결을 다룬 문제</a:t>
            </a:r>
            <a:endParaRPr lang="en-US" altLang="ko-KR" smtClean="0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414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1979712" y="175989"/>
            <a:ext cx="6336704" cy="327025"/>
          </a:xfrm>
        </p:spPr>
        <p:txBody>
          <a:bodyPr>
            <a:noAutofit/>
          </a:bodyPr>
          <a:lstStyle/>
          <a:p>
            <a:r>
              <a:rPr lang="en-US" altLang="ko-KR" smtClean="0"/>
              <a:t>2-5 </a:t>
            </a:r>
            <a:r>
              <a:rPr lang="ko-KR" altLang="en-US"/>
              <a:t>다양한 이해관계자들의 요구사항을 다룬 문제</a:t>
            </a:r>
          </a:p>
        </p:txBody>
      </p:sp>
    </p:spTree>
    <p:extLst>
      <p:ext uri="{BB962C8B-B14F-4D97-AF65-F5344CB8AC3E}">
        <p14:creationId xmlns:p14="http://schemas.microsoft.com/office/powerpoint/2010/main" val="1143660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1979712" y="175989"/>
            <a:ext cx="6552728" cy="327025"/>
          </a:xfrm>
        </p:spPr>
        <p:txBody>
          <a:bodyPr>
            <a:noAutofit/>
          </a:bodyPr>
          <a:lstStyle/>
          <a:p>
            <a:r>
              <a:rPr lang="en-US" altLang="ko-KR" smtClean="0"/>
              <a:t>2-6 </a:t>
            </a:r>
            <a:r>
              <a:rPr lang="ko-KR" altLang="en-US"/>
              <a:t>상호 의존적인 세부문제들이 결합된 종합적인 문제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683568" y="794954"/>
            <a:ext cx="74168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+mn-ea"/>
              </a:rPr>
              <a:t>많은 구성 요소 또는 하위 문제들에 의한 </a:t>
            </a:r>
            <a:r>
              <a:rPr lang="ko-KR" altLang="en-US" dirty="0" smtClean="0">
                <a:solidFill>
                  <a:srgbClr val="000000"/>
                </a:solidFill>
                <a:latin typeface="+mn-ea"/>
              </a:rPr>
              <a:t>상호 의존적인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세부문제들이 결합된 종합적인 </a:t>
            </a:r>
            <a:r>
              <a:rPr lang="ko-KR" altLang="en-US" dirty="0" smtClean="0">
                <a:solidFill>
                  <a:srgbClr val="000000"/>
                </a:solidFill>
                <a:latin typeface="+mn-ea"/>
              </a:rPr>
              <a:t>문제를 다루었음을 기술하세요</a:t>
            </a:r>
            <a:r>
              <a:rPr lang="en-US" altLang="ko-KR" dirty="0" smtClean="0">
                <a:solidFill>
                  <a:srgbClr val="000000"/>
                </a:solidFill>
                <a:latin typeface="+mn-ea"/>
              </a:rPr>
              <a:t>.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37367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1979712" y="175989"/>
            <a:ext cx="6336704" cy="327025"/>
          </a:xfrm>
        </p:spPr>
        <p:txBody>
          <a:bodyPr>
            <a:noAutofit/>
          </a:bodyPr>
          <a:lstStyle/>
          <a:p>
            <a:r>
              <a:rPr lang="en-US" altLang="ko-KR" smtClean="0"/>
              <a:t>2-7 </a:t>
            </a:r>
            <a:r>
              <a:rPr lang="ko-KR" altLang="en-US"/>
              <a:t>다양한 분야에 미치는 영향을 고려한 문제</a:t>
            </a:r>
          </a:p>
        </p:txBody>
      </p:sp>
    </p:spTree>
    <p:extLst>
      <p:ext uri="{BB962C8B-B14F-4D97-AF65-F5344CB8AC3E}">
        <p14:creationId xmlns:p14="http://schemas.microsoft.com/office/powerpoint/2010/main" val="35271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1979712" y="175989"/>
            <a:ext cx="6336704" cy="327025"/>
          </a:xfrm>
        </p:spPr>
        <p:txBody>
          <a:bodyPr>
            <a:noAutofit/>
          </a:bodyPr>
          <a:lstStyle/>
          <a:p>
            <a:r>
              <a:rPr lang="en-US" altLang="ko-KR" smtClean="0"/>
              <a:t>3. </a:t>
            </a:r>
            <a:r>
              <a:rPr lang="ko-KR" altLang="en-US"/>
              <a:t>현실적 제한조건 분석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907773"/>
              </p:ext>
            </p:extLst>
          </p:nvPr>
        </p:nvGraphicFramePr>
        <p:xfrm>
          <a:off x="611560" y="627534"/>
          <a:ext cx="7848872" cy="4052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3342350611"/>
                    </a:ext>
                  </a:extLst>
                </a:gridCol>
                <a:gridCol w="6336704">
                  <a:extLst>
                    <a:ext uri="{9D8B030D-6E8A-4147-A177-3AD203B41FA5}">
                      <a16:colId xmlns:a16="http://schemas.microsoft.com/office/drawing/2014/main" val="1632604768"/>
                    </a:ext>
                  </a:extLst>
                </a:gridCol>
              </a:tblGrid>
              <a:tr h="3260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제한조건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설계의 절차나 결과물에 적용된 </a:t>
                      </a:r>
                      <a:r>
                        <a:rPr lang="ko-KR" altLang="en-US" sz="1600" dirty="0" err="1" smtClean="0"/>
                        <a:t>제한조건의</a:t>
                      </a:r>
                      <a:r>
                        <a:rPr lang="ko-KR" altLang="en-US" sz="1600" dirty="0" smtClean="0"/>
                        <a:t> 내용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632425"/>
                  </a:ext>
                </a:extLst>
              </a:tr>
              <a:tr h="3717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경제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e.g.) </a:t>
                      </a:r>
                      <a:r>
                        <a:rPr lang="ko-KR" altLang="en-US" sz="1600" dirty="0" smtClean="0"/>
                        <a:t>우리 팀은 </a:t>
                      </a:r>
                      <a:r>
                        <a:rPr lang="en-US" altLang="ko-KR" sz="1600" dirty="0" smtClean="0"/>
                        <a:t>4</a:t>
                      </a:r>
                      <a:r>
                        <a:rPr lang="ko-KR" altLang="en-US" sz="1600" dirty="0" smtClean="0"/>
                        <a:t>명이므로 </a:t>
                      </a:r>
                      <a:r>
                        <a:rPr lang="en-US" altLang="ko-KR" sz="1600" dirty="0" smtClean="0"/>
                        <a:t>120</a:t>
                      </a:r>
                      <a:r>
                        <a:rPr lang="ko-KR" altLang="en-US" sz="1600" dirty="0" smtClean="0"/>
                        <a:t>만원의 지원비로</a:t>
                      </a:r>
                      <a:r>
                        <a:rPr lang="en-US" altLang="ko-KR" sz="1600" dirty="0" smtClean="0"/>
                        <a:t>...</a:t>
                      </a:r>
                      <a:r>
                        <a:rPr lang="ko-KR" altLang="en-US" sz="1600" dirty="0" smtClean="0"/>
                        <a:t> 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165568"/>
                  </a:ext>
                </a:extLst>
              </a:tr>
              <a:tr h="3717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환경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531329"/>
                  </a:ext>
                </a:extLst>
              </a:tr>
              <a:tr h="3717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사회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544085"/>
                  </a:ext>
                </a:extLst>
              </a:tr>
              <a:tr h="3717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윤리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1" dirty="0">
                        <a:solidFill>
                          <a:srgbClr val="2D659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480206"/>
                  </a:ext>
                </a:extLst>
              </a:tr>
              <a:tr h="3717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미학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711390"/>
                  </a:ext>
                </a:extLst>
              </a:tr>
              <a:tr h="3717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보건 및 안전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153425"/>
                  </a:ext>
                </a:extLst>
              </a:tr>
              <a:tr h="3717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생산성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548448"/>
                  </a:ext>
                </a:extLst>
              </a:tr>
              <a:tr h="3717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내구성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123754"/>
                  </a:ext>
                </a:extLst>
              </a:tr>
              <a:tr h="3717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산업표준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541311"/>
                  </a:ext>
                </a:extLst>
              </a:tr>
              <a:tr h="3717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기타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smtClean="0">
                          <a:solidFill>
                            <a:srgbClr val="2D659B"/>
                          </a:solidFill>
                        </a:rPr>
                        <a:t>기타 제한조건이 있는 경우</a:t>
                      </a:r>
                      <a:r>
                        <a:rPr lang="en-US" altLang="ko-KR" sz="1200" b="1" dirty="0" smtClean="0">
                          <a:solidFill>
                            <a:srgbClr val="2D659B"/>
                          </a:solidFill>
                        </a:rPr>
                        <a:t>, </a:t>
                      </a:r>
                      <a:r>
                        <a:rPr lang="ko-KR" altLang="en-US" sz="1200" b="1" dirty="0" smtClean="0">
                          <a:solidFill>
                            <a:srgbClr val="2D659B"/>
                          </a:solidFill>
                        </a:rPr>
                        <a:t>제한조건 명칭을 기입하고 내용을 기술하세요</a:t>
                      </a:r>
                      <a:r>
                        <a:rPr lang="en-US" altLang="ko-KR" sz="1200" b="1" dirty="0" smtClean="0">
                          <a:solidFill>
                            <a:srgbClr val="2D659B"/>
                          </a:solidFill>
                        </a:rPr>
                        <a:t>!</a:t>
                      </a:r>
                      <a:r>
                        <a:rPr lang="ko-KR" altLang="en-US" sz="1200" dirty="0" smtClean="0"/>
                        <a:t> 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475507"/>
                  </a:ext>
                </a:extLst>
              </a:tr>
            </a:tbl>
          </a:graphicData>
        </a:graphic>
      </p:graphicFrame>
      <p:sp>
        <p:nvSpPr>
          <p:cNvPr id="2" name="직사각형 1"/>
          <p:cNvSpPr/>
          <p:nvPr/>
        </p:nvSpPr>
        <p:spPr>
          <a:xfrm>
            <a:off x="3275856" y="2211710"/>
            <a:ext cx="35283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2D659B"/>
                </a:solidFill>
              </a:rPr>
              <a:t>지면이 부족하면 표를 나누어서 다음 장에 기술하세요</a:t>
            </a:r>
            <a:r>
              <a:rPr lang="en-US" altLang="ko-KR" b="1" dirty="0">
                <a:solidFill>
                  <a:srgbClr val="2D659B"/>
                </a:solidFill>
              </a:rPr>
              <a:t>!</a:t>
            </a:r>
            <a:endParaRPr lang="ko-KR" altLang="en-US" b="1" dirty="0">
              <a:solidFill>
                <a:srgbClr val="2D659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096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1979712" y="124151"/>
            <a:ext cx="6336704" cy="327025"/>
          </a:xfrm>
        </p:spPr>
        <p:txBody>
          <a:bodyPr>
            <a:noAutofit/>
          </a:bodyPr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결과 및 고찰</a:t>
            </a:r>
            <a:r>
              <a:rPr lang="en-US" altLang="ko-KR" dirty="0" smtClean="0"/>
              <a:t>(Results and Discussion) 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509995" y="915566"/>
            <a:ext cx="81564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latin typeface="+mn-ea"/>
              </a:rPr>
              <a:t>시작품의 경우</a:t>
            </a:r>
            <a:r>
              <a:rPr lang="en-US" altLang="ko-KR" dirty="0" smtClean="0">
                <a:latin typeface="+mn-ea"/>
              </a:rPr>
              <a:t>, </a:t>
            </a:r>
            <a:r>
              <a:rPr lang="ko-KR" altLang="en-US" dirty="0" smtClean="0">
                <a:latin typeface="+mn-ea"/>
              </a:rPr>
              <a:t>사진을 첨부하고 움직임을 보여야할 경우에는 동영상을 첨부</a:t>
            </a:r>
            <a:endParaRPr lang="en-US" altLang="ko-KR" dirty="0" smtClean="0">
              <a:latin typeface="+mn-ea"/>
            </a:endParaRPr>
          </a:p>
          <a:p>
            <a:r>
              <a:rPr lang="ko-KR" altLang="en-US" dirty="0" smtClean="0">
                <a:latin typeface="+mn-ea"/>
              </a:rPr>
              <a:t>하세요</a:t>
            </a:r>
            <a:r>
              <a:rPr lang="en-US" altLang="ko-KR" dirty="0" smtClean="0">
                <a:latin typeface="+mn-ea"/>
              </a:rPr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5234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1979712" y="125054"/>
            <a:ext cx="6336704" cy="327025"/>
          </a:xfrm>
        </p:spPr>
        <p:txBody>
          <a:bodyPr>
            <a:noAutofit/>
          </a:bodyPr>
          <a:lstStyle/>
          <a:p>
            <a:r>
              <a:rPr lang="en-US" altLang="ko-KR" dirty="0" smtClean="0"/>
              <a:t>5. </a:t>
            </a:r>
            <a:r>
              <a:rPr lang="ko-KR" altLang="en-US" dirty="0" smtClean="0"/>
              <a:t>결론 및 기대효과</a:t>
            </a:r>
            <a:r>
              <a:rPr lang="en-US" altLang="ko-KR" dirty="0"/>
              <a:t> (</a:t>
            </a:r>
            <a:r>
              <a:rPr lang="en-US" altLang="ko-KR" dirty="0" smtClean="0"/>
              <a:t>Conclusion and Benefits)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9940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1979712" y="125054"/>
            <a:ext cx="6336704" cy="327025"/>
          </a:xfrm>
        </p:spPr>
        <p:txBody>
          <a:bodyPr>
            <a:noAutofit/>
          </a:bodyPr>
          <a:lstStyle/>
          <a:p>
            <a:r>
              <a:rPr lang="ko-KR" altLang="en-US" dirty="0" smtClean="0"/>
              <a:t>발표자료 업로드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644" y="2283718"/>
            <a:ext cx="6408712" cy="18078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520" y="602580"/>
            <a:ext cx="6407523" cy="15327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dirty="0" smtClean="0"/>
              <a:t>자료는 </a:t>
            </a:r>
            <a:r>
              <a:rPr lang="en-US" altLang="ko-KR" dirty="0" smtClean="0"/>
              <a:t>11</a:t>
            </a:r>
            <a:r>
              <a:rPr lang="ko-KR" altLang="en-US" dirty="0" smtClean="0"/>
              <a:t>월 </a:t>
            </a:r>
            <a:r>
              <a:rPr lang="en-US" altLang="ko-KR" smtClean="0"/>
              <a:t>14</a:t>
            </a:r>
            <a:r>
              <a:rPr lang="ko-KR" altLang="en-US" smtClean="0"/>
              <a:t>일 </a:t>
            </a:r>
            <a:r>
              <a:rPr lang="en-US" altLang="ko-KR" dirty="0" smtClean="0"/>
              <a:t>11:00</a:t>
            </a:r>
            <a:r>
              <a:rPr lang="ko-KR" altLang="en-US" dirty="0" smtClean="0"/>
              <a:t>까지 슬라이드마다 </a:t>
            </a:r>
            <a:endParaRPr lang="en-US" altLang="ko-KR" dirty="0" smtClean="0"/>
          </a:p>
          <a:p>
            <a:pPr>
              <a:lnSpc>
                <a:spcPct val="130000"/>
              </a:lnSpc>
            </a:pPr>
            <a:r>
              <a:rPr lang="ko-KR" altLang="en-US" b="1" dirty="0" smtClean="0"/>
              <a:t>메뉴</a:t>
            </a:r>
            <a:r>
              <a:rPr lang="en-US" altLang="ko-KR" b="1" dirty="0" smtClean="0"/>
              <a:t>-</a:t>
            </a:r>
            <a:r>
              <a:rPr lang="ko-KR" altLang="en-US" b="1" dirty="0" smtClean="0"/>
              <a:t>슬라이드 쇼</a:t>
            </a:r>
            <a:r>
              <a:rPr lang="en-US" altLang="ko-KR" b="1" dirty="0" smtClean="0"/>
              <a:t>-</a:t>
            </a:r>
            <a:r>
              <a:rPr lang="ko-KR" altLang="en-US" b="1" dirty="0" smtClean="0"/>
              <a:t>현재 슬라이드에서 녹음 시작</a:t>
            </a:r>
            <a:r>
              <a:rPr lang="ko-KR" altLang="en-US" dirty="0" smtClean="0"/>
              <a:t>을 클릭하여 </a:t>
            </a:r>
            <a:endParaRPr lang="en-US" altLang="ko-KR" dirty="0" smtClean="0"/>
          </a:p>
          <a:p>
            <a:pPr>
              <a:lnSpc>
                <a:spcPct val="130000"/>
              </a:lnSpc>
            </a:pPr>
            <a:r>
              <a:rPr lang="ko-KR" altLang="en-US" dirty="0" smtClean="0"/>
              <a:t>발표내용을 만든 후 </a:t>
            </a:r>
            <a:r>
              <a:rPr lang="ko-KR" altLang="en-US" b="1" dirty="0" err="1" smtClean="0"/>
              <a:t>팀명</a:t>
            </a:r>
            <a:r>
              <a:rPr lang="en-US" altLang="ko-KR" b="1" dirty="0" smtClean="0"/>
              <a:t>.</a:t>
            </a:r>
            <a:r>
              <a:rPr lang="en-US" altLang="ko-KR" b="1" dirty="0" err="1" smtClean="0"/>
              <a:t>pptx</a:t>
            </a:r>
            <a:r>
              <a:rPr lang="ko-KR" altLang="en-US" dirty="0"/>
              <a:t>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업로드하세요</a:t>
            </a:r>
            <a:r>
              <a:rPr lang="en-US" altLang="ko-KR" dirty="0" smtClean="0"/>
              <a:t>. </a:t>
            </a:r>
          </a:p>
          <a:p>
            <a:pPr>
              <a:lnSpc>
                <a:spcPct val="130000"/>
              </a:lnSpc>
            </a:pPr>
            <a:r>
              <a:rPr lang="ko-KR" altLang="en-US" dirty="0" smtClean="0"/>
              <a:t>용량 문제로 </a:t>
            </a:r>
            <a:r>
              <a:rPr lang="en-US" altLang="ko-KR" dirty="0" smtClean="0"/>
              <a:t>mp4</a:t>
            </a:r>
            <a:r>
              <a:rPr lang="ko-KR" altLang="en-US" dirty="0" smtClean="0"/>
              <a:t>로 전환하지 않습니다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  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8021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50437" y="1663284"/>
            <a:ext cx="49685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200" b="1" spc="-150">
                <a:solidFill>
                  <a:srgbClr val="004989"/>
                </a:solidFill>
              </a:defRPr>
            </a:lvl1pPr>
          </a:lstStyle>
          <a:p>
            <a:r>
              <a:rPr lang="ko-KR" altLang="en-US" dirty="0"/>
              <a:t>감사합니다</a:t>
            </a:r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400" y="339502"/>
            <a:ext cx="1331919" cy="11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736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474</Words>
  <Application>Microsoft Office PowerPoint</Application>
  <PresentationFormat>화면 슬라이드 쇼(16:9)</PresentationFormat>
  <Paragraphs>104</Paragraphs>
  <Slides>16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HYU</dc:creator>
  <cp:lastModifiedBy>HYU</cp:lastModifiedBy>
  <cp:revision>71</cp:revision>
  <dcterms:created xsi:type="dcterms:W3CDTF">2019-01-28T05:00:01Z</dcterms:created>
  <dcterms:modified xsi:type="dcterms:W3CDTF">2025-09-09T07:47:06Z</dcterms:modified>
</cp:coreProperties>
</file>