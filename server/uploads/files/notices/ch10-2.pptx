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79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</p:sldIdLst>
  <p:sldSz cx="9144000" cy="6858000" type="screen4x3"/>
  <p:notesSz cx="6858000" cy="9144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43"/>
    <a:srgbClr val="FFFF66"/>
    <a:srgbClr val="23732D"/>
    <a:srgbClr val="75D5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15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#3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#4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#5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#6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1#7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1#8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1#9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826CEB-315E-D647-98C0-C51781537179}" type="doc">
      <dgm:prSet loTypeId="urn:microsoft.com/office/officeart/2005/8/layout/process5" loCatId="process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27661877-B6C6-E941-A075-4777A18FAF4B}">
      <dgm:prSet phldrT="[Text]"/>
      <dgm:spPr/>
      <dgm:t>
        <a:bodyPr/>
        <a:lstStyle/>
        <a:p>
          <a:r>
            <a:rPr lang="en-US" dirty="0" smtClean="0">
              <a:latin typeface="Arial" panose="020B0604020202020204" pitchFamily="34" charset="0"/>
              <a:cs typeface="Arial" panose="020B0604020202020204" pitchFamily="34" charset="0"/>
            </a:rPr>
            <a:t>Turning to friends &amp; family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2EEF44C-4FCB-D443-B6C3-7796031B7E48}" type="parTrans" cxnId="{08C86E68-24CF-3845-A8E4-ADB9A4F2B1CA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2299305-D1E8-F744-A9E6-6F02EA5B1D50}" type="sibTrans" cxnId="{08C86E68-24CF-3845-A8E4-ADB9A4F2B1CA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D653AC0-80CD-C942-A160-CC19B5EC3920}">
      <dgm:prSet phldrT="[Text]"/>
      <dgm:spPr/>
      <dgm:t>
        <a:bodyPr/>
        <a:lstStyle/>
        <a:p>
          <a:r>
            <a:rPr lang="en-US" dirty="0" smtClean="0">
              <a:latin typeface="Arial" panose="020B0604020202020204" pitchFamily="34" charset="0"/>
              <a:cs typeface="Arial" panose="020B0604020202020204" pitchFamily="34" charset="0"/>
            </a:rPr>
            <a:t>Approaching business angels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CC2DC10-DA6B-4744-9116-90F57800243D}" type="parTrans" cxnId="{D05F3DF9-B170-CA46-A413-AF5A2A83A63A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1BF75AA-0533-A64A-8D71-CBE281A9D0AE}" type="sibTrans" cxnId="{D05F3DF9-B170-CA46-A413-AF5A2A83A63A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66DC758-5591-DB4D-BE48-AED5C6C407C4}">
      <dgm:prSet phldrT="[Text]"/>
      <dgm:spPr/>
      <dgm:t>
        <a:bodyPr/>
        <a:lstStyle/>
        <a:p>
          <a:r>
            <a:rPr lang="en-US" dirty="0" smtClean="0">
              <a:latin typeface="Arial" panose="020B0604020202020204" pitchFamily="34" charset="0"/>
              <a:cs typeface="Arial" panose="020B0604020202020204" pitchFamily="34" charset="0"/>
            </a:rPr>
            <a:t>Raising VC funding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7B5B159-BA26-F544-A09A-D592995C753A}" type="parTrans" cxnId="{F4CF16D1-BCCC-FF49-8E57-4DE8A33962F4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BAC83F5-D9C4-C44E-8AA4-249B9665C919}" type="sibTrans" cxnId="{F4CF16D1-BCCC-FF49-8E57-4DE8A33962F4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C09B8D4-3BC2-3343-B23A-3D87A370B5DD}">
      <dgm:prSet phldrT="[Text]"/>
      <dgm:spPr/>
      <dgm:t>
        <a:bodyPr/>
        <a:lstStyle/>
        <a:p>
          <a:r>
            <a:rPr lang="en-US" dirty="0" smtClean="0">
              <a:latin typeface="Arial" panose="020B0604020202020204" pitchFamily="34" charset="0"/>
              <a:cs typeface="Arial" panose="020B0604020202020204" pitchFamily="34" charset="0"/>
            </a:rPr>
            <a:t>Going public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342C2D3-EE6E-2D49-99C8-C72EC1A04606}" type="parTrans" cxnId="{5A1DA758-BAF8-8C4F-9579-FC1F3E22D735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95FC694-EFE6-064F-BA12-23C7D8A92F9A}" type="sibTrans" cxnId="{5A1DA758-BAF8-8C4F-9579-FC1F3E22D735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94DE0B3-08F8-0043-A6D7-0F434C38F84D}">
      <dgm:prSet phldrT="[Text]"/>
      <dgm:spPr/>
      <dgm:t>
        <a:bodyPr/>
        <a:lstStyle/>
        <a:p>
          <a:r>
            <a:rPr lang="en-US" dirty="0" smtClean="0">
              <a:latin typeface="Arial" panose="020B0604020202020204" pitchFamily="34" charset="0"/>
              <a:cs typeface="Arial" panose="020B0604020202020204" pitchFamily="34" charset="0"/>
            </a:rPr>
            <a:t>Being acquired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664CD68-993B-9246-8412-C00C4BF6FC45}" type="parTrans" cxnId="{7B2DAAA3-F3BE-1D49-9D2C-06EDE4C2CAAD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B4B0D2F-6A19-CC42-A977-F62C15074F6D}" type="sibTrans" cxnId="{7B2DAAA3-F3BE-1D49-9D2C-06EDE4C2CAAD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E2EE4BA-FA81-854A-8D58-25AD834B2941}" type="pres">
      <dgm:prSet presAssocID="{D0826CEB-315E-D647-98C0-C51781537179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EFB29E3-8630-A74D-8EA2-351465854108}" type="pres">
      <dgm:prSet presAssocID="{27661877-B6C6-E941-A075-4777A18FAF4B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F31EF58-C8EE-D748-98E8-5327394DD374}" type="pres">
      <dgm:prSet presAssocID="{12299305-D1E8-F744-A9E6-6F02EA5B1D50}" presName="sibTrans" presStyleLbl="sibTrans2D1" presStyleIdx="0" presStyleCnt="4"/>
      <dgm:spPr/>
      <dgm:t>
        <a:bodyPr/>
        <a:lstStyle/>
        <a:p>
          <a:endParaRPr lang="en-US"/>
        </a:p>
      </dgm:t>
    </dgm:pt>
    <dgm:pt modelId="{7AE9ED6D-12CD-AB4F-BE85-FB27E888B93E}" type="pres">
      <dgm:prSet presAssocID="{12299305-D1E8-F744-A9E6-6F02EA5B1D50}" presName="connectorText" presStyleLbl="sibTrans2D1" presStyleIdx="0" presStyleCnt="4"/>
      <dgm:spPr/>
      <dgm:t>
        <a:bodyPr/>
        <a:lstStyle/>
        <a:p>
          <a:endParaRPr lang="en-US"/>
        </a:p>
      </dgm:t>
    </dgm:pt>
    <dgm:pt modelId="{3C7D4D79-63B8-0941-8C2B-CBD05774558B}" type="pres">
      <dgm:prSet presAssocID="{DD653AC0-80CD-C942-A160-CC19B5EC3920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3F8FC66-9ADF-4148-B158-98EB02E518D5}" type="pres">
      <dgm:prSet presAssocID="{C1BF75AA-0533-A64A-8D71-CBE281A9D0AE}" presName="sibTrans" presStyleLbl="sibTrans2D1" presStyleIdx="1" presStyleCnt="4"/>
      <dgm:spPr/>
      <dgm:t>
        <a:bodyPr/>
        <a:lstStyle/>
        <a:p>
          <a:endParaRPr lang="en-US"/>
        </a:p>
      </dgm:t>
    </dgm:pt>
    <dgm:pt modelId="{92FCCA52-64B0-7C49-917C-7569C5E03DBD}" type="pres">
      <dgm:prSet presAssocID="{C1BF75AA-0533-A64A-8D71-CBE281A9D0AE}" presName="connectorText" presStyleLbl="sibTrans2D1" presStyleIdx="1" presStyleCnt="4"/>
      <dgm:spPr/>
      <dgm:t>
        <a:bodyPr/>
        <a:lstStyle/>
        <a:p>
          <a:endParaRPr lang="en-US"/>
        </a:p>
      </dgm:t>
    </dgm:pt>
    <dgm:pt modelId="{C0221479-760C-534C-8C42-6EC66EA0AF6C}" type="pres">
      <dgm:prSet presAssocID="{866DC758-5591-DB4D-BE48-AED5C6C407C4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BF71903-472A-5849-977C-A4A82D3E0CD9}" type="pres">
      <dgm:prSet presAssocID="{7BAC83F5-D9C4-C44E-8AA4-249B9665C919}" presName="sibTrans" presStyleLbl="sibTrans2D1" presStyleIdx="2" presStyleCnt="4"/>
      <dgm:spPr/>
      <dgm:t>
        <a:bodyPr/>
        <a:lstStyle/>
        <a:p>
          <a:endParaRPr lang="en-US"/>
        </a:p>
      </dgm:t>
    </dgm:pt>
    <dgm:pt modelId="{AAF6A995-13EE-2A41-93DB-116825DE30CF}" type="pres">
      <dgm:prSet presAssocID="{7BAC83F5-D9C4-C44E-8AA4-249B9665C919}" presName="connectorText" presStyleLbl="sibTrans2D1" presStyleIdx="2" presStyleCnt="4"/>
      <dgm:spPr/>
      <dgm:t>
        <a:bodyPr/>
        <a:lstStyle/>
        <a:p>
          <a:endParaRPr lang="en-US"/>
        </a:p>
      </dgm:t>
    </dgm:pt>
    <dgm:pt modelId="{073BA1BA-6A6C-8E40-B6A6-71D9777E76C4}" type="pres">
      <dgm:prSet presAssocID="{7C09B8D4-3BC2-3343-B23A-3D87A370B5DD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699C858-2446-9843-A068-59B6DFE09204}" type="pres">
      <dgm:prSet presAssocID="{695FC694-EFE6-064F-BA12-23C7D8A92F9A}" presName="sibTrans" presStyleLbl="sibTrans2D1" presStyleIdx="3" presStyleCnt="4"/>
      <dgm:spPr/>
      <dgm:t>
        <a:bodyPr/>
        <a:lstStyle/>
        <a:p>
          <a:endParaRPr lang="en-US"/>
        </a:p>
      </dgm:t>
    </dgm:pt>
    <dgm:pt modelId="{0BA87620-7BFC-CD46-A0B1-97C43E76772F}" type="pres">
      <dgm:prSet presAssocID="{695FC694-EFE6-064F-BA12-23C7D8A92F9A}" presName="connectorText" presStyleLbl="sibTrans2D1" presStyleIdx="3" presStyleCnt="4"/>
      <dgm:spPr/>
      <dgm:t>
        <a:bodyPr/>
        <a:lstStyle/>
        <a:p>
          <a:endParaRPr lang="en-US"/>
        </a:p>
      </dgm:t>
    </dgm:pt>
    <dgm:pt modelId="{643DD34E-F074-E84E-AC91-1F8AF57233D2}" type="pres">
      <dgm:prSet presAssocID="{194DE0B3-08F8-0043-A6D7-0F434C38F84D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20F85DC-6495-4D78-9912-1612D1ED7E25}" type="presOf" srcId="{12299305-D1E8-F744-A9E6-6F02EA5B1D50}" destId="{EF31EF58-C8EE-D748-98E8-5327394DD374}" srcOrd="0" destOrd="0" presId="urn:microsoft.com/office/officeart/2005/8/layout/process5"/>
    <dgm:cxn modelId="{D05F3DF9-B170-CA46-A413-AF5A2A83A63A}" srcId="{D0826CEB-315E-D647-98C0-C51781537179}" destId="{DD653AC0-80CD-C942-A160-CC19B5EC3920}" srcOrd="1" destOrd="0" parTransId="{6CC2DC10-DA6B-4744-9116-90F57800243D}" sibTransId="{C1BF75AA-0533-A64A-8D71-CBE281A9D0AE}"/>
    <dgm:cxn modelId="{7B2DAAA3-F3BE-1D49-9D2C-06EDE4C2CAAD}" srcId="{D0826CEB-315E-D647-98C0-C51781537179}" destId="{194DE0B3-08F8-0043-A6D7-0F434C38F84D}" srcOrd="4" destOrd="0" parTransId="{D664CD68-993B-9246-8412-C00C4BF6FC45}" sibTransId="{BB4B0D2F-6A19-CC42-A977-F62C15074F6D}"/>
    <dgm:cxn modelId="{2B606C64-C8F3-4D62-8835-44C1D91F2F32}" type="presOf" srcId="{D0826CEB-315E-D647-98C0-C51781537179}" destId="{1E2EE4BA-FA81-854A-8D58-25AD834B2941}" srcOrd="0" destOrd="0" presId="urn:microsoft.com/office/officeart/2005/8/layout/process5"/>
    <dgm:cxn modelId="{5A1DA758-BAF8-8C4F-9579-FC1F3E22D735}" srcId="{D0826CEB-315E-D647-98C0-C51781537179}" destId="{7C09B8D4-3BC2-3343-B23A-3D87A370B5DD}" srcOrd="3" destOrd="0" parTransId="{7342C2D3-EE6E-2D49-99C8-C72EC1A04606}" sibTransId="{695FC694-EFE6-064F-BA12-23C7D8A92F9A}"/>
    <dgm:cxn modelId="{6C1524B3-15E4-4022-8DA0-B6F011463FE4}" type="presOf" srcId="{12299305-D1E8-F744-A9E6-6F02EA5B1D50}" destId="{7AE9ED6D-12CD-AB4F-BE85-FB27E888B93E}" srcOrd="1" destOrd="0" presId="urn:microsoft.com/office/officeart/2005/8/layout/process5"/>
    <dgm:cxn modelId="{2EC72B68-5B19-4204-B375-3DA11955D70B}" type="presOf" srcId="{695FC694-EFE6-064F-BA12-23C7D8A92F9A}" destId="{0BA87620-7BFC-CD46-A0B1-97C43E76772F}" srcOrd="1" destOrd="0" presId="urn:microsoft.com/office/officeart/2005/8/layout/process5"/>
    <dgm:cxn modelId="{6B7760F6-C325-4C65-AF72-9A3D804E5005}" type="presOf" srcId="{866DC758-5591-DB4D-BE48-AED5C6C407C4}" destId="{C0221479-760C-534C-8C42-6EC66EA0AF6C}" srcOrd="0" destOrd="0" presId="urn:microsoft.com/office/officeart/2005/8/layout/process5"/>
    <dgm:cxn modelId="{49042A9A-F4A0-4D18-9442-90E02289D0EB}" type="presOf" srcId="{7BAC83F5-D9C4-C44E-8AA4-249B9665C919}" destId="{FBF71903-472A-5849-977C-A4A82D3E0CD9}" srcOrd="0" destOrd="0" presId="urn:microsoft.com/office/officeart/2005/8/layout/process5"/>
    <dgm:cxn modelId="{08C86E68-24CF-3845-A8E4-ADB9A4F2B1CA}" srcId="{D0826CEB-315E-D647-98C0-C51781537179}" destId="{27661877-B6C6-E941-A075-4777A18FAF4B}" srcOrd="0" destOrd="0" parTransId="{A2EEF44C-4FCB-D443-B6C3-7796031B7E48}" sibTransId="{12299305-D1E8-F744-A9E6-6F02EA5B1D50}"/>
    <dgm:cxn modelId="{E38BECA1-0DFA-456F-88A6-5EA99156E4DC}" type="presOf" srcId="{7BAC83F5-D9C4-C44E-8AA4-249B9665C919}" destId="{AAF6A995-13EE-2A41-93DB-116825DE30CF}" srcOrd="1" destOrd="0" presId="urn:microsoft.com/office/officeart/2005/8/layout/process5"/>
    <dgm:cxn modelId="{6082377A-34BA-4667-ACE2-A5175C7C961A}" type="presOf" srcId="{27661877-B6C6-E941-A075-4777A18FAF4B}" destId="{DEFB29E3-8630-A74D-8EA2-351465854108}" srcOrd="0" destOrd="0" presId="urn:microsoft.com/office/officeart/2005/8/layout/process5"/>
    <dgm:cxn modelId="{E9752BD7-4DF6-4EDB-93E5-A45EE753EE4C}" type="presOf" srcId="{695FC694-EFE6-064F-BA12-23C7D8A92F9A}" destId="{B699C858-2446-9843-A068-59B6DFE09204}" srcOrd="0" destOrd="0" presId="urn:microsoft.com/office/officeart/2005/8/layout/process5"/>
    <dgm:cxn modelId="{99183A6C-698C-4B18-BC86-61A524AD955B}" type="presOf" srcId="{C1BF75AA-0533-A64A-8D71-CBE281A9D0AE}" destId="{92FCCA52-64B0-7C49-917C-7569C5E03DBD}" srcOrd="1" destOrd="0" presId="urn:microsoft.com/office/officeart/2005/8/layout/process5"/>
    <dgm:cxn modelId="{3D079665-4161-452A-B19B-28EAB00E4E0C}" type="presOf" srcId="{C1BF75AA-0533-A64A-8D71-CBE281A9D0AE}" destId="{43F8FC66-9ADF-4148-B158-98EB02E518D5}" srcOrd="0" destOrd="0" presId="urn:microsoft.com/office/officeart/2005/8/layout/process5"/>
    <dgm:cxn modelId="{F4CF16D1-BCCC-FF49-8E57-4DE8A33962F4}" srcId="{D0826CEB-315E-D647-98C0-C51781537179}" destId="{866DC758-5591-DB4D-BE48-AED5C6C407C4}" srcOrd="2" destOrd="0" parTransId="{57B5B159-BA26-F544-A09A-D592995C753A}" sibTransId="{7BAC83F5-D9C4-C44E-8AA4-249B9665C919}"/>
    <dgm:cxn modelId="{C6A31A1A-B1D9-4748-B167-4BE5B5BFD911}" type="presOf" srcId="{DD653AC0-80CD-C942-A160-CC19B5EC3920}" destId="{3C7D4D79-63B8-0941-8C2B-CBD05774558B}" srcOrd="0" destOrd="0" presId="urn:microsoft.com/office/officeart/2005/8/layout/process5"/>
    <dgm:cxn modelId="{1D71EA72-CCE0-4FCA-8284-1846BBFF3FF0}" type="presOf" srcId="{7C09B8D4-3BC2-3343-B23A-3D87A370B5DD}" destId="{073BA1BA-6A6C-8E40-B6A6-71D9777E76C4}" srcOrd="0" destOrd="0" presId="urn:microsoft.com/office/officeart/2005/8/layout/process5"/>
    <dgm:cxn modelId="{769B016B-71E4-4CFB-BF5F-ED76CECA4D20}" type="presOf" srcId="{194DE0B3-08F8-0043-A6D7-0F434C38F84D}" destId="{643DD34E-F074-E84E-AC91-1F8AF57233D2}" srcOrd="0" destOrd="0" presId="urn:microsoft.com/office/officeart/2005/8/layout/process5"/>
    <dgm:cxn modelId="{D00A562B-24F7-4D5D-A6D3-FA07F08CD823}" type="presParOf" srcId="{1E2EE4BA-FA81-854A-8D58-25AD834B2941}" destId="{DEFB29E3-8630-A74D-8EA2-351465854108}" srcOrd="0" destOrd="0" presId="urn:microsoft.com/office/officeart/2005/8/layout/process5"/>
    <dgm:cxn modelId="{A8327379-7E8C-4530-A39D-CD59EC9DE433}" type="presParOf" srcId="{1E2EE4BA-FA81-854A-8D58-25AD834B2941}" destId="{EF31EF58-C8EE-D748-98E8-5327394DD374}" srcOrd="1" destOrd="0" presId="urn:microsoft.com/office/officeart/2005/8/layout/process5"/>
    <dgm:cxn modelId="{6ED309F7-E26E-4623-BDEC-9C94D6180E60}" type="presParOf" srcId="{EF31EF58-C8EE-D748-98E8-5327394DD374}" destId="{7AE9ED6D-12CD-AB4F-BE85-FB27E888B93E}" srcOrd="0" destOrd="0" presId="urn:microsoft.com/office/officeart/2005/8/layout/process5"/>
    <dgm:cxn modelId="{962B43D9-D103-4915-8300-5D5A15B0EC34}" type="presParOf" srcId="{1E2EE4BA-FA81-854A-8D58-25AD834B2941}" destId="{3C7D4D79-63B8-0941-8C2B-CBD05774558B}" srcOrd="2" destOrd="0" presId="urn:microsoft.com/office/officeart/2005/8/layout/process5"/>
    <dgm:cxn modelId="{57FDB839-0CAE-43FA-B4C2-04EFD3F2088D}" type="presParOf" srcId="{1E2EE4BA-FA81-854A-8D58-25AD834B2941}" destId="{43F8FC66-9ADF-4148-B158-98EB02E518D5}" srcOrd="3" destOrd="0" presId="urn:microsoft.com/office/officeart/2005/8/layout/process5"/>
    <dgm:cxn modelId="{C967F8B0-CB17-455C-B81C-981BBF3472DF}" type="presParOf" srcId="{43F8FC66-9ADF-4148-B158-98EB02E518D5}" destId="{92FCCA52-64B0-7C49-917C-7569C5E03DBD}" srcOrd="0" destOrd="0" presId="urn:microsoft.com/office/officeart/2005/8/layout/process5"/>
    <dgm:cxn modelId="{142D572D-1357-40DC-83AD-F88FC2C82831}" type="presParOf" srcId="{1E2EE4BA-FA81-854A-8D58-25AD834B2941}" destId="{C0221479-760C-534C-8C42-6EC66EA0AF6C}" srcOrd="4" destOrd="0" presId="urn:microsoft.com/office/officeart/2005/8/layout/process5"/>
    <dgm:cxn modelId="{37751215-90F2-45F0-8ED1-403FAADCD17E}" type="presParOf" srcId="{1E2EE4BA-FA81-854A-8D58-25AD834B2941}" destId="{FBF71903-472A-5849-977C-A4A82D3E0CD9}" srcOrd="5" destOrd="0" presId="urn:microsoft.com/office/officeart/2005/8/layout/process5"/>
    <dgm:cxn modelId="{4E47688A-7D9D-4DCD-B20C-0455AF089D62}" type="presParOf" srcId="{FBF71903-472A-5849-977C-A4A82D3E0CD9}" destId="{AAF6A995-13EE-2A41-93DB-116825DE30CF}" srcOrd="0" destOrd="0" presId="urn:microsoft.com/office/officeart/2005/8/layout/process5"/>
    <dgm:cxn modelId="{1A8CCC35-0AB9-424B-A0A7-B67AF7EF4FAD}" type="presParOf" srcId="{1E2EE4BA-FA81-854A-8D58-25AD834B2941}" destId="{073BA1BA-6A6C-8E40-B6A6-71D9777E76C4}" srcOrd="6" destOrd="0" presId="urn:microsoft.com/office/officeart/2005/8/layout/process5"/>
    <dgm:cxn modelId="{1D6038E6-3BD9-4530-8720-EA8BF3632470}" type="presParOf" srcId="{1E2EE4BA-FA81-854A-8D58-25AD834B2941}" destId="{B699C858-2446-9843-A068-59B6DFE09204}" srcOrd="7" destOrd="0" presId="urn:microsoft.com/office/officeart/2005/8/layout/process5"/>
    <dgm:cxn modelId="{9C061153-D3FA-444E-8D3A-12DF56F541C3}" type="presParOf" srcId="{B699C858-2446-9843-A068-59B6DFE09204}" destId="{0BA87620-7BFC-CD46-A0B1-97C43E76772F}" srcOrd="0" destOrd="0" presId="urn:microsoft.com/office/officeart/2005/8/layout/process5"/>
    <dgm:cxn modelId="{CC976772-9DA3-4971-BEE0-66AA665B6413}" type="presParOf" srcId="{1E2EE4BA-FA81-854A-8D58-25AD834B2941}" destId="{643DD34E-F074-E84E-AC91-1F8AF57233D2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317753E-6A61-9C40-80C2-3509216CFF87}" type="doc">
      <dgm:prSet loTypeId="urn:microsoft.com/office/officeart/2005/8/layout/hList3" loCatId="list" qsTypeId="urn:microsoft.com/office/officeart/2005/8/quickstyle/3D2" qsCatId="3D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0B2D799D-D6B2-B148-A348-9756EF8201C2}">
      <dgm:prSet phldrT="[Text]"/>
      <dgm:spPr>
        <a:solidFill>
          <a:srgbClr val="6EA89E"/>
        </a:solidFill>
      </dgm:spPr>
      <dgm:t>
        <a:bodyPr/>
        <a:lstStyle/>
        <a:p>
          <a:r>
            <a:rPr lang="en-US" dirty="0" smtClean="0">
              <a:latin typeface="Arial" panose="020B0604020202020204" pitchFamily="34" charset="0"/>
              <a:cs typeface="Arial" panose="020B0604020202020204" pitchFamily="34" charset="0"/>
            </a:rPr>
            <a:t>Fair market value of assets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76A5E15-27EA-8844-B3D3-4EB9A3F8F57B}" type="parTrans" cxnId="{A5AF4E7C-9CB7-6542-A9DC-4840130887FE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D1FFEA8-4C5F-F448-A1E8-F3F8EA93B20A}" type="sibTrans" cxnId="{A5AF4E7C-9CB7-6542-A9DC-4840130887FE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DDD0DC6-D552-294F-B7DD-AFBA39D5528D}">
      <dgm:prSet phldrT="[Text]"/>
      <dgm:spPr>
        <a:solidFill>
          <a:srgbClr val="8CB6D4"/>
        </a:solidFill>
      </dgm:spPr>
      <dgm:t>
        <a:bodyPr/>
        <a:lstStyle/>
        <a:p>
          <a:r>
            <a:rPr lang="en-US" dirty="0" smtClean="0">
              <a:latin typeface="Arial" panose="020B0604020202020204" pitchFamily="34" charset="0"/>
              <a:cs typeface="Arial" panose="020B0604020202020204" pitchFamily="34" charset="0"/>
            </a:rPr>
            <a:t>Liquidation Value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155EA3E-CAEB-084E-8D22-573593B9D06A}" type="parTrans" cxnId="{B864B46E-6493-7E4D-BB69-980EA2A4F6A7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BF2F5B4-6D23-A447-9A58-F72BE8BACCE8}" type="sibTrans" cxnId="{B864B46E-6493-7E4D-BB69-980EA2A4F6A7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891C644-8D9D-C046-84BD-3C14B3A19FF1}">
      <dgm:prSet phldrT="[Text]"/>
      <dgm:spPr>
        <a:solidFill>
          <a:srgbClr val="84C864"/>
        </a:solidFill>
      </dgm:spPr>
      <dgm:t>
        <a:bodyPr/>
        <a:lstStyle/>
        <a:p>
          <a:r>
            <a:rPr lang="en-US" dirty="0" smtClean="0">
              <a:latin typeface="Arial" panose="020B0604020202020204" pitchFamily="34" charset="0"/>
              <a:cs typeface="Arial" panose="020B0604020202020204" pitchFamily="34" charset="0"/>
            </a:rPr>
            <a:t>Adjusted book value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F7899E1-4AC4-ED42-A967-DB771FC89122}" type="parTrans" cxnId="{D8882DE4-AFA8-9E4C-8A0F-FB70D5DF2F65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E6F24AD-2863-A545-9906-F32BE5FE5C79}" type="sibTrans" cxnId="{D8882DE4-AFA8-9E4C-8A0F-FB70D5DF2F65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49A1BE6-068A-7847-A797-87F08A2440C3}">
      <dgm:prSet phldrT="[Text]"/>
      <dgm:spPr/>
      <dgm:t>
        <a:bodyPr/>
        <a:lstStyle/>
        <a:p>
          <a:r>
            <a:rPr lang="en-US" dirty="0" smtClean="0">
              <a:latin typeface="Arial" panose="020B0604020202020204" pitchFamily="34" charset="0"/>
              <a:cs typeface="Arial" panose="020B0604020202020204" pitchFamily="34" charset="0"/>
            </a:rPr>
            <a:t>Replacement value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F4F8C03-34E8-CC43-A1A4-5CE65ED68A8B}" type="parTrans" cxnId="{93378114-CE88-384A-A35D-C3BD34DB3C8A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A298104-17C7-CF40-883D-4FE8014AC02C}" type="sibTrans" cxnId="{93378114-CE88-384A-A35D-C3BD34DB3C8A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F3366B3-BA57-1344-AA07-6AE9F4F0D61F}" type="pres">
      <dgm:prSet presAssocID="{0317753E-6A61-9C40-80C2-3509216CFF87}" presName="composite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D8784C0-1C52-C547-94B2-9597E55E339D}" type="pres">
      <dgm:prSet presAssocID="{0B2D799D-D6B2-B148-A348-9756EF8201C2}" presName="roof" presStyleLbl="dkBgShp" presStyleIdx="0" presStyleCnt="2" custLinFactNeighborX="248"/>
      <dgm:spPr/>
      <dgm:t>
        <a:bodyPr/>
        <a:lstStyle/>
        <a:p>
          <a:endParaRPr lang="en-US"/>
        </a:p>
      </dgm:t>
    </dgm:pt>
    <dgm:pt modelId="{49536400-4809-6F4F-82B5-130AB3CC9A3B}" type="pres">
      <dgm:prSet presAssocID="{0B2D799D-D6B2-B148-A348-9756EF8201C2}" presName="pillars" presStyleCnt="0"/>
      <dgm:spPr/>
    </dgm:pt>
    <dgm:pt modelId="{1E9FEA89-DC73-9D44-8DF2-D9053478F3A6}" type="pres">
      <dgm:prSet presAssocID="{0B2D799D-D6B2-B148-A348-9756EF8201C2}" presName="pillar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95D58C5-31CF-5B4E-AF7D-E97D0B1A0D56}" type="pres">
      <dgm:prSet presAssocID="{B891C644-8D9D-C046-84BD-3C14B3A19FF1}" presName="pillarX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CC5D370-5C71-4C4D-BC5C-A667E302BE04}" type="pres">
      <dgm:prSet presAssocID="{649A1BE6-068A-7847-A797-87F08A2440C3}" presName="pillarX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46582E-A5E0-674E-AF8F-09F05E774541}" type="pres">
      <dgm:prSet presAssocID="{0B2D799D-D6B2-B148-A348-9756EF8201C2}" presName="base" presStyleLbl="dkBgShp" presStyleIdx="1" presStyleCnt="2"/>
      <dgm:spPr>
        <a:solidFill>
          <a:srgbClr val="6EA89E"/>
        </a:solidFill>
      </dgm:spPr>
    </dgm:pt>
  </dgm:ptLst>
  <dgm:cxnLst>
    <dgm:cxn modelId="{803F16B1-9BF3-488D-AC8F-49EE4F88069C}" type="presOf" srcId="{1DDD0DC6-D552-294F-B7DD-AFBA39D5528D}" destId="{1E9FEA89-DC73-9D44-8DF2-D9053478F3A6}" srcOrd="0" destOrd="0" presId="urn:microsoft.com/office/officeart/2005/8/layout/hList3"/>
    <dgm:cxn modelId="{93378114-CE88-384A-A35D-C3BD34DB3C8A}" srcId="{0B2D799D-D6B2-B148-A348-9756EF8201C2}" destId="{649A1BE6-068A-7847-A797-87F08A2440C3}" srcOrd="2" destOrd="0" parTransId="{5F4F8C03-34E8-CC43-A1A4-5CE65ED68A8B}" sibTransId="{0A298104-17C7-CF40-883D-4FE8014AC02C}"/>
    <dgm:cxn modelId="{B864B46E-6493-7E4D-BB69-980EA2A4F6A7}" srcId="{0B2D799D-D6B2-B148-A348-9756EF8201C2}" destId="{1DDD0DC6-D552-294F-B7DD-AFBA39D5528D}" srcOrd="0" destOrd="0" parTransId="{3155EA3E-CAEB-084E-8D22-573593B9D06A}" sibTransId="{DBF2F5B4-6D23-A447-9A58-F72BE8BACCE8}"/>
    <dgm:cxn modelId="{A55E2D41-6868-4103-AFCF-8C5FD79EC4E4}" type="presOf" srcId="{0B2D799D-D6B2-B148-A348-9756EF8201C2}" destId="{0D8784C0-1C52-C547-94B2-9597E55E339D}" srcOrd="0" destOrd="0" presId="urn:microsoft.com/office/officeart/2005/8/layout/hList3"/>
    <dgm:cxn modelId="{C8718392-E0D4-4D9C-B016-2DE9E6B1A3CA}" type="presOf" srcId="{649A1BE6-068A-7847-A797-87F08A2440C3}" destId="{6CC5D370-5C71-4C4D-BC5C-A667E302BE04}" srcOrd="0" destOrd="0" presId="urn:microsoft.com/office/officeart/2005/8/layout/hList3"/>
    <dgm:cxn modelId="{D8882DE4-AFA8-9E4C-8A0F-FB70D5DF2F65}" srcId="{0B2D799D-D6B2-B148-A348-9756EF8201C2}" destId="{B891C644-8D9D-C046-84BD-3C14B3A19FF1}" srcOrd="1" destOrd="0" parTransId="{0F7899E1-4AC4-ED42-A967-DB771FC89122}" sibTransId="{7E6F24AD-2863-A545-9906-F32BE5FE5C79}"/>
    <dgm:cxn modelId="{A5AF4E7C-9CB7-6542-A9DC-4840130887FE}" srcId="{0317753E-6A61-9C40-80C2-3509216CFF87}" destId="{0B2D799D-D6B2-B148-A348-9756EF8201C2}" srcOrd="0" destOrd="0" parTransId="{F76A5E15-27EA-8844-B3D3-4EB9A3F8F57B}" sibTransId="{CD1FFEA8-4C5F-F448-A1E8-F3F8EA93B20A}"/>
    <dgm:cxn modelId="{BB5E2A7A-3130-4301-B122-0BD77AA13187}" type="presOf" srcId="{B891C644-8D9D-C046-84BD-3C14B3A19FF1}" destId="{E95D58C5-31CF-5B4E-AF7D-E97D0B1A0D56}" srcOrd="0" destOrd="0" presId="urn:microsoft.com/office/officeart/2005/8/layout/hList3"/>
    <dgm:cxn modelId="{5426835C-5BFF-4482-98F6-8306FFA11BFA}" type="presOf" srcId="{0317753E-6A61-9C40-80C2-3509216CFF87}" destId="{9F3366B3-BA57-1344-AA07-6AE9F4F0D61F}" srcOrd="0" destOrd="0" presId="urn:microsoft.com/office/officeart/2005/8/layout/hList3"/>
    <dgm:cxn modelId="{F1D1D789-F6BB-46E8-9198-F7221017574F}" type="presParOf" srcId="{9F3366B3-BA57-1344-AA07-6AE9F4F0D61F}" destId="{0D8784C0-1C52-C547-94B2-9597E55E339D}" srcOrd="0" destOrd="0" presId="urn:microsoft.com/office/officeart/2005/8/layout/hList3"/>
    <dgm:cxn modelId="{6A35CE8D-6ED3-4966-9A4A-E08732249C1C}" type="presParOf" srcId="{9F3366B3-BA57-1344-AA07-6AE9F4F0D61F}" destId="{49536400-4809-6F4F-82B5-130AB3CC9A3B}" srcOrd="1" destOrd="0" presId="urn:microsoft.com/office/officeart/2005/8/layout/hList3"/>
    <dgm:cxn modelId="{AD7F342A-BCFE-4A6D-B622-E7C8C2503128}" type="presParOf" srcId="{49536400-4809-6F4F-82B5-130AB3CC9A3B}" destId="{1E9FEA89-DC73-9D44-8DF2-D9053478F3A6}" srcOrd="0" destOrd="0" presId="urn:microsoft.com/office/officeart/2005/8/layout/hList3"/>
    <dgm:cxn modelId="{0FFE0EE4-3B53-4DDF-B011-462D536BAC2F}" type="presParOf" srcId="{49536400-4809-6F4F-82B5-130AB3CC9A3B}" destId="{E95D58C5-31CF-5B4E-AF7D-E97D0B1A0D56}" srcOrd="1" destOrd="0" presId="urn:microsoft.com/office/officeart/2005/8/layout/hList3"/>
    <dgm:cxn modelId="{646CD9EF-8E5B-48E9-A0D7-BC9EA563C77C}" type="presParOf" srcId="{49536400-4809-6F4F-82B5-130AB3CC9A3B}" destId="{6CC5D370-5C71-4C4D-BC5C-A667E302BE04}" srcOrd="2" destOrd="0" presId="urn:microsoft.com/office/officeart/2005/8/layout/hList3"/>
    <dgm:cxn modelId="{30029EA5-B21E-44D4-BB19-AD31816C067D}" type="presParOf" srcId="{9F3366B3-BA57-1344-AA07-6AE9F4F0D61F}" destId="{3346582E-A5E0-674E-AF8F-09F05E774541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C3C48D7-2E82-DE47-9851-3E491F5E697B}" type="doc">
      <dgm:prSet loTypeId="urn:microsoft.com/office/officeart/2005/8/layout/radial1" loCatId="relationship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2DB0529A-3649-DE4A-9930-0F7CEA05BCC2}">
      <dgm:prSet phldrT="[Text]" custT="1"/>
      <dgm:spPr/>
      <dgm:t>
        <a:bodyPr/>
        <a:lstStyle/>
        <a:p>
          <a:r>
            <a:rPr lang="en-US" sz="1400" dirty="0" smtClean="0">
              <a:latin typeface="Arial" panose="020B0604020202020204" pitchFamily="34" charset="0"/>
              <a:cs typeface="Arial" panose="020B0604020202020204" pitchFamily="34" charset="0"/>
            </a:rPr>
            <a:t>External Financing</a:t>
          </a:r>
          <a:endParaRPr lang="en-US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0661B4F-914E-1344-849A-741ED937E88B}" type="parTrans" cxnId="{3C8F6349-08A8-A74E-8A24-51E952982834}">
      <dgm:prSet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13236D8-E73D-5042-AD7A-4B32F5FDA48F}" type="sibTrans" cxnId="{3C8F6349-08A8-A74E-8A24-51E952982834}">
      <dgm:prSet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7A6365F-0827-EE42-960A-12F13408D270}">
      <dgm:prSet phldrT="[Text]" custT="1"/>
      <dgm:spPr/>
      <dgm:t>
        <a:bodyPr/>
        <a:lstStyle/>
        <a:p>
          <a:r>
            <a:rPr lang="en-US" sz="1400" dirty="0" smtClean="0">
              <a:latin typeface="Arial" panose="020B0604020202020204" pitchFamily="34" charset="0"/>
              <a:cs typeface="Arial" panose="020B0604020202020204" pitchFamily="34" charset="0"/>
            </a:rPr>
            <a:t>Vendor financing</a:t>
          </a:r>
          <a:endParaRPr lang="en-US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26370AB-D227-B54E-9F4D-D0F77E3236B6}" type="parTrans" cxnId="{9C16C2C1-B11B-3948-861C-4BD9240AD541}">
      <dgm:prSet custT="1"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67EBB2A-E8EE-EC48-9DEC-1894EC579544}" type="sibTrans" cxnId="{9C16C2C1-B11B-3948-861C-4BD9240AD541}">
      <dgm:prSet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759D421-2DCB-9643-AA6B-548F00EFDCE1}">
      <dgm:prSet phldrT="[Text]" custT="1"/>
      <dgm:spPr/>
      <dgm:t>
        <a:bodyPr/>
        <a:lstStyle/>
        <a:p>
          <a:r>
            <a:rPr lang="en-US" sz="1400" dirty="0" smtClean="0">
              <a:latin typeface="Arial" panose="020B0604020202020204" pitchFamily="34" charset="0"/>
              <a:cs typeface="Arial" panose="020B0604020202020204" pitchFamily="34" charset="0"/>
            </a:rPr>
            <a:t>Reduced rent</a:t>
          </a:r>
          <a:endParaRPr lang="en-US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4D7AEF7-DDC4-8F49-A546-980D523FA291}" type="parTrans" cxnId="{CB27D0EB-424A-E14E-A550-6E7DFDB51B4E}">
      <dgm:prSet custT="1"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FD0F3B4-6F0F-7D40-822E-374CFB53F000}" type="sibTrans" cxnId="{CB27D0EB-424A-E14E-A550-6E7DFDB51B4E}">
      <dgm:prSet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FA511AE-9959-8A4F-8C4E-6F5443036BB1}">
      <dgm:prSet phldrT="[Text]" custT="1"/>
      <dgm:spPr/>
      <dgm:t>
        <a:bodyPr/>
        <a:lstStyle/>
        <a:p>
          <a:r>
            <a:rPr lang="en-US" sz="1400" dirty="0" smtClean="0">
              <a:latin typeface="Arial" panose="020B0604020202020204" pitchFamily="34" charset="0"/>
              <a:cs typeface="Arial" panose="020B0604020202020204" pitchFamily="34" charset="0"/>
            </a:rPr>
            <a:t>Customer financing</a:t>
          </a:r>
          <a:endParaRPr lang="en-US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4C42897-5790-734F-A5F8-9B8E03829F20}" type="parTrans" cxnId="{A1FFB3E5-5E80-8446-9201-088C9E4EB475}">
      <dgm:prSet custT="1"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0CAC7CC-805C-6942-95DD-7ED1B6FB1248}" type="sibTrans" cxnId="{A1FFB3E5-5E80-8446-9201-088C9E4EB475}">
      <dgm:prSet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6579EE9-C940-9B40-B9B2-5E799873282F}">
      <dgm:prSet phldrT="[Text]" custT="1"/>
      <dgm:spPr/>
      <dgm:t>
        <a:bodyPr/>
        <a:lstStyle/>
        <a:p>
          <a:r>
            <a:rPr lang="en-US" sz="1400" dirty="0" smtClean="0">
              <a:latin typeface="Arial" panose="020B0604020202020204" pitchFamily="34" charset="0"/>
              <a:cs typeface="Arial" panose="020B0604020202020204" pitchFamily="34" charset="0"/>
            </a:rPr>
            <a:t>Leased equipment</a:t>
          </a:r>
          <a:endParaRPr lang="en-US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F1329BC-A935-8742-A851-A6EF6BB4CC6D}" type="parTrans" cxnId="{3B3608C4-33D9-644B-BCA7-8E5B4115582D}">
      <dgm:prSet custT="1"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8F63286-1B37-FA47-8D00-A8A258D558C1}" type="sibTrans" cxnId="{3B3608C4-33D9-644B-BCA7-8E5B4115582D}">
      <dgm:prSet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8D9FEEB-6BA7-1F44-A40F-0EC38447E4F2}">
      <dgm:prSet phldrT="[Text]" custT="1"/>
      <dgm:spPr/>
      <dgm:t>
        <a:bodyPr/>
        <a:lstStyle/>
        <a:p>
          <a:r>
            <a:rPr lang="en-US" sz="1400" dirty="0" smtClean="0">
              <a:latin typeface="Arial" panose="020B0604020202020204" pitchFamily="34" charset="0"/>
              <a:cs typeface="Arial" panose="020B0604020202020204" pitchFamily="34" charset="0"/>
            </a:rPr>
            <a:t>Federal programs</a:t>
          </a:r>
          <a:endParaRPr lang="en-US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05DD903-C7C0-F144-A699-78A1BE7E3A89}" type="parTrans" cxnId="{1A99740A-4059-A849-9F18-776CEA71C090}">
      <dgm:prSet custT="1"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CFDA9F2-D46E-A741-95CB-103871F9EDD2}" type="sibTrans" cxnId="{1A99740A-4059-A849-9F18-776CEA71C090}">
      <dgm:prSet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44DB1F6-03A5-FE4F-B7A3-CB654113C620}">
      <dgm:prSet phldrT="[Text]" custT="1"/>
      <dgm:spPr/>
      <dgm:t>
        <a:bodyPr/>
        <a:lstStyle/>
        <a:p>
          <a:r>
            <a:rPr lang="en-US" sz="1400" dirty="0" smtClean="0">
              <a:latin typeface="Arial" panose="020B0604020202020204" pitchFamily="34" charset="0"/>
              <a:cs typeface="Arial" panose="020B0604020202020204" pitchFamily="34" charset="0"/>
            </a:rPr>
            <a:t>Reduced-rate services</a:t>
          </a:r>
          <a:endParaRPr lang="en-US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37BD298-45CD-404E-BA27-CC12DCF20EB6}" type="parTrans" cxnId="{0A6D20C6-7278-B744-AB20-7D94C1C87146}">
      <dgm:prSet custT="1"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5AA8099-AE50-1D4F-B0BF-2EF9CA42154C}" type="sibTrans" cxnId="{0A6D20C6-7278-B744-AB20-7D94C1C87146}">
      <dgm:prSet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668EFFE-1E9D-C442-A9AF-2E7FAE22F53A}" type="pres">
      <dgm:prSet presAssocID="{5C3C48D7-2E82-DE47-9851-3E491F5E697B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CD8C69C-D313-2347-925B-CD05623CC6B1}" type="pres">
      <dgm:prSet presAssocID="{2DB0529A-3649-DE4A-9930-0F7CEA05BCC2}" presName="centerShape" presStyleLbl="node0" presStyleIdx="0" presStyleCnt="1" custScaleX="109598" custScaleY="106587"/>
      <dgm:spPr/>
      <dgm:t>
        <a:bodyPr/>
        <a:lstStyle/>
        <a:p>
          <a:endParaRPr lang="en-US"/>
        </a:p>
      </dgm:t>
    </dgm:pt>
    <dgm:pt modelId="{3D7BBF2E-AC4E-4B4B-997D-AAAF06C64F0B}" type="pres">
      <dgm:prSet presAssocID="{B26370AB-D227-B54E-9F4D-D0F77E3236B6}" presName="Name9" presStyleLbl="parChTrans1D2" presStyleIdx="0" presStyleCnt="6"/>
      <dgm:spPr/>
      <dgm:t>
        <a:bodyPr/>
        <a:lstStyle/>
        <a:p>
          <a:endParaRPr lang="en-US"/>
        </a:p>
      </dgm:t>
    </dgm:pt>
    <dgm:pt modelId="{76AC66B8-BD36-114E-A7F8-45648E8845EF}" type="pres">
      <dgm:prSet presAssocID="{B26370AB-D227-B54E-9F4D-D0F77E3236B6}" presName="connTx" presStyleLbl="parChTrans1D2" presStyleIdx="0" presStyleCnt="6"/>
      <dgm:spPr/>
      <dgm:t>
        <a:bodyPr/>
        <a:lstStyle/>
        <a:p>
          <a:endParaRPr lang="en-US"/>
        </a:p>
      </dgm:t>
    </dgm:pt>
    <dgm:pt modelId="{9B62791B-748D-0B4F-87F6-DFB86214AE09}" type="pres">
      <dgm:prSet presAssocID="{B7A6365F-0827-EE42-960A-12F13408D270}" presName="node" presStyleLbl="node1" presStyleIdx="0" presStyleCnt="6" custScaleX="101504" custScaleY="101829" custRadScaleRad="9709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8F3D42E-E244-A843-A294-CA07B7B9330C}" type="pres">
      <dgm:prSet presAssocID="{E4D7AEF7-DDC4-8F49-A546-980D523FA291}" presName="Name9" presStyleLbl="parChTrans1D2" presStyleIdx="1" presStyleCnt="6"/>
      <dgm:spPr/>
      <dgm:t>
        <a:bodyPr/>
        <a:lstStyle/>
        <a:p>
          <a:endParaRPr lang="en-US"/>
        </a:p>
      </dgm:t>
    </dgm:pt>
    <dgm:pt modelId="{AB77395F-F76A-ED45-8C40-AE6A04885F8C}" type="pres">
      <dgm:prSet presAssocID="{E4D7AEF7-DDC4-8F49-A546-980D523FA291}" presName="connTx" presStyleLbl="parChTrans1D2" presStyleIdx="1" presStyleCnt="6"/>
      <dgm:spPr/>
      <dgm:t>
        <a:bodyPr/>
        <a:lstStyle/>
        <a:p>
          <a:endParaRPr lang="en-US"/>
        </a:p>
      </dgm:t>
    </dgm:pt>
    <dgm:pt modelId="{93E69A97-3601-7045-B1E1-601867594944}" type="pres">
      <dgm:prSet presAssocID="{9759D421-2DCB-9643-AA6B-548F00EFDCE1}" presName="node" presStyleLbl="node1" presStyleIdx="1" presStyleCnt="6" custScaleX="101504" custScaleY="10182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BDDC89-758B-9043-A571-95EF8107E0B6}" type="pres">
      <dgm:prSet presAssocID="{04C42897-5790-734F-A5F8-9B8E03829F20}" presName="Name9" presStyleLbl="parChTrans1D2" presStyleIdx="2" presStyleCnt="6"/>
      <dgm:spPr/>
      <dgm:t>
        <a:bodyPr/>
        <a:lstStyle/>
        <a:p>
          <a:endParaRPr lang="en-US"/>
        </a:p>
      </dgm:t>
    </dgm:pt>
    <dgm:pt modelId="{CED601F3-4770-5B46-8A54-5A01B75C127F}" type="pres">
      <dgm:prSet presAssocID="{04C42897-5790-734F-A5F8-9B8E03829F20}" presName="connTx" presStyleLbl="parChTrans1D2" presStyleIdx="2" presStyleCnt="6"/>
      <dgm:spPr/>
      <dgm:t>
        <a:bodyPr/>
        <a:lstStyle/>
        <a:p>
          <a:endParaRPr lang="en-US"/>
        </a:p>
      </dgm:t>
    </dgm:pt>
    <dgm:pt modelId="{F6F2E01B-8F5C-4C44-B203-5CD3CD02CB6A}" type="pres">
      <dgm:prSet presAssocID="{2FA511AE-9959-8A4F-8C4E-6F5443036BB1}" presName="node" presStyleLbl="node1" presStyleIdx="2" presStyleCnt="6" custScaleX="101504" custScaleY="10182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54CEC90-A77B-014C-9079-D9D4EB7932A5}" type="pres">
      <dgm:prSet presAssocID="{EF1329BC-A935-8742-A851-A6EF6BB4CC6D}" presName="Name9" presStyleLbl="parChTrans1D2" presStyleIdx="3" presStyleCnt="6"/>
      <dgm:spPr/>
      <dgm:t>
        <a:bodyPr/>
        <a:lstStyle/>
        <a:p>
          <a:endParaRPr lang="en-US"/>
        </a:p>
      </dgm:t>
    </dgm:pt>
    <dgm:pt modelId="{05D2AD61-C5E2-5A42-A972-8452FE7A8166}" type="pres">
      <dgm:prSet presAssocID="{EF1329BC-A935-8742-A851-A6EF6BB4CC6D}" presName="connTx" presStyleLbl="parChTrans1D2" presStyleIdx="3" presStyleCnt="6"/>
      <dgm:spPr/>
      <dgm:t>
        <a:bodyPr/>
        <a:lstStyle/>
        <a:p>
          <a:endParaRPr lang="en-US"/>
        </a:p>
      </dgm:t>
    </dgm:pt>
    <dgm:pt modelId="{1F8912B7-8160-2242-BF27-052C22ABA6C0}" type="pres">
      <dgm:prSet presAssocID="{76579EE9-C940-9B40-B9B2-5E799873282F}" presName="node" presStyleLbl="node1" presStyleIdx="3" presStyleCnt="6" custScaleX="101504" custScaleY="101829" custRadScaleRad="9709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CE4F1B2-6ECE-0445-9986-AEA9E5449E3A}" type="pres">
      <dgm:prSet presAssocID="{505DD903-C7C0-F144-A699-78A1BE7E3A89}" presName="Name9" presStyleLbl="parChTrans1D2" presStyleIdx="4" presStyleCnt="6"/>
      <dgm:spPr/>
      <dgm:t>
        <a:bodyPr/>
        <a:lstStyle/>
        <a:p>
          <a:endParaRPr lang="en-US"/>
        </a:p>
      </dgm:t>
    </dgm:pt>
    <dgm:pt modelId="{23E0B1A9-F46A-9343-B9A3-ED97C816B7A5}" type="pres">
      <dgm:prSet presAssocID="{505DD903-C7C0-F144-A699-78A1BE7E3A89}" presName="connTx" presStyleLbl="parChTrans1D2" presStyleIdx="4" presStyleCnt="6"/>
      <dgm:spPr/>
      <dgm:t>
        <a:bodyPr/>
        <a:lstStyle/>
        <a:p>
          <a:endParaRPr lang="en-US"/>
        </a:p>
      </dgm:t>
    </dgm:pt>
    <dgm:pt modelId="{4B009D8C-DFDF-F847-8E52-5A58D8BE5CF5}" type="pres">
      <dgm:prSet presAssocID="{78D9FEEB-6BA7-1F44-A40F-0EC38447E4F2}" presName="node" presStyleLbl="node1" presStyleIdx="4" presStyleCnt="6" custScaleX="101504" custScaleY="10182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CD49C6B-5A86-3B44-BA4F-40990125FCEA}" type="pres">
      <dgm:prSet presAssocID="{437BD298-45CD-404E-BA27-CC12DCF20EB6}" presName="Name9" presStyleLbl="parChTrans1D2" presStyleIdx="5" presStyleCnt="6"/>
      <dgm:spPr/>
      <dgm:t>
        <a:bodyPr/>
        <a:lstStyle/>
        <a:p>
          <a:endParaRPr lang="en-US"/>
        </a:p>
      </dgm:t>
    </dgm:pt>
    <dgm:pt modelId="{A74FF494-FAE4-8B44-87EA-28FAB110D6E2}" type="pres">
      <dgm:prSet presAssocID="{437BD298-45CD-404E-BA27-CC12DCF20EB6}" presName="connTx" presStyleLbl="parChTrans1D2" presStyleIdx="5" presStyleCnt="6"/>
      <dgm:spPr/>
      <dgm:t>
        <a:bodyPr/>
        <a:lstStyle/>
        <a:p>
          <a:endParaRPr lang="en-US"/>
        </a:p>
      </dgm:t>
    </dgm:pt>
    <dgm:pt modelId="{89E08534-49E7-824B-8094-3783899AF4AA}" type="pres">
      <dgm:prSet presAssocID="{D44DB1F6-03A5-FE4F-B7A3-CB654113C620}" presName="node" presStyleLbl="node1" presStyleIdx="5" presStyleCnt="6" custScaleX="101504" custScaleY="10182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EA155E7-5F76-4AC7-8916-702C354D0805}" type="presOf" srcId="{505DD903-C7C0-F144-A699-78A1BE7E3A89}" destId="{ECE4F1B2-6ECE-0445-9986-AEA9E5449E3A}" srcOrd="0" destOrd="0" presId="urn:microsoft.com/office/officeart/2005/8/layout/radial1"/>
    <dgm:cxn modelId="{3C8F6349-08A8-A74E-8A24-51E952982834}" srcId="{5C3C48D7-2E82-DE47-9851-3E491F5E697B}" destId="{2DB0529A-3649-DE4A-9930-0F7CEA05BCC2}" srcOrd="0" destOrd="0" parTransId="{60661B4F-914E-1344-849A-741ED937E88B}" sibTransId="{A13236D8-E73D-5042-AD7A-4B32F5FDA48F}"/>
    <dgm:cxn modelId="{EDAF9B9A-AA10-408D-AAB4-832B551E8D7D}" type="presOf" srcId="{9759D421-2DCB-9643-AA6B-548F00EFDCE1}" destId="{93E69A97-3601-7045-B1E1-601867594944}" srcOrd="0" destOrd="0" presId="urn:microsoft.com/office/officeart/2005/8/layout/radial1"/>
    <dgm:cxn modelId="{3B3608C4-33D9-644B-BCA7-8E5B4115582D}" srcId="{2DB0529A-3649-DE4A-9930-0F7CEA05BCC2}" destId="{76579EE9-C940-9B40-B9B2-5E799873282F}" srcOrd="3" destOrd="0" parTransId="{EF1329BC-A935-8742-A851-A6EF6BB4CC6D}" sibTransId="{68F63286-1B37-FA47-8D00-A8A258D558C1}"/>
    <dgm:cxn modelId="{1A99740A-4059-A849-9F18-776CEA71C090}" srcId="{2DB0529A-3649-DE4A-9930-0F7CEA05BCC2}" destId="{78D9FEEB-6BA7-1F44-A40F-0EC38447E4F2}" srcOrd="4" destOrd="0" parTransId="{505DD903-C7C0-F144-A699-78A1BE7E3A89}" sibTransId="{2CFDA9F2-D46E-A741-95CB-103871F9EDD2}"/>
    <dgm:cxn modelId="{3EF0261D-FF27-4E82-A228-0E037AF0EC05}" type="presOf" srcId="{E4D7AEF7-DDC4-8F49-A546-980D523FA291}" destId="{D8F3D42E-E244-A843-A294-CA07B7B9330C}" srcOrd="0" destOrd="0" presId="urn:microsoft.com/office/officeart/2005/8/layout/radial1"/>
    <dgm:cxn modelId="{63B4C069-AE8D-4893-A9F1-B818EC2420F0}" type="presOf" srcId="{B26370AB-D227-B54E-9F4D-D0F77E3236B6}" destId="{3D7BBF2E-AC4E-4B4B-997D-AAAF06C64F0B}" srcOrd="0" destOrd="0" presId="urn:microsoft.com/office/officeart/2005/8/layout/radial1"/>
    <dgm:cxn modelId="{08C6D372-A3AD-4070-BDF5-C72E7E893099}" type="presOf" srcId="{76579EE9-C940-9B40-B9B2-5E799873282F}" destId="{1F8912B7-8160-2242-BF27-052C22ABA6C0}" srcOrd="0" destOrd="0" presId="urn:microsoft.com/office/officeart/2005/8/layout/radial1"/>
    <dgm:cxn modelId="{857F9743-8633-44F3-92C3-0321756C1C86}" type="presOf" srcId="{04C42897-5790-734F-A5F8-9B8E03829F20}" destId="{C6BDDC89-758B-9043-A571-95EF8107E0B6}" srcOrd="0" destOrd="0" presId="urn:microsoft.com/office/officeart/2005/8/layout/radial1"/>
    <dgm:cxn modelId="{5EB7B67A-0325-484D-BA6B-3D33EEE32113}" type="presOf" srcId="{EF1329BC-A935-8742-A851-A6EF6BB4CC6D}" destId="{254CEC90-A77B-014C-9079-D9D4EB7932A5}" srcOrd="0" destOrd="0" presId="urn:microsoft.com/office/officeart/2005/8/layout/radial1"/>
    <dgm:cxn modelId="{7DE686B3-A356-4DED-8E4E-0450348E995E}" type="presOf" srcId="{505DD903-C7C0-F144-A699-78A1BE7E3A89}" destId="{23E0B1A9-F46A-9343-B9A3-ED97C816B7A5}" srcOrd="1" destOrd="0" presId="urn:microsoft.com/office/officeart/2005/8/layout/radial1"/>
    <dgm:cxn modelId="{B903F34F-BEEF-4C1F-84B3-8620E0780620}" type="presOf" srcId="{5C3C48D7-2E82-DE47-9851-3E491F5E697B}" destId="{6668EFFE-1E9D-C442-A9AF-2E7FAE22F53A}" srcOrd="0" destOrd="0" presId="urn:microsoft.com/office/officeart/2005/8/layout/radial1"/>
    <dgm:cxn modelId="{62998E4B-F726-435D-AC6B-720B67714416}" type="presOf" srcId="{B7A6365F-0827-EE42-960A-12F13408D270}" destId="{9B62791B-748D-0B4F-87F6-DFB86214AE09}" srcOrd="0" destOrd="0" presId="urn:microsoft.com/office/officeart/2005/8/layout/radial1"/>
    <dgm:cxn modelId="{9C16C2C1-B11B-3948-861C-4BD9240AD541}" srcId="{2DB0529A-3649-DE4A-9930-0F7CEA05BCC2}" destId="{B7A6365F-0827-EE42-960A-12F13408D270}" srcOrd="0" destOrd="0" parTransId="{B26370AB-D227-B54E-9F4D-D0F77E3236B6}" sibTransId="{A67EBB2A-E8EE-EC48-9DEC-1894EC579544}"/>
    <dgm:cxn modelId="{3984C3AA-2349-4FB0-BB95-84AA0038990B}" type="presOf" srcId="{B26370AB-D227-B54E-9F4D-D0F77E3236B6}" destId="{76AC66B8-BD36-114E-A7F8-45648E8845EF}" srcOrd="1" destOrd="0" presId="urn:microsoft.com/office/officeart/2005/8/layout/radial1"/>
    <dgm:cxn modelId="{3E34E052-6305-48E4-94F8-8DAE75BBEE5D}" type="presOf" srcId="{04C42897-5790-734F-A5F8-9B8E03829F20}" destId="{CED601F3-4770-5B46-8A54-5A01B75C127F}" srcOrd="1" destOrd="0" presId="urn:microsoft.com/office/officeart/2005/8/layout/radial1"/>
    <dgm:cxn modelId="{13829494-282E-4B89-BB7E-93DDF100F564}" type="presOf" srcId="{437BD298-45CD-404E-BA27-CC12DCF20EB6}" destId="{2CD49C6B-5A86-3B44-BA4F-40990125FCEA}" srcOrd="0" destOrd="0" presId="urn:microsoft.com/office/officeart/2005/8/layout/radial1"/>
    <dgm:cxn modelId="{95833754-322C-48BA-AF00-9CC9B40E5714}" type="presOf" srcId="{E4D7AEF7-DDC4-8F49-A546-980D523FA291}" destId="{AB77395F-F76A-ED45-8C40-AE6A04885F8C}" srcOrd="1" destOrd="0" presId="urn:microsoft.com/office/officeart/2005/8/layout/radial1"/>
    <dgm:cxn modelId="{CB27D0EB-424A-E14E-A550-6E7DFDB51B4E}" srcId="{2DB0529A-3649-DE4A-9930-0F7CEA05BCC2}" destId="{9759D421-2DCB-9643-AA6B-548F00EFDCE1}" srcOrd="1" destOrd="0" parTransId="{E4D7AEF7-DDC4-8F49-A546-980D523FA291}" sibTransId="{7FD0F3B4-6F0F-7D40-822E-374CFB53F000}"/>
    <dgm:cxn modelId="{D70E85DA-12AE-431A-9492-1EB8230A838F}" type="presOf" srcId="{2DB0529A-3649-DE4A-9930-0F7CEA05BCC2}" destId="{3CD8C69C-D313-2347-925B-CD05623CC6B1}" srcOrd="0" destOrd="0" presId="urn:microsoft.com/office/officeart/2005/8/layout/radial1"/>
    <dgm:cxn modelId="{BD2771F2-6DE7-480C-BE76-7132ADE115B7}" type="presOf" srcId="{2FA511AE-9959-8A4F-8C4E-6F5443036BB1}" destId="{F6F2E01B-8F5C-4C44-B203-5CD3CD02CB6A}" srcOrd="0" destOrd="0" presId="urn:microsoft.com/office/officeart/2005/8/layout/radial1"/>
    <dgm:cxn modelId="{4D9174BC-943A-40C3-826C-03C4FEA7A34C}" type="presOf" srcId="{EF1329BC-A935-8742-A851-A6EF6BB4CC6D}" destId="{05D2AD61-C5E2-5A42-A972-8452FE7A8166}" srcOrd="1" destOrd="0" presId="urn:microsoft.com/office/officeart/2005/8/layout/radial1"/>
    <dgm:cxn modelId="{A1FFB3E5-5E80-8446-9201-088C9E4EB475}" srcId="{2DB0529A-3649-DE4A-9930-0F7CEA05BCC2}" destId="{2FA511AE-9959-8A4F-8C4E-6F5443036BB1}" srcOrd="2" destOrd="0" parTransId="{04C42897-5790-734F-A5F8-9B8E03829F20}" sibTransId="{A0CAC7CC-805C-6942-95DD-7ED1B6FB1248}"/>
    <dgm:cxn modelId="{0A6D20C6-7278-B744-AB20-7D94C1C87146}" srcId="{2DB0529A-3649-DE4A-9930-0F7CEA05BCC2}" destId="{D44DB1F6-03A5-FE4F-B7A3-CB654113C620}" srcOrd="5" destOrd="0" parTransId="{437BD298-45CD-404E-BA27-CC12DCF20EB6}" sibTransId="{85AA8099-AE50-1D4F-B0BF-2EF9CA42154C}"/>
    <dgm:cxn modelId="{92459334-67B7-4FC6-9CD9-96626E462104}" type="presOf" srcId="{78D9FEEB-6BA7-1F44-A40F-0EC38447E4F2}" destId="{4B009D8C-DFDF-F847-8E52-5A58D8BE5CF5}" srcOrd="0" destOrd="0" presId="urn:microsoft.com/office/officeart/2005/8/layout/radial1"/>
    <dgm:cxn modelId="{C5BEAC82-38DB-46C3-8A42-67B7E11C161A}" type="presOf" srcId="{D44DB1F6-03A5-FE4F-B7A3-CB654113C620}" destId="{89E08534-49E7-824B-8094-3783899AF4AA}" srcOrd="0" destOrd="0" presId="urn:microsoft.com/office/officeart/2005/8/layout/radial1"/>
    <dgm:cxn modelId="{FDB2236F-D514-4ABF-A4EB-94B70C1F66C0}" type="presOf" srcId="{437BD298-45CD-404E-BA27-CC12DCF20EB6}" destId="{A74FF494-FAE4-8B44-87EA-28FAB110D6E2}" srcOrd="1" destOrd="0" presId="urn:microsoft.com/office/officeart/2005/8/layout/radial1"/>
    <dgm:cxn modelId="{E53C7202-606D-4323-BC1E-7074D765765F}" type="presParOf" srcId="{6668EFFE-1E9D-C442-A9AF-2E7FAE22F53A}" destId="{3CD8C69C-D313-2347-925B-CD05623CC6B1}" srcOrd="0" destOrd="0" presId="urn:microsoft.com/office/officeart/2005/8/layout/radial1"/>
    <dgm:cxn modelId="{FDCF52F9-FC63-468A-A911-B29F15F78AB9}" type="presParOf" srcId="{6668EFFE-1E9D-C442-A9AF-2E7FAE22F53A}" destId="{3D7BBF2E-AC4E-4B4B-997D-AAAF06C64F0B}" srcOrd="1" destOrd="0" presId="urn:microsoft.com/office/officeart/2005/8/layout/radial1"/>
    <dgm:cxn modelId="{3E67DEDC-DE72-4E0C-A934-763FF633F0B1}" type="presParOf" srcId="{3D7BBF2E-AC4E-4B4B-997D-AAAF06C64F0B}" destId="{76AC66B8-BD36-114E-A7F8-45648E8845EF}" srcOrd="0" destOrd="0" presId="urn:microsoft.com/office/officeart/2005/8/layout/radial1"/>
    <dgm:cxn modelId="{356BC418-02B4-478A-A4D7-39C638BABECE}" type="presParOf" srcId="{6668EFFE-1E9D-C442-A9AF-2E7FAE22F53A}" destId="{9B62791B-748D-0B4F-87F6-DFB86214AE09}" srcOrd="2" destOrd="0" presId="urn:microsoft.com/office/officeart/2005/8/layout/radial1"/>
    <dgm:cxn modelId="{20CA6184-F38F-455E-B676-E4497825C77A}" type="presParOf" srcId="{6668EFFE-1E9D-C442-A9AF-2E7FAE22F53A}" destId="{D8F3D42E-E244-A843-A294-CA07B7B9330C}" srcOrd="3" destOrd="0" presId="urn:microsoft.com/office/officeart/2005/8/layout/radial1"/>
    <dgm:cxn modelId="{27ACB0D8-3770-418F-BEA1-6033C0D4154C}" type="presParOf" srcId="{D8F3D42E-E244-A843-A294-CA07B7B9330C}" destId="{AB77395F-F76A-ED45-8C40-AE6A04885F8C}" srcOrd="0" destOrd="0" presId="urn:microsoft.com/office/officeart/2005/8/layout/radial1"/>
    <dgm:cxn modelId="{1D370A72-FB66-4C92-AE5F-267B8D72CF3D}" type="presParOf" srcId="{6668EFFE-1E9D-C442-A9AF-2E7FAE22F53A}" destId="{93E69A97-3601-7045-B1E1-601867594944}" srcOrd="4" destOrd="0" presId="urn:microsoft.com/office/officeart/2005/8/layout/radial1"/>
    <dgm:cxn modelId="{343D4785-4A54-4E76-A33B-81DEA381AC14}" type="presParOf" srcId="{6668EFFE-1E9D-C442-A9AF-2E7FAE22F53A}" destId="{C6BDDC89-758B-9043-A571-95EF8107E0B6}" srcOrd="5" destOrd="0" presId="urn:microsoft.com/office/officeart/2005/8/layout/radial1"/>
    <dgm:cxn modelId="{E1533BA0-096C-40C5-9457-7332E9065200}" type="presParOf" srcId="{C6BDDC89-758B-9043-A571-95EF8107E0B6}" destId="{CED601F3-4770-5B46-8A54-5A01B75C127F}" srcOrd="0" destOrd="0" presId="urn:microsoft.com/office/officeart/2005/8/layout/radial1"/>
    <dgm:cxn modelId="{489EA78E-A0C3-467B-9BAB-642E8519C2DB}" type="presParOf" srcId="{6668EFFE-1E9D-C442-A9AF-2E7FAE22F53A}" destId="{F6F2E01B-8F5C-4C44-B203-5CD3CD02CB6A}" srcOrd="6" destOrd="0" presId="urn:microsoft.com/office/officeart/2005/8/layout/radial1"/>
    <dgm:cxn modelId="{C6699C19-2658-4BA9-9D10-80C59AD4237E}" type="presParOf" srcId="{6668EFFE-1E9D-C442-A9AF-2E7FAE22F53A}" destId="{254CEC90-A77B-014C-9079-D9D4EB7932A5}" srcOrd="7" destOrd="0" presId="urn:microsoft.com/office/officeart/2005/8/layout/radial1"/>
    <dgm:cxn modelId="{95387C5D-A8E1-4D9E-A670-F272E814C94C}" type="presParOf" srcId="{254CEC90-A77B-014C-9079-D9D4EB7932A5}" destId="{05D2AD61-C5E2-5A42-A972-8452FE7A8166}" srcOrd="0" destOrd="0" presId="urn:microsoft.com/office/officeart/2005/8/layout/radial1"/>
    <dgm:cxn modelId="{9D1BA81D-EF93-444A-8412-92001C700EC8}" type="presParOf" srcId="{6668EFFE-1E9D-C442-A9AF-2E7FAE22F53A}" destId="{1F8912B7-8160-2242-BF27-052C22ABA6C0}" srcOrd="8" destOrd="0" presId="urn:microsoft.com/office/officeart/2005/8/layout/radial1"/>
    <dgm:cxn modelId="{417611C3-686D-46F2-A9D6-A9AA58E03781}" type="presParOf" srcId="{6668EFFE-1E9D-C442-A9AF-2E7FAE22F53A}" destId="{ECE4F1B2-6ECE-0445-9986-AEA9E5449E3A}" srcOrd="9" destOrd="0" presId="urn:microsoft.com/office/officeart/2005/8/layout/radial1"/>
    <dgm:cxn modelId="{F09EC555-B962-4788-8A6A-986BF4A21E23}" type="presParOf" srcId="{ECE4F1B2-6ECE-0445-9986-AEA9E5449E3A}" destId="{23E0B1A9-F46A-9343-B9A3-ED97C816B7A5}" srcOrd="0" destOrd="0" presId="urn:microsoft.com/office/officeart/2005/8/layout/radial1"/>
    <dgm:cxn modelId="{BCA12A9E-C450-473A-83B2-74F452BFC962}" type="presParOf" srcId="{6668EFFE-1E9D-C442-A9AF-2E7FAE22F53A}" destId="{4B009D8C-DFDF-F847-8E52-5A58D8BE5CF5}" srcOrd="10" destOrd="0" presId="urn:microsoft.com/office/officeart/2005/8/layout/radial1"/>
    <dgm:cxn modelId="{4EE65549-DC23-4268-A064-C7D8E0383998}" type="presParOf" srcId="{6668EFFE-1E9D-C442-A9AF-2E7FAE22F53A}" destId="{2CD49C6B-5A86-3B44-BA4F-40990125FCEA}" srcOrd="11" destOrd="0" presId="urn:microsoft.com/office/officeart/2005/8/layout/radial1"/>
    <dgm:cxn modelId="{44BF7135-65E5-44D7-B682-614F40334D90}" type="presParOf" srcId="{2CD49C6B-5A86-3B44-BA4F-40990125FCEA}" destId="{A74FF494-FAE4-8B44-87EA-28FAB110D6E2}" srcOrd="0" destOrd="0" presId="urn:microsoft.com/office/officeart/2005/8/layout/radial1"/>
    <dgm:cxn modelId="{9F0264FD-3B95-4FB2-A777-77BCBCF40D3A}" type="presParOf" srcId="{6668EFFE-1E9D-C442-A9AF-2E7FAE22F53A}" destId="{89E08534-49E7-824B-8094-3783899AF4AA}" srcOrd="12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2158C2B-5A29-714A-BC10-256B21EF1C18}" type="doc">
      <dgm:prSet loTypeId="urn:microsoft.com/office/officeart/2005/8/layout/cycle6" loCatId="cycle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CC775280-F480-9149-A2D2-071247ED8005}">
      <dgm:prSet phldrT="[Text]" custT="1"/>
      <dgm:spPr/>
      <dgm:t>
        <a:bodyPr/>
        <a:lstStyle/>
        <a:p>
          <a:r>
            <a:rPr lang="en-US" sz="1900" dirty="0" smtClean="0"/>
            <a:t>Management</a:t>
          </a:r>
          <a:r>
            <a:rPr lang="en-US" sz="2000" dirty="0" smtClean="0"/>
            <a:t> team</a:t>
          </a:r>
          <a:endParaRPr lang="en-US" sz="2000" dirty="0"/>
        </a:p>
      </dgm:t>
    </dgm:pt>
    <dgm:pt modelId="{CA82C09F-B378-1F44-8F50-E1ED64578561}" type="parTrans" cxnId="{F5972F92-9417-2945-A57A-922C2DB6411F}">
      <dgm:prSet/>
      <dgm:spPr/>
      <dgm:t>
        <a:bodyPr/>
        <a:lstStyle/>
        <a:p>
          <a:endParaRPr lang="en-US"/>
        </a:p>
      </dgm:t>
    </dgm:pt>
    <dgm:pt modelId="{1707CC6E-0285-AC4F-84AB-D1662D21CB92}" type="sibTrans" cxnId="{F5972F92-9417-2945-A57A-922C2DB6411F}">
      <dgm:prSet/>
      <dgm:spPr/>
      <dgm:t>
        <a:bodyPr/>
        <a:lstStyle/>
        <a:p>
          <a:endParaRPr lang="en-US"/>
        </a:p>
      </dgm:t>
    </dgm:pt>
    <dgm:pt modelId="{F1618403-9300-824A-8BB4-1AA27CD6F709}">
      <dgm:prSet phldrT="[Text]" custT="1"/>
      <dgm:spPr/>
      <dgm:t>
        <a:bodyPr/>
        <a:lstStyle/>
        <a:p>
          <a:r>
            <a:rPr lang="en-US" sz="2000" dirty="0" smtClean="0"/>
            <a:t>Product/ service</a:t>
          </a:r>
          <a:endParaRPr lang="en-US" sz="2000" dirty="0"/>
        </a:p>
      </dgm:t>
    </dgm:pt>
    <dgm:pt modelId="{8B88A160-37F0-2149-9253-2BD38D78BCF1}" type="parTrans" cxnId="{AD39D005-5C2F-E54A-B5BC-D4536412F57E}">
      <dgm:prSet/>
      <dgm:spPr/>
      <dgm:t>
        <a:bodyPr/>
        <a:lstStyle/>
        <a:p>
          <a:endParaRPr lang="en-US"/>
        </a:p>
      </dgm:t>
    </dgm:pt>
    <dgm:pt modelId="{B8147D1A-2CC2-AA43-BCAD-0E311913DF7D}" type="sibTrans" cxnId="{AD39D005-5C2F-E54A-B5BC-D4536412F57E}">
      <dgm:prSet/>
      <dgm:spPr/>
      <dgm:t>
        <a:bodyPr/>
        <a:lstStyle/>
        <a:p>
          <a:endParaRPr lang="en-US"/>
        </a:p>
      </dgm:t>
    </dgm:pt>
    <dgm:pt modelId="{806D2BC5-9CB9-EB4B-BD43-8F804EAC3A59}">
      <dgm:prSet phldrT="[Text]" custT="1"/>
      <dgm:spPr/>
      <dgm:t>
        <a:bodyPr/>
        <a:lstStyle/>
        <a:p>
          <a:r>
            <a:rPr lang="en-US" sz="2000" dirty="0" smtClean="0"/>
            <a:t>Competitive positioning</a:t>
          </a:r>
          <a:endParaRPr lang="en-US" sz="2000" dirty="0"/>
        </a:p>
      </dgm:t>
    </dgm:pt>
    <dgm:pt modelId="{502B7EB5-B565-564F-AA50-4167B8E56283}" type="parTrans" cxnId="{5059F9D9-164A-6544-A2DE-9100446EA0FF}">
      <dgm:prSet/>
      <dgm:spPr/>
      <dgm:t>
        <a:bodyPr/>
        <a:lstStyle/>
        <a:p>
          <a:endParaRPr lang="en-US"/>
        </a:p>
      </dgm:t>
    </dgm:pt>
    <dgm:pt modelId="{63637016-1212-DE40-8296-CD4AAE8032FF}" type="sibTrans" cxnId="{5059F9D9-164A-6544-A2DE-9100446EA0FF}">
      <dgm:prSet/>
      <dgm:spPr/>
      <dgm:t>
        <a:bodyPr/>
        <a:lstStyle/>
        <a:p>
          <a:endParaRPr lang="en-US"/>
        </a:p>
      </dgm:t>
    </dgm:pt>
    <dgm:pt modelId="{16454822-58DE-7749-9796-243888A2DE37}">
      <dgm:prSet phldrT="[Text]" custT="1"/>
      <dgm:spPr/>
      <dgm:t>
        <a:bodyPr/>
        <a:lstStyle/>
        <a:p>
          <a:r>
            <a:rPr lang="en-US" sz="2000" dirty="0" smtClean="0"/>
            <a:t>Financial return</a:t>
          </a:r>
          <a:endParaRPr lang="en-US" sz="2000" dirty="0"/>
        </a:p>
      </dgm:t>
    </dgm:pt>
    <dgm:pt modelId="{2BA0C2B6-DA53-264A-901B-75DFB59376A3}" type="parTrans" cxnId="{4E21C43B-60C4-5745-AF16-364A71926964}">
      <dgm:prSet/>
      <dgm:spPr/>
      <dgm:t>
        <a:bodyPr/>
        <a:lstStyle/>
        <a:p>
          <a:endParaRPr lang="en-US"/>
        </a:p>
      </dgm:t>
    </dgm:pt>
    <dgm:pt modelId="{1C165A8B-CA6E-D941-A05C-64633A1550C0}" type="sibTrans" cxnId="{4E21C43B-60C4-5745-AF16-364A71926964}">
      <dgm:prSet/>
      <dgm:spPr/>
      <dgm:t>
        <a:bodyPr/>
        <a:lstStyle/>
        <a:p>
          <a:endParaRPr lang="en-US"/>
        </a:p>
      </dgm:t>
    </dgm:pt>
    <dgm:pt modelId="{A693130D-D103-6242-BBBA-1D6F98479958}">
      <dgm:prSet phldrT="[Text]" custT="1"/>
      <dgm:spPr/>
      <dgm:t>
        <a:bodyPr/>
        <a:lstStyle/>
        <a:p>
          <a:r>
            <a:rPr lang="en-US" sz="2000" dirty="0" smtClean="0"/>
            <a:t>Business plan</a:t>
          </a:r>
          <a:endParaRPr lang="en-US" sz="2000" dirty="0"/>
        </a:p>
      </dgm:t>
    </dgm:pt>
    <dgm:pt modelId="{0547AD33-7DCD-264D-8E34-07AF74DD7BA4}" type="parTrans" cxnId="{098E6CE6-9A2B-1B40-A70D-BE2EFBDDEE13}">
      <dgm:prSet/>
      <dgm:spPr/>
      <dgm:t>
        <a:bodyPr/>
        <a:lstStyle/>
        <a:p>
          <a:endParaRPr lang="en-US"/>
        </a:p>
      </dgm:t>
    </dgm:pt>
    <dgm:pt modelId="{612C79AB-4B39-5341-B2AC-3AA1D0556CA2}" type="sibTrans" cxnId="{098E6CE6-9A2B-1B40-A70D-BE2EFBDDEE13}">
      <dgm:prSet/>
      <dgm:spPr/>
      <dgm:t>
        <a:bodyPr/>
        <a:lstStyle/>
        <a:p>
          <a:endParaRPr lang="en-US"/>
        </a:p>
      </dgm:t>
    </dgm:pt>
    <dgm:pt modelId="{516E4D65-9061-B942-ACAA-07B3CA7DB19D}">
      <dgm:prSet phldrT="[Text]" custT="1"/>
      <dgm:spPr/>
      <dgm:t>
        <a:bodyPr/>
        <a:lstStyle/>
        <a:p>
          <a:r>
            <a:rPr lang="en-US" sz="2000" dirty="0" smtClean="0"/>
            <a:t>Target market</a:t>
          </a:r>
          <a:endParaRPr lang="en-US" sz="2000" dirty="0"/>
        </a:p>
      </dgm:t>
    </dgm:pt>
    <dgm:pt modelId="{E363B595-039D-EB42-8117-37587CE71912}" type="parTrans" cxnId="{53C100DE-34BC-F249-AB63-D7E69C5D4A8F}">
      <dgm:prSet/>
      <dgm:spPr/>
      <dgm:t>
        <a:bodyPr/>
        <a:lstStyle/>
        <a:p>
          <a:endParaRPr lang="en-US"/>
        </a:p>
      </dgm:t>
    </dgm:pt>
    <dgm:pt modelId="{E91767EF-BFFE-7145-A698-5104273C4F82}" type="sibTrans" cxnId="{53C100DE-34BC-F249-AB63-D7E69C5D4A8F}">
      <dgm:prSet/>
      <dgm:spPr/>
      <dgm:t>
        <a:bodyPr/>
        <a:lstStyle/>
        <a:p>
          <a:endParaRPr lang="en-US"/>
        </a:p>
      </dgm:t>
    </dgm:pt>
    <dgm:pt modelId="{A427DF9E-87B8-DF49-9612-D55BD5D6AFFE}" type="pres">
      <dgm:prSet presAssocID="{82158C2B-5A29-714A-BC10-256B21EF1C18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03FFAC8-9D57-5D42-976A-3A090267BD65}" type="pres">
      <dgm:prSet presAssocID="{CC775280-F480-9149-A2D2-071247ED8005}" presName="node" presStyleLbl="node1" presStyleIdx="0" presStyleCnt="6" custScaleX="129829" custRadScaleRad="9178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B6D7595-D94C-094D-948B-D0F972246A89}" type="pres">
      <dgm:prSet presAssocID="{CC775280-F480-9149-A2D2-071247ED8005}" presName="spNode" presStyleCnt="0"/>
      <dgm:spPr/>
    </dgm:pt>
    <dgm:pt modelId="{DF8272F8-73C7-7D44-BD50-05F40585F015}" type="pres">
      <dgm:prSet presAssocID="{1707CC6E-0285-AC4F-84AB-D1662D21CB92}" presName="sibTrans" presStyleLbl="sibTrans1D1" presStyleIdx="0" presStyleCnt="6"/>
      <dgm:spPr/>
      <dgm:t>
        <a:bodyPr/>
        <a:lstStyle/>
        <a:p>
          <a:endParaRPr lang="en-US"/>
        </a:p>
      </dgm:t>
    </dgm:pt>
    <dgm:pt modelId="{C6AF00D6-0B5A-A740-B88D-9BB7CA6E8E79}" type="pres">
      <dgm:prSet presAssocID="{516E4D65-9061-B942-ACAA-07B3CA7DB19D}" presName="node" presStyleLbl="node1" presStyleIdx="1" presStyleCnt="6" custScaleX="111705" custRadScaleRad="92158" custRadScaleInc="655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F646AA8-123B-CC40-B8A6-82E91FF196D1}" type="pres">
      <dgm:prSet presAssocID="{516E4D65-9061-B942-ACAA-07B3CA7DB19D}" presName="spNode" presStyleCnt="0"/>
      <dgm:spPr/>
    </dgm:pt>
    <dgm:pt modelId="{5A7725D2-50C9-5144-8A42-6210621A2EC5}" type="pres">
      <dgm:prSet presAssocID="{E91767EF-BFFE-7145-A698-5104273C4F82}" presName="sibTrans" presStyleLbl="sibTrans1D1" presStyleIdx="1" presStyleCnt="6"/>
      <dgm:spPr/>
      <dgm:t>
        <a:bodyPr/>
        <a:lstStyle/>
        <a:p>
          <a:endParaRPr lang="en-US"/>
        </a:p>
      </dgm:t>
    </dgm:pt>
    <dgm:pt modelId="{4641CC5D-F26B-CC43-A50A-BBA2D6E04231}" type="pres">
      <dgm:prSet presAssocID="{F1618403-9300-824A-8BB4-1AA27CD6F709}" presName="node" presStyleLbl="node1" presStyleIdx="2" presStyleCnt="6" custScaleX="111705" custRadScaleRad="92158" custRadScaleInc="-655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9CD5A3D-794E-1A41-8CED-82BE3A8BA3BB}" type="pres">
      <dgm:prSet presAssocID="{F1618403-9300-824A-8BB4-1AA27CD6F709}" presName="spNode" presStyleCnt="0"/>
      <dgm:spPr/>
    </dgm:pt>
    <dgm:pt modelId="{A969B9C1-19AA-2E44-8C94-5F049B4DAFE5}" type="pres">
      <dgm:prSet presAssocID="{B8147D1A-2CC2-AA43-BCAD-0E311913DF7D}" presName="sibTrans" presStyleLbl="sibTrans1D1" presStyleIdx="2" presStyleCnt="6"/>
      <dgm:spPr/>
      <dgm:t>
        <a:bodyPr/>
        <a:lstStyle/>
        <a:p>
          <a:endParaRPr lang="en-US"/>
        </a:p>
      </dgm:t>
    </dgm:pt>
    <dgm:pt modelId="{D89450A7-1011-7E4E-864F-D18213E3C45B}" type="pres">
      <dgm:prSet presAssocID="{806D2BC5-9CB9-EB4B-BD43-8F804EAC3A59}" presName="node" presStyleLbl="node1" presStyleIdx="3" presStyleCnt="6" custScaleX="111705" custRadScaleRad="9178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1DFB318-9A1A-BC4E-9384-9FAE781A706D}" type="pres">
      <dgm:prSet presAssocID="{806D2BC5-9CB9-EB4B-BD43-8F804EAC3A59}" presName="spNode" presStyleCnt="0"/>
      <dgm:spPr/>
    </dgm:pt>
    <dgm:pt modelId="{1E90D456-984E-C84E-A5B2-159FFB94E678}" type="pres">
      <dgm:prSet presAssocID="{63637016-1212-DE40-8296-CD4AAE8032FF}" presName="sibTrans" presStyleLbl="sibTrans1D1" presStyleIdx="3" presStyleCnt="6"/>
      <dgm:spPr/>
      <dgm:t>
        <a:bodyPr/>
        <a:lstStyle/>
        <a:p>
          <a:endParaRPr lang="en-US"/>
        </a:p>
      </dgm:t>
    </dgm:pt>
    <dgm:pt modelId="{9990AD44-2381-6747-AE60-D7BD2C47D31C}" type="pres">
      <dgm:prSet presAssocID="{16454822-58DE-7749-9796-243888A2DE37}" presName="node" presStyleLbl="node1" presStyleIdx="4" presStyleCnt="6" custScaleX="111705" custRadScaleRad="92157" custRadScaleInc="654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A9C0D68-E83B-E649-B284-E580BE37A3A6}" type="pres">
      <dgm:prSet presAssocID="{16454822-58DE-7749-9796-243888A2DE37}" presName="spNode" presStyleCnt="0"/>
      <dgm:spPr/>
    </dgm:pt>
    <dgm:pt modelId="{01CB0F76-AF77-F14B-8BD2-1B78B923F790}" type="pres">
      <dgm:prSet presAssocID="{1C165A8B-CA6E-D941-A05C-64633A1550C0}" presName="sibTrans" presStyleLbl="sibTrans1D1" presStyleIdx="4" presStyleCnt="6"/>
      <dgm:spPr/>
      <dgm:t>
        <a:bodyPr/>
        <a:lstStyle/>
        <a:p>
          <a:endParaRPr lang="en-US"/>
        </a:p>
      </dgm:t>
    </dgm:pt>
    <dgm:pt modelId="{95D834D4-DD07-D044-BC28-8C3DB6ADC58A}" type="pres">
      <dgm:prSet presAssocID="{A693130D-D103-6242-BBBA-1D6F98479958}" presName="node" presStyleLbl="node1" presStyleIdx="5" presStyleCnt="6" custScaleX="111705" custRadScaleRad="91767" custRadScaleInc="-880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79CA848-F0DF-8E47-B186-A5326A143B2C}" type="pres">
      <dgm:prSet presAssocID="{A693130D-D103-6242-BBBA-1D6F98479958}" presName="spNode" presStyleCnt="0"/>
      <dgm:spPr/>
    </dgm:pt>
    <dgm:pt modelId="{F268BF64-8F25-D747-9FC2-DBA1C00C35E6}" type="pres">
      <dgm:prSet presAssocID="{612C79AB-4B39-5341-B2AC-3AA1D0556CA2}" presName="sibTrans" presStyleLbl="sibTrans1D1" presStyleIdx="5" presStyleCnt="6"/>
      <dgm:spPr/>
      <dgm:t>
        <a:bodyPr/>
        <a:lstStyle/>
        <a:p>
          <a:endParaRPr lang="en-US"/>
        </a:p>
      </dgm:t>
    </dgm:pt>
  </dgm:ptLst>
  <dgm:cxnLst>
    <dgm:cxn modelId="{DF3A1D46-B849-4FBA-B211-82AC58BAE348}" type="presOf" srcId="{CC775280-F480-9149-A2D2-071247ED8005}" destId="{703FFAC8-9D57-5D42-976A-3A090267BD65}" srcOrd="0" destOrd="0" presId="urn:microsoft.com/office/officeart/2005/8/layout/cycle6"/>
    <dgm:cxn modelId="{226E63D6-207D-4477-BE77-C41AC7FE8F13}" type="presOf" srcId="{82158C2B-5A29-714A-BC10-256B21EF1C18}" destId="{A427DF9E-87B8-DF49-9612-D55BD5D6AFFE}" srcOrd="0" destOrd="0" presId="urn:microsoft.com/office/officeart/2005/8/layout/cycle6"/>
    <dgm:cxn modelId="{BE0DC6CC-DF39-4101-A1B2-123F13051B66}" type="presOf" srcId="{516E4D65-9061-B942-ACAA-07B3CA7DB19D}" destId="{C6AF00D6-0B5A-A740-B88D-9BB7CA6E8E79}" srcOrd="0" destOrd="0" presId="urn:microsoft.com/office/officeart/2005/8/layout/cycle6"/>
    <dgm:cxn modelId="{CFCB79F7-1D0A-4BA3-BDDD-933E75FE2624}" type="presOf" srcId="{16454822-58DE-7749-9796-243888A2DE37}" destId="{9990AD44-2381-6747-AE60-D7BD2C47D31C}" srcOrd="0" destOrd="0" presId="urn:microsoft.com/office/officeart/2005/8/layout/cycle6"/>
    <dgm:cxn modelId="{DCCC1F7C-16CB-40E3-AFAF-CB7FC27413B4}" type="presOf" srcId="{63637016-1212-DE40-8296-CD4AAE8032FF}" destId="{1E90D456-984E-C84E-A5B2-159FFB94E678}" srcOrd="0" destOrd="0" presId="urn:microsoft.com/office/officeart/2005/8/layout/cycle6"/>
    <dgm:cxn modelId="{AD39D005-5C2F-E54A-B5BC-D4536412F57E}" srcId="{82158C2B-5A29-714A-BC10-256B21EF1C18}" destId="{F1618403-9300-824A-8BB4-1AA27CD6F709}" srcOrd="2" destOrd="0" parTransId="{8B88A160-37F0-2149-9253-2BD38D78BCF1}" sibTransId="{B8147D1A-2CC2-AA43-BCAD-0E311913DF7D}"/>
    <dgm:cxn modelId="{EF32416A-9617-4A5F-B26A-4BD1B66F6A3B}" type="presOf" srcId="{E91767EF-BFFE-7145-A698-5104273C4F82}" destId="{5A7725D2-50C9-5144-8A42-6210621A2EC5}" srcOrd="0" destOrd="0" presId="urn:microsoft.com/office/officeart/2005/8/layout/cycle6"/>
    <dgm:cxn modelId="{B53E8952-4CB5-4279-9CD6-01EA81C179A5}" type="presOf" srcId="{A693130D-D103-6242-BBBA-1D6F98479958}" destId="{95D834D4-DD07-D044-BC28-8C3DB6ADC58A}" srcOrd="0" destOrd="0" presId="urn:microsoft.com/office/officeart/2005/8/layout/cycle6"/>
    <dgm:cxn modelId="{F5972F92-9417-2945-A57A-922C2DB6411F}" srcId="{82158C2B-5A29-714A-BC10-256B21EF1C18}" destId="{CC775280-F480-9149-A2D2-071247ED8005}" srcOrd="0" destOrd="0" parTransId="{CA82C09F-B378-1F44-8F50-E1ED64578561}" sibTransId="{1707CC6E-0285-AC4F-84AB-D1662D21CB92}"/>
    <dgm:cxn modelId="{53C100DE-34BC-F249-AB63-D7E69C5D4A8F}" srcId="{82158C2B-5A29-714A-BC10-256B21EF1C18}" destId="{516E4D65-9061-B942-ACAA-07B3CA7DB19D}" srcOrd="1" destOrd="0" parTransId="{E363B595-039D-EB42-8117-37587CE71912}" sibTransId="{E91767EF-BFFE-7145-A698-5104273C4F82}"/>
    <dgm:cxn modelId="{24C9FC15-14FA-4C22-B706-6A53862A2AD2}" type="presOf" srcId="{612C79AB-4B39-5341-B2AC-3AA1D0556CA2}" destId="{F268BF64-8F25-D747-9FC2-DBA1C00C35E6}" srcOrd="0" destOrd="0" presId="urn:microsoft.com/office/officeart/2005/8/layout/cycle6"/>
    <dgm:cxn modelId="{8CDEF59A-7E4C-432A-8189-5221900733C1}" type="presOf" srcId="{F1618403-9300-824A-8BB4-1AA27CD6F709}" destId="{4641CC5D-F26B-CC43-A50A-BBA2D6E04231}" srcOrd="0" destOrd="0" presId="urn:microsoft.com/office/officeart/2005/8/layout/cycle6"/>
    <dgm:cxn modelId="{4E21C43B-60C4-5745-AF16-364A71926964}" srcId="{82158C2B-5A29-714A-BC10-256B21EF1C18}" destId="{16454822-58DE-7749-9796-243888A2DE37}" srcOrd="4" destOrd="0" parTransId="{2BA0C2B6-DA53-264A-901B-75DFB59376A3}" sibTransId="{1C165A8B-CA6E-D941-A05C-64633A1550C0}"/>
    <dgm:cxn modelId="{6013D44D-1029-438A-B607-5365D8BA2C31}" type="presOf" srcId="{1C165A8B-CA6E-D941-A05C-64633A1550C0}" destId="{01CB0F76-AF77-F14B-8BD2-1B78B923F790}" srcOrd="0" destOrd="0" presId="urn:microsoft.com/office/officeart/2005/8/layout/cycle6"/>
    <dgm:cxn modelId="{5059F9D9-164A-6544-A2DE-9100446EA0FF}" srcId="{82158C2B-5A29-714A-BC10-256B21EF1C18}" destId="{806D2BC5-9CB9-EB4B-BD43-8F804EAC3A59}" srcOrd="3" destOrd="0" parTransId="{502B7EB5-B565-564F-AA50-4167B8E56283}" sibTransId="{63637016-1212-DE40-8296-CD4AAE8032FF}"/>
    <dgm:cxn modelId="{098E6CE6-9A2B-1B40-A70D-BE2EFBDDEE13}" srcId="{82158C2B-5A29-714A-BC10-256B21EF1C18}" destId="{A693130D-D103-6242-BBBA-1D6F98479958}" srcOrd="5" destOrd="0" parTransId="{0547AD33-7DCD-264D-8E34-07AF74DD7BA4}" sibTransId="{612C79AB-4B39-5341-B2AC-3AA1D0556CA2}"/>
    <dgm:cxn modelId="{09B73A0B-5102-4CF7-AFF8-8C3C8E77129D}" type="presOf" srcId="{B8147D1A-2CC2-AA43-BCAD-0E311913DF7D}" destId="{A969B9C1-19AA-2E44-8C94-5F049B4DAFE5}" srcOrd="0" destOrd="0" presId="urn:microsoft.com/office/officeart/2005/8/layout/cycle6"/>
    <dgm:cxn modelId="{926A43E5-8250-4661-BE45-89A5CF263C86}" type="presOf" srcId="{806D2BC5-9CB9-EB4B-BD43-8F804EAC3A59}" destId="{D89450A7-1011-7E4E-864F-D18213E3C45B}" srcOrd="0" destOrd="0" presId="urn:microsoft.com/office/officeart/2005/8/layout/cycle6"/>
    <dgm:cxn modelId="{E8752883-9C66-4195-9F3A-3E64CDFFF9AE}" type="presOf" srcId="{1707CC6E-0285-AC4F-84AB-D1662D21CB92}" destId="{DF8272F8-73C7-7D44-BD50-05F40585F015}" srcOrd="0" destOrd="0" presId="urn:microsoft.com/office/officeart/2005/8/layout/cycle6"/>
    <dgm:cxn modelId="{5674EB0D-E45A-45C0-98E4-49597B41F300}" type="presParOf" srcId="{A427DF9E-87B8-DF49-9612-D55BD5D6AFFE}" destId="{703FFAC8-9D57-5D42-976A-3A090267BD65}" srcOrd="0" destOrd="0" presId="urn:microsoft.com/office/officeart/2005/8/layout/cycle6"/>
    <dgm:cxn modelId="{4FDF6E3A-EFA1-4AE3-AA25-D1106C2DD30C}" type="presParOf" srcId="{A427DF9E-87B8-DF49-9612-D55BD5D6AFFE}" destId="{9B6D7595-D94C-094D-948B-D0F972246A89}" srcOrd="1" destOrd="0" presId="urn:microsoft.com/office/officeart/2005/8/layout/cycle6"/>
    <dgm:cxn modelId="{052B859A-DC3F-44D1-9D43-41F67DB40CF4}" type="presParOf" srcId="{A427DF9E-87B8-DF49-9612-D55BD5D6AFFE}" destId="{DF8272F8-73C7-7D44-BD50-05F40585F015}" srcOrd="2" destOrd="0" presId="urn:microsoft.com/office/officeart/2005/8/layout/cycle6"/>
    <dgm:cxn modelId="{25DCCD46-40C0-45B1-BF7A-85756AEAFA8A}" type="presParOf" srcId="{A427DF9E-87B8-DF49-9612-D55BD5D6AFFE}" destId="{C6AF00D6-0B5A-A740-B88D-9BB7CA6E8E79}" srcOrd="3" destOrd="0" presId="urn:microsoft.com/office/officeart/2005/8/layout/cycle6"/>
    <dgm:cxn modelId="{04608A59-661C-4DC2-877A-C7AA6D0F6CEE}" type="presParOf" srcId="{A427DF9E-87B8-DF49-9612-D55BD5D6AFFE}" destId="{CF646AA8-123B-CC40-B8A6-82E91FF196D1}" srcOrd="4" destOrd="0" presId="urn:microsoft.com/office/officeart/2005/8/layout/cycle6"/>
    <dgm:cxn modelId="{53B7A692-FEB8-4ACB-9321-E622E4C7E1BC}" type="presParOf" srcId="{A427DF9E-87B8-DF49-9612-D55BD5D6AFFE}" destId="{5A7725D2-50C9-5144-8A42-6210621A2EC5}" srcOrd="5" destOrd="0" presId="urn:microsoft.com/office/officeart/2005/8/layout/cycle6"/>
    <dgm:cxn modelId="{C3A230C7-E48C-4701-A8C5-470D6CDC4C1C}" type="presParOf" srcId="{A427DF9E-87B8-DF49-9612-D55BD5D6AFFE}" destId="{4641CC5D-F26B-CC43-A50A-BBA2D6E04231}" srcOrd="6" destOrd="0" presId="urn:microsoft.com/office/officeart/2005/8/layout/cycle6"/>
    <dgm:cxn modelId="{98C3438C-64D9-4240-B15E-81411F54DA88}" type="presParOf" srcId="{A427DF9E-87B8-DF49-9612-D55BD5D6AFFE}" destId="{89CD5A3D-794E-1A41-8CED-82BE3A8BA3BB}" srcOrd="7" destOrd="0" presId="urn:microsoft.com/office/officeart/2005/8/layout/cycle6"/>
    <dgm:cxn modelId="{B0BC92E0-45BE-4483-A183-1F257F42EA40}" type="presParOf" srcId="{A427DF9E-87B8-DF49-9612-D55BD5D6AFFE}" destId="{A969B9C1-19AA-2E44-8C94-5F049B4DAFE5}" srcOrd="8" destOrd="0" presId="urn:microsoft.com/office/officeart/2005/8/layout/cycle6"/>
    <dgm:cxn modelId="{B43258DF-74ED-4EF5-9405-E45F2606CEEF}" type="presParOf" srcId="{A427DF9E-87B8-DF49-9612-D55BD5D6AFFE}" destId="{D89450A7-1011-7E4E-864F-D18213E3C45B}" srcOrd="9" destOrd="0" presId="urn:microsoft.com/office/officeart/2005/8/layout/cycle6"/>
    <dgm:cxn modelId="{ECE9A896-5B2B-47C9-BE36-AC995B9725CA}" type="presParOf" srcId="{A427DF9E-87B8-DF49-9612-D55BD5D6AFFE}" destId="{11DFB318-9A1A-BC4E-9384-9FAE781A706D}" srcOrd="10" destOrd="0" presId="urn:microsoft.com/office/officeart/2005/8/layout/cycle6"/>
    <dgm:cxn modelId="{041D8708-EB4A-487A-815D-8997F597087D}" type="presParOf" srcId="{A427DF9E-87B8-DF49-9612-D55BD5D6AFFE}" destId="{1E90D456-984E-C84E-A5B2-159FFB94E678}" srcOrd="11" destOrd="0" presId="urn:microsoft.com/office/officeart/2005/8/layout/cycle6"/>
    <dgm:cxn modelId="{F748BDF6-EC42-45D2-BE92-9D9A196B0050}" type="presParOf" srcId="{A427DF9E-87B8-DF49-9612-D55BD5D6AFFE}" destId="{9990AD44-2381-6747-AE60-D7BD2C47D31C}" srcOrd="12" destOrd="0" presId="urn:microsoft.com/office/officeart/2005/8/layout/cycle6"/>
    <dgm:cxn modelId="{45F6DC22-36B5-4457-A4C2-7701BF3B6B29}" type="presParOf" srcId="{A427DF9E-87B8-DF49-9612-D55BD5D6AFFE}" destId="{1A9C0D68-E83B-E649-B284-E580BE37A3A6}" srcOrd="13" destOrd="0" presId="urn:microsoft.com/office/officeart/2005/8/layout/cycle6"/>
    <dgm:cxn modelId="{26113095-CA8A-442C-A3FB-53935E89A7B2}" type="presParOf" srcId="{A427DF9E-87B8-DF49-9612-D55BD5D6AFFE}" destId="{01CB0F76-AF77-F14B-8BD2-1B78B923F790}" srcOrd="14" destOrd="0" presId="urn:microsoft.com/office/officeart/2005/8/layout/cycle6"/>
    <dgm:cxn modelId="{CF300FC9-AC4A-458E-AB39-CD960478BF4D}" type="presParOf" srcId="{A427DF9E-87B8-DF49-9612-D55BD5D6AFFE}" destId="{95D834D4-DD07-D044-BC28-8C3DB6ADC58A}" srcOrd="15" destOrd="0" presId="urn:microsoft.com/office/officeart/2005/8/layout/cycle6"/>
    <dgm:cxn modelId="{CAECCE57-610A-4A01-847D-CF13FBDAB1EC}" type="presParOf" srcId="{A427DF9E-87B8-DF49-9612-D55BD5D6AFFE}" destId="{079CA848-F0DF-8E47-B186-A5326A143B2C}" srcOrd="16" destOrd="0" presId="urn:microsoft.com/office/officeart/2005/8/layout/cycle6"/>
    <dgm:cxn modelId="{1C8BEE19-F344-490C-8389-2F154C56852B}" type="presParOf" srcId="{A427DF9E-87B8-DF49-9612-D55BD5D6AFFE}" destId="{F268BF64-8F25-D747-9FC2-DBA1C00C35E6}" srcOrd="17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01503B6-F78A-5E45-9D9E-E2436DCFCFCB}" type="doc">
      <dgm:prSet loTypeId="urn:microsoft.com/office/officeart/2005/8/layout/cycle8" loCatId="cycle" qsTypeId="urn:microsoft.com/office/officeart/2005/8/quickstyle/3D1" qsCatId="3D" csTypeId="urn:microsoft.com/office/officeart/2005/8/colors/colorful4" csCatId="colorful" phldr="1"/>
      <dgm:spPr/>
    </dgm:pt>
    <dgm:pt modelId="{A1F8E7AE-A021-5A48-B510-E94A47F42271}">
      <dgm:prSet phldrT="[Text]" custT="1"/>
      <dgm:spPr/>
      <dgm:t>
        <a:bodyPr/>
        <a:lstStyle/>
        <a:p>
          <a:r>
            <a:rPr lang="en-US" sz="2000" b="1" dirty="0" smtClean="0"/>
            <a:t>Board of Directors</a:t>
          </a:r>
          <a:endParaRPr lang="en-US" sz="2000" b="1" dirty="0"/>
        </a:p>
      </dgm:t>
    </dgm:pt>
    <dgm:pt modelId="{59A3F19B-B85D-304B-8FD8-D4B8239AB397}" type="parTrans" cxnId="{4B19332A-B9E1-4C49-9DA7-CD57A525ACDC}">
      <dgm:prSet/>
      <dgm:spPr/>
      <dgm:t>
        <a:bodyPr/>
        <a:lstStyle/>
        <a:p>
          <a:endParaRPr lang="en-US"/>
        </a:p>
      </dgm:t>
    </dgm:pt>
    <dgm:pt modelId="{1D5B4353-B59A-4F40-A3BD-45951A7B8959}" type="sibTrans" cxnId="{4B19332A-B9E1-4C49-9DA7-CD57A525ACDC}">
      <dgm:prSet/>
      <dgm:spPr/>
      <dgm:t>
        <a:bodyPr/>
        <a:lstStyle/>
        <a:p>
          <a:endParaRPr lang="en-US"/>
        </a:p>
      </dgm:t>
    </dgm:pt>
    <dgm:pt modelId="{9FD2D509-AFCD-184B-AEE0-E6E8691EF01E}">
      <dgm:prSet phldrT="[Text]" custT="1"/>
      <dgm:spPr/>
      <dgm:t>
        <a:bodyPr/>
        <a:lstStyle/>
        <a:p>
          <a:r>
            <a:rPr lang="en-US" sz="2000" b="1" dirty="0" smtClean="0"/>
            <a:t>Patience</a:t>
          </a:r>
          <a:endParaRPr lang="en-US" sz="2000" b="1" dirty="0"/>
        </a:p>
      </dgm:t>
    </dgm:pt>
    <dgm:pt modelId="{9B92D1F9-4D52-4546-802E-51B1AB335DA8}" type="parTrans" cxnId="{B7BA850C-7F08-2648-B1D0-6B575DE1CA7E}">
      <dgm:prSet/>
      <dgm:spPr/>
      <dgm:t>
        <a:bodyPr/>
        <a:lstStyle/>
        <a:p>
          <a:endParaRPr lang="en-US"/>
        </a:p>
      </dgm:t>
    </dgm:pt>
    <dgm:pt modelId="{E3595592-B875-D642-B574-66BB7A38E0F7}" type="sibTrans" cxnId="{B7BA850C-7F08-2648-B1D0-6B575DE1CA7E}">
      <dgm:prSet/>
      <dgm:spPr/>
      <dgm:t>
        <a:bodyPr/>
        <a:lstStyle/>
        <a:p>
          <a:endParaRPr lang="en-US"/>
        </a:p>
      </dgm:t>
    </dgm:pt>
    <dgm:pt modelId="{079A362A-FD21-7A4A-845D-0D2320C9E92B}">
      <dgm:prSet phldrT="[Text]" custT="1"/>
      <dgm:spPr/>
      <dgm:t>
        <a:bodyPr/>
        <a:lstStyle/>
        <a:p>
          <a:r>
            <a:rPr lang="en-US" sz="1950" b="1" dirty="0" smtClean="0"/>
            <a:t>Availability</a:t>
          </a:r>
          <a:endParaRPr lang="en-US" sz="1950" b="1" dirty="0"/>
        </a:p>
      </dgm:t>
    </dgm:pt>
    <dgm:pt modelId="{FB3ADAC4-1B33-E141-9DA4-8E69568180E1}" type="parTrans" cxnId="{80E6EFFA-D169-4147-A3F3-1B1C76E072A5}">
      <dgm:prSet/>
      <dgm:spPr/>
      <dgm:t>
        <a:bodyPr/>
        <a:lstStyle/>
        <a:p>
          <a:endParaRPr lang="en-US"/>
        </a:p>
      </dgm:t>
    </dgm:pt>
    <dgm:pt modelId="{126CC1B5-5B5B-734B-99F7-5A08E578F125}" type="sibTrans" cxnId="{80E6EFFA-D169-4147-A3F3-1B1C76E072A5}">
      <dgm:prSet/>
      <dgm:spPr/>
      <dgm:t>
        <a:bodyPr/>
        <a:lstStyle/>
        <a:p>
          <a:endParaRPr lang="en-US"/>
        </a:p>
      </dgm:t>
    </dgm:pt>
    <dgm:pt modelId="{933A5D65-37AA-524D-91FB-E0CC25831484}">
      <dgm:prSet phldrT="[Text]" custT="1"/>
      <dgm:spPr/>
      <dgm:t>
        <a:bodyPr/>
        <a:lstStyle/>
        <a:p>
          <a:r>
            <a:rPr lang="en-US" sz="2000" b="1" dirty="0" smtClean="0"/>
            <a:t>Deep Pockets </a:t>
          </a:r>
          <a:endParaRPr lang="en-US" sz="2000" b="1" dirty="0"/>
        </a:p>
      </dgm:t>
    </dgm:pt>
    <dgm:pt modelId="{FF52346D-82C8-774A-9948-20C4398820D8}" type="parTrans" cxnId="{85046120-4B20-854F-BDF8-50EE86FEA51B}">
      <dgm:prSet/>
      <dgm:spPr/>
      <dgm:t>
        <a:bodyPr/>
        <a:lstStyle/>
        <a:p>
          <a:endParaRPr lang="en-US"/>
        </a:p>
      </dgm:t>
    </dgm:pt>
    <dgm:pt modelId="{B59A05DB-AD82-E54B-83B1-36510C062A3F}" type="sibTrans" cxnId="{85046120-4B20-854F-BDF8-50EE86FEA51B}">
      <dgm:prSet/>
      <dgm:spPr/>
      <dgm:t>
        <a:bodyPr/>
        <a:lstStyle/>
        <a:p>
          <a:endParaRPr lang="en-US"/>
        </a:p>
      </dgm:t>
    </dgm:pt>
    <dgm:pt modelId="{48A6B7D5-7771-504E-9B20-45177721A6C7}">
      <dgm:prSet phldrT="[Text]" custT="1"/>
      <dgm:spPr/>
      <dgm:t>
        <a:bodyPr/>
        <a:lstStyle/>
        <a:p>
          <a:r>
            <a:rPr lang="en-US" sz="2000" b="1" dirty="0" smtClean="0"/>
            <a:t>Added Value</a:t>
          </a:r>
          <a:endParaRPr lang="en-US" sz="2000" b="1" dirty="0"/>
        </a:p>
      </dgm:t>
    </dgm:pt>
    <dgm:pt modelId="{D9A91D78-1011-A842-A510-CB070B33B66E}" type="parTrans" cxnId="{A3AC7851-EA75-E143-BA5B-AE4CA24A565A}">
      <dgm:prSet/>
      <dgm:spPr/>
      <dgm:t>
        <a:bodyPr/>
        <a:lstStyle/>
        <a:p>
          <a:endParaRPr lang="en-US"/>
        </a:p>
      </dgm:t>
    </dgm:pt>
    <dgm:pt modelId="{6C39EBD0-FD66-3149-B1D4-C0AA8FEA1E0B}" type="sibTrans" cxnId="{A3AC7851-EA75-E143-BA5B-AE4CA24A565A}">
      <dgm:prSet/>
      <dgm:spPr/>
      <dgm:t>
        <a:bodyPr/>
        <a:lstStyle/>
        <a:p>
          <a:endParaRPr lang="en-US"/>
        </a:p>
      </dgm:t>
    </dgm:pt>
    <dgm:pt modelId="{7BE8BC58-6039-944A-B5DA-CAFDBBB46C5C}" type="pres">
      <dgm:prSet presAssocID="{401503B6-F78A-5E45-9D9E-E2436DCFCFCB}" presName="compositeShape" presStyleCnt="0">
        <dgm:presLayoutVars>
          <dgm:chMax val="7"/>
          <dgm:dir/>
          <dgm:resizeHandles val="exact"/>
        </dgm:presLayoutVars>
      </dgm:prSet>
      <dgm:spPr/>
    </dgm:pt>
    <dgm:pt modelId="{25209E30-0677-824B-BDFF-31158D113FD5}" type="pres">
      <dgm:prSet presAssocID="{401503B6-F78A-5E45-9D9E-E2436DCFCFCB}" presName="wedge1" presStyleLbl="node1" presStyleIdx="0" presStyleCnt="5" custScaleX="105435" custScaleY="105391"/>
      <dgm:spPr/>
      <dgm:t>
        <a:bodyPr/>
        <a:lstStyle/>
        <a:p>
          <a:endParaRPr lang="en-US"/>
        </a:p>
      </dgm:t>
    </dgm:pt>
    <dgm:pt modelId="{49AA1443-C96D-724F-B428-FE382F2918E0}" type="pres">
      <dgm:prSet presAssocID="{401503B6-F78A-5E45-9D9E-E2436DCFCFCB}" presName="dummy1a" presStyleCnt="0"/>
      <dgm:spPr/>
    </dgm:pt>
    <dgm:pt modelId="{AE443A95-6639-9643-8205-5E1BB51184E9}" type="pres">
      <dgm:prSet presAssocID="{401503B6-F78A-5E45-9D9E-E2436DCFCFCB}" presName="dummy1b" presStyleCnt="0"/>
      <dgm:spPr/>
    </dgm:pt>
    <dgm:pt modelId="{A626E86E-59F8-6544-A25B-5D400DEEDBD3}" type="pres">
      <dgm:prSet presAssocID="{401503B6-F78A-5E45-9D9E-E2436DCFCFCB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968E0DE-0F06-9145-AE23-DD347E54F413}" type="pres">
      <dgm:prSet presAssocID="{401503B6-F78A-5E45-9D9E-E2436DCFCFCB}" presName="wedge2" presStyleLbl="node1" presStyleIdx="1" presStyleCnt="5"/>
      <dgm:spPr/>
      <dgm:t>
        <a:bodyPr/>
        <a:lstStyle/>
        <a:p>
          <a:endParaRPr lang="en-US"/>
        </a:p>
      </dgm:t>
    </dgm:pt>
    <dgm:pt modelId="{016663DB-F61C-DA4B-B2CD-F02CC7C439D1}" type="pres">
      <dgm:prSet presAssocID="{401503B6-F78A-5E45-9D9E-E2436DCFCFCB}" presName="dummy2a" presStyleCnt="0"/>
      <dgm:spPr/>
    </dgm:pt>
    <dgm:pt modelId="{191488ED-83B2-0F4A-ADBE-363ACC41F845}" type="pres">
      <dgm:prSet presAssocID="{401503B6-F78A-5E45-9D9E-E2436DCFCFCB}" presName="dummy2b" presStyleCnt="0"/>
      <dgm:spPr/>
    </dgm:pt>
    <dgm:pt modelId="{ACD0CB70-C6DF-B14E-B5AC-8AA1C7FA7BF0}" type="pres">
      <dgm:prSet presAssocID="{401503B6-F78A-5E45-9D9E-E2436DCFCFCB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B39FF4E-7176-3D49-9B2F-5ABCC951C184}" type="pres">
      <dgm:prSet presAssocID="{401503B6-F78A-5E45-9D9E-E2436DCFCFCB}" presName="wedge3" presStyleLbl="node1" presStyleIdx="2" presStyleCnt="5" custScaleX="110750" custScaleY="97969"/>
      <dgm:spPr/>
      <dgm:t>
        <a:bodyPr/>
        <a:lstStyle/>
        <a:p>
          <a:endParaRPr lang="en-US"/>
        </a:p>
      </dgm:t>
    </dgm:pt>
    <dgm:pt modelId="{995AF693-9427-044B-A899-2FA31BCF250C}" type="pres">
      <dgm:prSet presAssocID="{401503B6-F78A-5E45-9D9E-E2436DCFCFCB}" presName="dummy3a" presStyleCnt="0"/>
      <dgm:spPr/>
    </dgm:pt>
    <dgm:pt modelId="{579D208D-A8F5-2F4D-8FFD-EE50727C843B}" type="pres">
      <dgm:prSet presAssocID="{401503B6-F78A-5E45-9D9E-E2436DCFCFCB}" presName="dummy3b" presStyleCnt="0"/>
      <dgm:spPr/>
    </dgm:pt>
    <dgm:pt modelId="{82E87739-4866-E843-88BD-FC71E1AF0960}" type="pres">
      <dgm:prSet presAssocID="{401503B6-F78A-5E45-9D9E-E2436DCFCFCB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90AD66-4A6D-8742-8AC5-4F4645D30AE3}" type="pres">
      <dgm:prSet presAssocID="{401503B6-F78A-5E45-9D9E-E2436DCFCFCB}" presName="wedge4" presStyleLbl="node1" presStyleIdx="3" presStyleCnt="5"/>
      <dgm:spPr/>
      <dgm:t>
        <a:bodyPr/>
        <a:lstStyle/>
        <a:p>
          <a:endParaRPr lang="en-US"/>
        </a:p>
      </dgm:t>
    </dgm:pt>
    <dgm:pt modelId="{D28FB112-783E-1942-9D8A-9D36989D4D38}" type="pres">
      <dgm:prSet presAssocID="{401503B6-F78A-5E45-9D9E-E2436DCFCFCB}" presName="dummy4a" presStyleCnt="0"/>
      <dgm:spPr/>
    </dgm:pt>
    <dgm:pt modelId="{E4189681-86F5-A14C-981B-166B5D933BEE}" type="pres">
      <dgm:prSet presAssocID="{401503B6-F78A-5E45-9D9E-E2436DCFCFCB}" presName="dummy4b" presStyleCnt="0"/>
      <dgm:spPr/>
    </dgm:pt>
    <dgm:pt modelId="{FA7EF5DF-B6CD-B342-9B84-175ED85C7A49}" type="pres">
      <dgm:prSet presAssocID="{401503B6-F78A-5E45-9D9E-E2436DCFCFCB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14D6185-1060-3D4F-BE4A-B83A9E0D8BB8}" type="pres">
      <dgm:prSet presAssocID="{401503B6-F78A-5E45-9D9E-E2436DCFCFCB}" presName="wedge5" presStyleLbl="node1" presStyleIdx="4" presStyleCnt="5"/>
      <dgm:spPr/>
      <dgm:t>
        <a:bodyPr/>
        <a:lstStyle/>
        <a:p>
          <a:endParaRPr lang="en-US"/>
        </a:p>
      </dgm:t>
    </dgm:pt>
    <dgm:pt modelId="{F900BAD5-4789-664E-BB22-B175B0263DF3}" type="pres">
      <dgm:prSet presAssocID="{401503B6-F78A-5E45-9D9E-E2436DCFCFCB}" presName="dummy5a" presStyleCnt="0"/>
      <dgm:spPr/>
    </dgm:pt>
    <dgm:pt modelId="{CADDBEE6-AAF9-DA44-BA91-0D5F5A288599}" type="pres">
      <dgm:prSet presAssocID="{401503B6-F78A-5E45-9D9E-E2436DCFCFCB}" presName="dummy5b" presStyleCnt="0"/>
      <dgm:spPr/>
    </dgm:pt>
    <dgm:pt modelId="{B0E00545-4748-8C4E-9746-922DEEBBAD88}" type="pres">
      <dgm:prSet presAssocID="{401503B6-F78A-5E45-9D9E-E2436DCFCFCB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B49AD4F-E58A-B74E-9FA6-B508BDBD6071}" type="pres">
      <dgm:prSet presAssocID="{1D5B4353-B59A-4F40-A3BD-45951A7B8959}" presName="arrowWedge1" presStyleLbl="fgSibTrans2D1" presStyleIdx="0" presStyleCnt="5"/>
      <dgm:spPr/>
    </dgm:pt>
    <dgm:pt modelId="{AE433212-B2E7-6D45-BCFB-08BA10D1B5E7}" type="pres">
      <dgm:prSet presAssocID="{E3595592-B875-D642-B574-66BB7A38E0F7}" presName="arrowWedge2" presStyleLbl="fgSibTrans2D1" presStyleIdx="1" presStyleCnt="5"/>
      <dgm:spPr/>
    </dgm:pt>
    <dgm:pt modelId="{8DBE74D3-B632-C84E-AAA7-BF09E439E8B5}" type="pres">
      <dgm:prSet presAssocID="{126CC1B5-5B5B-734B-99F7-5A08E578F125}" presName="arrowWedge3" presStyleLbl="fgSibTrans2D1" presStyleIdx="2" presStyleCnt="5"/>
      <dgm:spPr/>
    </dgm:pt>
    <dgm:pt modelId="{AF4DB024-483C-7840-A8B9-D2F744BB3357}" type="pres">
      <dgm:prSet presAssocID="{B59A05DB-AD82-E54B-83B1-36510C062A3F}" presName="arrowWedge4" presStyleLbl="fgSibTrans2D1" presStyleIdx="3" presStyleCnt="5"/>
      <dgm:spPr/>
    </dgm:pt>
    <dgm:pt modelId="{92BC2C1B-9010-8743-AD8B-A03F79596341}" type="pres">
      <dgm:prSet presAssocID="{6C39EBD0-FD66-3149-B1D4-C0AA8FEA1E0B}" presName="arrowWedge5" presStyleLbl="fgSibTrans2D1" presStyleIdx="4" presStyleCnt="5"/>
      <dgm:spPr/>
    </dgm:pt>
  </dgm:ptLst>
  <dgm:cxnLst>
    <dgm:cxn modelId="{85046120-4B20-854F-BDF8-50EE86FEA51B}" srcId="{401503B6-F78A-5E45-9D9E-E2436DCFCFCB}" destId="{933A5D65-37AA-524D-91FB-E0CC25831484}" srcOrd="3" destOrd="0" parTransId="{FF52346D-82C8-774A-9948-20C4398820D8}" sibTransId="{B59A05DB-AD82-E54B-83B1-36510C062A3F}"/>
    <dgm:cxn modelId="{C1854D52-E1BD-4BDE-8423-F1F61BD42619}" type="presOf" srcId="{48A6B7D5-7771-504E-9B20-45177721A6C7}" destId="{E14D6185-1060-3D4F-BE4A-B83A9E0D8BB8}" srcOrd="0" destOrd="0" presId="urn:microsoft.com/office/officeart/2005/8/layout/cycle8"/>
    <dgm:cxn modelId="{B7BA850C-7F08-2648-B1D0-6B575DE1CA7E}" srcId="{401503B6-F78A-5E45-9D9E-E2436DCFCFCB}" destId="{9FD2D509-AFCD-184B-AEE0-E6E8691EF01E}" srcOrd="1" destOrd="0" parTransId="{9B92D1F9-4D52-4546-802E-51B1AB335DA8}" sibTransId="{E3595592-B875-D642-B574-66BB7A38E0F7}"/>
    <dgm:cxn modelId="{80AEA014-3862-4AD1-875D-67953D3A4187}" type="presOf" srcId="{401503B6-F78A-5E45-9D9E-E2436DCFCFCB}" destId="{7BE8BC58-6039-944A-B5DA-CAFDBBB46C5C}" srcOrd="0" destOrd="0" presId="urn:microsoft.com/office/officeart/2005/8/layout/cycle8"/>
    <dgm:cxn modelId="{955DE4AF-3223-49A7-92E3-7DF9E5D13CDE}" type="presOf" srcId="{9FD2D509-AFCD-184B-AEE0-E6E8691EF01E}" destId="{9968E0DE-0F06-9145-AE23-DD347E54F413}" srcOrd="0" destOrd="0" presId="urn:microsoft.com/office/officeart/2005/8/layout/cycle8"/>
    <dgm:cxn modelId="{CFA15465-A6D8-487C-9091-ED32F68DB261}" type="presOf" srcId="{A1F8E7AE-A021-5A48-B510-E94A47F42271}" destId="{A626E86E-59F8-6544-A25B-5D400DEEDBD3}" srcOrd="1" destOrd="0" presId="urn:microsoft.com/office/officeart/2005/8/layout/cycle8"/>
    <dgm:cxn modelId="{A3AC7851-EA75-E143-BA5B-AE4CA24A565A}" srcId="{401503B6-F78A-5E45-9D9E-E2436DCFCFCB}" destId="{48A6B7D5-7771-504E-9B20-45177721A6C7}" srcOrd="4" destOrd="0" parTransId="{D9A91D78-1011-A842-A510-CB070B33B66E}" sibTransId="{6C39EBD0-FD66-3149-B1D4-C0AA8FEA1E0B}"/>
    <dgm:cxn modelId="{80E6EFFA-D169-4147-A3F3-1B1C76E072A5}" srcId="{401503B6-F78A-5E45-9D9E-E2436DCFCFCB}" destId="{079A362A-FD21-7A4A-845D-0D2320C9E92B}" srcOrd="2" destOrd="0" parTransId="{FB3ADAC4-1B33-E141-9DA4-8E69568180E1}" sibTransId="{126CC1B5-5B5B-734B-99F7-5A08E578F125}"/>
    <dgm:cxn modelId="{D94EAADC-CDA6-4F85-ABA9-C4599B2C2CA1}" type="presOf" srcId="{48A6B7D5-7771-504E-9B20-45177721A6C7}" destId="{B0E00545-4748-8C4E-9746-922DEEBBAD88}" srcOrd="1" destOrd="0" presId="urn:microsoft.com/office/officeart/2005/8/layout/cycle8"/>
    <dgm:cxn modelId="{4977C269-9187-402E-A11A-BDA9A355EB69}" type="presOf" srcId="{A1F8E7AE-A021-5A48-B510-E94A47F42271}" destId="{25209E30-0677-824B-BDFF-31158D113FD5}" srcOrd="0" destOrd="0" presId="urn:microsoft.com/office/officeart/2005/8/layout/cycle8"/>
    <dgm:cxn modelId="{0C3DD98C-F42C-4015-98EB-1EAC80C0D901}" type="presOf" srcId="{079A362A-FD21-7A4A-845D-0D2320C9E92B}" destId="{BB39FF4E-7176-3D49-9B2F-5ABCC951C184}" srcOrd="0" destOrd="0" presId="urn:microsoft.com/office/officeart/2005/8/layout/cycle8"/>
    <dgm:cxn modelId="{4B19332A-B9E1-4C49-9DA7-CD57A525ACDC}" srcId="{401503B6-F78A-5E45-9D9E-E2436DCFCFCB}" destId="{A1F8E7AE-A021-5A48-B510-E94A47F42271}" srcOrd="0" destOrd="0" parTransId="{59A3F19B-B85D-304B-8FD8-D4B8239AB397}" sibTransId="{1D5B4353-B59A-4F40-A3BD-45951A7B8959}"/>
    <dgm:cxn modelId="{5291BF4E-C9B6-4A38-BA52-F3256972F570}" type="presOf" srcId="{9FD2D509-AFCD-184B-AEE0-E6E8691EF01E}" destId="{ACD0CB70-C6DF-B14E-B5AC-8AA1C7FA7BF0}" srcOrd="1" destOrd="0" presId="urn:microsoft.com/office/officeart/2005/8/layout/cycle8"/>
    <dgm:cxn modelId="{B26E614D-D71A-4AFE-AC5A-278DEC4C5122}" type="presOf" srcId="{933A5D65-37AA-524D-91FB-E0CC25831484}" destId="{CD90AD66-4A6D-8742-8AC5-4F4645D30AE3}" srcOrd="0" destOrd="0" presId="urn:microsoft.com/office/officeart/2005/8/layout/cycle8"/>
    <dgm:cxn modelId="{4A553961-7774-4FFF-96A9-5873963BF2EF}" type="presOf" srcId="{079A362A-FD21-7A4A-845D-0D2320C9E92B}" destId="{82E87739-4866-E843-88BD-FC71E1AF0960}" srcOrd="1" destOrd="0" presId="urn:microsoft.com/office/officeart/2005/8/layout/cycle8"/>
    <dgm:cxn modelId="{1354034E-63DB-45E4-9293-85AE24802E7D}" type="presOf" srcId="{933A5D65-37AA-524D-91FB-E0CC25831484}" destId="{FA7EF5DF-B6CD-B342-9B84-175ED85C7A49}" srcOrd="1" destOrd="0" presId="urn:microsoft.com/office/officeart/2005/8/layout/cycle8"/>
    <dgm:cxn modelId="{376A0067-BD55-452A-85ED-E73D8B14A45D}" type="presParOf" srcId="{7BE8BC58-6039-944A-B5DA-CAFDBBB46C5C}" destId="{25209E30-0677-824B-BDFF-31158D113FD5}" srcOrd="0" destOrd="0" presId="urn:microsoft.com/office/officeart/2005/8/layout/cycle8"/>
    <dgm:cxn modelId="{8B6939CC-DCF4-4530-8792-B55506D7F331}" type="presParOf" srcId="{7BE8BC58-6039-944A-B5DA-CAFDBBB46C5C}" destId="{49AA1443-C96D-724F-B428-FE382F2918E0}" srcOrd="1" destOrd="0" presId="urn:microsoft.com/office/officeart/2005/8/layout/cycle8"/>
    <dgm:cxn modelId="{66F5D67F-B0C2-4F67-8984-A5B0861AD5A4}" type="presParOf" srcId="{7BE8BC58-6039-944A-B5DA-CAFDBBB46C5C}" destId="{AE443A95-6639-9643-8205-5E1BB51184E9}" srcOrd="2" destOrd="0" presId="urn:microsoft.com/office/officeart/2005/8/layout/cycle8"/>
    <dgm:cxn modelId="{992FBD49-9272-437B-8B6F-F9FD3130F308}" type="presParOf" srcId="{7BE8BC58-6039-944A-B5DA-CAFDBBB46C5C}" destId="{A626E86E-59F8-6544-A25B-5D400DEEDBD3}" srcOrd="3" destOrd="0" presId="urn:microsoft.com/office/officeart/2005/8/layout/cycle8"/>
    <dgm:cxn modelId="{46B3B68B-4D07-4BED-A0BC-2F20E5AA6D2E}" type="presParOf" srcId="{7BE8BC58-6039-944A-B5DA-CAFDBBB46C5C}" destId="{9968E0DE-0F06-9145-AE23-DD347E54F413}" srcOrd="4" destOrd="0" presId="urn:microsoft.com/office/officeart/2005/8/layout/cycle8"/>
    <dgm:cxn modelId="{21567CBB-7C6D-440F-BA05-544B0D6DC85D}" type="presParOf" srcId="{7BE8BC58-6039-944A-B5DA-CAFDBBB46C5C}" destId="{016663DB-F61C-DA4B-B2CD-F02CC7C439D1}" srcOrd="5" destOrd="0" presId="urn:microsoft.com/office/officeart/2005/8/layout/cycle8"/>
    <dgm:cxn modelId="{A699CE8E-DF1A-4272-B6EA-4C95765116E7}" type="presParOf" srcId="{7BE8BC58-6039-944A-B5DA-CAFDBBB46C5C}" destId="{191488ED-83B2-0F4A-ADBE-363ACC41F845}" srcOrd="6" destOrd="0" presId="urn:microsoft.com/office/officeart/2005/8/layout/cycle8"/>
    <dgm:cxn modelId="{9CC5142A-B589-4DED-AD83-06A7090E2B9A}" type="presParOf" srcId="{7BE8BC58-6039-944A-B5DA-CAFDBBB46C5C}" destId="{ACD0CB70-C6DF-B14E-B5AC-8AA1C7FA7BF0}" srcOrd="7" destOrd="0" presId="urn:microsoft.com/office/officeart/2005/8/layout/cycle8"/>
    <dgm:cxn modelId="{EDBF0A83-D179-4FBC-ACE5-6EB2CEB6E4D1}" type="presParOf" srcId="{7BE8BC58-6039-944A-B5DA-CAFDBBB46C5C}" destId="{BB39FF4E-7176-3D49-9B2F-5ABCC951C184}" srcOrd="8" destOrd="0" presId="urn:microsoft.com/office/officeart/2005/8/layout/cycle8"/>
    <dgm:cxn modelId="{0A24307D-9B24-443F-A686-9A5D261734D3}" type="presParOf" srcId="{7BE8BC58-6039-944A-B5DA-CAFDBBB46C5C}" destId="{995AF693-9427-044B-A899-2FA31BCF250C}" srcOrd="9" destOrd="0" presId="urn:microsoft.com/office/officeart/2005/8/layout/cycle8"/>
    <dgm:cxn modelId="{D45EA721-8AD5-4CA8-8540-0C1CD064AD97}" type="presParOf" srcId="{7BE8BC58-6039-944A-B5DA-CAFDBBB46C5C}" destId="{579D208D-A8F5-2F4D-8FFD-EE50727C843B}" srcOrd="10" destOrd="0" presId="urn:microsoft.com/office/officeart/2005/8/layout/cycle8"/>
    <dgm:cxn modelId="{8A5E820A-93E5-4132-AA10-74D040CB7F9D}" type="presParOf" srcId="{7BE8BC58-6039-944A-B5DA-CAFDBBB46C5C}" destId="{82E87739-4866-E843-88BD-FC71E1AF0960}" srcOrd="11" destOrd="0" presId="urn:microsoft.com/office/officeart/2005/8/layout/cycle8"/>
    <dgm:cxn modelId="{ED0F9F2B-6948-4648-8695-A199FD98B4E2}" type="presParOf" srcId="{7BE8BC58-6039-944A-B5DA-CAFDBBB46C5C}" destId="{CD90AD66-4A6D-8742-8AC5-4F4645D30AE3}" srcOrd="12" destOrd="0" presId="urn:microsoft.com/office/officeart/2005/8/layout/cycle8"/>
    <dgm:cxn modelId="{4784BEEF-CF26-4E31-B662-3B8F7AE06E12}" type="presParOf" srcId="{7BE8BC58-6039-944A-B5DA-CAFDBBB46C5C}" destId="{D28FB112-783E-1942-9D8A-9D36989D4D38}" srcOrd="13" destOrd="0" presId="urn:microsoft.com/office/officeart/2005/8/layout/cycle8"/>
    <dgm:cxn modelId="{86284B16-8B5B-4FD9-BC39-C584FD89C783}" type="presParOf" srcId="{7BE8BC58-6039-944A-B5DA-CAFDBBB46C5C}" destId="{E4189681-86F5-A14C-981B-166B5D933BEE}" srcOrd="14" destOrd="0" presId="urn:microsoft.com/office/officeart/2005/8/layout/cycle8"/>
    <dgm:cxn modelId="{4FEF12B5-5634-472B-958E-CDB7C2251DD1}" type="presParOf" srcId="{7BE8BC58-6039-944A-B5DA-CAFDBBB46C5C}" destId="{FA7EF5DF-B6CD-B342-9B84-175ED85C7A49}" srcOrd="15" destOrd="0" presId="urn:microsoft.com/office/officeart/2005/8/layout/cycle8"/>
    <dgm:cxn modelId="{25716D73-160E-4794-B939-E736747406B2}" type="presParOf" srcId="{7BE8BC58-6039-944A-B5DA-CAFDBBB46C5C}" destId="{E14D6185-1060-3D4F-BE4A-B83A9E0D8BB8}" srcOrd="16" destOrd="0" presId="urn:microsoft.com/office/officeart/2005/8/layout/cycle8"/>
    <dgm:cxn modelId="{34E99464-1CAD-418E-AFC7-1F7AB408A057}" type="presParOf" srcId="{7BE8BC58-6039-944A-B5DA-CAFDBBB46C5C}" destId="{F900BAD5-4789-664E-BB22-B175B0263DF3}" srcOrd="17" destOrd="0" presId="urn:microsoft.com/office/officeart/2005/8/layout/cycle8"/>
    <dgm:cxn modelId="{FE439D11-CA0E-424C-8C03-689DC43FA856}" type="presParOf" srcId="{7BE8BC58-6039-944A-B5DA-CAFDBBB46C5C}" destId="{CADDBEE6-AAF9-DA44-BA91-0D5F5A288599}" srcOrd="18" destOrd="0" presId="urn:microsoft.com/office/officeart/2005/8/layout/cycle8"/>
    <dgm:cxn modelId="{CF0854D9-1BE5-4837-ADA7-3D029A48D2B1}" type="presParOf" srcId="{7BE8BC58-6039-944A-B5DA-CAFDBBB46C5C}" destId="{B0E00545-4748-8C4E-9746-922DEEBBAD88}" srcOrd="19" destOrd="0" presId="urn:microsoft.com/office/officeart/2005/8/layout/cycle8"/>
    <dgm:cxn modelId="{81ED8B6A-233B-4EB0-A74E-CA407A7A2710}" type="presParOf" srcId="{7BE8BC58-6039-944A-B5DA-CAFDBBB46C5C}" destId="{AB49AD4F-E58A-B74E-9FA6-B508BDBD6071}" srcOrd="20" destOrd="0" presId="urn:microsoft.com/office/officeart/2005/8/layout/cycle8"/>
    <dgm:cxn modelId="{12871A22-204F-4BC5-B173-D759D1F04FFC}" type="presParOf" srcId="{7BE8BC58-6039-944A-B5DA-CAFDBBB46C5C}" destId="{AE433212-B2E7-6D45-BCFB-08BA10D1B5E7}" srcOrd="21" destOrd="0" presId="urn:microsoft.com/office/officeart/2005/8/layout/cycle8"/>
    <dgm:cxn modelId="{03AB934F-3058-45D3-98CA-51B65A32EB46}" type="presParOf" srcId="{7BE8BC58-6039-944A-B5DA-CAFDBBB46C5C}" destId="{8DBE74D3-B632-C84E-AAA7-BF09E439E8B5}" srcOrd="22" destOrd="0" presId="urn:microsoft.com/office/officeart/2005/8/layout/cycle8"/>
    <dgm:cxn modelId="{5C44B0EF-A7D7-4F92-A78A-87E643087EA7}" type="presParOf" srcId="{7BE8BC58-6039-944A-B5DA-CAFDBBB46C5C}" destId="{AF4DB024-483C-7840-A8B9-D2F744BB3357}" srcOrd="23" destOrd="0" presId="urn:microsoft.com/office/officeart/2005/8/layout/cycle8"/>
    <dgm:cxn modelId="{66C80F81-87FC-4D6E-8CEE-36CA24333F1F}" type="presParOf" srcId="{7BE8BC58-6039-944A-B5DA-CAFDBBB46C5C}" destId="{92BC2C1B-9010-8743-AD8B-A03F79596341}" srcOrd="2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44781C0-B05E-FE48-9D27-FFFCCF812F26}" type="doc">
      <dgm:prSet loTypeId="urn:microsoft.com/office/officeart/2005/8/layout/process2" loCatId="process" qsTypeId="urn:microsoft.com/office/officeart/2005/8/quickstyle/3D1" qsCatId="3D" csTypeId="urn:microsoft.com/office/officeart/2005/8/colors/colorful1#2" csCatId="colorful" phldr="1"/>
      <dgm:spPr/>
      <dgm:t>
        <a:bodyPr/>
        <a:lstStyle/>
        <a:p>
          <a:endParaRPr lang="en-US"/>
        </a:p>
      </dgm:t>
    </dgm:pt>
    <dgm:pt modelId="{B0EE8577-62EA-A146-975A-618425996F31}">
      <dgm:prSet phldrT="[Text]" custT="1"/>
      <dgm:spPr/>
      <dgm:t>
        <a:bodyPr/>
        <a:lstStyle/>
        <a:p>
          <a:r>
            <a:rPr lang="en-US" sz="2000" dirty="0" smtClean="0">
              <a:latin typeface="Arial" panose="020B0604020202020204" pitchFamily="34" charset="0"/>
              <a:cs typeface="Arial" panose="020B0604020202020204" pitchFamily="34" charset="0"/>
            </a:rPr>
            <a:t>Founder &amp; CEO</a:t>
          </a:r>
          <a:endParaRPr lang="en-US" sz="2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92934E3-80F1-4349-9D58-0B62A19C8AF7}" type="parTrans" cxnId="{0910CBE1-7138-8443-AD74-83F4056F4DBC}">
      <dgm:prSet/>
      <dgm:spPr/>
      <dgm:t>
        <a:bodyPr/>
        <a:lstStyle/>
        <a:p>
          <a:endParaRPr lang="en-US"/>
        </a:p>
      </dgm:t>
    </dgm:pt>
    <dgm:pt modelId="{23CFCEE6-832F-1849-AC2D-77E674FFD8D4}" type="sibTrans" cxnId="{0910CBE1-7138-8443-AD74-83F4056F4DBC}">
      <dgm:prSet/>
      <dgm:spPr/>
      <dgm:t>
        <a:bodyPr/>
        <a:lstStyle/>
        <a:p>
          <a:endParaRPr lang="en-US"/>
        </a:p>
      </dgm:t>
    </dgm:pt>
    <dgm:pt modelId="{CE047B05-589C-3040-9EFA-DEA5131AAB31}">
      <dgm:prSet phldrT="[Text]" custT="1"/>
      <dgm:spPr/>
      <dgm:t>
        <a:bodyPr/>
        <a:lstStyle/>
        <a:p>
          <a:r>
            <a:rPr lang="en-US" sz="2000" b="0" dirty="0" smtClean="0">
              <a:latin typeface="Arial" panose="020B0604020202020204" pitchFamily="34" charset="0"/>
              <a:cs typeface="Arial" panose="020B0604020202020204" pitchFamily="34" charset="0"/>
            </a:rPr>
            <a:t>Selling a “baby” can be traumatic</a:t>
          </a:r>
          <a:endParaRPr lang="en-US" sz="2000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B009E13-3623-5C46-BF20-51B9E73A738C}" type="parTrans" cxnId="{0FFB88A5-C7BF-8A4C-B759-888E579B6471}">
      <dgm:prSet/>
      <dgm:spPr/>
      <dgm:t>
        <a:bodyPr/>
        <a:lstStyle/>
        <a:p>
          <a:endParaRPr lang="en-US"/>
        </a:p>
      </dgm:t>
    </dgm:pt>
    <dgm:pt modelId="{F9073011-F9D8-CC4A-A1EB-F172F73A1581}" type="sibTrans" cxnId="{0FFB88A5-C7BF-8A4C-B759-888E579B6471}">
      <dgm:prSet/>
      <dgm:spPr/>
      <dgm:t>
        <a:bodyPr/>
        <a:lstStyle/>
        <a:p>
          <a:endParaRPr lang="en-US"/>
        </a:p>
      </dgm:t>
    </dgm:pt>
    <dgm:pt modelId="{EDFFBC39-EE7D-4345-AD84-40FEEE41F9CB}" type="pres">
      <dgm:prSet presAssocID="{544781C0-B05E-FE48-9D27-FFFCCF812F26}" presName="linearFlow" presStyleCnt="0">
        <dgm:presLayoutVars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4C87CC6-4366-A841-9F56-788A3EEB1EA5}" type="pres">
      <dgm:prSet presAssocID="{B0EE8577-62EA-A146-975A-618425996F31}" presName="node" presStyleLbl="node1" presStyleIdx="0" presStyleCnt="2" custLinFactNeighborX="-88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431C37C-30C4-0944-9B35-98CC4BF6B7AC}" type="pres">
      <dgm:prSet presAssocID="{23CFCEE6-832F-1849-AC2D-77E674FFD8D4}" presName="sibTrans" presStyleLbl="sibTrans2D1" presStyleIdx="0" presStyleCnt="1"/>
      <dgm:spPr/>
      <dgm:t>
        <a:bodyPr/>
        <a:lstStyle/>
        <a:p>
          <a:endParaRPr lang="en-US"/>
        </a:p>
      </dgm:t>
    </dgm:pt>
    <dgm:pt modelId="{0BD456A3-FF3F-0248-A1A7-A9C47CA52D29}" type="pres">
      <dgm:prSet presAssocID="{23CFCEE6-832F-1849-AC2D-77E674FFD8D4}" presName="connectorText" presStyleLbl="sibTrans2D1" presStyleIdx="0" presStyleCnt="1"/>
      <dgm:spPr/>
      <dgm:t>
        <a:bodyPr/>
        <a:lstStyle/>
        <a:p>
          <a:endParaRPr lang="en-US"/>
        </a:p>
      </dgm:t>
    </dgm:pt>
    <dgm:pt modelId="{521F9E78-DBC3-E045-8C23-E2A9C097DEA4}" type="pres">
      <dgm:prSet presAssocID="{CE047B05-589C-3040-9EFA-DEA5131AAB31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910CBE1-7138-8443-AD74-83F4056F4DBC}" srcId="{544781C0-B05E-FE48-9D27-FFFCCF812F26}" destId="{B0EE8577-62EA-A146-975A-618425996F31}" srcOrd="0" destOrd="0" parTransId="{092934E3-80F1-4349-9D58-0B62A19C8AF7}" sibTransId="{23CFCEE6-832F-1849-AC2D-77E674FFD8D4}"/>
    <dgm:cxn modelId="{BE27E5CA-DC4F-491F-B00A-32470006C963}" type="presOf" srcId="{CE047B05-589C-3040-9EFA-DEA5131AAB31}" destId="{521F9E78-DBC3-E045-8C23-E2A9C097DEA4}" srcOrd="0" destOrd="0" presId="urn:microsoft.com/office/officeart/2005/8/layout/process2"/>
    <dgm:cxn modelId="{0FFB88A5-C7BF-8A4C-B759-888E579B6471}" srcId="{544781C0-B05E-FE48-9D27-FFFCCF812F26}" destId="{CE047B05-589C-3040-9EFA-DEA5131AAB31}" srcOrd="1" destOrd="0" parTransId="{7B009E13-3623-5C46-BF20-51B9E73A738C}" sibTransId="{F9073011-F9D8-CC4A-A1EB-F172F73A1581}"/>
    <dgm:cxn modelId="{DBED915E-7FD3-49D9-A087-71F1AEAADCB8}" type="presOf" srcId="{23CFCEE6-832F-1849-AC2D-77E674FFD8D4}" destId="{0BD456A3-FF3F-0248-A1A7-A9C47CA52D29}" srcOrd="1" destOrd="0" presId="urn:microsoft.com/office/officeart/2005/8/layout/process2"/>
    <dgm:cxn modelId="{0E4EA0E7-D20B-43A0-A821-C52FDF0B4F02}" type="presOf" srcId="{B0EE8577-62EA-A146-975A-618425996F31}" destId="{84C87CC6-4366-A841-9F56-788A3EEB1EA5}" srcOrd="0" destOrd="0" presId="urn:microsoft.com/office/officeart/2005/8/layout/process2"/>
    <dgm:cxn modelId="{ADB4A2A2-72B6-4E23-B81F-45E6E677E602}" type="presOf" srcId="{544781C0-B05E-FE48-9D27-FFFCCF812F26}" destId="{EDFFBC39-EE7D-4345-AD84-40FEEE41F9CB}" srcOrd="0" destOrd="0" presId="urn:microsoft.com/office/officeart/2005/8/layout/process2"/>
    <dgm:cxn modelId="{8517FE0F-1126-4928-AEC2-66EFA4320646}" type="presOf" srcId="{23CFCEE6-832F-1849-AC2D-77E674FFD8D4}" destId="{F431C37C-30C4-0944-9B35-98CC4BF6B7AC}" srcOrd="0" destOrd="0" presId="urn:microsoft.com/office/officeart/2005/8/layout/process2"/>
    <dgm:cxn modelId="{369665E4-0DF7-47B3-A47C-5BE9F8E7E50E}" type="presParOf" srcId="{EDFFBC39-EE7D-4345-AD84-40FEEE41F9CB}" destId="{84C87CC6-4366-A841-9F56-788A3EEB1EA5}" srcOrd="0" destOrd="0" presId="urn:microsoft.com/office/officeart/2005/8/layout/process2"/>
    <dgm:cxn modelId="{28AC88DB-C8AF-46CE-AB6C-3F4DD36F90E9}" type="presParOf" srcId="{EDFFBC39-EE7D-4345-AD84-40FEEE41F9CB}" destId="{F431C37C-30C4-0944-9B35-98CC4BF6B7AC}" srcOrd="1" destOrd="0" presId="urn:microsoft.com/office/officeart/2005/8/layout/process2"/>
    <dgm:cxn modelId="{4B3F3FEA-645B-4519-8DB0-19B6F3BFC36E}" type="presParOf" srcId="{F431C37C-30C4-0944-9B35-98CC4BF6B7AC}" destId="{0BD456A3-FF3F-0248-A1A7-A9C47CA52D29}" srcOrd="0" destOrd="0" presId="urn:microsoft.com/office/officeart/2005/8/layout/process2"/>
    <dgm:cxn modelId="{89917A9F-3270-4153-A9C6-1EABA4798A22}" type="presParOf" srcId="{EDFFBC39-EE7D-4345-AD84-40FEEE41F9CB}" destId="{521F9E78-DBC3-E045-8C23-E2A9C097DEA4}" srcOrd="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44781C0-B05E-FE48-9D27-FFFCCF812F26}" type="doc">
      <dgm:prSet loTypeId="urn:microsoft.com/office/officeart/2005/8/layout/process2" loCatId="process" qsTypeId="urn:microsoft.com/office/officeart/2005/8/quickstyle/3D1" qsCatId="3D" csTypeId="urn:microsoft.com/office/officeart/2005/8/colors/colorful1#3" csCatId="colorful" phldr="1"/>
      <dgm:spPr/>
      <dgm:t>
        <a:bodyPr/>
        <a:lstStyle/>
        <a:p>
          <a:endParaRPr lang="en-US"/>
        </a:p>
      </dgm:t>
    </dgm:pt>
    <dgm:pt modelId="{B0EE8577-62EA-A146-975A-618425996F31}">
      <dgm:prSet phldrT="[Text]" custT="1"/>
      <dgm:spPr/>
      <dgm:t>
        <a:bodyPr/>
        <a:lstStyle/>
        <a:p>
          <a:r>
            <a:rPr lang="en-US" sz="2000" dirty="0" smtClean="0">
              <a:latin typeface="Arial" panose="020B0604020202020204" pitchFamily="34" charset="0"/>
              <a:cs typeface="Arial" panose="020B0604020202020204" pitchFamily="34" charset="0"/>
            </a:rPr>
            <a:t>Management</a:t>
          </a:r>
          <a:endParaRPr lang="en-US" sz="2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92934E3-80F1-4349-9D58-0B62A19C8AF7}" type="parTrans" cxnId="{0910CBE1-7138-8443-AD74-83F4056F4DBC}">
      <dgm:prSet/>
      <dgm:spPr/>
      <dgm:t>
        <a:bodyPr/>
        <a:lstStyle/>
        <a:p>
          <a:endParaRPr lang="en-US"/>
        </a:p>
      </dgm:t>
    </dgm:pt>
    <dgm:pt modelId="{23CFCEE6-832F-1849-AC2D-77E674FFD8D4}" type="sibTrans" cxnId="{0910CBE1-7138-8443-AD74-83F4056F4DBC}">
      <dgm:prSet/>
      <dgm:spPr/>
      <dgm:t>
        <a:bodyPr/>
        <a:lstStyle/>
        <a:p>
          <a:endParaRPr lang="en-US"/>
        </a:p>
      </dgm:t>
    </dgm:pt>
    <dgm:pt modelId="{CE047B05-589C-3040-9EFA-DEA5131AAB31}">
      <dgm:prSet phldrT="[Text]" custT="1"/>
      <dgm:spPr/>
      <dgm:t>
        <a:bodyPr/>
        <a:lstStyle/>
        <a:p>
          <a:r>
            <a:rPr lang="en-US" sz="2000" b="0" dirty="0" smtClean="0">
              <a:latin typeface="Arial" panose="020B0604020202020204" pitchFamily="34" charset="0"/>
              <a:cs typeface="Arial" panose="020B0604020202020204" pitchFamily="34" charset="0"/>
            </a:rPr>
            <a:t>Executives can stay focused on growing the company</a:t>
          </a:r>
          <a:endParaRPr lang="en-US" sz="2000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B009E13-3623-5C46-BF20-51B9E73A738C}" type="parTrans" cxnId="{0FFB88A5-C7BF-8A4C-B759-888E579B6471}">
      <dgm:prSet/>
      <dgm:spPr/>
      <dgm:t>
        <a:bodyPr/>
        <a:lstStyle/>
        <a:p>
          <a:endParaRPr lang="en-US"/>
        </a:p>
      </dgm:t>
    </dgm:pt>
    <dgm:pt modelId="{F9073011-F9D8-CC4A-A1EB-F172F73A1581}" type="sibTrans" cxnId="{0FFB88A5-C7BF-8A4C-B759-888E579B6471}">
      <dgm:prSet/>
      <dgm:spPr/>
      <dgm:t>
        <a:bodyPr/>
        <a:lstStyle/>
        <a:p>
          <a:endParaRPr lang="en-US"/>
        </a:p>
      </dgm:t>
    </dgm:pt>
    <dgm:pt modelId="{EDFFBC39-EE7D-4345-AD84-40FEEE41F9CB}" type="pres">
      <dgm:prSet presAssocID="{544781C0-B05E-FE48-9D27-FFFCCF812F26}" presName="linearFlow" presStyleCnt="0">
        <dgm:presLayoutVars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4C87CC6-4366-A841-9F56-788A3EEB1EA5}" type="pres">
      <dgm:prSet presAssocID="{B0EE8577-62EA-A146-975A-618425996F31}" presName="node" presStyleLbl="node1" presStyleIdx="0" presStyleCnt="2" custLinFactNeighborX="-88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431C37C-30C4-0944-9B35-98CC4BF6B7AC}" type="pres">
      <dgm:prSet presAssocID="{23CFCEE6-832F-1849-AC2D-77E674FFD8D4}" presName="sibTrans" presStyleLbl="sibTrans2D1" presStyleIdx="0" presStyleCnt="1"/>
      <dgm:spPr/>
      <dgm:t>
        <a:bodyPr/>
        <a:lstStyle/>
        <a:p>
          <a:endParaRPr lang="en-US"/>
        </a:p>
      </dgm:t>
    </dgm:pt>
    <dgm:pt modelId="{0BD456A3-FF3F-0248-A1A7-A9C47CA52D29}" type="pres">
      <dgm:prSet presAssocID="{23CFCEE6-832F-1849-AC2D-77E674FFD8D4}" presName="connectorText" presStyleLbl="sibTrans2D1" presStyleIdx="0" presStyleCnt="1"/>
      <dgm:spPr/>
      <dgm:t>
        <a:bodyPr/>
        <a:lstStyle/>
        <a:p>
          <a:endParaRPr lang="en-US"/>
        </a:p>
      </dgm:t>
    </dgm:pt>
    <dgm:pt modelId="{521F9E78-DBC3-E045-8C23-E2A9C097DEA4}" type="pres">
      <dgm:prSet presAssocID="{CE047B05-589C-3040-9EFA-DEA5131AAB31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D5CCA3B-A742-4D9D-8115-724D34BCA8ED}" type="presOf" srcId="{CE047B05-589C-3040-9EFA-DEA5131AAB31}" destId="{521F9E78-DBC3-E045-8C23-E2A9C097DEA4}" srcOrd="0" destOrd="0" presId="urn:microsoft.com/office/officeart/2005/8/layout/process2"/>
    <dgm:cxn modelId="{EA7CA801-9504-4FE8-87B7-31FF89558DC7}" type="presOf" srcId="{B0EE8577-62EA-A146-975A-618425996F31}" destId="{84C87CC6-4366-A841-9F56-788A3EEB1EA5}" srcOrd="0" destOrd="0" presId="urn:microsoft.com/office/officeart/2005/8/layout/process2"/>
    <dgm:cxn modelId="{FF74516A-54BC-479A-89F8-73188AEF127B}" type="presOf" srcId="{23CFCEE6-832F-1849-AC2D-77E674FFD8D4}" destId="{0BD456A3-FF3F-0248-A1A7-A9C47CA52D29}" srcOrd="1" destOrd="0" presId="urn:microsoft.com/office/officeart/2005/8/layout/process2"/>
    <dgm:cxn modelId="{9580CAF1-5888-4AEF-9F34-B07B5EC41843}" type="presOf" srcId="{544781C0-B05E-FE48-9D27-FFFCCF812F26}" destId="{EDFFBC39-EE7D-4345-AD84-40FEEE41F9CB}" srcOrd="0" destOrd="0" presId="urn:microsoft.com/office/officeart/2005/8/layout/process2"/>
    <dgm:cxn modelId="{0910CBE1-7138-8443-AD74-83F4056F4DBC}" srcId="{544781C0-B05E-FE48-9D27-FFFCCF812F26}" destId="{B0EE8577-62EA-A146-975A-618425996F31}" srcOrd="0" destOrd="0" parTransId="{092934E3-80F1-4349-9D58-0B62A19C8AF7}" sibTransId="{23CFCEE6-832F-1849-AC2D-77E674FFD8D4}"/>
    <dgm:cxn modelId="{7749E479-440A-426F-9ED1-171BF1738D62}" type="presOf" srcId="{23CFCEE6-832F-1849-AC2D-77E674FFD8D4}" destId="{F431C37C-30C4-0944-9B35-98CC4BF6B7AC}" srcOrd="0" destOrd="0" presId="urn:microsoft.com/office/officeart/2005/8/layout/process2"/>
    <dgm:cxn modelId="{0FFB88A5-C7BF-8A4C-B759-888E579B6471}" srcId="{544781C0-B05E-FE48-9D27-FFFCCF812F26}" destId="{CE047B05-589C-3040-9EFA-DEA5131AAB31}" srcOrd="1" destOrd="0" parTransId="{7B009E13-3623-5C46-BF20-51B9E73A738C}" sibTransId="{F9073011-F9D8-CC4A-A1EB-F172F73A1581}"/>
    <dgm:cxn modelId="{BBBB0DF2-8242-42C9-B1F0-007322679B68}" type="presParOf" srcId="{EDFFBC39-EE7D-4345-AD84-40FEEE41F9CB}" destId="{84C87CC6-4366-A841-9F56-788A3EEB1EA5}" srcOrd="0" destOrd="0" presId="urn:microsoft.com/office/officeart/2005/8/layout/process2"/>
    <dgm:cxn modelId="{E187858A-3070-4214-B314-ED6E2E833C9F}" type="presParOf" srcId="{EDFFBC39-EE7D-4345-AD84-40FEEE41F9CB}" destId="{F431C37C-30C4-0944-9B35-98CC4BF6B7AC}" srcOrd="1" destOrd="0" presId="urn:microsoft.com/office/officeart/2005/8/layout/process2"/>
    <dgm:cxn modelId="{716CE096-BFEF-4ADC-8C2A-6C94BD36324F}" type="presParOf" srcId="{F431C37C-30C4-0944-9B35-98CC4BF6B7AC}" destId="{0BD456A3-FF3F-0248-A1A7-A9C47CA52D29}" srcOrd="0" destOrd="0" presId="urn:microsoft.com/office/officeart/2005/8/layout/process2"/>
    <dgm:cxn modelId="{2ADBF5B9-8E02-4E82-B4C1-2860C387F9D9}" type="presParOf" srcId="{EDFFBC39-EE7D-4345-AD84-40FEEE41F9CB}" destId="{521F9E78-DBC3-E045-8C23-E2A9C097DEA4}" srcOrd="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44781C0-B05E-FE48-9D27-FFFCCF812F26}" type="doc">
      <dgm:prSet loTypeId="urn:microsoft.com/office/officeart/2005/8/layout/process2" loCatId="process" qsTypeId="urn:microsoft.com/office/officeart/2005/8/quickstyle/3D1" qsCatId="3D" csTypeId="urn:microsoft.com/office/officeart/2005/8/colors/colorful1#4" csCatId="colorful" phldr="1"/>
      <dgm:spPr/>
      <dgm:t>
        <a:bodyPr/>
        <a:lstStyle/>
        <a:p>
          <a:endParaRPr lang="en-US"/>
        </a:p>
      </dgm:t>
    </dgm:pt>
    <dgm:pt modelId="{B0EE8577-62EA-A146-975A-618425996F31}">
      <dgm:prSet phldrT="[Text]" custT="1"/>
      <dgm:spPr/>
      <dgm:t>
        <a:bodyPr/>
        <a:lstStyle/>
        <a:p>
          <a:r>
            <a:rPr lang="en-US" sz="2000" dirty="0" smtClean="0">
              <a:latin typeface="Arial" panose="020B0604020202020204" pitchFamily="34" charset="0"/>
              <a:cs typeface="Arial" panose="020B0604020202020204" pitchFamily="34" charset="0"/>
            </a:rPr>
            <a:t>Company</a:t>
          </a:r>
          <a:endParaRPr lang="en-US" sz="2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92934E3-80F1-4349-9D58-0B62A19C8AF7}" type="parTrans" cxnId="{0910CBE1-7138-8443-AD74-83F4056F4DBC}">
      <dgm:prSet/>
      <dgm:spPr/>
      <dgm:t>
        <a:bodyPr/>
        <a:lstStyle/>
        <a:p>
          <a:endParaRPr lang="en-US"/>
        </a:p>
      </dgm:t>
    </dgm:pt>
    <dgm:pt modelId="{23CFCEE6-832F-1849-AC2D-77E674FFD8D4}" type="sibTrans" cxnId="{0910CBE1-7138-8443-AD74-83F4056F4DBC}">
      <dgm:prSet/>
      <dgm:spPr/>
      <dgm:t>
        <a:bodyPr/>
        <a:lstStyle/>
        <a:p>
          <a:endParaRPr lang="en-US"/>
        </a:p>
      </dgm:t>
    </dgm:pt>
    <dgm:pt modelId="{CE047B05-589C-3040-9EFA-DEA5131AAB31}">
      <dgm:prSet phldrT="[Text]" custT="1"/>
      <dgm:spPr/>
      <dgm:t>
        <a:bodyPr/>
        <a:lstStyle/>
        <a:p>
          <a:r>
            <a:rPr lang="en-US" sz="2000" b="0" dirty="0" smtClean="0">
              <a:latin typeface="Arial" panose="020B0604020202020204" pitchFamily="34" charset="0"/>
              <a:cs typeface="Arial" panose="020B0604020202020204" pitchFamily="34" charset="0"/>
            </a:rPr>
            <a:t>The buyer usually has deep pockets</a:t>
          </a:r>
          <a:endParaRPr lang="en-US" sz="2000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B009E13-3623-5C46-BF20-51B9E73A738C}" type="parTrans" cxnId="{0FFB88A5-C7BF-8A4C-B759-888E579B6471}">
      <dgm:prSet/>
      <dgm:spPr/>
      <dgm:t>
        <a:bodyPr/>
        <a:lstStyle/>
        <a:p>
          <a:endParaRPr lang="en-US"/>
        </a:p>
      </dgm:t>
    </dgm:pt>
    <dgm:pt modelId="{F9073011-F9D8-CC4A-A1EB-F172F73A1581}" type="sibTrans" cxnId="{0FFB88A5-C7BF-8A4C-B759-888E579B6471}">
      <dgm:prSet/>
      <dgm:spPr/>
      <dgm:t>
        <a:bodyPr/>
        <a:lstStyle/>
        <a:p>
          <a:endParaRPr lang="en-US"/>
        </a:p>
      </dgm:t>
    </dgm:pt>
    <dgm:pt modelId="{EDFFBC39-EE7D-4345-AD84-40FEEE41F9CB}" type="pres">
      <dgm:prSet presAssocID="{544781C0-B05E-FE48-9D27-FFFCCF812F26}" presName="linearFlow" presStyleCnt="0">
        <dgm:presLayoutVars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4C87CC6-4366-A841-9F56-788A3EEB1EA5}" type="pres">
      <dgm:prSet presAssocID="{B0EE8577-62EA-A146-975A-618425996F31}" presName="node" presStyleLbl="node1" presStyleIdx="0" presStyleCnt="2" custLinFactNeighborX="-88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431C37C-30C4-0944-9B35-98CC4BF6B7AC}" type="pres">
      <dgm:prSet presAssocID="{23CFCEE6-832F-1849-AC2D-77E674FFD8D4}" presName="sibTrans" presStyleLbl="sibTrans2D1" presStyleIdx="0" presStyleCnt="1"/>
      <dgm:spPr/>
      <dgm:t>
        <a:bodyPr/>
        <a:lstStyle/>
        <a:p>
          <a:endParaRPr lang="en-US"/>
        </a:p>
      </dgm:t>
    </dgm:pt>
    <dgm:pt modelId="{0BD456A3-FF3F-0248-A1A7-A9C47CA52D29}" type="pres">
      <dgm:prSet presAssocID="{23CFCEE6-832F-1849-AC2D-77E674FFD8D4}" presName="connectorText" presStyleLbl="sibTrans2D1" presStyleIdx="0" presStyleCnt="1"/>
      <dgm:spPr/>
      <dgm:t>
        <a:bodyPr/>
        <a:lstStyle/>
        <a:p>
          <a:endParaRPr lang="en-US"/>
        </a:p>
      </dgm:t>
    </dgm:pt>
    <dgm:pt modelId="{521F9E78-DBC3-E045-8C23-E2A9C097DEA4}" type="pres">
      <dgm:prSet presAssocID="{CE047B05-589C-3040-9EFA-DEA5131AAB31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45D0FA5-58F5-41A3-8980-E396CFCEAB8D}" type="presOf" srcId="{23CFCEE6-832F-1849-AC2D-77E674FFD8D4}" destId="{F431C37C-30C4-0944-9B35-98CC4BF6B7AC}" srcOrd="0" destOrd="0" presId="urn:microsoft.com/office/officeart/2005/8/layout/process2"/>
    <dgm:cxn modelId="{AE19C619-D7C2-4425-8727-CF6AA1379C43}" type="presOf" srcId="{CE047B05-589C-3040-9EFA-DEA5131AAB31}" destId="{521F9E78-DBC3-E045-8C23-E2A9C097DEA4}" srcOrd="0" destOrd="0" presId="urn:microsoft.com/office/officeart/2005/8/layout/process2"/>
    <dgm:cxn modelId="{C38E840D-78C8-49DA-AFB2-0002394F1C69}" type="presOf" srcId="{544781C0-B05E-FE48-9D27-FFFCCF812F26}" destId="{EDFFBC39-EE7D-4345-AD84-40FEEE41F9CB}" srcOrd="0" destOrd="0" presId="urn:microsoft.com/office/officeart/2005/8/layout/process2"/>
    <dgm:cxn modelId="{14A60463-1236-42F8-B388-A138667726D4}" type="presOf" srcId="{B0EE8577-62EA-A146-975A-618425996F31}" destId="{84C87CC6-4366-A841-9F56-788A3EEB1EA5}" srcOrd="0" destOrd="0" presId="urn:microsoft.com/office/officeart/2005/8/layout/process2"/>
    <dgm:cxn modelId="{0910CBE1-7138-8443-AD74-83F4056F4DBC}" srcId="{544781C0-B05E-FE48-9D27-FFFCCF812F26}" destId="{B0EE8577-62EA-A146-975A-618425996F31}" srcOrd="0" destOrd="0" parTransId="{092934E3-80F1-4349-9D58-0B62A19C8AF7}" sibTransId="{23CFCEE6-832F-1849-AC2D-77E674FFD8D4}"/>
    <dgm:cxn modelId="{5B7CB2CA-2D67-41CA-81F1-995F47DE68B0}" type="presOf" srcId="{23CFCEE6-832F-1849-AC2D-77E674FFD8D4}" destId="{0BD456A3-FF3F-0248-A1A7-A9C47CA52D29}" srcOrd="1" destOrd="0" presId="urn:microsoft.com/office/officeart/2005/8/layout/process2"/>
    <dgm:cxn modelId="{0FFB88A5-C7BF-8A4C-B759-888E579B6471}" srcId="{544781C0-B05E-FE48-9D27-FFFCCF812F26}" destId="{CE047B05-589C-3040-9EFA-DEA5131AAB31}" srcOrd="1" destOrd="0" parTransId="{7B009E13-3623-5C46-BF20-51B9E73A738C}" sibTransId="{F9073011-F9D8-CC4A-A1EB-F172F73A1581}"/>
    <dgm:cxn modelId="{2935A1EE-EC6D-4CAF-8AFA-C846D8100CAE}" type="presParOf" srcId="{EDFFBC39-EE7D-4345-AD84-40FEEE41F9CB}" destId="{84C87CC6-4366-A841-9F56-788A3EEB1EA5}" srcOrd="0" destOrd="0" presId="urn:microsoft.com/office/officeart/2005/8/layout/process2"/>
    <dgm:cxn modelId="{BE644698-244E-4850-A27E-2B7D09F3AD47}" type="presParOf" srcId="{EDFFBC39-EE7D-4345-AD84-40FEEE41F9CB}" destId="{F431C37C-30C4-0944-9B35-98CC4BF6B7AC}" srcOrd="1" destOrd="0" presId="urn:microsoft.com/office/officeart/2005/8/layout/process2"/>
    <dgm:cxn modelId="{EE27B626-123D-425E-A633-99959C926424}" type="presParOf" srcId="{F431C37C-30C4-0944-9B35-98CC4BF6B7AC}" destId="{0BD456A3-FF3F-0248-A1A7-A9C47CA52D29}" srcOrd="0" destOrd="0" presId="urn:microsoft.com/office/officeart/2005/8/layout/process2"/>
    <dgm:cxn modelId="{D9600322-1C0C-4BE3-BAE5-625928BA643A}" type="presParOf" srcId="{EDFFBC39-EE7D-4345-AD84-40FEEE41F9CB}" destId="{521F9E78-DBC3-E045-8C23-E2A9C097DEA4}" srcOrd="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44781C0-B05E-FE48-9D27-FFFCCF812F26}" type="doc">
      <dgm:prSet loTypeId="urn:microsoft.com/office/officeart/2005/8/layout/process2" loCatId="process" qsTypeId="urn:microsoft.com/office/officeart/2005/8/quickstyle/3D1" qsCatId="3D" csTypeId="urn:microsoft.com/office/officeart/2005/8/colors/colorful1#5" csCatId="colorful" phldr="1"/>
      <dgm:spPr/>
      <dgm:t>
        <a:bodyPr/>
        <a:lstStyle/>
        <a:p>
          <a:endParaRPr lang="en-US"/>
        </a:p>
      </dgm:t>
    </dgm:pt>
    <dgm:pt modelId="{B0EE8577-62EA-A146-975A-618425996F31}">
      <dgm:prSet phldrT="[Text]" custT="1"/>
      <dgm:spPr/>
      <dgm:t>
        <a:bodyPr/>
        <a:lstStyle/>
        <a:p>
          <a:r>
            <a:rPr lang="en-US" sz="2000" dirty="0" smtClean="0">
              <a:latin typeface="Arial" panose="020B0604020202020204" pitchFamily="34" charset="0"/>
              <a:cs typeface="Arial" panose="020B0604020202020204" pitchFamily="34" charset="0"/>
            </a:rPr>
            <a:t>Investors</a:t>
          </a:r>
          <a:endParaRPr lang="en-US" sz="2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92934E3-80F1-4349-9D58-0B62A19C8AF7}" type="parTrans" cxnId="{0910CBE1-7138-8443-AD74-83F4056F4DBC}">
      <dgm:prSet/>
      <dgm:spPr/>
      <dgm:t>
        <a:bodyPr/>
        <a:lstStyle/>
        <a:p>
          <a:endParaRPr lang="en-US"/>
        </a:p>
      </dgm:t>
    </dgm:pt>
    <dgm:pt modelId="{23CFCEE6-832F-1849-AC2D-77E674FFD8D4}" type="sibTrans" cxnId="{0910CBE1-7138-8443-AD74-83F4056F4DBC}">
      <dgm:prSet/>
      <dgm:spPr/>
      <dgm:t>
        <a:bodyPr/>
        <a:lstStyle/>
        <a:p>
          <a:endParaRPr lang="en-US"/>
        </a:p>
      </dgm:t>
    </dgm:pt>
    <dgm:pt modelId="{CE047B05-589C-3040-9EFA-DEA5131AAB31}">
      <dgm:prSet phldrT="[Text]" custT="1"/>
      <dgm:spPr/>
      <dgm:t>
        <a:bodyPr/>
        <a:lstStyle/>
        <a:p>
          <a:r>
            <a:rPr lang="en-US" sz="2000" b="0" dirty="0" smtClean="0">
              <a:latin typeface="Arial" panose="020B0604020202020204" pitchFamily="34" charset="0"/>
              <a:cs typeface="Arial" panose="020B0604020202020204" pitchFamily="34" charset="0"/>
            </a:rPr>
            <a:t>Investors easily exit their investment</a:t>
          </a:r>
          <a:endParaRPr lang="en-US" sz="2000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B009E13-3623-5C46-BF20-51B9E73A738C}" type="parTrans" cxnId="{0FFB88A5-C7BF-8A4C-B759-888E579B6471}">
      <dgm:prSet/>
      <dgm:spPr/>
      <dgm:t>
        <a:bodyPr/>
        <a:lstStyle/>
        <a:p>
          <a:endParaRPr lang="en-US"/>
        </a:p>
      </dgm:t>
    </dgm:pt>
    <dgm:pt modelId="{F9073011-F9D8-CC4A-A1EB-F172F73A1581}" type="sibTrans" cxnId="{0FFB88A5-C7BF-8A4C-B759-888E579B6471}">
      <dgm:prSet/>
      <dgm:spPr/>
      <dgm:t>
        <a:bodyPr/>
        <a:lstStyle/>
        <a:p>
          <a:endParaRPr lang="en-US"/>
        </a:p>
      </dgm:t>
    </dgm:pt>
    <dgm:pt modelId="{EDFFBC39-EE7D-4345-AD84-40FEEE41F9CB}" type="pres">
      <dgm:prSet presAssocID="{544781C0-B05E-FE48-9D27-FFFCCF812F26}" presName="linearFlow" presStyleCnt="0">
        <dgm:presLayoutVars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4C87CC6-4366-A841-9F56-788A3EEB1EA5}" type="pres">
      <dgm:prSet presAssocID="{B0EE8577-62EA-A146-975A-618425996F31}" presName="node" presStyleLbl="node1" presStyleIdx="0" presStyleCnt="2" custLinFactNeighborX="-88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431C37C-30C4-0944-9B35-98CC4BF6B7AC}" type="pres">
      <dgm:prSet presAssocID="{23CFCEE6-832F-1849-AC2D-77E674FFD8D4}" presName="sibTrans" presStyleLbl="sibTrans2D1" presStyleIdx="0" presStyleCnt="1"/>
      <dgm:spPr/>
      <dgm:t>
        <a:bodyPr/>
        <a:lstStyle/>
        <a:p>
          <a:endParaRPr lang="en-US"/>
        </a:p>
      </dgm:t>
    </dgm:pt>
    <dgm:pt modelId="{0BD456A3-FF3F-0248-A1A7-A9C47CA52D29}" type="pres">
      <dgm:prSet presAssocID="{23CFCEE6-832F-1849-AC2D-77E674FFD8D4}" presName="connectorText" presStyleLbl="sibTrans2D1" presStyleIdx="0" presStyleCnt="1"/>
      <dgm:spPr/>
      <dgm:t>
        <a:bodyPr/>
        <a:lstStyle/>
        <a:p>
          <a:endParaRPr lang="en-US"/>
        </a:p>
      </dgm:t>
    </dgm:pt>
    <dgm:pt modelId="{521F9E78-DBC3-E045-8C23-E2A9C097DEA4}" type="pres">
      <dgm:prSet presAssocID="{CE047B05-589C-3040-9EFA-DEA5131AAB31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910CBE1-7138-8443-AD74-83F4056F4DBC}" srcId="{544781C0-B05E-FE48-9D27-FFFCCF812F26}" destId="{B0EE8577-62EA-A146-975A-618425996F31}" srcOrd="0" destOrd="0" parTransId="{092934E3-80F1-4349-9D58-0B62A19C8AF7}" sibTransId="{23CFCEE6-832F-1849-AC2D-77E674FFD8D4}"/>
    <dgm:cxn modelId="{0FFB88A5-C7BF-8A4C-B759-888E579B6471}" srcId="{544781C0-B05E-FE48-9D27-FFFCCF812F26}" destId="{CE047B05-589C-3040-9EFA-DEA5131AAB31}" srcOrd="1" destOrd="0" parTransId="{7B009E13-3623-5C46-BF20-51B9E73A738C}" sibTransId="{F9073011-F9D8-CC4A-A1EB-F172F73A1581}"/>
    <dgm:cxn modelId="{B70E6462-C9EC-4E70-8437-25A7FBCB6BD9}" type="presOf" srcId="{23CFCEE6-832F-1849-AC2D-77E674FFD8D4}" destId="{0BD456A3-FF3F-0248-A1A7-A9C47CA52D29}" srcOrd="1" destOrd="0" presId="urn:microsoft.com/office/officeart/2005/8/layout/process2"/>
    <dgm:cxn modelId="{B2899E5E-C111-413A-90F4-EDE5A132877A}" type="presOf" srcId="{CE047B05-589C-3040-9EFA-DEA5131AAB31}" destId="{521F9E78-DBC3-E045-8C23-E2A9C097DEA4}" srcOrd="0" destOrd="0" presId="urn:microsoft.com/office/officeart/2005/8/layout/process2"/>
    <dgm:cxn modelId="{0799D38D-36A2-4999-882A-433FFC86C032}" type="presOf" srcId="{B0EE8577-62EA-A146-975A-618425996F31}" destId="{84C87CC6-4366-A841-9F56-788A3EEB1EA5}" srcOrd="0" destOrd="0" presId="urn:microsoft.com/office/officeart/2005/8/layout/process2"/>
    <dgm:cxn modelId="{89A06589-8367-4DD7-BA21-E68BB20A1D6D}" type="presOf" srcId="{23CFCEE6-832F-1849-AC2D-77E674FFD8D4}" destId="{F431C37C-30C4-0944-9B35-98CC4BF6B7AC}" srcOrd="0" destOrd="0" presId="urn:microsoft.com/office/officeart/2005/8/layout/process2"/>
    <dgm:cxn modelId="{FC28A54E-8948-4095-9AC7-3AD4E3720E6F}" type="presOf" srcId="{544781C0-B05E-FE48-9D27-FFFCCF812F26}" destId="{EDFFBC39-EE7D-4345-AD84-40FEEE41F9CB}" srcOrd="0" destOrd="0" presId="urn:microsoft.com/office/officeart/2005/8/layout/process2"/>
    <dgm:cxn modelId="{21486887-6130-40BE-99A2-57DD005AF117}" type="presParOf" srcId="{EDFFBC39-EE7D-4345-AD84-40FEEE41F9CB}" destId="{84C87CC6-4366-A841-9F56-788A3EEB1EA5}" srcOrd="0" destOrd="0" presId="urn:microsoft.com/office/officeart/2005/8/layout/process2"/>
    <dgm:cxn modelId="{E8F90D22-D501-4C58-B5EB-F3A7EEF0371F}" type="presParOf" srcId="{EDFFBC39-EE7D-4345-AD84-40FEEE41F9CB}" destId="{F431C37C-30C4-0944-9B35-98CC4BF6B7AC}" srcOrd="1" destOrd="0" presId="urn:microsoft.com/office/officeart/2005/8/layout/process2"/>
    <dgm:cxn modelId="{0B972273-296D-4505-9941-27D3C647B29B}" type="presParOf" srcId="{F431C37C-30C4-0944-9B35-98CC4BF6B7AC}" destId="{0BD456A3-FF3F-0248-A1A7-A9C47CA52D29}" srcOrd="0" destOrd="0" presId="urn:microsoft.com/office/officeart/2005/8/layout/process2"/>
    <dgm:cxn modelId="{AE6684BB-78EF-48E5-8667-1E69851C3BB9}" type="presParOf" srcId="{EDFFBC39-EE7D-4345-AD84-40FEEE41F9CB}" destId="{521F9E78-DBC3-E045-8C23-E2A9C097DEA4}" srcOrd="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44781C0-B05E-FE48-9D27-FFFCCF812F26}" type="doc">
      <dgm:prSet loTypeId="urn:microsoft.com/office/officeart/2005/8/layout/process2" loCatId="process" qsTypeId="urn:microsoft.com/office/officeart/2005/8/quickstyle/3D1" qsCatId="3D" csTypeId="urn:microsoft.com/office/officeart/2005/8/colors/colorful1#6" csCatId="colorful" phldr="1"/>
      <dgm:spPr/>
      <dgm:t>
        <a:bodyPr/>
        <a:lstStyle/>
        <a:p>
          <a:endParaRPr lang="en-US"/>
        </a:p>
      </dgm:t>
    </dgm:pt>
    <dgm:pt modelId="{B0EE8577-62EA-A146-975A-618425996F31}">
      <dgm:prSet phldrT="[Text]" custT="1"/>
      <dgm:spPr/>
      <dgm:t>
        <a:bodyPr/>
        <a:lstStyle/>
        <a:p>
          <a:r>
            <a:rPr lang="en-US" sz="2000" dirty="0" smtClean="0">
              <a:latin typeface="Arial" panose="020B0604020202020204" pitchFamily="34" charset="0"/>
              <a:cs typeface="Arial" panose="020B0604020202020204" pitchFamily="34" charset="0"/>
            </a:rPr>
            <a:t>Converting Stock</a:t>
          </a:r>
          <a:endParaRPr lang="en-US" sz="2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92934E3-80F1-4349-9D58-0B62A19C8AF7}" type="parTrans" cxnId="{0910CBE1-7138-8443-AD74-83F4056F4DBC}">
      <dgm:prSet/>
      <dgm:spPr/>
      <dgm:t>
        <a:bodyPr/>
        <a:lstStyle/>
        <a:p>
          <a:endParaRPr lang="en-US"/>
        </a:p>
      </dgm:t>
    </dgm:pt>
    <dgm:pt modelId="{23CFCEE6-832F-1849-AC2D-77E674FFD8D4}" type="sibTrans" cxnId="{0910CBE1-7138-8443-AD74-83F4056F4DBC}">
      <dgm:prSet/>
      <dgm:spPr/>
      <dgm:t>
        <a:bodyPr/>
        <a:lstStyle/>
        <a:p>
          <a:endParaRPr lang="en-US"/>
        </a:p>
      </dgm:t>
    </dgm:pt>
    <dgm:pt modelId="{CE047B05-589C-3040-9EFA-DEA5131AAB31}">
      <dgm:prSet phldrT="[Text]" custT="1"/>
      <dgm:spPr/>
      <dgm:t>
        <a:bodyPr/>
        <a:lstStyle/>
        <a:p>
          <a:r>
            <a:rPr lang="en-US" sz="2000" b="0" dirty="0" smtClean="0">
              <a:latin typeface="Arial" panose="020B0604020202020204" pitchFamily="34" charset="0"/>
              <a:cs typeface="Arial" panose="020B0604020202020204" pitchFamily="34" charset="0"/>
            </a:rPr>
            <a:t>Entrepreneur &amp; employees get cash right away</a:t>
          </a:r>
          <a:endParaRPr lang="en-US" sz="2000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B009E13-3623-5C46-BF20-51B9E73A738C}" type="parTrans" cxnId="{0FFB88A5-C7BF-8A4C-B759-888E579B6471}">
      <dgm:prSet/>
      <dgm:spPr/>
      <dgm:t>
        <a:bodyPr/>
        <a:lstStyle/>
        <a:p>
          <a:endParaRPr lang="en-US"/>
        </a:p>
      </dgm:t>
    </dgm:pt>
    <dgm:pt modelId="{F9073011-F9D8-CC4A-A1EB-F172F73A1581}" type="sibTrans" cxnId="{0FFB88A5-C7BF-8A4C-B759-888E579B6471}">
      <dgm:prSet/>
      <dgm:spPr/>
      <dgm:t>
        <a:bodyPr/>
        <a:lstStyle/>
        <a:p>
          <a:endParaRPr lang="en-US"/>
        </a:p>
      </dgm:t>
    </dgm:pt>
    <dgm:pt modelId="{EDFFBC39-EE7D-4345-AD84-40FEEE41F9CB}" type="pres">
      <dgm:prSet presAssocID="{544781C0-B05E-FE48-9D27-FFFCCF812F26}" presName="linearFlow" presStyleCnt="0">
        <dgm:presLayoutVars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4C87CC6-4366-A841-9F56-788A3EEB1EA5}" type="pres">
      <dgm:prSet presAssocID="{B0EE8577-62EA-A146-975A-618425996F31}" presName="node" presStyleLbl="node1" presStyleIdx="0" presStyleCnt="2" custLinFactNeighborX="-88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431C37C-30C4-0944-9B35-98CC4BF6B7AC}" type="pres">
      <dgm:prSet presAssocID="{23CFCEE6-832F-1849-AC2D-77E674FFD8D4}" presName="sibTrans" presStyleLbl="sibTrans2D1" presStyleIdx="0" presStyleCnt="1"/>
      <dgm:spPr/>
      <dgm:t>
        <a:bodyPr/>
        <a:lstStyle/>
        <a:p>
          <a:endParaRPr lang="en-US"/>
        </a:p>
      </dgm:t>
    </dgm:pt>
    <dgm:pt modelId="{0BD456A3-FF3F-0248-A1A7-A9C47CA52D29}" type="pres">
      <dgm:prSet presAssocID="{23CFCEE6-832F-1849-AC2D-77E674FFD8D4}" presName="connectorText" presStyleLbl="sibTrans2D1" presStyleIdx="0" presStyleCnt="1"/>
      <dgm:spPr/>
      <dgm:t>
        <a:bodyPr/>
        <a:lstStyle/>
        <a:p>
          <a:endParaRPr lang="en-US"/>
        </a:p>
      </dgm:t>
    </dgm:pt>
    <dgm:pt modelId="{521F9E78-DBC3-E045-8C23-E2A9C097DEA4}" type="pres">
      <dgm:prSet presAssocID="{CE047B05-589C-3040-9EFA-DEA5131AAB31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DFC3F19-D35B-4C9D-A024-B95975E42174}" type="presOf" srcId="{B0EE8577-62EA-A146-975A-618425996F31}" destId="{84C87CC6-4366-A841-9F56-788A3EEB1EA5}" srcOrd="0" destOrd="0" presId="urn:microsoft.com/office/officeart/2005/8/layout/process2"/>
    <dgm:cxn modelId="{DAD45F32-998A-45A9-97CD-11DFE1DFC1BC}" type="presOf" srcId="{CE047B05-589C-3040-9EFA-DEA5131AAB31}" destId="{521F9E78-DBC3-E045-8C23-E2A9C097DEA4}" srcOrd="0" destOrd="0" presId="urn:microsoft.com/office/officeart/2005/8/layout/process2"/>
    <dgm:cxn modelId="{7DDF62CA-6C2C-47CC-BEE1-BECBCE2F316B}" type="presOf" srcId="{23CFCEE6-832F-1849-AC2D-77E674FFD8D4}" destId="{F431C37C-30C4-0944-9B35-98CC4BF6B7AC}" srcOrd="0" destOrd="0" presId="urn:microsoft.com/office/officeart/2005/8/layout/process2"/>
    <dgm:cxn modelId="{0910CBE1-7138-8443-AD74-83F4056F4DBC}" srcId="{544781C0-B05E-FE48-9D27-FFFCCF812F26}" destId="{B0EE8577-62EA-A146-975A-618425996F31}" srcOrd="0" destOrd="0" parTransId="{092934E3-80F1-4349-9D58-0B62A19C8AF7}" sibTransId="{23CFCEE6-832F-1849-AC2D-77E674FFD8D4}"/>
    <dgm:cxn modelId="{93D05FBB-8C94-4A0E-80C7-A5BA3A9E31A8}" type="presOf" srcId="{23CFCEE6-832F-1849-AC2D-77E674FFD8D4}" destId="{0BD456A3-FF3F-0248-A1A7-A9C47CA52D29}" srcOrd="1" destOrd="0" presId="urn:microsoft.com/office/officeart/2005/8/layout/process2"/>
    <dgm:cxn modelId="{DAED391E-154D-4D67-9BF6-3998B60E534D}" type="presOf" srcId="{544781C0-B05E-FE48-9D27-FFFCCF812F26}" destId="{EDFFBC39-EE7D-4345-AD84-40FEEE41F9CB}" srcOrd="0" destOrd="0" presId="urn:microsoft.com/office/officeart/2005/8/layout/process2"/>
    <dgm:cxn modelId="{0FFB88A5-C7BF-8A4C-B759-888E579B6471}" srcId="{544781C0-B05E-FE48-9D27-FFFCCF812F26}" destId="{CE047B05-589C-3040-9EFA-DEA5131AAB31}" srcOrd="1" destOrd="0" parTransId="{7B009E13-3623-5C46-BF20-51B9E73A738C}" sibTransId="{F9073011-F9D8-CC4A-A1EB-F172F73A1581}"/>
    <dgm:cxn modelId="{046568D9-6A80-4AAE-9071-10D97636DAE3}" type="presParOf" srcId="{EDFFBC39-EE7D-4345-AD84-40FEEE41F9CB}" destId="{84C87CC6-4366-A841-9F56-788A3EEB1EA5}" srcOrd="0" destOrd="0" presId="urn:microsoft.com/office/officeart/2005/8/layout/process2"/>
    <dgm:cxn modelId="{F6A7DA67-B000-4FB8-B7BF-CA413B91B9D1}" type="presParOf" srcId="{EDFFBC39-EE7D-4345-AD84-40FEEE41F9CB}" destId="{F431C37C-30C4-0944-9B35-98CC4BF6B7AC}" srcOrd="1" destOrd="0" presId="urn:microsoft.com/office/officeart/2005/8/layout/process2"/>
    <dgm:cxn modelId="{5B071E37-33D2-46AC-858A-908FE4890324}" type="presParOf" srcId="{F431C37C-30C4-0944-9B35-98CC4BF6B7AC}" destId="{0BD456A3-FF3F-0248-A1A7-A9C47CA52D29}" srcOrd="0" destOrd="0" presId="urn:microsoft.com/office/officeart/2005/8/layout/process2"/>
    <dgm:cxn modelId="{EB55B46C-B7E8-45B0-A924-542A9BFE37D5}" type="presParOf" srcId="{EDFFBC39-EE7D-4345-AD84-40FEEE41F9CB}" destId="{521F9E78-DBC3-E045-8C23-E2A9C097DEA4}" srcOrd="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44781C0-B05E-FE48-9D27-FFFCCF812F26}" type="doc">
      <dgm:prSet loTypeId="urn:microsoft.com/office/officeart/2005/8/layout/process2" loCatId="process" qsTypeId="urn:microsoft.com/office/officeart/2005/8/quickstyle/3D1" qsCatId="3D" csTypeId="urn:microsoft.com/office/officeart/2005/8/colors/colorful1#7" csCatId="colorful" phldr="1"/>
      <dgm:spPr/>
      <dgm:t>
        <a:bodyPr/>
        <a:lstStyle/>
        <a:p>
          <a:endParaRPr lang="en-US"/>
        </a:p>
      </dgm:t>
    </dgm:pt>
    <dgm:pt modelId="{B0EE8577-62EA-A146-975A-618425996F31}">
      <dgm:prSet phldrT="[Text]" custT="1"/>
      <dgm:spPr/>
      <dgm:t>
        <a:bodyPr/>
        <a:lstStyle/>
        <a:p>
          <a:r>
            <a:rPr lang="en-US" sz="2000" dirty="0" smtClean="0">
              <a:latin typeface="Arial" panose="020B0604020202020204" pitchFamily="34" charset="0"/>
              <a:cs typeface="Arial" panose="020B0604020202020204" pitchFamily="34" charset="0"/>
            </a:rPr>
            <a:t>Culture</a:t>
          </a:r>
          <a:endParaRPr lang="en-US" sz="2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92934E3-80F1-4349-9D58-0B62A19C8AF7}" type="parTrans" cxnId="{0910CBE1-7138-8443-AD74-83F4056F4DBC}">
      <dgm:prSet/>
      <dgm:spPr/>
      <dgm:t>
        <a:bodyPr/>
        <a:lstStyle/>
        <a:p>
          <a:endParaRPr lang="en-US"/>
        </a:p>
      </dgm:t>
    </dgm:pt>
    <dgm:pt modelId="{23CFCEE6-832F-1849-AC2D-77E674FFD8D4}" type="sibTrans" cxnId="{0910CBE1-7138-8443-AD74-83F4056F4DBC}">
      <dgm:prSet/>
      <dgm:spPr/>
      <dgm:t>
        <a:bodyPr/>
        <a:lstStyle/>
        <a:p>
          <a:endParaRPr lang="en-US"/>
        </a:p>
      </dgm:t>
    </dgm:pt>
    <dgm:pt modelId="{CE047B05-589C-3040-9EFA-DEA5131AAB31}">
      <dgm:prSet phldrT="[Text]" custT="1"/>
      <dgm:spPr/>
      <dgm:t>
        <a:bodyPr/>
        <a:lstStyle/>
        <a:p>
          <a:r>
            <a:rPr lang="en-US" sz="2000" b="0" dirty="0" smtClean="0">
              <a:latin typeface="Arial" panose="020B0604020202020204" pitchFamily="34" charset="0"/>
              <a:cs typeface="Arial" panose="020B0604020202020204" pitchFamily="34" charset="0"/>
            </a:rPr>
            <a:t>Could be a clash of cultures</a:t>
          </a:r>
          <a:endParaRPr lang="en-US" sz="2000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B009E13-3623-5C46-BF20-51B9E73A738C}" type="parTrans" cxnId="{0FFB88A5-C7BF-8A4C-B759-888E579B6471}">
      <dgm:prSet/>
      <dgm:spPr/>
      <dgm:t>
        <a:bodyPr/>
        <a:lstStyle/>
        <a:p>
          <a:endParaRPr lang="en-US"/>
        </a:p>
      </dgm:t>
    </dgm:pt>
    <dgm:pt modelId="{F9073011-F9D8-CC4A-A1EB-F172F73A1581}" type="sibTrans" cxnId="{0FFB88A5-C7BF-8A4C-B759-888E579B6471}">
      <dgm:prSet/>
      <dgm:spPr/>
      <dgm:t>
        <a:bodyPr/>
        <a:lstStyle/>
        <a:p>
          <a:endParaRPr lang="en-US"/>
        </a:p>
      </dgm:t>
    </dgm:pt>
    <dgm:pt modelId="{EDFFBC39-EE7D-4345-AD84-40FEEE41F9CB}" type="pres">
      <dgm:prSet presAssocID="{544781C0-B05E-FE48-9D27-FFFCCF812F26}" presName="linearFlow" presStyleCnt="0">
        <dgm:presLayoutVars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4C87CC6-4366-A841-9F56-788A3EEB1EA5}" type="pres">
      <dgm:prSet presAssocID="{B0EE8577-62EA-A146-975A-618425996F31}" presName="node" presStyleLbl="node1" presStyleIdx="0" presStyleCnt="2" custLinFactNeighborY="-233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431C37C-30C4-0944-9B35-98CC4BF6B7AC}" type="pres">
      <dgm:prSet presAssocID="{23CFCEE6-832F-1849-AC2D-77E674FFD8D4}" presName="sibTrans" presStyleLbl="sibTrans2D1" presStyleIdx="0" presStyleCnt="1"/>
      <dgm:spPr/>
      <dgm:t>
        <a:bodyPr/>
        <a:lstStyle/>
        <a:p>
          <a:endParaRPr lang="en-US"/>
        </a:p>
      </dgm:t>
    </dgm:pt>
    <dgm:pt modelId="{0BD456A3-FF3F-0248-A1A7-A9C47CA52D29}" type="pres">
      <dgm:prSet presAssocID="{23CFCEE6-832F-1849-AC2D-77E674FFD8D4}" presName="connectorText" presStyleLbl="sibTrans2D1" presStyleIdx="0" presStyleCnt="1"/>
      <dgm:spPr/>
      <dgm:t>
        <a:bodyPr/>
        <a:lstStyle/>
        <a:p>
          <a:endParaRPr lang="en-US"/>
        </a:p>
      </dgm:t>
    </dgm:pt>
    <dgm:pt modelId="{521F9E78-DBC3-E045-8C23-E2A9C097DEA4}" type="pres">
      <dgm:prSet presAssocID="{CE047B05-589C-3040-9EFA-DEA5131AAB31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910CBE1-7138-8443-AD74-83F4056F4DBC}" srcId="{544781C0-B05E-FE48-9D27-FFFCCF812F26}" destId="{B0EE8577-62EA-A146-975A-618425996F31}" srcOrd="0" destOrd="0" parTransId="{092934E3-80F1-4349-9D58-0B62A19C8AF7}" sibTransId="{23CFCEE6-832F-1849-AC2D-77E674FFD8D4}"/>
    <dgm:cxn modelId="{0FFB88A5-C7BF-8A4C-B759-888E579B6471}" srcId="{544781C0-B05E-FE48-9D27-FFFCCF812F26}" destId="{CE047B05-589C-3040-9EFA-DEA5131AAB31}" srcOrd="1" destOrd="0" parTransId="{7B009E13-3623-5C46-BF20-51B9E73A738C}" sibTransId="{F9073011-F9D8-CC4A-A1EB-F172F73A1581}"/>
    <dgm:cxn modelId="{1640D4D8-FECE-40E3-AF09-E5AA4A426D16}" type="presOf" srcId="{544781C0-B05E-FE48-9D27-FFFCCF812F26}" destId="{EDFFBC39-EE7D-4345-AD84-40FEEE41F9CB}" srcOrd="0" destOrd="0" presId="urn:microsoft.com/office/officeart/2005/8/layout/process2"/>
    <dgm:cxn modelId="{BDB32580-325F-4E9F-A4E8-8CC849E1FD7D}" type="presOf" srcId="{B0EE8577-62EA-A146-975A-618425996F31}" destId="{84C87CC6-4366-A841-9F56-788A3EEB1EA5}" srcOrd="0" destOrd="0" presId="urn:microsoft.com/office/officeart/2005/8/layout/process2"/>
    <dgm:cxn modelId="{CFC9F4B0-2685-4C9B-8765-EAC23E38F427}" type="presOf" srcId="{CE047B05-589C-3040-9EFA-DEA5131AAB31}" destId="{521F9E78-DBC3-E045-8C23-E2A9C097DEA4}" srcOrd="0" destOrd="0" presId="urn:microsoft.com/office/officeart/2005/8/layout/process2"/>
    <dgm:cxn modelId="{BE4544BE-EFEB-4CBF-8165-EC8BBBD7F791}" type="presOf" srcId="{23CFCEE6-832F-1849-AC2D-77E674FFD8D4}" destId="{F431C37C-30C4-0944-9B35-98CC4BF6B7AC}" srcOrd="0" destOrd="0" presId="urn:microsoft.com/office/officeart/2005/8/layout/process2"/>
    <dgm:cxn modelId="{2A3807A7-FAAC-4E56-9104-290BF0298042}" type="presOf" srcId="{23CFCEE6-832F-1849-AC2D-77E674FFD8D4}" destId="{0BD456A3-FF3F-0248-A1A7-A9C47CA52D29}" srcOrd="1" destOrd="0" presId="urn:microsoft.com/office/officeart/2005/8/layout/process2"/>
    <dgm:cxn modelId="{DEEB4CF1-96FD-459A-AB6C-8C8328C3A305}" type="presParOf" srcId="{EDFFBC39-EE7D-4345-AD84-40FEEE41F9CB}" destId="{84C87CC6-4366-A841-9F56-788A3EEB1EA5}" srcOrd="0" destOrd="0" presId="urn:microsoft.com/office/officeart/2005/8/layout/process2"/>
    <dgm:cxn modelId="{0B85EBC0-B26F-4D2F-857C-33F7F6D8DA56}" type="presParOf" srcId="{EDFFBC39-EE7D-4345-AD84-40FEEE41F9CB}" destId="{F431C37C-30C4-0944-9B35-98CC4BF6B7AC}" srcOrd="1" destOrd="0" presId="urn:microsoft.com/office/officeart/2005/8/layout/process2"/>
    <dgm:cxn modelId="{5A0F4BB6-5E69-4B4F-B75C-39831D68AE78}" type="presParOf" srcId="{F431C37C-30C4-0944-9B35-98CC4BF6B7AC}" destId="{0BD456A3-FF3F-0248-A1A7-A9C47CA52D29}" srcOrd="0" destOrd="0" presId="urn:microsoft.com/office/officeart/2005/8/layout/process2"/>
    <dgm:cxn modelId="{6C502074-0124-45FF-A577-89F69DED11DC}" type="presParOf" srcId="{EDFFBC39-EE7D-4345-AD84-40FEEE41F9CB}" destId="{521F9E78-DBC3-E045-8C23-E2A9C097DEA4}" srcOrd="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44781C0-B05E-FE48-9D27-FFFCCF812F26}" type="doc">
      <dgm:prSet loTypeId="urn:microsoft.com/office/officeart/2005/8/layout/process2" loCatId="process" qsTypeId="urn:microsoft.com/office/officeart/2005/8/quickstyle/3D1" qsCatId="3D" csTypeId="urn:microsoft.com/office/officeart/2005/8/colors/colorful1#8" csCatId="colorful" phldr="1"/>
      <dgm:spPr/>
      <dgm:t>
        <a:bodyPr/>
        <a:lstStyle/>
        <a:p>
          <a:endParaRPr lang="en-US"/>
        </a:p>
      </dgm:t>
    </dgm:pt>
    <dgm:pt modelId="{B0EE8577-62EA-A146-975A-618425996F31}">
      <dgm:prSet phldrT="[Text]" custT="1"/>
      <dgm:spPr/>
      <dgm:t>
        <a:bodyPr/>
        <a:lstStyle/>
        <a:p>
          <a:r>
            <a:rPr lang="en-US" sz="2000" dirty="0" smtClean="0">
              <a:latin typeface="Arial" panose="020B0604020202020204" pitchFamily="34" charset="0"/>
              <a:cs typeface="Arial" panose="020B0604020202020204" pitchFamily="34" charset="0"/>
            </a:rPr>
            <a:t>Employment Agreement</a:t>
          </a:r>
          <a:endParaRPr lang="en-US" sz="2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92934E3-80F1-4349-9D58-0B62A19C8AF7}" type="parTrans" cxnId="{0910CBE1-7138-8443-AD74-83F4056F4DBC}">
      <dgm:prSet/>
      <dgm:spPr/>
      <dgm:t>
        <a:bodyPr/>
        <a:lstStyle/>
        <a:p>
          <a:endParaRPr lang="en-US"/>
        </a:p>
      </dgm:t>
    </dgm:pt>
    <dgm:pt modelId="{23CFCEE6-832F-1849-AC2D-77E674FFD8D4}" type="sibTrans" cxnId="{0910CBE1-7138-8443-AD74-83F4056F4DBC}">
      <dgm:prSet/>
      <dgm:spPr/>
      <dgm:t>
        <a:bodyPr/>
        <a:lstStyle/>
        <a:p>
          <a:endParaRPr lang="en-US"/>
        </a:p>
      </dgm:t>
    </dgm:pt>
    <dgm:pt modelId="{CE047B05-589C-3040-9EFA-DEA5131AAB31}">
      <dgm:prSet phldrT="[Text]" custT="1"/>
      <dgm:spPr/>
      <dgm:t>
        <a:bodyPr/>
        <a:lstStyle/>
        <a:p>
          <a:r>
            <a:rPr lang="en-US" sz="2000" b="0" dirty="0" smtClean="0">
              <a:latin typeface="Arial" panose="020B0604020202020204" pitchFamily="34" charset="0"/>
              <a:cs typeface="Arial" panose="020B0604020202020204" pitchFamily="34" charset="0"/>
            </a:rPr>
            <a:t>Key employees may need to sign a non-compete</a:t>
          </a:r>
          <a:endParaRPr lang="en-US" sz="2000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B009E13-3623-5C46-BF20-51B9E73A738C}" type="parTrans" cxnId="{0FFB88A5-C7BF-8A4C-B759-888E579B6471}">
      <dgm:prSet/>
      <dgm:spPr/>
      <dgm:t>
        <a:bodyPr/>
        <a:lstStyle/>
        <a:p>
          <a:endParaRPr lang="en-US"/>
        </a:p>
      </dgm:t>
    </dgm:pt>
    <dgm:pt modelId="{F9073011-F9D8-CC4A-A1EB-F172F73A1581}" type="sibTrans" cxnId="{0FFB88A5-C7BF-8A4C-B759-888E579B6471}">
      <dgm:prSet/>
      <dgm:spPr/>
      <dgm:t>
        <a:bodyPr/>
        <a:lstStyle/>
        <a:p>
          <a:endParaRPr lang="en-US"/>
        </a:p>
      </dgm:t>
    </dgm:pt>
    <dgm:pt modelId="{EDFFBC39-EE7D-4345-AD84-40FEEE41F9CB}" type="pres">
      <dgm:prSet presAssocID="{544781C0-B05E-FE48-9D27-FFFCCF812F26}" presName="linearFlow" presStyleCnt="0">
        <dgm:presLayoutVars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4C87CC6-4366-A841-9F56-788A3EEB1EA5}" type="pres">
      <dgm:prSet presAssocID="{B0EE8577-62EA-A146-975A-618425996F31}" presName="node" presStyleLbl="node1" presStyleIdx="0" presStyleCnt="2" custLinFactX="54334" custLinFactNeighborX="100000" custLinFactNeighborY="-1986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431C37C-30C4-0944-9B35-98CC4BF6B7AC}" type="pres">
      <dgm:prSet presAssocID="{23CFCEE6-832F-1849-AC2D-77E674FFD8D4}" presName="sibTrans" presStyleLbl="sibTrans2D1" presStyleIdx="0" presStyleCnt="1"/>
      <dgm:spPr/>
      <dgm:t>
        <a:bodyPr/>
        <a:lstStyle/>
        <a:p>
          <a:endParaRPr lang="en-US"/>
        </a:p>
      </dgm:t>
    </dgm:pt>
    <dgm:pt modelId="{0BD456A3-FF3F-0248-A1A7-A9C47CA52D29}" type="pres">
      <dgm:prSet presAssocID="{23CFCEE6-832F-1849-AC2D-77E674FFD8D4}" presName="connectorText" presStyleLbl="sibTrans2D1" presStyleIdx="0" presStyleCnt="1"/>
      <dgm:spPr/>
      <dgm:t>
        <a:bodyPr/>
        <a:lstStyle/>
        <a:p>
          <a:endParaRPr lang="en-US"/>
        </a:p>
      </dgm:t>
    </dgm:pt>
    <dgm:pt modelId="{521F9E78-DBC3-E045-8C23-E2A9C097DEA4}" type="pres">
      <dgm:prSet presAssocID="{CE047B05-589C-3040-9EFA-DEA5131AAB31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910CBE1-7138-8443-AD74-83F4056F4DBC}" srcId="{544781C0-B05E-FE48-9D27-FFFCCF812F26}" destId="{B0EE8577-62EA-A146-975A-618425996F31}" srcOrd="0" destOrd="0" parTransId="{092934E3-80F1-4349-9D58-0B62A19C8AF7}" sibTransId="{23CFCEE6-832F-1849-AC2D-77E674FFD8D4}"/>
    <dgm:cxn modelId="{3C22D66C-4F02-48D9-8195-E017910617DF}" type="presOf" srcId="{CE047B05-589C-3040-9EFA-DEA5131AAB31}" destId="{521F9E78-DBC3-E045-8C23-E2A9C097DEA4}" srcOrd="0" destOrd="0" presId="urn:microsoft.com/office/officeart/2005/8/layout/process2"/>
    <dgm:cxn modelId="{0FFB88A5-C7BF-8A4C-B759-888E579B6471}" srcId="{544781C0-B05E-FE48-9D27-FFFCCF812F26}" destId="{CE047B05-589C-3040-9EFA-DEA5131AAB31}" srcOrd="1" destOrd="0" parTransId="{7B009E13-3623-5C46-BF20-51B9E73A738C}" sibTransId="{F9073011-F9D8-CC4A-A1EB-F172F73A1581}"/>
    <dgm:cxn modelId="{A43E6AB3-71A2-4BEE-9FE9-D602E84365E7}" type="presOf" srcId="{544781C0-B05E-FE48-9D27-FFFCCF812F26}" destId="{EDFFBC39-EE7D-4345-AD84-40FEEE41F9CB}" srcOrd="0" destOrd="0" presId="urn:microsoft.com/office/officeart/2005/8/layout/process2"/>
    <dgm:cxn modelId="{28B36CFB-BCEE-43C3-A05E-B0F9B3B5929F}" type="presOf" srcId="{B0EE8577-62EA-A146-975A-618425996F31}" destId="{84C87CC6-4366-A841-9F56-788A3EEB1EA5}" srcOrd="0" destOrd="0" presId="urn:microsoft.com/office/officeart/2005/8/layout/process2"/>
    <dgm:cxn modelId="{E567660F-AE31-4352-9DDC-680ACC1F31AE}" type="presOf" srcId="{23CFCEE6-832F-1849-AC2D-77E674FFD8D4}" destId="{0BD456A3-FF3F-0248-A1A7-A9C47CA52D29}" srcOrd="1" destOrd="0" presId="urn:microsoft.com/office/officeart/2005/8/layout/process2"/>
    <dgm:cxn modelId="{125B08A6-E3FF-4D40-93C5-5D18D4D99F04}" type="presOf" srcId="{23CFCEE6-832F-1849-AC2D-77E674FFD8D4}" destId="{F431C37C-30C4-0944-9B35-98CC4BF6B7AC}" srcOrd="0" destOrd="0" presId="urn:microsoft.com/office/officeart/2005/8/layout/process2"/>
    <dgm:cxn modelId="{912D110A-BE90-4471-81FD-DA91BFCF9FD1}" type="presParOf" srcId="{EDFFBC39-EE7D-4345-AD84-40FEEE41F9CB}" destId="{84C87CC6-4366-A841-9F56-788A3EEB1EA5}" srcOrd="0" destOrd="0" presId="urn:microsoft.com/office/officeart/2005/8/layout/process2"/>
    <dgm:cxn modelId="{47C6AE28-DDAC-4122-A083-CE78E7B23580}" type="presParOf" srcId="{EDFFBC39-EE7D-4345-AD84-40FEEE41F9CB}" destId="{F431C37C-30C4-0944-9B35-98CC4BF6B7AC}" srcOrd="1" destOrd="0" presId="urn:microsoft.com/office/officeart/2005/8/layout/process2"/>
    <dgm:cxn modelId="{0A61980B-B686-4839-96B6-99DE7556AC53}" type="presParOf" srcId="{F431C37C-30C4-0944-9B35-98CC4BF6B7AC}" destId="{0BD456A3-FF3F-0248-A1A7-A9C47CA52D29}" srcOrd="0" destOrd="0" presId="urn:microsoft.com/office/officeart/2005/8/layout/process2"/>
    <dgm:cxn modelId="{EAA64FBE-57F5-4E25-A36C-09A2E6D90644}" type="presParOf" srcId="{EDFFBC39-EE7D-4345-AD84-40FEEE41F9CB}" destId="{521F9E78-DBC3-E045-8C23-E2A9C097DEA4}" srcOrd="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544781C0-B05E-FE48-9D27-FFFCCF812F26}" type="doc">
      <dgm:prSet loTypeId="urn:microsoft.com/office/officeart/2005/8/layout/process2" loCatId="process" qsTypeId="urn:microsoft.com/office/officeart/2005/8/quickstyle/3D1" qsCatId="3D" csTypeId="urn:microsoft.com/office/officeart/2005/8/colors/colorful1#9" csCatId="colorful" phldr="1"/>
      <dgm:spPr/>
      <dgm:t>
        <a:bodyPr/>
        <a:lstStyle/>
        <a:p>
          <a:endParaRPr lang="en-US"/>
        </a:p>
      </dgm:t>
    </dgm:pt>
    <dgm:pt modelId="{B0EE8577-62EA-A146-975A-618425996F31}">
      <dgm:prSet phldrT="[Text]" custT="1"/>
      <dgm:spPr/>
      <dgm:t>
        <a:bodyPr/>
        <a:lstStyle/>
        <a:p>
          <a:r>
            <a:rPr lang="en-US" sz="2000" dirty="0" smtClean="0">
              <a:latin typeface="Arial" panose="020B0604020202020204" pitchFamily="34" charset="0"/>
              <a:cs typeface="Arial" panose="020B0604020202020204" pitchFamily="34" charset="0"/>
            </a:rPr>
            <a:t>Costs</a:t>
          </a:r>
          <a:endParaRPr lang="en-US" sz="2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92934E3-80F1-4349-9D58-0B62A19C8AF7}" type="parTrans" cxnId="{0910CBE1-7138-8443-AD74-83F4056F4DBC}">
      <dgm:prSet/>
      <dgm:spPr/>
      <dgm:t>
        <a:bodyPr/>
        <a:lstStyle/>
        <a:p>
          <a:endParaRPr lang="en-US"/>
        </a:p>
      </dgm:t>
    </dgm:pt>
    <dgm:pt modelId="{23CFCEE6-832F-1849-AC2D-77E674FFD8D4}" type="sibTrans" cxnId="{0910CBE1-7138-8443-AD74-83F4056F4DBC}">
      <dgm:prSet/>
      <dgm:spPr/>
      <dgm:t>
        <a:bodyPr/>
        <a:lstStyle/>
        <a:p>
          <a:endParaRPr lang="en-US"/>
        </a:p>
      </dgm:t>
    </dgm:pt>
    <dgm:pt modelId="{CE047B05-589C-3040-9EFA-DEA5131AAB31}">
      <dgm:prSet phldrT="[Text]" custT="1"/>
      <dgm:spPr/>
      <dgm:t>
        <a:bodyPr/>
        <a:lstStyle/>
        <a:p>
          <a:pPr algn="ctr"/>
          <a:r>
            <a:rPr lang="en-US" sz="2000" b="0" dirty="0" smtClean="0">
              <a:latin typeface="Arial" panose="020B0604020202020204" pitchFamily="34" charset="0"/>
              <a:cs typeface="Arial" panose="020B0604020202020204" pitchFamily="34" charset="0"/>
            </a:rPr>
            <a:t>Expenses are lower than an IPO</a:t>
          </a:r>
          <a:endParaRPr lang="en-US" sz="2000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B009E13-3623-5C46-BF20-51B9E73A738C}" type="parTrans" cxnId="{0FFB88A5-C7BF-8A4C-B759-888E579B6471}">
      <dgm:prSet/>
      <dgm:spPr/>
      <dgm:t>
        <a:bodyPr/>
        <a:lstStyle/>
        <a:p>
          <a:endParaRPr lang="en-US"/>
        </a:p>
      </dgm:t>
    </dgm:pt>
    <dgm:pt modelId="{F9073011-F9D8-CC4A-A1EB-F172F73A1581}" type="sibTrans" cxnId="{0FFB88A5-C7BF-8A4C-B759-888E579B6471}">
      <dgm:prSet/>
      <dgm:spPr/>
      <dgm:t>
        <a:bodyPr/>
        <a:lstStyle/>
        <a:p>
          <a:endParaRPr lang="en-US"/>
        </a:p>
      </dgm:t>
    </dgm:pt>
    <dgm:pt modelId="{EDFFBC39-EE7D-4345-AD84-40FEEE41F9CB}" type="pres">
      <dgm:prSet presAssocID="{544781C0-B05E-FE48-9D27-FFFCCF812F26}" presName="linearFlow" presStyleCnt="0">
        <dgm:presLayoutVars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4C87CC6-4366-A841-9F56-788A3EEB1EA5}" type="pres">
      <dgm:prSet presAssocID="{B0EE8577-62EA-A146-975A-618425996F31}" presName="node" presStyleLbl="node1" presStyleIdx="0" presStyleCnt="2" custLinFactNeighborX="-11284" custLinFactNeighborY="-6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431C37C-30C4-0944-9B35-98CC4BF6B7AC}" type="pres">
      <dgm:prSet presAssocID="{23CFCEE6-832F-1849-AC2D-77E674FFD8D4}" presName="sibTrans" presStyleLbl="sibTrans2D1" presStyleIdx="0" presStyleCnt="1"/>
      <dgm:spPr/>
      <dgm:t>
        <a:bodyPr/>
        <a:lstStyle/>
        <a:p>
          <a:endParaRPr lang="en-US"/>
        </a:p>
      </dgm:t>
    </dgm:pt>
    <dgm:pt modelId="{0BD456A3-FF3F-0248-A1A7-A9C47CA52D29}" type="pres">
      <dgm:prSet presAssocID="{23CFCEE6-832F-1849-AC2D-77E674FFD8D4}" presName="connectorText" presStyleLbl="sibTrans2D1" presStyleIdx="0" presStyleCnt="1"/>
      <dgm:spPr/>
      <dgm:t>
        <a:bodyPr/>
        <a:lstStyle/>
        <a:p>
          <a:endParaRPr lang="en-US"/>
        </a:p>
      </dgm:t>
    </dgm:pt>
    <dgm:pt modelId="{521F9E78-DBC3-E045-8C23-E2A9C097DEA4}" type="pres">
      <dgm:prSet presAssocID="{CE047B05-589C-3040-9EFA-DEA5131AAB31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910CBE1-7138-8443-AD74-83F4056F4DBC}" srcId="{544781C0-B05E-FE48-9D27-FFFCCF812F26}" destId="{B0EE8577-62EA-A146-975A-618425996F31}" srcOrd="0" destOrd="0" parTransId="{092934E3-80F1-4349-9D58-0B62A19C8AF7}" sibTransId="{23CFCEE6-832F-1849-AC2D-77E674FFD8D4}"/>
    <dgm:cxn modelId="{D4BFCA59-8B94-4AA1-B9F2-F382E7577F3E}" type="presOf" srcId="{544781C0-B05E-FE48-9D27-FFFCCF812F26}" destId="{EDFFBC39-EE7D-4345-AD84-40FEEE41F9CB}" srcOrd="0" destOrd="0" presId="urn:microsoft.com/office/officeart/2005/8/layout/process2"/>
    <dgm:cxn modelId="{0FFB88A5-C7BF-8A4C-B759-888E579B6471}" srcId="{544781C0-B05E-FE48-9D27-FFFCCF812F26}" destId="{CE047B05-589C-3040-9EFA-DEA5131AAB31}" srcOrd="1" destOrd="0" parTransId="{7B009E13-3623-5C46-BF20-51B9E73A738C}" sibTransId="{F9073011-F9D8-CC4A-A1EB-F172F73A1581}"/>
    <dgm:cxn modelId="{57F3E2B7-A41F-4B4E-B7C1-AEFD0274FFFE}" type="presOf" srcId="{23CFCEE6-832F-1849-AC2D-77E674FFD8D4}" destId="{0BD456A3-FF3F-0248-A1A7-A9C47CA52D29}" srcOrd="1" destOrd="0" presId="urn:microsoft.com/office/officeart/2005/8/layout/process2"/>
    <dgm:cxn modelId="{7D27FBB6-DDE2-4BDC-8A07-56F94001A158}" type="presOf" srcId="{CE047B05-589C-3040-9EFA-DEA5131AAB31}" destId="{521F9E78-DBC3-E045-8C23-E2A9C097DEA4}" srcOrd="0" destOrd="0" presId="urn:microsoft.com/office/officeart/2005/8/layout/process2"/>
    <dgm:cxn modelId="{25711F41-9067-4AEE-B2D2-0FC9B4F519CF}" type="presOf" srcId="{B0EE8577-62EA-A146-975A-618425996F31}" destId="{84C87CC6-4366-A841-9F56-788A3EEB1EA5}" srcOrd="0" destOrd="0" presId="urn:microsoft.com/office/officeart/2005/8/layout/process2"/>
    <dgm:cxn modelId="{65BE4F8A-6FBC-412B-8C69-B18200E46CD6}" type="presOf" srcId="{23CFCEE6-832F-1849-AC2D-77E674FFD8D4}" destId="{F431C37C-30C4-0944-9B35-98CC4BF6B7AC}" srcOrd="0" destOrd="0" presId="urn:microsoft.com/office/officeart/2005/8/layout/process2"/>
    <dgm:cxn modelId="{EC7A1487-433A-4FB3-AA04-1254C86D9916}" type="presParOf" srcId="{EDFFBC39-EE7D-4345-AD84-40FEEE41F9CB}" destId="{84C87CC6-4366-A841-9F56-788A3EEB1EA5}" srcOrd="0" destOrd="0" presId="urn:microsoft.com/office/officeart/2005/8/layout/process2"/>
    <dgm:cxn modelId="{4558620B-834D-474B-BE71-44DA2A9B6A48}" type="presParOf" srcId="{EDFFBC39-EE7D-4345-AD84-40FEEE41F9CB}" destId="{F431C37C-30C4-0944-9B35-98CC4BF6B7AC}" srcOrd="1" destOrd="0" presId="urn:microsoft.com/office/officeart/2005/8/layout/process2"/>
    <dgm:cxn modelId="{871B59F7-2CD4-4AED-975F-E344276D774B}" type="presParOf" srcId="{F431C37C-30C4-0944-9B35-98CC4BF6B7AC}" destId="{0BD456A3-FF3F-0248-A1A7-A9C47CA52D29}" srcOrd="0" destOrd="0" presId="urn:microsoft.com/office/officeart/2005/8/layout/process2"/>
    <dgm:cxn modelId="{47FCD0A6-006B-4285-B12D-59739F4A9D28}" type="presParOf" srcId="{EDFFBC39-EE7D-4345-AD84-40FEEE41F9CB}" destId="{521F9E78-DBC3-E045-8C23-E2A9C097DEA4}" srcOrd="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B29E3-8630-A74D-8EA2-351465854108}">
      <dsp:nvSpPr>
        <dsp:cNvPr id="0" name=""/>
        <dsp:cNvSpPr/>
      </dsp:nvSpPr>
      <dsp:spPr>
        <a:xfrm>
          <a:off x="6919" y="542009"/>
          <a:ext cx="2068262" cy="124095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Arial" panose="020B0604020202020204" pitchFamily="34" charset="0"/>
              <a:cs typeface="Arial" panose="020B0604020202020204" pitchFamily="34" charset="0"/>
            </a:rPr>
            <a:t>Turning to friends &amp; family</a:t>
          </a:r>
          <a:endParaRPr lang="en-US" sz="2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3265" y="578355"/>
        <a:ext cx="1995570" cy="1168265"/>
      </dsp:txXfrm>
    </dsp:sp>
    <dsp:sp modelId="{EF31EF58-C8EE-D748-98E8-5327394DD374}">
      <dsp:nvSpPr>
        <dsp:cNvPr id="0" name=""/>
        <dsp:cNvSpPr/>
      </dsp:nvSpPr>
      <dsp:spPr>
        <a:xfrm>
          <a:off x="2257189" y="906023"/>
          <a:ext cx="438471" cy="51292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9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257189" y="1008609"/>
        <a:ext cx="306930" cy="307757"/>
      </dsp:txXfrm>
    </dsp:sp>
    <dsp:sp modelId="{3C7D4D79-63B8-0941-8C2B-CBD05774558B}">
      <dsp:nvSpPr>
        <dsp:cNvPr id="0" name=""/>
        <dsp:cNvSpPr/>
      </dsp:nvSpPr>
      <dsp:spPr>
        <a:xfrm>
          <a:off x="2902486" y="542009"/>
          <a:ext cx="2068262" cy="124095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1116192"/>
                <a:satOff val="6725"/>
                <a:lumOff val="539"/>
                <a:alphaOff val="0"/>
                <a:shade val="51000"/>
                <a:satMod val="130000"/>
              </a:schemeClr>
            </a:gs>
            <a:gs pos="80000">
              <a:schemeClr val="accent4">
                <a:hueOff val="-1116192"/>
                <a:satOff val="6725"/>
                <a:lumOff val="539"/>
                <a:alphaOff val="0"/>
                <a:shade val="93000"/>
                <a:satMod val="130000"/>
              </a:schemeClr>
            </a:gs>
            <a:gs pos="100000">
              <a:schemeClr val="accent4">
                <a:hueOff val="-1116192"/>
                <a:satOff val="6725"/>
                <a:lumOff val="53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Arial" panose="020B0604020202020204" pitchFamily="34" charset="0"/>
              <a:cs typeface="Arial" panose="020B0604020202020204" pitchFamily="34" charset="0"/>
            </a:rPr>
            <a:t>Approaching business angels</a:t>
          </a:r>
          <a:endParaRPr lang="en-US" sz="2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938832" y="578355"/>
        <a:ext cx="1995570" cy="1168265"/>
      </dsp:txXfrm>
    </dsp:sp>
    <dsp:sp modelId="{43F8FC66-9ADF-4148-B158-98EB02E518D5}">
      <dsp:nvSpPr>
        <dsp:cNvPr id="0" name=""/>
        <dsp:cNvSpPr/>
      </dsp:nvSpPr>
      <dsp:spPr>
        <a:xfrm>
          <a:off x="5152756" y="906023"/>
          <a:ext cx="438471" cy="51292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-1488257"/>
                <a:satOff val="8966"/>
                <a:lumOff val="719"/>
                <a:alphaOff val="0"/>
                <a:shade val="51000"/>
                <a:satMod val="130000"/>
              </a:schemeClr>
            </a:gs>
            <a:gs pos="80000">
              <a:schemeClr val="accent4">
                <a:hueOff val="-1488257"/>
                <a:satOff val="8966"/>
                <a:lumOff val="719"/>
                <a:alphaOff val="0"/>
                <a:shade val="93000"/>
                <a:satMod val="130000"/>
              </a:schemeClr>
            </a:gs>
            <a:gs pos="100000">
              <a:schemeClr val="accent4">
                <a:hueOff val="-1488257"/>
                <a:satOff val="8966"/>
                <a:lumOff val="71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9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152756" y="1008609"/>
        <a:ext cx="306930" cy="307757"/>
      </dsp:txXfrm>
    </dsp:sp>
    <dsp:sp modelId="{C0221479-760C-534C-8C42-6EC66EA0AF6C}">
      <dsp:nvSpPr>
        <dsp:cNvPr id="0" name=""/>
        <dsp:cNvSpPr/>
      </dsp:nvSpPr>
      <dsp:spPr>
        <a:xfrm>
          <a:off x="5798053" y="542009"/>
          <a:ext cx="2068262" cy="124095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2232385"/>
                <a:satOff val="13449"/>
                <a:lumOff val="1078"/>
                <a:alphaOff val="0"/>
                <a:shade val="51000"/>
                <a:satMod val="130000"/>
              </a:schemeClr>
            </a:gs>
            <a:gs pos="80000">
              <a:schemeClr val="accent4">
                <a:hueOff val="-2232385"/>
                <a:satOff val="13449"/>
                <a:lumOff val="1078"/>
                <a:alphaOff val="0"/>
                <a:shade val="93000"/>
                <a:satMod val="130000"/>
              </a:schemeClr>
            </a:gs>
            <a:gs pos="100000">
              <a:schemeClr val="accent4">
                <a:hueOff val="-2232385"/>
                <a:satOff val="13449"/>
                <a:lumOff val="107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Arial" panose="020B0604020202020204" pitchFamily="34" charset="0"/>
              <a:cs typeface="Arial" panose="020B0604020202020204" pitchFamily="34" charset="0"/>
            </a:rPr>
            <a:t>Raising VC funding</a:t>
          </a:r>
          <a:endParaRPr lang="en-US" sz="2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834399" y="578355"/>
        <a:ext cx="1995570" cy="1168265"/>
      </dsp:txXfrm>
    </dsp:sp>
    <dsp:sp modelId="{FBF71903-472A-5849-977C-A4A82D3E0CD9}">
      <dsp:nvSpPr>
        <dsp:cNvPr id="0" name=""/>
        <dsp:cNvSpPr/>
      </dsp:nvSpPr>
      <dsp:spPr>
        <a:xfrm rot="5400000">
          <a:off x="6612949" y="1927745"/>
          <a:ext cx="438471" cy="51292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-2976513"/>
                <a:satOff val="17933"/>
                <a:lumOff val="1437"/>
                <a:alphaOff val="0"/>
                <a:shade val="51000"/>
                <a:satMod val="130000"/>
              </a:schemeClr>
            </a:gs>
            <a:gs pos="80000">
              <a:schemeClr val="accent4">
                <a:hueOff val="-2976513"/>
                <a:satOff val="17933"/>
                <a:lumOff val="1437"/>
                <a:alphaOff val="0"/>
                <a:shade val="93000"/>
                <a:satMod val="130000"/>
              </a:schemeClr>
            </a:gs>
            <a:gs pos="100000">
              <a:schemeClr val="accent4">
                <a:hueOff val="-2976513"/>
                <a:satOff val="17933"/>
                <a:lumOff val="143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9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6678307" y="1964974"/>
        <a:ext cx="307757" cy="306930"/>
      </dsp:txXfrm>
    </dsp:sp>
    <dsp:sp modelId="{073BA1BA-6A6C-8E40-B6A6-71D9777E76C4}">
      <dsp:nvSpPr>
        <dsp:cNvPr id="0" name=""/>
        <dsp:cNvSpPr/>
      </dsp:nvSpPr>
      <dsp:spPr>
        <a:xfrm>
          <a:off x="5798053" y="2610271"/>
          <a:ext cx="2068262" cy="124095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3348577"/>
                <a:satOff val="20174"/>
                <a:lumOff val="1617"/>
                <a:alphaOff val="0"/>
                <a:shade val="51000"/>
                <a:satMod val="130000"/>
              </a:schemeClr>
            </a:gs>
            <a:gs pos="80000">
              <a:schemeClr val="accent4">
                <a:hueOff val="-3348577"/>
                <a:satOff val="20174"/>
                <a:lumOff val="1617"/>
                <a:alphaOff val="0"/>
                <a:shade val="93000"/>
                <a:satMod val="130000"/>
              </a:schemeClr>
            </a:gs>
            <a:gs pos="100000">
              <a:schemeClr val="accent4">
                <a:hueOff val="-3348577"/>
                <a:satOff val="20174"/>
                <a:lumOff val="161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Arial" panose="020B0604020202020204" pitchFamily="34" charset="0"/>
              <a:cs typeface="Arial" panose="020B0604020202020204" pitchFamily="34" charset="0"/>
            </a:rPr>
            <a:t>Going public</a:t>
          </a:r>
          <a:endParaRPr lang="en-US" sz="2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834399" y="2646617"/>
        <a:ext cx="1995570" cy="1168265"/>
      </dsp:txXfrm>
    </dsp:sp>
    <dsp:sp modelId="{B699C858-2446-9843-A068-59B6DFE09204}">
      <dsp:nvSpPr>
        <dsp:cNvPr id="0" name=""/>
        <dsp:cNvSpPr/>
      </dsp:nvSpPr>
      <dsp:spPr>
        <a:xfrm rot="10800000">
          <a:off x="5177575" y="2974286"/>
          <a:ext cx="438471" cy="51292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shade val="51000"/>
                <a:satMod val="130000"/>
              </a:schemeClr>
            </a:gs>
            <a:gs pos="80000">
              <a:schemeClr val="accent4">
                <a:hueOff val="-4464770"/>
                <a:satOff val="26899"/>
                <a:lumOff val="2156"/>
                <a:alphaOff val="0"/>
                <a:shade val="93000"/>
                <a:satMod val="13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9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5309116" y="3076872"/>
        <a:ext cx="306930" cy="307757"/>
      </dsp:txXfrm>
    </dsp:sp>
    <dsp:sp modelId="{643DD34E-F074-E84E-AC91-1F8AF57233D2}">
      <dsp:nvSpPr>
        <dsp:cNvPr id="0" name=""/>
        <dsp:cNvSpPr/>
      </dsp:nvSpPr>
      <dsp:spPr>
        <a:xfrm>
          <a:off x="2902486" y="2610271"/>
          <a:ext cx="2068262" cy="124095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shade val="51000"/>
                <a:satMod val="130000"/>
              </a:schemeClr>
            </a:gs>
            <a:gs pos="80000">
              <a:schemeClr val="accent4">
                <a:hueOff val="-4464770"/>
                <a:satOff val="26899"/>
                <a:lumOff val="2156"/>
                <a:alphaOff val="0"/>
                <a:shade val="93000"/>
                <a:satMod val="13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Arial" panose="020B0604020202020204" pitchFamily="34" charset="0"/>
              <a:cs typeface="Arial" panose="020B0604020202020204" pitchFamily="34" charset="0"/>
            </a:rPr>
            <a:t>Being acquired</a:t>
          </a:r>
          <a:endParaRPr lang="en-US" sz="2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938832" y="2646617"/>
        <a:ext cx="1995570" cy="116826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8784C0-1C52-C547-94B2-9597E55E339D}">
      <dsp:nvSpPr>
        <dsp:cNvPr id="0" name=""/>
        <dsp:cNvSpPr/>
      </dsp:nvSpPr>
      <dsp:spPr>
        <a:xfrm>
          <a:off x="0" y="0"/>
          <a:ext cx="5744065" cy="1153731"/>
        </a:xfrm>
        <a:prstGeom prst="rect">
          <a:avLst/>
        </a:prstGeom>
        <a:solidFill>
          <a:srgbClr val="6EA89E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  <a:bevelB w="88900" h="121750"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dirty="0" smtClean="0">
              <a:latin typeface="Arial" panose="020B0604020202020204" pitchFamily="34" charset="0"/>
              <a:cs typeface="Arial" panose="020B0604020202020204" pitchFamily="34" charset="0"/>
            </a:rPr>
            <a:t>Fair market value of assets</a:t>
          </a:r>
          <a:endParaRPr lang="en-US" sz="35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0"/>
        <a:ext cx="5744065" cy="1153731"/>
      </dsp:txXfrm>
    </dsp:sp>
    <dsp:sp modelId="{1E9FEA89-DC73-9D44-8DF2-D9053478F3A6}">
      <dsp:nvSpPr>
        <dsp:cNvPr id="0" name=""/>
        <dsp:cNvSpPr/>
      </dsp:nvSpPr>
      <dsp:spPr>
        <a:xfrm>
          <a:off x="2804" y="1153731"/>
          <a:ext cx="1912818" cy="2422836"/>
        </a:xfrm>
        <a:prstGeom prst="rect">
          <a:avLst/>
        </a:prstGeom>
        <a:solidFill>
          <a:srgbClr val="8CB6D4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>
              <a:latin typeface="Arial" panose="020B0604020202020204" pitchFamily="34" charset="0"/>
              <a:cs typeface="Arial" panose="020B0604020202020204" pitchFamily="34" charset="0"/>
            </a:rPr>
            <a:t>Liquidation Value</a:t>
          </a:r>
          <a:endParaRPr lang="en-US" sz="23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804" y="1153731"/>
        <a:ext cx="1912818" cy="2422836"/>
      </dsp:txXfrm>
    </dsp:sp>
    <dsp:sp modelId="{E95D58C5-31CF-5B4E-AF7D-E97D0B1A0D56}">
      <dsp:nvSpPr>
        <dsp:cNvPr id="0" name=""/>
        <dsp:cNvSpPr/>
      </dsp:nvSpPr>
      <dsp:spPr>
        <a:xfrm>
          <a:off x="1915623" y="1153731"/>
          <a:ext cx="1912818" cy="2422836"/>
        </a:xfrm>
        <a:prstGeom prst="rect">
          <a:avLst/>
        </a:prstGeom>
        <a:solidFill>
          <a:srgbClr val="84C864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>
              <a:latin typeface="Arial" panose="020B0604020202020204" pitchFamily="34" charset="0"/>
              <a:cs typeface="Arial" panose="020B0604020202020204" pitchFamily="34" charset="0"/>
            </a:rPr>
            <a:t>Adjusted book value</a:t>
          </a:r>
          <a:endParaRPr lang="en-US" sz="23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915623" y="1153731"/>
        <a:ext cx="1912818" cy="2422836"/>
      </dsp:txXfrm>
    </dsp:sp>
    <dsp:sp modelId="{6CC5D370-5C71-4C4D-BC5C-A667E302BE04}">
      <dsp:nvSpPr>
        <dsp:cNvPr id="0" name=""/>
        <dsp:cNvSpPr/>
      </dsp:nvSpPr>
      <dsp:spPr>
        <a:xfrm>
          <a:off x="3828442" y="1153731"/>
          <a:ext cx="1912818" cy="2422836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>
              <a:latin typeface="Arial" panose="020B0604020202020204" pitchFamily="34" charset="0"/>
              <a:cs typeface="Arial" panose="020B0604020202020204" pitchFamily="34" charset="0"/>
            </a:rPr>
            <a:t>Replacement value</a:t>
          </a:r>
          <a:endParaRPr lang="en-US" sz="23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828442" y="1153731"/>
        <a:ext cx="1912818" cy="2422836"/>
      </dsp:txXfrm>
    </dsp:sp>
    <dsp:sp modelId="{3346582E-A5E0-674E-AF8F-09F05E774541}">
      <dsp:nvSpPr>
        <dsp:cNvPr id="0" name=""/>
        <dsp:cNvSpPr/>
      </dsp:nvSpPr>
      <dsp:spPr>
        <a:xfrm>
          <a:off x="0" y="3576567"/>
          <a:ext cx="5744065" cy="269204"/>
        </a:xfrm>
        <a:prstGeom prst="rect">
          <a:avLst/>
        </a:prstGeom>
        <a:solidFill>
          <a:srgbClr val="6EA89E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  <a:bevelB w="88900" h="121750"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D8C69C-D313-2347-925B-CD05623CC6B1}">
      <dsp:nvSpPr>
        <dsp:cNvPr id="0" name=""/>
        <dsp:cNvSpPr/>
      </dsp:nvSpPr>
      <dsp:spPr>
        <a:xfrm>
          <a:off x="2779165" y="1714342"/>
          <a:ext cx="1480315" cy="1439647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latin typeface="Arial" panose="020B0604020202020204" pitchFamily="34" charset="0"/>
              <a:cs typeface="Arial" panose="020B0604020202020204" pitchFamily="34" charset="0"/>
            </a:rPr>
            <a:t>External Financing</a:t>
          </a:r>
          <a:endParaRPr lang="en-US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995952" y="1925173"/>
        <a:ext cx="1046741" cy="1017985"/>
      </dsp:txXfrm>
    </dsp:sp>
    <dsp:sp modelId="{3D7BBF2E-AC4E-4B4B-997D-AAAF06C64F0B}">
      <dsp:nvSpPr>
        <dsp:cNvPr id="0" name=""/>
        <dsp:cNvSpPr/>
      </dsp:nvSpPr>
      <dsp:spPr>
        <a:xfrm rot="16200000">
          <a:off x="3370218" y="1547967"/>
          <a:ext cx="298209" cy="34541"/>
        </a:xfrm>
        <a:custGeom>
          <a:avLst/>
          <a:gdLst/>
          <a:ahLst/>
          <a:cxnLst/>
          <a:rect l="0" t="0" r="0" b="0"/>
          <a:pathLst>
            <a:path>
              <a:moveTo>
                <a:pt x="0" y="17270"/>
              </a:moveTo>
              <a:lnTo>
                <a:pt x="298209" y="17270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511868" y="1557782"/>
        <a:ext cx="14910" cy="14910"/>
      </dsp:txXfrm>
    </dsp:sp>
    <dsp:sp modelId="{9B62791B-748D-0B4F-87F6-DFB86214AE09}">
      <dsp:nvSpPr>
        <dsp:cNvPr id="0" name=""/>
        <dsp:cNvSpPr/>
      </dsp:nvSpPr>
      <dsp:spPr>
        <a:xfrm>
          <a:off x="2833827" y="40751"/>
          <a:ext cx="1370992" cy="1375381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latin typeface="Arial" panose="020B0604020202020204" pitchFamily="34" charset="0"/>
              <a:cs typeface="Arial" panose="020B0604020202020204" pitchFamily="34" charset="0"/>
            </a:rPr>
            <a:t>Vendor financing</a:t>
          </a:r>
          <a:endParaRPr lang="en-US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034604" y="242171"/>
        <a:ext cx="969438" cy="972541"/>
      </dsp:txXfrm>
    </dsp:sp>
    <dsp:sp modelId="{D8F3D42E-E244-A843-A294-CA07B7B9330C}">
      <dsp:nvSpPr>
        <dsp:cNvPr id="0" name=""/>
        <dsp:cNvSpPr/>
      </dsp:nvSpPr>
      <dsp:spPr>
        <a:xfrm rot="19800000">
          <a:off x="4133276" y="1965466"/>
          <a:ext cx="335892" cy="34541"/>
        </a:xfrm>
        <a:custGeom>
          <a:avLst/>
          <a:gdLst/>
          <a:ahLst/>
          <a:cxnLst/>
          <a:rect l="0" t="0" r="0" b="0"/>
          <a:pathLst>
            <a:path>
              <a:moveTo>
                <a:pt x="0" y="17270"/>
              </a:moveTo>
              <a:lnTo>
                <a:pt x="335892" y="17270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292825" y="1974339"/>
        <a:ext cx="16794" cy="16794"/>
      </dsp:txXfrm>
    </dsp:sp>
    <dsp:sp modelId="{93E69A97-3601-7045-B1E1-601867594944}">
      <dsp:nvSpPr>
        <dsp:cNvPr id="0" name=""/>
        <dsp:cNvSpPr/>
      </dsp:nvSpPr>
      <dsp:spPr>
        <a:xfrm>
          <a:off x="4355302" y="868051"/>
          <a:ext cx="1370992" cy="1375381"/>
        </a:xfrm>
        <a:prstGeom prst="ellipse">
          <a:avLst/>
        </a:prstGeom>
        <a:gradFill rotWithShape="0">
          <a:gsLst>
            <a:gs pos="0">
              <a:schemeClr val="accent4">
                <a:hueOff val="-892954"/>
                <a:satOff val="5380"/>
                <a:lumOff val="431"/>
                <a:alphaOff val="0"/>
                <a:shade val="51000"/>
                <a:satMod val="130000"/>
              </a:schemeClr>
            </a:gs>
            <a:gs pos="80000">
              <a:schemeClr val="accent4">
                <a:hueOff val="-892954"/>
                <a:satOff val="5380"/>
                <a:lumOff val="431"/>
                <a:alphaOff val="0"/>
                <a:shade val="93000"/>
                <a:satMod val="130000"/>
              </a:schemeClr>
            </a:gs>
            <a:gs pos="100000">
              <a:schemeClr val="accent4">
                <a:hueOff val="-892954"/>
                <a:satOff val="5380"/>
                <a:lumOff val="43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latin typeface="Arial" panose="020B0604020202020204" pitchFamily="34" charset="0"/>
              <a:cs typeface="Arial" panose="020B0604020202020204" pitchFamily="34" charset="0"/>
            </a:rPr>
            <a:t>Reduced rent</a:t>
          </a:r>
          <a:endParaRPr lang="en-US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556079" y="1069471"/>
        <a:ext cx="969438" cy="972541"/>
      </dsp:txXfrm>
    </dsp:sp>
    <dsp:sp modelId="{C6BDDC89-758B-9043-A571-95EF8107E0B6}">
      <dsp:nvSpPr>
        <dsp:cNvPr id="0" name=""/>
        <dsp:cNvSpPr/>
      </dsp:nvSpPr>
      <dsp:spPr>
        <a:xfrm rot="1800000">
          <a:off x="4133276" y="2868325"/>
          <a:ext cx="335892" cy="34541"/>
        </a:xfrm>
        <a:custGeom>
          <a:avLst/>
          <a:gdLst/>
          <a:ahLst/>
          <a:cxnLst/>
          <a:rect l="0" t="0" r="0" b="0"/>
          <a:pathLst>
            <a:path>
              <a:moveTo>
                <a:pt x="0" y="17270"/>
              </a:moveTo>
              <a:lnTo>
                <a:pt x="335892" y="17270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292825" y="2877198"/>
        <a:ext cx="16794" cy="16794"/>
      </dsp:txXfrm>
    </dsp:sp>
    <dsp:sp modelId="{F6F2E01B-8F5C-4C44-B203-5CD3CD02CB6A}">
      <dsp:nvSpPr>
        <dsp:cNvPr id="0" name=""/>
        <dsp:cNvSpPr/>
      </dsp:nvSpPr>
      <dsp:spPr>
        <a:xfrm>
          <a:off x="4355302" y="2624899"/>
          <a:ext cx="1370992" cy="1375381"/>
        </a:xfrm>
        <a:prstGeom prst="ellipse">
          <a:avLst/>
        </a:prstGeom>
        <a:gradFill rotWithShape="0">
          <a:gsLst>
            <a:gs pos="0">
              <a:schemeClr val="accent4">
                <a:hueOff val="-1785908"/>
                <a:satOff val="10760"/>
                <a:lumOff val="862"/>
                <a:alphaOff val="0"/>
                <a:shade val="51000"/>
                <a:satMod val="130000"/>
              </a:schemeClr>
            </a:gs>
            <a:gs pos="80000">
              <a:schemeClr val="accent4">
                <a:hueOff val="-1785908"/>
                <a:satOff val="10760"/>
                <a:lumOff val="862"/>
                <a:alphaOff val="0"/>
                <a:shade val="93000"/>
                <a:satMod val="130000"/>
              </a:schemeClr>
            </a:gs>
            <a:gs pos="100000">
              <a:schemeClr val="accent4">
                <a:hueOff val="-1785908"/>
                <a:satOff val="10760"/>
                <a:lumOff val="86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latin typeface="Arial" panose="020B0604020202020204" pitchFamily="34" charset="0"/>
              <a:cs typeface="Arial" panose="020B0604020202020204" pitchFamily="34" charset="0"/>
            </a:rPr>
            <a:t>Customer financing</a:t>
          </a:r>
          <a:endParaRPr lang="en-US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556079" y="2826319"/>
        <a:ext cx="969438" cy="972541"/>
      </dsp:txXfrm>
    </dsp:sp>
    <dsp:sp modelId="{254CEC90-A77B-014C-9079-D9D4EB7932A5}">
      <dsp:nvSpPr>
        <dsp:cNvPr id="0" name=""/>
        <dsp:cNvSpPr/>
      </dsp:nvSpPr>
      <dsp:spPr>
        <a:xfrm rot="5400000">
          <a:off x="3370218" y="3285824"/>
          <a:ext cx="298209" cy="34541"/>
        </a:xfrm>
        <a:custGeom>
          <a:avLst/>
          <a:gdLst/>
          <a:ahLst/>
          <a:cxnLst/>
          <a:rect l="0" t="0" r="0" b="0"/>
          <a:pathLst>
            <a:path>
              <a:moveTo>
                <a:pt x="0" y="17270"/>
              </a:moveTo>
              <a:lnTo>
                <a:pt x="298209" y="17270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511868" y="3295639"/>
        <a:ext cx="14910" cy="14910"/>
      </dsp:txXfrm>
    </dsp:sp>
    <dsp:sp modelId="{1F8912B7-8160-2242-BF27-052C22ABA6C0}">
      <dsp:nvSpPr>
        <dsp:cNvPr id="0" name=""/>
        <dsp:cNvSpPr/>
      </dsp:nvSpPr>
      <dsp:spPr>
        <a:xfrm>
          <a:off x="2833827" y="3452199"/>
          <a:ext cx="1370992" cy="1375381"/>
        </a:xfrm>
        <a:prstGeom prst="ellipse">
          <a:avLst/>
        </a:prstGeom>
        <a:gradFill rotWithShape="0">
          <a:gsLst>
            <a:gs pos="0">
              <a:schemeClr val="accent4">
                <a:hueOff val="-2678862"/>
                <a:satOff val="16139"/>
                <a:lumOff val="1294"/>
                <a:alphaOff val="0"/>
                <a:shade val="51000"/>
                <a:satMod val="130000"/>
              </a:schemeClr>
            </a:gs>
            <a:gs pos="80000">
              <a:schemeClr val="accent4">
                <a:hueOff val="-2678862"/>
                <a:satOff val="16139"/>
                <a:lumOff val="1294"/>
                <a:alphaOff val="0"/>
                <a:shade val="93000"/>
                <a:satMod val="130000"/>
              </a:schemeClr>
            </a:gs>
            <a:gs pos="100000">
              <a:schemeClr val="accent4">
                <a:hueOff val="-2678862"/>
                <a:satOff val="16139"/>
                <a:lumOff val="129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latin typeface="Arial" panose="020B0604020202020204" pitchFamily="34" charset="0"/>
              <a:cs typeface="Arial" panose="020B0604020202020204" pitchFamily="34" charset="0"/>
            </a:rPr>
            <a:t>Leased equipment</a:t>
          </a:r>
          <a:endParaRPr lang="en-US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034604" y="3653619"/>
        <a:ext cx="969438" cy="972541"/>
      </dsp:txXfrm>
    </dsp:sp>
    <dsp:sp modelId="{ECE4F1B2-6ECE-0445-9986-AEA9E5449E3A}">
      <dsp:nvSpPr>
        <dsp:cNvPr id="0" name=""/>
        <dsp:cNvSpPr/>
      </dsp:nvSpPr>
      <dsp:spPr>
        <a:xfrm rot="9000000">
          <a:off x="2569477" y="2868325"/>
          <a:ext cx="335892" cy="34541"/>
        </a:xfrm>
        <a:custGeom>
          <a:avLst/>
          <a:gdLst/>
          <a:ahLst/>
          <a:cxnLst/>
          <a:rect l="0" t="0" r="0" b="0"/>
          <a:pathLst>
            <a:path>
              <a:moveTo>
                <a:pt x="0" y="17270"/>
              </a:moveTo>
              <a:lnTo>
                <a:pt x="335892" y="17270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2729026" y="2877198"/>
        <a:ext cx="16794" cy="16794"/>
      </dsp:txXfrm>
    </dsp:sp>
    <dsp:sp modelId="{4B009D8C-DFDF-F847-8E52-5A58D8BE5CF5}">
      <dsp:nvSpPr>
        <dsp:cNvPr id="0" name=""/>
        <dsp:cNvSpPr/>
      </dsp:nvSpPr>
      <dsp:spPr>
        <a:xfrm>
          <a:off x="1312351" y="2624899"/>
          <a:ext cx="1370992" cy="1375381"/>
        </a:xfrm>
        <a:prstGeom prst="ellipse">
          <a:avLst/>
        </a:prstGeom>
        <a:gradFill rotWithShape="0">
          <a:gsLst>
            <a:gs pos="0">
              <a:schemeClr val="accent4">
                <a:hueOff val="-3571816"/>
                <a:satOff val="21519"/>
                <a:lumOff val="1725"/>
                <a:alphaOff val="0"/>
                <a:shade val="51000"/>
                <a:satMod val="130000"/>
              </a:schemeClr>
            </a:gs>
            <a:gs pos="80000">
              <a:schemeClr val="accent4">
                <a:hueOff val="-3571816"/>
                <a:satOff val="21519"/>
                <a:lumOff val="1725"/>
                <a:alphaOff val="0"/>
                <a:shade val="93000"/>
                <a:satMod val="130000"/>
              </a:schemeClr>
            </a:gs>
            <a:gs pos="100000">
              <a:schemeClr val="accent4">
                <a:hueOff val="-3571816"/>
                <a:satOff val="21519"/>
                <a:lumOff val="172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latin typeface="Arial" panose="020B0604020202020204" pitchFamily="34" charset="0"/>
              <a:cs typeface="Arial" panose="020B0604020202020204" pitchFamily="34" charset="0"/>
            </a:rPr>
            <a:t>Federal programs</a:t>
          </a:r>
          <a:endParaRPr lang="en-US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513128" y="2826319"/>
        <a:ext cx="969438" cy="972541"/>
      </dsp:txXfrm>
    </dsp:sp>
    <dsp:sp modelId="{2CD49C6B-5A86-3B44-BA4F-40990125FCEA}">
      <dsp:nvSpPr>
        <dsp:cNvPr id="0" name=""/>
        <dsp:cNvSpPr/>
      </dsp:nvSpPr>
      <dsp:spPr>
        <a:xfrm rot="12600000">
          <a:off x="2569477" y="1965466"/>
          <a:ext cx="335892" cy="34541"/>
        </a:xfrm>
        <a:custGeom>
          <a:avLst/>
          <a:gdLst/>
          <a:ahLst/>
          <a:cxnLst/>
          <a:rect l="0" t="0" r="0" b="0"/>
          <a:pathLst>
            <a:path>
              <a:moveTo>
                <a:pt x="0" y="17270"/>
              </a:moveTo>
              <a:lnTo>
                <a:pt x="335892" y="17270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2729026" y="1974339"/>
        <a:ext cx="16794" cy="16794"/>
      </dsp:txXfrm>
    </dsp:sp>
    <dsp:sp modelId="{89E08534-49E7-824B-8094-3783899AF4AA}">
      <dsp:nvSpPr>
        <dsp:cNvPr id="0" name=""/>
        <dsp:cNvSpPr/>
      </dsp:nvSpPr>
      <dsp:spPr>
        <a:xfrm>
          <a:off x="1312351" y="868051"/>
          <a:ext cx="1370992" cy="1375381"/>
        </a:xfrm>
        <a:prstGeom prst="ellipse">
          <a:avLst/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shade val="51000"/>
                <a:satMod val="130000"/>
              </a:schemeClr>
            </a:gs>
            <a:gs pos="80000">
              <a:schemeClr val="accent4">
                <a:hueOff val="-4464770"/>
                <a:satOff val="26899"/>
                <a:lumOff val="2156"/>
                <a:alphaOff val="0"/>
                <a:shade val="93000"/>
                <a:satMod val="13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latin typeface="Arial" panose="020B0604020202020204" pitchFamily="34" charset="0"/>
              <a:cs typeface="Arial" panose="020B0604020202020204" pitchFamily="34" charset="0"/>
            </a:rPr>
            <a:t>Reduced-rate services</a:t>
          </a:r>
          <a:endParaRPr lang="en-US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513128" y="1069471"/>
        <a:ext cx="969438" cy="97254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3FFAC8-9D57-5D42-976A-3A090267BD65}">
      <dsp:nvSpPr>
        <dsp:cNvPr id="0" name=""/>
        <dsp:cNvSpPr/>
      </dsp:nvSpPr>
      <dsp:spPr>
        <a:xfrm>
          <a:off x="3459554" y="173906"/>
          <a:ext cx="1767692" cy="88501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Management</a:t>
          </a:r>
          <a:r>
            <a:rPr lang="en-US" sz="2000" kern="1200" dirty="0" smtClean="0"/>
            <a:t> team</a:t>
          </a:r>
          <a:endParaRPr lang="en-US" sz="2000" kern="1200" dirty="0"/>
        </a:p>
      </dsp:txBody>
      <dsp:txXfrm>
        <a:off x="3502757" y="217109"/>
        <a:ext cx="1681286" cy="798604"/>
      </dsp:txXfrm>
    </dsp:sp>
    <dsp:sp modelId="{DF8272F8-73C7-7D44-BD50-05F40585F015}">
      <dsp:nvSpPr>
        <dsp:cNvPr id="0" name=""/>
        <dsp:cNvSpPr/>
      </dsp:nvSpPr>
      <dsp:spPr>
        <a:xfrm>
          <a:off x="2180157" y="598367"/>
          <a:ext cx="4173229" cy="4173229"/>
        </a:xfrm>
        <a:custGeom>
          <a:avLst/>
          <a:gdLst/>
          <a:ahLst/>
          <a:cxnLst/>
          <a:rect l="0" t="0" r="0" b="0"/>
          <a:pathLst>
            <a:path>
              <a:moveTo>
                <a:pt x="3052200" y="236856"/>
              </a:moveTo>
              <a:arcTo wR="2086614" hR="2086614" stAng="17853890" swAng="933258"/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AF00D6-0B5A-A740-B88D-9BB7CA6E8E79}">
      <dsp:nvSpPr>
        <dsp:cNvPr id="0" name=""/>
        <dsp:cNvSpPr/>
      </dsp:nvSpPr>
      <dsp:spPr>
        <a:xfrm>
          <a:off x="5269836" y="1165834"/>
          <a:ext cx="1520924" cy="885010"/>
        </a:xfrm>
        <a:prstGeom prst="roundRect">
          <a:avLst/>
        </a:prstGeom>
        <a:gradFill rotWithShape="0">
          <a:gsLst>
            <a:gs pos="0">
              <a:schemeClr val="accent4">
                <a:hueOff val="-892954"/>
                <a:satOff val="5380"/>
                <a:lumOff val="431"/>
                <a:alphaOff val="0"/>
                <a:shade val="51000"/>
                <a:satMod val="130000"/>
              </a:schemeClr>
            </a:gs>
            <a:gs pos="80000">
              <a:schemeClr val="accent4">
                <a:hueOff val="-892954"/>
                <a:satOff val="5380"/>
                <a:lumOff val="431"/>
                <a:alphaOff val="0"/>
                <a:shade val="93000"/>
                <a:satMod val="130000"/>
              </a:schemeClr>
            </a:gs>
            <a:gs pos="100000">
              <a:schemeClr val="accent4">
                <a:hueOff val="-892954"/>
                <a:satOff val="5380"/>
                <a:lumOff val="43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Target market</a:t>
          </a:r>
          <a:endParaRPr lang="en-US" sz="2000" kern="1200" dirty="0"/>
        </a:p>
      </dsp:txBody>
      <dsp:txXfrm>
        <a:off x="5313039" y="1209037"/>
        <a:ext cx="1434518" cy="798604"/>
      </dsp:txXfrm>
    </dsp:sp>
    <dsp:sp modelId="{5A7725D2-50C9-5144-8A42-6210621A2EC5}">
      <dsp:nvSpPr>
        <dsp:cNvPr id="0" name=""/>
        <dsp:cNvSpPr/>
      </dsp:nvSpPr>
      <dsp:spPr>
        <a:xfrm>
          <a:off x="2088228" y="444892"/>
          <a:ext cx="4173229" cy="4173229"/>
        </a:xfrm>
        <a:custGeom>
          <a:avLst/>
          <a:gdLst/>
          <a:ahLst/>
          <a:cxnLst/>
          <a:rect l="0" t="0" r="0" b="0"/>
          <a:pathLst>
            <a:path>
              <a:moveTo>
                <a:pt x="4119306" y="1615312"/>
              </a:moveTo>
              <a:arcTo wR="2086614" hR="2086614" stAng="20816760" swAng="1566480"/>
            </a:path>
          </a:pathLst>
        </a:custGeom>
        <a:noFill/>
        <a:ln w="9525" cap="flat" cmpd="sng" algn="ctr">
          <a:solidFill>
            <a:schemeClr val="accent4">
              <a:hueOff val="-892954"/>
              <a:satOff val="5380"/>
              <a:lumOff val="431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41CC5D-F26B-CC43-A50A-BBA2D6E04231}">
      <dsp:nvSpPr>
        <dsp:cNvPr id="0" name=""/>
        <dsp:cNvSpPr/>
      </dsp:nvSpPr>
      <dsp:spPr>
        <a:xfrm>
          <a:off x="5269836" y="3012168"/>
          <a:ext cx="1520924" cy="885010"/>
        </a:xfrm>
        <a:prstGeom prst="roundRect">
          <a:avLst/>
        </a:prstGeom>
        <a:gradFill rotWithShape="0">
          <a:gsLst>
            <a:gs pos="0">
              <a:schemeClr val="accent4">
                <a:hueOff val="-1785908"/>
                <a:satOff val="10760"/>
                <a:lumOff val="862"/>
                <a:alphaOff val="0"/>
                <a:shade val="51000"/>
                <a:satMod val="130000"/>
              </a:schemeClr>
            </a:gs>
            <a:gs pos="80000">
              <a:schemeClr val="accent4">
                <a:hueOff val="-1785908"/>
                <a:satOff val="10760"/>
                <a:lumOff val="862"/>
                <a:alphaOff val="0"/>
                <a:shade val="93000"/>
                <a:satMod val="130000"/>
              </a:schemeClr>
            </a:gs>
            <a:gs pos="100000">
              <a:schemeClr val="accent4">
                <a:hueOff val="-1785908"/>
                <a:satOff val="10760"/>
                <a:lumOff val="86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Product/ service</a:t>
          </a:r>
          <a:endParaRPr lang="en-US" sz="2000" kern="1200" dirty="0"/>
        </a:p>
      </dsp:txBody>
      <dsp:txXfrm>
        <a:off x="5313039" y="3055371"/>
        <a:ext cx="1434518" cy="798604"/>
      </dsp:txXfrm>
    </dsp:sp>
    <dsp:sp modelId="{A969B9C1-19AA-2E44-8C94-5F049B4DAFE5}">
      <dsp:nvSpPr>
        <dsp:cNvPr id="0" name=""/>
        <dsp:cNvSpPr/>
      </dsp:nvSpPr>
      <dsp:spPr>
        <a:xfrm>
          <a:off x="2180621" y="290980"/>
          <a:ext cx="4173229" cy="4173229"/>
        </a:xfrm>
        <a:custGeom>
          <a:avLst/>
          <a:gdLst/>
          <a:ahLst/>
          <a:cxnLst/>
          <a:rect l="0" t="0" r="0" b="0"/>
          <a:pathLst>
            <a:path>
              <a:moveTo>
                <a:pt x="3511401" y="3611063"/>
              </a:moveTo>
              <a:arcTo wR="2086614" hR="2086614" stAng="2816125" swAng="1153907"/>
            </a:path>
          </a:pathLst>
        </a:custGeom>
        <a:noFill/>
        <a:ln w="9525" cap="flat" cmpd="sng" algn="ctr">
          <a:solidFill>
            <a:schemeClr val="accent4">
              <a:hueOff val="-1785908"/>
              <a:satOff val="10760"/>
              <a:lumOff val="862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9450A7-1011-7E4E-864F-D18213E3C45B}">
      <dsp:nvSpPr>
        <dsp:cNvPr id="0" name=""/>
        <dsp:cNvSpPr/>
      </dsp:nvSpPr>
      <dsp:spPr>
        <a:xfrm>
          <a:off x="3582938" y="4004096"/>
          <a:ext cx="1520924" cy="885010"/>
        </a:xfrm>
        <a:prstGeom prst="roundRect">
          <a:avLst/>
        </a:prstGeom>
        <a:gradFill rotWithShape="0">
          <a:gsLst>
            <a:gs pos="0">
              <a:schemeClr val="accent4">
                <a:hueOff val="-2678862"/>
                <a:satOff val="16139"/>
                <a:lumOff val="1294"/>
                <a:alphaOff val="0"/>
                <a:shade val="51000"/>
                <a:satMod val="130000"/>
              </a:schemeClr>
            </a:gs>
            <a:gs pos="80000">
              <a:schemeClr val="accent4">
                <a:hueOff val="-2678862"/>
                <a:satOff val="16139"/>
                <a:lumOff val="1294"/>
                <a:alphaOff val="0"/>
                <a:shade val="93000"/>
                <a:satMod val="130000"/>
              </a:schemeClr>
            </a:gs>
            <a:gs pos="100000">
              <a:schemeClr val="accent4">
                <a:hueOff val="-2678862"/>
                <a:satOff val="16139"/>
                <a:lumOff val="129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Competitive positioning</a:t>
          </a:r>
          <a:endParaRPr lang="en-US" sz="2000" kern="1200" dirty="0"/>
        </a:p>
      </dsp:txBody>
      <dsp:txXfrm>
        <a:off x="3626141" y="4047299"/>
        <a:ext cx="1434518" cy="798604"/>
      </dsp:txXfrm>
    </dsp:sp>
    <dsp:sp modelId="{1E90D456-984E-C84E-A5B2-159FFB94E678}">
      <dsp:nvSpPr>
        <dsp:cNvPr id="0" name=""/>
        <dsp:cNvSpPr/>
      </dsp:nvSpPr>
      <dsp:spPr>
        <a:xfrm>
          <a:off x="2333005" y="291004"/>
          <a:ext cx="4173229" cy="4173229"/>
        </a:xfrm>
        <a:custGeom>
          <a:avLst/>
          <a:gdLst/>
          <a:ahLst/>
          <a:cxnLst/>
          <a:rect l="0" t="0" r="0" b="0"/>
          <a:pathLst>
            <a:path>
              <a:moveTo>
                <a:pt x="1243423" y="3995276"/>
              </a:moveTo>
              <a:arcTo wR="2086614" hR="2086614" stAng="6830067" swAng="1153876"/>
            </a:path>
          </a:pathLst>
        </a:custGeom>
        <a:noFill/>
        <a:ln w="9525" cap="flat" cmpd="sng" algn="ctr">
          <a:solidFill>
            <a:schemeClr val="accent4">
              <a:hueOff val="-2678862"/>
              <a:satOff val="16139"/>
              <a:lumOff val="1294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90AD44-2381-6747-AE60-D7BD2C47D31C}">
      <dsp:nvSpPr>
        <dsp:cNvPr id="0" name=""/>
        <dsp:cNvSpPr/>
      </dsp:nvSpPr>
      <dsp:spPr>
        <a:xfrm>
          <a:off x="1896062" y="3012164"/>
          <a:ext cx="1520924" cy="885010"/>
        </a:xfrm>
        <a:prstGeom prst="roundRect">
          <a:avLst/>
        </a:prstGeom>
        <a:gradFill rotWithShape="0">
          <a:gsLst>
            <a:gs pos="0">
              <a:schemeClr val="accent4">
                <a:hueOff val="-3571816"/>
                <a:satOff val="21519"/>
                <a:lumOff val="1725"/>
                <a:alphaOff val="0"/>
                <a:shade val="51000"/>
                <a:satMod val="130000"/>
              </a:schemeClr>
            </a:gs>
            <a:gs pos="80000">
              <a:schemeClr val="accent4">
                <a:hueOff val="-3571816"/>
                <a:satOff val="21519"/>
                <a:lumOff val="1725"/>
                <a:alphaOff val="0"/>
                <a:shade val="93000"/>
                <a:satMod val="130000"/>
              </a:schemeClr>
            </a:gs>
            <a:gs pos="100000">
              <a:schemeClr val="accent4">
                <a:hueOff val="-3571816"/>
                <a:satOff val="21519"/>
                <a:lumOff val="172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Financial return</a:t>
          </a:r>
          <a:endParaRPr lang="en-US" sz="2000" kern="1200" dirty="0"/>
        </a:p>
      </dsp:txBody>
      <dsp:txXfrm>
        <a:off x="1939265" y="3055367"/>
        <a:ext cx="1434518" cy="798604"/>
      </dsp:txXfrm>
    </dsp:sp>
    <dsp:sp modelId="{01CB0F76-AF77-F14B-8BD2-1B78B923F790}">
      <dsp:nvSpPr>
        <dsp:cNvPr id="0" name=""/>
        <dsp:cNvSpPr/>
      </dsp:nvSpPr>
      <dsp:spPr>
        <a:xfrm>
          <a:off x="2429377" y="462170"/>
          <a:ext cx="4173229" cy="4173229"/>
        </a:xfrm>
        <a:custGeom>
          <a:avLst/>
          <a:gdLst/>
          <a:ahLst/>
          <a:cxnLst/>
          <a:rect l="0" t="0" r="0" b="0"/>
          <a:pathLst>
            <a:path>
              <a:moveTo>
                <a:pt x="50026" y="2540783"/>
              </a:moveTo>
              <a:arcTo wR="2086614" hR="2086614" stAng="10045708" swAng="1538022"/>
            </a:path>
          </a:pathLst>
        </a:custGeom>
        <a:noFill/>
        <a:ln w="9525" cap="flat" cmpd="sng" algn="ctr">
          <a:solidFill>
            <a:schemeClr val="accent4">
              <a:hueOff val="-3571816"/>
              <a:satOff val="21519"/>
              <a:lumOff val="1725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D834D4-DD07-D044-BC28-8C3DB6ADC58A}">
      <dsp:nvSpPr>
        <dsp:cNvPr id="0" name=""/>
        <dsp:cNvSpPr/>
      </dsp:nvSpPr>
      <dsp:spPr>
        <a:xfrm>
          <a:off x="1896020" y="1182990"/>
          <a:ext cx="1520924" cy="885010"/>
        </a:xfrm>
        <a:prstGeom prst="roundRect">
          <a:avLst/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shade val="51000"/>
                <a:satMod val="130000"/>
              </a:schemeClr>
            </a:gs>
            <a:gs pos="80000">
              <a:schemeClr val="accent4">
                <a:hueOff val="-4464770"/>
                <a:satOff val="26899"/>
                <a:lumOff val="2156"/>
                <a:alphaOff val="0"/>
                <a:shade val="93000"/>
                <a:satMod val="13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Business plan</a:t>
          </a:r>
          <a:endParaRPr lang="en-US" sz="2000" kern="1200" dirty="0"/>
        </a:p>
      </dsp:txBody>
      <dsp:txXfrm>
        <a:off x="1939223" y="1226193"/>
        <a:ext cx="1434518" cy="798604"/>
      </dsp:txXfrm>
    </dsp:sp>
    <dsp:sp modelId="{F268BF64-8F25-D747-9FC2-DBA1C00C35E6}">
      <dsp:nvSpPr>
        <dsp:cNvPr id="0" name=""/>
        <dsp:cNvSpPr/>
      </dsp:nvSpPr>
      <dsp:spPr>
        <a:xfrm>
          <a:off x="2360448" y="584097"/>
          <a:ext cx="4173229" cy="4173229"/>
        </a:xfrm>
        <a:custGeom>
          <a:avLst/>
          <a:gdLst/>
          <a:ahLst/>
          <a:cxnLst/>
          <a:rect l="0" t="0" r="0" b="0"/>
          <a:pathLst>
            <a:path>
              <a:moveTo>
                <a:pt x="627738" y="594756"/>
              </a:moveTo>
              <a:arcTo wR="2086614" hR="2086614" stAng="13538424" swAng="957080"/>
            </a:path>
          </a:pathLst>
        </a:custGeom>
        <a:noFill/>
        <a:ln w="9525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209E30-0677-824B-BDFF-31158D113FD5}">
      <dsp:nvSpPr>
        <dsp:cNvPr id="0" name=""/>
        <dsp:cNvSpPr/>
      </dsp:nvSpPr>
      <dsp:spPr>
        <a:xfrm>
          <a:off x="1564085" y="283978"/>
          <a:ext cx="4585849" cy="4583935"/>
        </a:xfrm>
        <a:prstGeom prst="pie">
          <a:avLst>
            <a:gd name="adj1" fmla="val 16200000"/>
            <a:gd name="adj2" fmla="val 2052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Board of Directors</a:t>
          </a:r>
          <a:endParaRPr lang="en-US" sz="2000" b="1" kern="1200" dirty="0"/>
        </a:p>
      </dsp:txBody>
      <dsp:txXfrm>
        <a:off x="3956370" y="1054515"/>
        <a:ext cx="1474022" cy="982271"/>
      </dsp:txXfrm>
    </dsp:sp>
    <dsp:sp modelId="{9968E0DE-0F06-9145-AE23-DD347E54F413}">
      <dsp:nvSpPr>
        <dsp:cNvPr id="0" name=""/>
        <dsp:cNvSpPr/>
      </dsp:nvSpPr>
      <dsp:spPr>
        <a:xfrm>
          <a:off x="1719563" y="517203"/>
          <a:ext cx="4349456" cy="4349456"/>
        </a:xfrm>
        <a:prstGeom prst="pie">
          <a:avLst>
            <a:gd name="adj1" fmla="val 20520000"/>
            <a:gd name="adj2" fmla="val 3240000"/>
          </a:avLst>
        </a:prstGeom>
        <a:gradFill rotWithShape="0">
          <a:gsLst>
            <a:gs pos="0">
              <a:schemeClr val="accent4">
                <a:hueOff val="-1116192"/>
                <a:satOff val="6725"/>
                <a:lumOff val="539"/>
                <a:alphaOff val="0"/>
                <a:shade val="51000"/>
                <a:satMod val="130000"/>
              </a:schemeClr>
            </a:gs>
            <a:gs pos="80000">
              <a:schemeClr val="accent4">
                <a:hueOff val="-1116192"/>
                <a:satOff val="6725"/>
                <a:lumOff val="539"/>
                <a:alphaOff val="0"/>
                <a:shade val="93000"/>
                <a:satMod val="130000"/>
              </a:schemeClr>
            </a:gs>
            <a:gs pos="100000">
              <a:schemeClr val="accent4">
                <a:hueOff val="-1116192"/>
                <a:satOff val="6725"/>
                <a:lumOff val="53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Patience</a:t>
          </a:r>
          <a:endParaRPr lang="en-US" sz="2000" b="1" kern="1200" dirty="0"/>
        </a:p>
      </dsp:txBody>
      <dsp:txXfrm>
        <a:off x="4520820" y="2504490"/>
        <a:ext cx="1294480" cy="1035584"/>
      </dsp:txXfrm>
    </dsp:sp>
    <dsp:sp modelId="{BB39FF4E-7176-3D49-9B2F-5ABCC951C184}">
      <dsp:nvSpPr>
        <dsp:cNvPr id="0" name=""/>
        <dsp:cNvSpPr/>
      </dsp:nvSpPr>
      <dsp:spPr>
        <a:xfrm>
          <a:off x="1387399" y="632827"/>
          <a:ext cx="4817022" cy="4261118"/>
        </a:xfrm>
        <a:prstGeom prst="pie">
          <a:avLst>
            <a:gd name="adj1" fmla="val 3240000"/>
            <a:gd name="adj2" fmla="val 7560000"/>
          </a:avLst>
        </a:prstGeom>
        <a:gradFill rotWithShape="0">
          <a:gsLst>
            <a:gs pos="0">
              <a:schemeClr val="accent4">
                <a:hueOff val="-2232385"/>
                <a:satOff val="13449"/>
                <a:lumOff val="1078"/>
                <a:alphaOff val="0"/>
                <a:shade val="51000"/>
                <a:satMod val="130000"/>
              </a:schemeClr>
            </a:gs>
            <a:gs pos="80000">
              <a:schemeClr val="accent4">
                <a:hueOff val="-2232385"/>
                <a:satOff val="13449"/>
                <a:lumOff val="1078"/>
                <a:alphaOff val="0"/>
                <a:shade val="93000"/>
                <a:satMod val="130000"/>
              </a:schemeClr>
            </a:gs>
            <a:gs pos="100000">
              <a:schemeClr val="accent4">
                <a:hueOff val="-2232385"/>
                <a:satOff val="13449"/>
                <a:lumOff val="107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6677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50" b="1" kern="1200" dirty="0" smtClean="0"/>
            <a:t>Availability</a:t>
          </a:r>
          <a:endParaRPr lang="en-US" sz="1950" b="1" kern="1200" dirty="0"/>
        </a:p>
      </dsp:txBody>
      <dsp:txXfrm>
        <a:off x="3107764" y="3625755"/>
        <a:ext cx="1376292" cy="1116007"/>
      </dsp:txXfrm>
    </dsp:sp>
    <dsp:sp modelId="{CD90AD66-4A6D-8742-8AC5-4F4645D30AE3}">
      <dsp:nvSpPr>
        <dsp:cNvPr id="0" name=""/>
        <dsp:cNvSpPr/>
      </dsp:nvSpPr>
      <dsp:spPr>
        <a:xfrm>
          <a:off x="1522802" y="517203"/>
          <a:ext cx="4349456" cy="4349456"/>
        </a:xfrm>
        <a:prstGeom prst="pie">
          <a:avLst>
            <a:gd name="adj1" fmla="val 7560000"/>
            <a:gd name="adj2" fmla="val 11880000"/>
          </a:avLst>
        </a:prstGeom>
        <a:gradFill rotWithShape="0">
          <a:gsLst>
            <a:gs pos="0">
              <a:schemeClr val="accent4">
                <a:hueOff val="-3348577"/>
                <a:satOff val="20174"/>
                <a:lumOff val="1617"/>
                <a:alphaOff val="0"/>
                <a:shade val="51000"/>
                <a:satMod val="130000"/>
              </a:schemeClr>
            </a:gs>
            <a:gs pos="80000">
              <a:schemeClr val="accent4">
                <a:hueOff val="-3348577"/>
                <a:satOff val="20174"/>
                <a:lumOff val="1617"/>
                <a:alphaOff val="0"/>
                <a:shade val="93000"/>
                <a:satMod val="130000"/>
              </a:schemeClr>
            </a:gs>
            <a:gs pos="100000">
              <a:schemeClr val="accent4">
                <a:hueOff val="-3348577"/>
                <a:satOff val="20174"/>
                <a:lumOff val="161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Deep Pockets </a:t>
          </a:r>
          <a:endParaRPr lang="en-US" sz="2000" b="1" kern="1200" dirty="0"/>
        </a:p>
      </dsp:txBody>
      <dsp:txXfrm>
        <a:off x="1776520" y="2504490"/>
        <a:ext cx="1294480" cy="1035584"/>
      </dsp:txXfrm>
    </dsp:sp>
    <dsp:sp modelId="{E14D6185-1060-3D4F-BE4A-B83A9E0D8BB8}">
      <dsp:nvSpPr>
        <dsp:cNvPr id="0" name=""/>
        <dsp:cNvSpPr/>
      </dsp:nvSpPr>
      <dsp:spPr>
        <a:xfrm>
          <a:off x="1560083" y="401217"/>
          <a:ext cx="4349456" cy="4349456"/>
        </a:xfrm>
        <a:prstGeom prst="pie">
          <a:avLst>
            <a:gd name="adj1" fmla="val 11880000"/>
            <a:gd name="adj2" fmla="val 16200000"/>
          </a:avLst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shade val="51000"/>
                <a:satMod val="130000"/>
              </a:schemeClr>
            </a:gs>
            <a:gs pos="80000">
              <a:schemeClr val="accent4">
                <a:hueOff val="-4464770"/>
                <a:satOff val="26899"/>
                <a:lumOff val="2156"/>
                <a:alphaOff val="0"/>
                <a:shade val="93000"/>
                <a:satMod val="13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Added Value</a:t>
          </a:r>
          <a:endParaRPr lang="en-US" sz="2000" b="1" kern="1200" dirty="0"/>
        </a:p>
      </dsp:txBody>
      <dsp:txXfrm>
        <a:off x="2242533" y="1132340"/>
        <a:ext cx="1398039" cy="932026"/>
      </dsp:txXfrm>
    </dsp:sp>
    <dsp:sp modelId="{AB49AD4F-E58A-B74E-9FA6-B508BDBD6071}">
      <dsp:nvSpPr>
        <dsp:cNvPr id="0" name=""/>
        <dsp:cNvSpPr/>
      </dsp:nvSpPr>
      <dsp:spPr>
        <a:xfrm>
          <a:off x="1411847" y="130995"/>
          <a:ext cx="4887960" cy="4887960"/>
        </a:xfrm>
        <a:prstGeom prst="circularArrow">
          <a:avLst>
            <a:gd name="adj1" fmla="val 5085"/>
            <a:gd name="adj2" fmla="val 327528"/>
            <a:gd name="adj3" fmla="val 20192361"/>
            <a:gd name="adj4" fmla="val 16200324"/>
            <a:gd name="adj5" fmla="val 5932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E433212-B2E7-6D45-BCFB-08BA10D1B5E7}">
      <dsp:nvSpPr>
        <dsp:cNvPr id="0" name=""/>
        <dsp:cNvSpPr/>
      </dsp:nvSpPr>
      <dsp:spPr>
        <a:xfrm>
          <a:off x="1450611" y="247912"/>
          <a:ext cx="4887960" cy="4887960"/>
        </a:xfrm>
        <a:prstGeom prst="circularArrow">
          <a:avLst>
            <a:gd name="adj1" fmla="val 5085"/>
            <a:gd name="adj2" fmla="val 327528"/>
            <a:gd name="adj3" fmla="val 2912753"/>
            <a:gd name="adj4" fmla="val 20519953"/>
            <a:gd name="adj5" fmla="val 5932"/>
          </a:avLst>
        </a:prstGeom>
        <a:gradFill rotWithShape="0">
          <a:gsLst>
            <a:gs pos="0">
              <a:schemeClr val="accent4">
                <a:hueOff val="-1116192"/>
                <a:satOff val="6725"/>
                <a:lumOff val="539"/>
                <a:alphaOff val="0"/>
                <a:shade val="51000"/>
                <a:satMod val="130000"/>
              </a:schemeClr>
            </a:gs>
            <a:gs pos="80000">
              <a:schemeClr val="accent4">
                <a:hueOff val="-1116192"/>
                <a:satOff val="6725"/>
                <a:lumOff val="539"/>
                <a:alphaOff val="0"/>
                <a:shade val="93000"/>
                <a:satMod val="130000"/>
              </a:schemeClr>
            </a:gs>
            <a:gs pos="100000">
              <a:schemeClr val="accent4">
                <a:hueOff val="-1116192"/>
                <a:satOff val="6725"/>
                <a:lumOff val="53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DBE74D3-B632-C84E-AAA7-BF09E439E8B5}">
      <dsp:nvSpPr>
        <dsp:cNvPr id="0" name=""/>
        <dsp:cNvSpPr/>
      </dsp:nvSpPr>
      <dsp:spPr>
        <a:xfrm>
          <a:off x="1349995" y="319952"/>
          <a:ext cx="4887960" cy="4887960"/>
        </a:xfrm>
        <a:prstGeom prst="circularArrow">
          <a:avLst>
            <a:gd name="adj1" fmla="val 5085"/>
            <a:gd name="adj2" fmla="val 327528"/>
            <a:gd name="adj3" fmla="val 7232777"/>
            <a:gd name="adj4" fmla="val 3239695"/>
            <a:gd name="adj5" fmla="val 5932"/>
          </a:avLst>
        </a:prstGeom>
        <a:gradFill rotWithShape="0">
          <a:gsLst>
            <a:gs pos="0">
              <a:schemeClr val="accent4">
                <a:hueOff val="-2232385"/>
                <a:satOff val="13449"/>
                <a:lumOff val="1078"/>
                <a:alphaOff val="0"/>
                <a:shade val="51000"/>
                <a:satMod val="130000"/>
              </a:schemeClr>
            </a:gs>
            <a:gs pos="80000">
              <a:schemeClr val="accent4">
                <a:hueOff val="-2232385"/>
                <a:satOff val="13449"/>
                <a:lumOff val="1078"/>
                <a:alphaOff val="0"/>
                <a:shade val="93000"/>
                <a:satMod val="130000"/>
              </a:schemeClr>
            </a:gs>
            <a:gs pos="100000">
              <a:schemeClr val="accent4">
                <a:hueOff val="-2232385"/>
                <a:satOff val="13449"/>
                <a:lumOff val="107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F4DB024-483C-7840-A8B9-D2F744BB3357}">
      <dsp:nvSpPr>
        <dsp:cNvPr id="0" name=""/>
        <dsp:cNvSpPr/>
      </dsp:nvSpPr>
      <dsp:spPr>
        <a:xfrm>
          <a:off x="1253249" y="247912"/>
          <a:ext cx="4887960" cy="4887960"/>
        </a:xfrm>
        <a:prstGeom prst="circularArrow">
          <a:avLst>
            <a:gd name="adj1" fmla="val 5085"/>
            <a:gd name="adj2" fmla="val 327528"/>
            <a:gd name="adj3" fmla="val 11552519"/>
            <a:gd name="adj4" fmla="val 7559718"/>
            <a:gd name="adj5" fmla="val 5932"/>
          </a:avLst>
        </a:prstGeom>
        <a:gradFill rotWithShape="0">
          <a:gsLst>
            <a:gs pos="0">
              <a:schemeClr val="accent4">
                <a:hueOff val="-3348577"/>
                <a:satOff val="20174"/>
                <a:lumOff val="1617"/>
                <a:alphaOff val="0"/>
                <a:shade val="51000"/>
                <a:satMod val="130000"/>
              </a:schemeClr>
            </a:gs>
            <a:gs pos="80000">
              <a:schemeClr val="accent4">
                <a:hueOff val="-3348577"/>
                <a:satOff val="20174"/>
                <a:lumOff val="1617"/>
                <a:alphaOff val="0"/>
                <a:shade val="93000"/>
                <a:satMod val="130000"/>
              </a:schemeClr>
            </a:gs>
            <a:gs pos="100000">
              <a:schemeClr val="accent4">
                <a:hueOff val="-3348577"/>
                <a:satOff val="20174"/>
                <a:lumOff val="161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2BC2C1B-9010-8743-AD8B-A03F79596341}">
      <dsp:nvSpPr>
        <dsp:cNvPr id="0" name=""/>
        <dsp:cNvSpPr/>
      </dsp:nvSpPr>
      <dsp:spPr>
        <a:xfrm>
          <a:off x="1291036" y="131965"/>
          <a:ext cx="4887960" cy="4887960"/>
        </a:xfrm>
        <a:prstGeom prst="circularArrow">
          <a:avLst>
            <a:gd name="adj1" fmla="val 5085"/>
            <a:gd name="adj2" fmla="val 327528"/>
            <a:gd name="adj3" fmla="val 15872148"/>
            <a:gd name="adj4" fmla="val 11880111"/>
            <a:gd name="adj5" fmla="val 5932"/>
          </a:avLst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shade val="51000"/>
                <a:satMod val="130000"/>
              </a:schemeClr>
            </a:gs>
            <a:gs pos="80000">
              <a:schemeClr val="accent4">
                <a:hueOff val="-4464770"/>
                <a:satOff val="26899"/>
                <a:lumOff val="2156"/>
                <a:alphaOff val="0"/>
                <a:shade val="93000"/>
                <a:satMod val="13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C87CC6-4366-A841-9F56-788A3EEB1EA5}">
      <dsp:nvSpPr>
        <dsp:cNvPr id="0" name=""/>
        <dsp:cNvSpPr/>
      </dsp:nvSpPr>
      <dsp:spPr>
        <a:xfrm>
          <a:off x="0" y="460"/>
          <a:ext cx="1876831" cy="150983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Arial" panose="020B0604020202020204" pitchFamily="34" charset="0"/>
              <a:cs typeface="Arial" panose="020B0604020202020204" pitchFamily="34" charset="0"/>
            </a:rPr>
            <a:t>Founder &amp; CEO</a:t>
          </a:r>
          <a:endParaRPr lang="en-US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4222" y="44682"/>
        <a:ext cx="1788387" cy="1421390"/>
      </dsp:txXfrm>
    </dsp:sp>
    <dsp:sp modelId="{F431C37C-30C4-0944-9B35-98CC4BF6B7AC}">
      <dsp:nvSpPr>
        <dsp:cNvPr id="0" name=""/>
        <dsp:cNvSpPr/>
      </dsp:nvSpPr>
      <dsp:spPr>
        <a:xfrm rot="5400000">
          <a:off x="655321" y="1548041"/>
          <a:ext cx="566188" cy="67942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800" kern="1200"/>
        </a:p>
      </dsp:txBody>
      <dsp:txXfrm rot="-5400000">
        <a:off x="734588" y="1604659"/>
        <a:ext cx="407655" cy="396332"/>
      </dsp:txXfrm>
    </dsp:sp>
    <dsp:sp modelId="{521F9E78-DBC3-E045-8C23-E2A9C097DEA4}">
      <dsp:nvSpPr>
        <dsp:cNvPr id="0" name=""/>
        <dsp:cNvSpPr/>
      </dsp:nvSpPr>
      <dsp:spPr>
        <a:xfrm>
          <a:off x="0" y="2265213"/>
          <a:ext cx="1876831" cy="150983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 smtClean="0">
              <a:latin typeface="Arial" panose="020B0604020202020204" pitchFamily="34" charset="0"/>
              <a:cs typeface="Arial" panose="020B0604020202020204" pitchFamily="34" charset="0"/>
            </a:rPr>
            <a:t>Selling a “baby” can be traumatic</a:t>
          </a:r>
          <a:endParaRPr lang="en-US" sz="2000" b="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4222" y="2309435"/>
        <a:ext cx="1788387" cy="142139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C87CC6-4366-A841-9F56-788A3EEB1EA5}">
      <dsp:nvSpPr>
        <dsp:cNvPr id="0" name=""/>
        <dsp:cNvSpPr/>
      </dsp:nvSpPr>
      <dsp:spPr>
        <a:xfrm>
          <a:off x="0" y="2303"/>
          <a:ext cx="1876831" cy="150836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Arial" panose="020B0604020202020204" pitchFamily="34" charset="0"/>
              <a:cs typeface="Arial" panose="020B0604020202020204" pitchFamily="34" charset="0"/>
            </a:rPr>
            <a:t>Management</a:t>
          </a:r>
          <a:endParaRPr lang="en-US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4178" y="46481"/>
        <a:ext cx="1788475" cy="1420004"/>
      </dsp:txXfrm>
    </dsp:sp>
    <dsp:sp modelId="{F431C37C-30C4-0944-9B35-98CC4BF6B7AC}">
      <dsp:nvSpPr>
        <dsp:cNvPr id="0" name=""/>
        <dsp:cNvSpPr/>
      </dsp:nvSpPr>
      <dsp:spPr>
        <a:xfrm rot="5400000">
          <a:off x="655597" y="1548373"/>
          <a:ext cx="565635" cy="67876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800" kern="1200"/>
        </a:p>
      </dsp:txBody>
      <dsp:txXfrm rot="-5400000">
        <a:off x="734786" y="1604936"/>
        <a:ext cx="407258" cy="395945"/>
      </dsp:txXfrm>
    </dsp:sp>
    <dsp:sp modelId="{521F9E78-DBC3-E045-8C23-E2A9C097DEA4}">
      <dsp:nvSpPr>
        <dsp:cNvPr id="0" name=""/>
        <dsp:cNvSpPr/>
      </dsp:nvSpPr>
      <dsp:spPr>
        <a:xfrm>
          <a:off x="0" y="2264844"/>
          <a:ext cx="1876831" cy="150836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 smtClean="0">
              <a:latin typeface="Arial" panose="020B0604020202020204" pitchFamily="34" charset="0"/>
              <a:cs typeface="Arial" panose="020B0604020202020204" pitchFamily="34" charset="0"/>
            </a:rPr>
            <a:t>Executives can stay focused on growing the company</a:t>
          </a:r>
          <a:endParaRPr lang="en-US" sz="2000" b="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4178" y="2309022"/>
        <a:ext cx="1788475" cy="142000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C87CC6-4366-A841-9F56-788A3EEB1EA5}">
      <dsp:nvSpPr>
        <dsp:cNvPr id="0" name=""/>
        <dsp:cNvSpPr/>
      </dsp:nvSpPr>
      <dsp:spPr>
        <a:xfrm>
          <a:off x="0" y="460"/>
          <a:ext cx="1876831" cy="150983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Arial" panose="020B0604020202020204" pitchFamily="34" charset="0"/>
              <a:cs typeface="Arial" panose="020B0604020202020204" pitchFamily="34" charset="0"/>
            </a:rPr>
            <a:t>Company</a:t>
          </a:r>
          <a:endParaRPr lang="en-US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4222" y="44682"/>
        <a:ext cx="1788387" cy="1421390"/>
      </dsp:txXfrm>
    </dsp:sp>
    <dsp:sp modelId="{F431C37C-30C4-0944-9B35-98CC4BF6B7AC}">
      <dsp:nvSpPr>
        <dsp:cNvPr id="0" name=""/>
        <dsp:cNvSpPr/>
      </dsp:nvSpPr>
      <dsp:spPr>
        <a:xfrm rot="5400000">
          <a:off x="655321" y="1548041"/>
          <a:ext cx="566188" cy="67942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800" kern="1200"/>
        </a:p>
      </dsp:txBody>
      <dsp:txXfrm rot="-5400000">
        <a:off x="734588" y="1604659"/>
        <a:ext cx="407655" cy="396332"/>
      </dsp:txXfrm>
    </dsp:sp>
    <dsp:sp modelId="{521F9E78-DBC3-E045-8C23-E2A9C097DEA4}">
      <dsp:nvSpPr>
        <dsp:cNvPr id="0" name=""/>
        <dsp:cNvSpPr/>
      </dsp:nvSpPr>
      <dsp:spPr>
        <a:xfrm>
          <a:off x="0" y="2265213"/>
          <a:ext cx="1876831" cy="150983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 smtClean="0">
              <a:latin typeface="Arial" panose="020B0604020202020204" pitchFamily="34" charset="0"/>
              <a:cs typeface="Arial" panose="020B0604020202020204" pitchFamily="34" charset="0"/>
            </a:rPr>
            <a:t>The buyer usually has deep pockets</a:t>
          </a:r>
          <a:endParaRPr lang="en-US" sz="2000" b="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4222" y="2309435"/>
        <a:ext cx="1788387" cy="142139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C87CC6-4366-A841-9F56-788A3EEB1EA5}">
      <dsp:nvSpPr>
        <dsp:cNvPr id="0" name=""/>
        <dsp:cNvSpPr/>
      </dsp:nvSpPr>
      <dsp:spPr>
        <a:xfrm>
          <a:off x="0" y="460"/>
          <a:ext cx="1876831" cy="150983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Arial" panose="020B0604020202020204" pitchFamily="34" charset="0"/>
              <a:cs typeface="Arial" panose="020B0604020202020204" pitchFamily="34" charset="0"/>
            </a:rPr>
            <a:t>Investors</a:t>
          </a:r>
          <a:endParaRPr lang="en-US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4222" y="44682"/>
        <a:ext cx="1788387" cy="1421390"/>
      </dsp:txXfrm>
    </dsp:sp>
    <dsp:sp modelId="{F431C37C-30C4-0944-9B35-98CC4BF6B7AC}">
      <dsp:nvSpPr>
        <dsp:cNvPr id="0" name=""/>
        <dsp:cNvSpPr/>
      </dsp:nvSpPr>
      <dsp:spPr>
        <a:xfrm rot="5400000">
          <a:off x="655321" y="1548041"/>
          <a:ext cx="566188" cy="67942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800" kern="1200"/>
        </a:p>
      </dsp:txBody>
      <dsp:txXfrm rot="-5400000">
        <a:off x="734588" y="1604659"/>
        <a:ext cx="407655" cy="396332"/>
      </dsp:txXfrm>
    </dsp:sp>
    <dsp:sp modelId="{521F9E78-DBC3-E045-8C23-E2A9C097DEA4}">
      <dsp:nvSpPr>
        <dsp:cNvPr id="0" name=""/>
        <dsp:cNvSpPr/>
      </dsp:nvSpPr>
      <dsp:spPr>
        <a:xfrm>
          <a:off x="0" y="2265213"/>
          <a:ext cx="1876831" cy="150983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 smtClean="0">
              <a:latin typeface="Arial" panose="020B0604020202020204" pitchFamily="34" charset="0"/>
              <a:cs typeface="Arial" panose="020B0604020202020204" pitchFamily="34" charset="0"/>
            </a:rPr>
            <a:t>Investors easily exit their investment</a:t>
          </a:r>
          <a:endParaRPr lang="en-US" sz="2000" b="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4222" y="2309435"/>
        <a:ext cx="1788387" cy="142139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C87CC6-4366-A841-9F56-788A3EEB1EA5}">
      <dsp:nvSpPr>
        <dsp:cNvPr id="0" name=""/>
        <dsp:cNvSpPr/>
      </dsp:nvSpPr>
      <dsp:spPr>
        <a:xfrm>
          <a:off x="0" y="460"/>
          <a:ext cx="1876831" cy="150983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Arial" panose="020B0604020202020204" pitchFamily="34" charset="0"/>
              <a:cs typeface="Arial" panose="020B0604020202020204" pitchFamily="34" charset="0"/>
            </a:rPr>
            <a:t>Converting Stock</a:t>
          </a:r>
          <a:endParaRPr lang="en-US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4222" y="44682"/>
        <a:ext cx="1788387" cy="1421390"/>
      </dsp:txXfrm>
    </dsp:sp>
    <dsp:sp modelId="{F431C37C-30C4-0944-9B35-98CC4BF6B7AC}">
      <dsp:nvSpPr>
        <dsp:cNvPr id="0" name=""/>
        <dsp:cNvSpPr/>
      </dsp:nvSpPr>
      <dsp:spPr>
        <a:xfrm rot="5400000">
          <a:off x="655321" y="1548041"/>
          <a:ext cx="566188" cy="67942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800" kern="1200"/>
        </a:p>
      </dsp:txBody>
      <dsp:txXfrm rot="-5400000">
        <a:off x="734588" y="1604659"/>
        <a:ext cx="407655" cy="396332"/>
      </dsp:txXfrm>
    </dsp:sp>
    <dsp:sp modelId="{521F9E78-DBC3-E045-8C23-E2A9C097DEA4}">
      <dsp:nvSpPr>
        <dsp:cNvPr id="0" name=""/>
        <dsp:cNvSpPr/>
      </dsp:nvSpPr>
      <dsp:spPr>
        <a:xfrm>
          <a:off x="0" y="2265213"/>
          <a:ext cx="1876831" cy="150983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 smtClean="0">
              <a:latin typeface="Arial" panose="020B0604020202020204" pitchFamily="34" charset="0"/>
              <a:cs typeface="Arial" panose="020B0604020202020204" pitchFamily="34" charset="0"/>
            </a:rPr>
            <a:t>Entrepreneur &amp; employees get cash right away</a:t>
          </a:r>
          <a:endParaRPr lang="en-US" sz="2000" b="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4222" y="2309435"/>
        <a:ext cx="1788387" cy="142139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C87CC6-4366-A841-9F56-788A3EEB1EA5}">
      <dsp:nvSpPr>
        <dsp:cNvPr id="0" name=""/>
        <dsp:cNvSpPr/>
      </dsp:nvSpPr>
      <dsp:spPr>
        <a:xfrm>
          <a:off x="0" y="0"/>
          <a:ext cx="1876831" cy="150983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Arial" panose="020B0604020202020204" pitchFamily="34" charset="0"/>
              <a:cs typeface="Arial" panose="020B0604020202020204" pitchFamily="34" charset="0"/>
            </a:rPr>
            <a:t>Culture</a:t>
          </a:r>
          <a:endParaRPr lang="en-US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4222" y="44222"/>
        <a:ext cx="1788387" cy="1421390"/>
      </dsp:txXfrm>
    </dsp:sp>
    <dsp:sp modelId="{F431C37C-30C4-0944-9B35-98CC4BF6B7AC}">
      <dsp:nvSpPr>
        <dsp:cNvPr id="0" name=""/>
        <dsp:cNvSpPr/>
      </dsp:nvSpPr>
      <dsp:spPr>
        <a:xfrm rot="5400000">
          <a:off x="655148" y="1547811"/>
          <a:ext cx="566533" cy="67942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800" kern="1200"/>
        </a:p>
      </dsp:txBody>
      <dsp:txXfrm rot="-5400000">
        <a:off x="734587" y="1604257"/>
        <a:ext cx="407655" cy="396573"/>
      </dsp:txXfrm>
    </dsp:sp>
    <dsp:sp modelId="{521F9E78-DBC3-E045-8C23-E2A9C097DEA4}">
      <dsp:nvSpPr>
        <dsp:cNvPr id="0" name=""/>
        <dsp:cNvSpPr/>
      </dsp:nvSpPr>
      <dsp:spPr>
        <a:xfrm>
          <a:off x="0" y="2265213"/>
          <a:ext cx="1876831" cy="150983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 smtClean="0">
              <a:latin typeface="Arial" panose="020B0604020202020204" pitchFamily="34" charset="0"/>
              <a:cs typeface="Arial" panose="020B0604020202020204" pitchFamily="34" charset="0"/>
            </a:rPr>
            <a:t>Could be a clash of cultures</a:t>
          </a:r>
          <a:endParaRPr lang="en-US" sz="2000" b="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4222" y="2309435"/>
        <a:ext cx="1788387" cy="142139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C87CC6-4366-A841-9F56-788A3EEB1EA5}">
      <dsp:nvSpPr>
        <dsp:cNvPr id="0" name=""/>
        <dsp:cNvSpPr/>
      </dsp:nvSpPr>
      <dsp:spPr>
        <a:xfrm>
          <a:off x="0" y="0"/>
          <a:ext cx="1876831" cy="150836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Arial" panose="020B0604020202020204" pitchFamily="34" charset="0"/>
              <a:cs typeface="Arial" panose="020B0604020202020204" pitchFamily="34" charset="0"/>
            </a:rPr>
            <a:t>Employment Agreement</a:t>
          </a:r>
          <a:endParaRPr lang="en-US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4178" y="44178"/>
        <a:ext cx="1788475" cy="1420004"/>
      </dsp:txXfrm>
    </dsp:sp>
    <dsp:sp modelId="{F431C37C-30C4-0944-9B35-98CC4BF6B7AC}">
      <dsp:nvSpPr>
        <dsp:cNvPr id="0" name=""/>
        <dsp:cNvSpPr/>
      </dsp:nvSpPr>
      <dsp:spPr>
        <a:xfrm rot="5400000">
          <a:off x="654733" y="1547221"/>
          <a:ext cx="567363" cy="67876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800" kern="1200"/>
        </a:p>
      </dsp:txBody>
      <dsp:txXfrm rot="-5400000">
        <a:off x="734786" y="1602921"/>
        <a:ext cx="407258" cy="397154"/>
      </dsp:txXfrm>
    </dsp:sp>
    <dsp:sp modelId="{521F9E78-DBC3-E045-8C23-E2A9C097DEA4}">
      <dsp:nvSpPr>
        <dsp:cNvPr id="0" name=""/>
        <dsp:cNvSpPr/>
      </dsp:nvSpPr>
      <dsp:spPr>
        <a:xfrm>
          <a:off x="0" y="2264844"/>
          <a:ext cx="1876831" cy="150836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 smtClean="0">
              <a:latin typeface="Arial" panose="020B0604020202020204" pitchFamily="34" charset="0"/>
              <a:cs typeface="Arial" panose="020B0604020202020204" pitchFamily="34" charset="0"/>
            </a:rPr>
            <a:t>Key employees may need to sign a non-compete</a:t>
          </a:r>
          <a:endParaRPr lang="en-US" sz="2000" b="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4178" y="2309022"/>
        <a:ext cx="1788475" cy="1420004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C87CC6-4366-A841-9F56-788A3EEB1EA5}">
      <dsp:nvSpPr>
        <dsp:cNvPr id="0" name=""/>
        <dsp:cNvSpPr/>
      </dsp:nvSpPr>
      <dsp:spPr>
        <a:xfrm>
          <a:off x="0" y="0"/>
          <a:ext cx="1876831" cy="150983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Arial" panose="020B0604020202020204" pitchFamily="34" charset="0"/>
              <a:cs typeface="Arial" panose="020B0604020202020204" pitchFamily="34" charset="0"/>
            </a:rPr>
            <a:t>Costs</a:t>
          </a:r>
          <a:endParaRPr lang="en-US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4222" y="44222"/>
        <a:ext cx="1788387" cy="1421390"/>
      </dsp:txXfrm>
    </dsp:sp>
    <dsp:sp modelId="{F431C37C-30C4-0944-9B35-98CC4BF6B7AC}">
      <dsp:nvSpPr>
        <dsp:cNvPr id="0" name=""/>
        <dsp:cNvSpPr/>
      </dsp:nvSpPr>
      <dsp:spPr>
        <a:xfrm rot="5400000">
          <a:off x="655148" y="1547811"/>
          <a:ext cx="566533" cy="67942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800" kern="1200"/>
        </a:p>
      </dsp:txBody>
      <dsp:txXfrm rot="-5400000">
        <a:off x="734587" y="1604257"/>
        <a:ext cx="407655" cy="396573"/>
      </dsp:txXfrm>
    </dsp:sp>
    <dsp:sp modelId="{521F9E78-DBC3-E045-8C23-E2A9C097DEA4}">
      <dsp:nvSpPr>
        <dsp:cNvPr id="0" name=""/>
        <dsp:cNvSpPr/>
      </dsp:nvSpPr>
      <dsp:spPr>
        <a:xfrm>
          <a:off x="0" y="2265213"/>
          <a:ext cx="1876831" cy="150983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 smtClean="0">
              <a:latin typeface="Arial" panose="020B0604020202020204" pitchFamily="34" charset="0"/>
              <a:cs typeface="Arial" panose="020B0604020202020204" pitchFamily="34" charset="0"/>
            </a:rPr>
            <a:t>Expenses are lower than an IPO</a:t>
          </a:r>
          <a:endParaRPr lang="en-US" sz="2000" b="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4222" y="2309435"/>
        <a:ext cx="1788387" cy="14213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9EA323-5602-4E8D-88A5-4D5FC0E150C5}" type="datetimeFigureOut">
              <a:rPr lang="en-US" smtClean="0"/>
              <a:t>3/2/2015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5A791-27E0-4F48-95B2-30B56C385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77825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B3FA2-E9CD-4A8F-AF2A-BB3421F84744}" type="datetimeFigureOut">
              <a:rPr lang="en-US" smtClean="0"/>
              <a:t>3/2/2015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7EF4E9-A616-437F-9247-EF46AEF96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90496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7EF4E9-A616-437F-9247-EF46AEF96A22}" type="slidenum">
              <a:rPr lang="en-US" smtClean="0"/>
              <a:t>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575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41314-311C-4C96-A42E-295C77880B47}" type="datetime1">
              <a:rPr lang="en-US" smtClean="0"/>
              <a:t>3/2/2015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412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476FD-C26E-4343-AACA-2F2214DD477A}" type="datetime1">
              <a:rPr lang="en-US" smtClean="0"/>
              <a:t>3/2/2015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171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85A0E-7711-4B66-B951-E3610BC725B2}" type="datetime1">
              <a:rPr lang="en-US" smtClean="0"/>
              <a:t>3/2/2015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063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8648E-A6D1-451B-896C-6E195754753B}" type="datetime1">
              <a:rPr lang="en-US" smtClean="0"/>
              <a:t>3/2/2015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393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C22B4-80FC-4881-B649-E4C272FB9070}" type="datetime1">
              <a:rPr lang="en-US" smtClean="0"/>
              <a:t>3/2/2015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397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D87A0-CC4A-4F88-8951-9AC22FAF70BD}" type="datetime1">
              <a:rPr lang="en-US" smtClean="0"/>
              <a:t>3/2/2015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847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D1FCB-B4E2-498F-BD53-150F76A6D37C}" type="datetime1">
              <a:rPr lang="en-US" smtClean="0"/>
              <a:t>3/2/2015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043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344CD-F1E9-417C-B11A-372C192E7EF8}" type="datetime1">
              <a:rPr lang="en-US" smtClean="0"/>
              <a:t>3/2/2015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433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F68F8-6785-4D97-A807-A51BA4305D77}" type="datetime1">
              <a:rPr lang="en-US" smtClean="0"/>
              <a:t>3/2/2015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434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A49CB-1DAF-4051-A711-6C67A4C36B1C}" type="datetime1">
              <a:rPr lang="en-US" smtClean="0"/>
              <a:t>3/2/2015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633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CC0C9-2BEA-435D-9C8C-E6FC1AF4DD3D}" type="datetime1">
              <a:rPr lang="en-US" smtClean="0"/>
              <a:t>3/2/2015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4573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2000" y="6400800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3874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icon to add SmartArt graphic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E554771-5359-4506-9230-D197B3B8A5D5}" type="datetime1">
              <a:rPr lang="en-US" smtClean="0"/>
              <a:t>3/2/2015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81750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fld id="{570096E3-201C-E446-8C4D-DCC39BD20F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713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625" y="228600"/>
            <a:ext cx="854075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1625" y="1600200"/>
            <a:ext cx="4194175" cy="44989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94175" cy="44989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01625" y="6245225"/>
            <a:ext cx="2289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B7B30CD-3D9E-4D9E-BA8A-CC126C20AF36}" type="datetime1">
              <a:rPr lang="en-US" smtClean="0"/>
              <a:t>3/2/2015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289175" cy="476250"/>
          </a:xfrm>
        </p:spPr>
        <p:txBody>
          <a:bodyPr/>
          <a:lstStyle>
            <a:lvl1pPr>
              <a:defRPr smtClean="0"/>
            </a:lvl1pPr>
          </a:lstStyle>
          <a:p>
            <a:fld id="{EF561EB0-D3A1-0A48-81E2-6F5699230C0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6A42D8-E4F4-4126-8E83-9F0FEAF95E4B}" type="datetime1">
              <a:rPr lang="en-US" smtClean="0"/>
              <a:t>3/2/2015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10"/>
          <p:cNvSpPr txBox="1">
            <a:spLocks/>
          </p:cNvSpPr>
          <p:nvPr userDrawn="1"/>
        </p:nvSpPr>
        <p:spPr>
          <a:xfrm>
            <a:off x="76200" y="6477000"/>
            <a:ext cx="4343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00" dirty="0" smtClean="0">
                <a:solidFill>
                  <a:schemeClr val="tx1"/>
                </a:solidFill>
              </a:rPr>
              <a:t>Bygrave &amp; Zacharakis, </a:t>
            </a:r>
            <a:r>
              <a:rPr lang="en-US" sz="1000" i="1" dirty="0" smtClean="0">
                <a:solidFill>
                  <a:schemeClr val="tx1"/>
                </a:solidFill>
              </a:rPr>
              <a:t>Entrepreneurship, 3</a:t>
            </a:r>
            <a:r>
              <a:rPr lang="en-US" sz="1000" i="1" baseline="30000" dirty="0" smtClean="0">
                <a:solidFill>
                  <a:schemeClr val="tx1"/>
                </a:solidFill>
              </a:rPr>
              <a:t>rd</a:t>
            </a:r>
            <a:r>
              <a:rPr lang="en-US" sz="1000" i="1" baseline="0" dirty="0" smtClean="0">
                <a:solidFill>
                  <a:schemeClr val="tx1"/>
                </a:solidFill>
              </a:rPr>
              <a:t> Edition. </a:t>
            </a:r>
            <a:r>
              <a:rPr lang="en-US" sz="1000" dirty="0" smtClean="0">
                <a:solidFill>
                  <a:schemeClr val="tx1"/>
                </a:solidFill>
              </a:rPr>
              <a:t> New York: Wiley, 2014 </a:t>
            </a:r>
            <a:r>
              <a:rPr lang="en-US" sz="1100" dirty="0" smtClean="0">
                <a:solidFill>
                  <a:schemeClr val="tx1"/>
                </a:solidFill>
              </a:rPr>
              <a:t>©</a:t>
            </a:r>
            <a:endParaRPr lang="en-US" sz="1000" dirty="0">
              <a:solidFill>
                <a:schemeClr val="tx1"/>
              </a:solidFill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6248400"/>
            <a:ext cx="1143000" cy="580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8672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13" Type="http://schemas.openxmlformats.org/officeDocument/2006/relationships/diagramLayout" Target="../diagrams/layout8.xml"/><Relationship Id="rId18" Type="http://schemas.openxmlformats.org/officeDocument/2006/relationships/diagramLayout" Target="../diagrams/layout9.xml"/><Relationship Id="rId3" Type="http://schemas.openxmlformats.org/officeDocument/2006/relationships/diagramLayout" Target="../diagrams/layout6.xml"/><Relationship Id="rId21" Type="http://schemas.microsoft.com/office/2007/relationships/diagramDrawing" Target="../diagrams/drawing9.xml"/><Relationship Id="rId7" Type="http://schemas.openxmlformats.org/officeDocument/2006/relationships/diagramData" Target="../diagrams/data7.xml"/><Relationship Id="rId12" Type="http://schemas.openxmlformats.org/officeDocument/2006/relationships/diagramData" Target="../diagrams/data8.xml"/><Relationship Id="rId17" Type="http://schemas.openxmlformats.org/officeDocument/2006/relationships/diagramData" Target="../diagrams/data9.xml"/><Relationship Id="rId2" Type="http://schemas.openxmlformats.org/officeDocument/2006/relationships/diagramData" Target="../diagrams/data6.xml"/><Relationship Id="rId16" Type="http://schemas.microsoft.com/office/2007/relationships/diagramDrawing" Target="../diagrams/drawing8.xml"/><Relationship Id="rId20" Type="http://schemas.openxmlformats.org/officeDocument/2006/relationships/diagramColors" Target="../diagrams/colors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5" Type="http://schemas.openxmlformats.org/officeDocument/2006/relationships/diagramColors" Target="../diagrams/colors6.xml"/><Relationship Id="rId15" Type="http://schemas.openxmlformats.org/officeDocument/2006/relationships/diagramColors" Target="../diagrams/colors8.xml"/><Relationship Id="rId10" Type="http://schemas.openxmlformats.org/officeDocument/2006/relationships/diagramColors" Target="../diagrams/colors7.xml"/><Relationship Id="rId19" Type="http://schemas.openxmlformats.org/officeDocument/2006/relationships/diagramQuickStyle" Target="../diagrams/quickStyle9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Relationship Id="rId1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1.xml"/><Relationship Id="rId13" Type="http://schemas.openxmlformats.org/officeDocument/2006/relationships/diagramLayout" Target="../diagrams/layout12.xml"/><Relationship Id="rId18" Type="http://schemas.openxmlformats.org/officeDocument/2006/relationships/diagramLayout" Target="../diagrams/layout13.xml"/><Relationship Id="rId3" Type="http://schemas.openxmlformats.org/officeDocument/2006/relationships/diagramLayout" Target="../diagrams/layout10.xml"/><Relationship Id="rId21" Type="http://schemas.microsoft.com/office/2007/relationships/diagramDrawing" Target="../diagrams/drawing13.xml"/><Relationship Id="rId7" Type="http://schemas.openxmlformats.org/officeDocument/2006/relationships/diagramData" Target="../diagrams/data11.xml"/><Relationship Id="rId12" Type="http://schemas.openxmlformats.org/officeDocument/2006/relationships/diagramData" Target="../diagrams/data12.xml"/><Relationship Id="rId17" Type="http://schemas.openxmlformats.org/officeDocument/2006/relationships/diagramData" Target="../diagrams/data13.xml"/><Relationship Id="rId2" Type="http://schemas.openxmlformats.org/officeDocument/2006/relationships/diagramData" Target="../diagrams/data10.xml"/><Relationship Id="rId16" Type="http://schemas.microsoft.com/office/2007/relationships/diagramDrawing" Target="../diagrams/drawing12.xml"/><Relationship Id="rId20" Type="http://schemas.openxmlformats.org/officeDocument/2006/relationships/diagramColors" Target="../diagrams/colors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11" Type="http://schemas.microsoft.com/office/2007/relationships/diagramDrawing" Target="../diagrams/drawing11.xml"/><Relationship Id="rId5" Type="http://schemas.openxmlformats.org/officeDocument/2006/relationships/diagramColors" Target="../diagrams/colors10.xml"/><Relationship Id="rId15" Type="http://schemas.openxmlformats.org/officeDocument/2006/relationships/diagramColors" Target="../diagrams/colors12.xml"/><Relationship Id="rId10" Type="http://schemas.openxmlformats.org/officeDocument/2006/relationships/diagramColors" Target="../diagrams/colors11.xml"/><Relationship Id="rId19" Type="http://schemas.openxmlformats.org/officeDocument/2006/relationships/diagramQuickStyle" Target="../diagrams/quickStyle13.xml"/><Relationship Id="rId4" Type="http://schemas.openxmlformats.org/officeDocument/2006/relationships/diagramQuickStyle" Target="../diagrams/quickStyle10.xml"/><Relationship Id="rId9" Type="http://schemas.openxmlformats.org/officeDocument/2006/relationships/diagramQuickStyle" Target="../diagrams/quickStyle11.xml"/><Relationship Id="rId14" Type="http://schemas.openxmlformats.org/officeDocument/2006/relationships/diagramQuickStyle" Target="../diagrams/quickStyle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8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1524000"/>
            <a:ext cx="7772400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RAISING MONEY FOR STARTING AND GROWING BUSINESSES</a:t>
            </a:r>
          </a:p>
          <a:p>
            <a:pPr algn="ctr"/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4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Chapter 10</a:t>
            </a:r>
          </a:p>
          <a:p>
            <a:pPr algn="ctr"/>
            <a:endParaRPr lang="en-US" sz="4800" b="1" dirty="0" smtClean="0">
              <a:solidFill>
                <a:schemeClr val="tx1">
                  <a:lumMod val="85000"/>
                  <a:lumOff val="15000"/>
                </a:schemeClr>
              </a:solidFill>
              <a:latin typeface="Novecento wide Book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730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18080" y="181437"/>
            <a:ext cx="8540750" cy="1067085"/>
          </a:xfrm>
        </p:spPr>
        <p:txBody>
          <a:bodyPr>
            <a:normAutofit/>
          </a:bodyPr>
          <a:lstStyle/>
          <a:p>
            <a:r>
              <a:rPr lang="en-US" sz="4400" dirty="0" smtClean="0"/>
              <a:t>Progression of Raising </a:t>
            </a:r>
            <a:r>
              <a:rPr lang="en-US" sz="4400" dirty="0"/>
              <a:t>M</a:t>
            </a:r>
            <a:r>
              <a:rPr lang="en-US" sz="4400" dirty="0" smtClean="0"/>
              <a:t>oney</a:t>
            </a:r>
            <a:endParaRPr lang="en-US" sz="4400" dirty="0"/>
          </a:p>
        </p:txBody>
      </p:sp>
      <p:graphicFrame>
        <p:nvGraphicFramePr>
          <p:cNvPr id="22" name="Diagram 21"/>
          <p:cNvGraphicFramePr/>
          <p:nvPr>
            <p:extLst>
              <p:ext uri="{D42A27DB-BD31-4B8C-83A1-F6EECF244321}">
                <p14:modId xmlns:p14="http://schemas.microsoft.com/office/powerpoint/2010/main" val="1484674459"/>
              </p:ext>
            </p:extLst>
          </p:nvPr>
        </p:nvGraphicFramePr>
        <p:xfrm>
          <a:off x="618080" y="1784750"/>
          <a:ext cx="7873236" cy="43932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251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583752" y="195455"/>
            <a:ext cx="8407773" cy="1143000"/>
          </a:xfrm>
        </p:spPr>
        <p:txBody>
          <a:bodyPr>
            <a:noAutofit/>
          </a:bodyPr>
          <a:lstStyle/>
          <a:p>
            <a:r>
              <a:rPr lang="en-US" sz="4400" dirty="0" smtClean="0"/>
              <a:t>Basic </a:t>
            </a:r>
            <a:r>
              <a:rPr lang="en-US" sz="4400" dirty="0"/>
              <a:t>W</a:t>
            </a:r>
            <a:r>
              <a:rPr lang="en-US" sz="4400" dirty="0" smtClean="0"/>
              <a:t>ays </a:t>
            </a:r>
            <a:r>
              <a:rPr lang="en-US" sz="4400" dirty="0"/>
              <a:t>of</a:t>
            </a:r>
            <a:r>
              <a:rPr lang="en-US" sz="4400" dirty="0" smtClean="0"/>
              <a:t> Evaluating </a:t>
            </a:r>
            <a:r>
              <a:rPr lang="en-US" sz="4400" dirty="0"/>
              <a:t>a</a:t>
            </a:r>
            <a:r>
              <a:rPr lang="en-US" sz="4400" dirty="0" smtClean="0"/>
              <a:t> Business</a:t>
            </a:r>
            <a:endParaRPr lang="en-US" sz="4400" dirty="0"/>
          </a:p>
        </p:txBody>
      </p:sp>
      <p:sp>
        <p:nvSpPr>
          <p:cNvPr id="100355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556458" y="1746716"/>
            <a:ext cx="7641532" cy="3693349"/>
          </a:xfrm>
        </p:spPr>
        <p:txBody>
          <a:bodyPr/>
          <a:lstStyle/>
          <a:p>
            <a:pPr indent="-274320">
              <a:buFont typeface="Wingdings" charset="2"/>
              <a:buChar char="q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Earning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-capitalization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valuation</a:t>
            </a:r>
            <a:endParaRPr lang="en-US" dirty="0" smtClean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-274320">
              <a:buFont typeface="Wingdings" charset="2"/>
              <a:buChar char="q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Present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value of future cash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flows</a:t>
            </a:r>
            <a:endParaRPr lang="en-US" dirty="0" smtClean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-274320">
              <a:buFont typeface="Wingdings" charset="2"/>
              <a:buChar char="q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Market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-comparable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valuation</a:t>
            </a:r>
            <a:endParaRPr lang="en-US" dirty="0" smtClean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-274320">
              <a:buFont typeface="Wingdings" charset="2"/>
              <a:buChar char="q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Asset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-based valuation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0352" y="4982561"/>
            <a:ext cx="7033310" cy="110799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Valuation is not an exact science. Each of the above methods may get to vastly different monetary values of a company.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317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4" name="Text Box 4"/>
          <p:cNvSpPr txBox="1">
            <a:spLocks noChangeArrowheads="1"/>
          </p:cNvSpPr>
          <p:nvPr/>
        </p:nvSpPr>
        <p:spPr bwMode="auto">
          <a:xfrm>
            <a:off x="1981200" y="1633113"/>
            <a:ext cx="5245100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Earnings Capitalization Method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ctr"/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Company value = Net Income/ Capitalization Rate</a:t>
            </a:r>
          </a:p>
        </p:txBody>
      </p:sp>
      <p:sp>
        <p:nvSpPr>
          <p:cNvPr id="102405" name="Text Box 5"/>
          <p:cNvSpPr txBox="1">
            <a:spLocks noChangeArrowheads="1"/>
          </p:cNvSpPr>
          <p:nvPr/>
        </p:nvSpPr>
        <p:spPr bwMode="auto">
          <a:xfrm>
            <a:off x="642556" y="3192197"/>
            <a:ext cx="7922387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Present Value of Future Cash Flows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PV = PV of the future free CF + the residual (terminal) value of the firm</a:t>
            </a:r>
          </a:p>
        </p:txBody>
      </p:sp>
      <p:sp>
        <p:nvSpPr>
          <p:cNvPr id="102406" name="Text Box 6"/>
          <p:cNvSpPr txBox="1">
            <a:spLocks noChangeArrowheads="1"/>
          </p:cNvSpPr>
          <p:nvPr/>
        </p:nvSpPr>
        <p:spPr bwMode="auto">
          <a:xfrm>
            <a:off x="329674" y="4835724"/>
            <a:ext cx="8548151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Market-comparable Valuation (Multiple of earnings)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ctr"/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Total Equity Valuation = NI </a:t>
            </a:r>
            <a:r>
              <a:rPr lang="en-US" b="0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 P/E</a:t>
            </a:r>
          </a:p>
        </p:txBody>
      </p:sp>
      <p:sp>
        <p:nvSpPr>
          <p:cNvPr id="5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13752" y="167541"/>
            <a:ext cx="8540750" cy="1143000"/>
          </a:xfrm>
        </p:spPr>
        <p:txBody>
          <a:bodyPr>
            <a:normAutofit/>
          </a:bodyPr>
          <a:lstStyle/>
          <a:p>
            <a:r>
              <a:rPr lang="en-US" sz="4400" dirty="0" smtClean="0"/>
              <a:t>Income-based Valuation Methods</a:t>
            </a:r>
            <a:endParaRPr lang="en-US" sz="44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138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4" grpId="0"/>
      <p:bldP spid="102405" grpId="0"/>
      <p:bldP spid="10240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05073" y="120416"/>
            <a:ext cx="8540750" cy="1143000"/>
          </a:xfrm>
        </p:spPr>
        <p:txBody>
          <a:bodyPr>
            <a:normAutofit/>
          </a:bodyPr>
          <a:lstStyle/>
          <a:p>
            <a:r>
              <a:rPr lang="en-US" sz="4400" dirty="0" smtClean="0"/>
              <a:t>Asset-based Valuation Methods</a:t>
            </a:r>
            <a:endParaRPr lang="en-US" sz="4400" dirty="0"/>
          </a:p>
        </p:txBody>
      </p:sp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2492809867"/>
              </p:ext>
            </p:extLst>
          </p:nvPr>
        </p:nvGraphicFramePr>
        <p:xfrm>
          <a:off x="1745107" y="1869963"/>
          <a:ext cx="5744066" cy="38457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699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30916" y="87214"/>
            <a:ext cx="7779333" cy="114300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External Financing</a:t>
            </a:r>
          </a:p>
        </p:txBody>
      </p:sp>
      <p:graphicFrame>
        <p:nvGraphicFramePr>
          <p:cNvPr id="18" name="Diagram 17"/>
          <p:cNvGraphicFramePr/>
          <p:nvPr>
            <p:extLst>
              <p:ext uri="{D42A27DB-BD31-4B8C-83A1-F6EECF244321}">
                <p14:modId xmlns:p14="http://schemas.microsoft.com/office/powerpoint/2010/main" val="1906955381"/>
              </p:ext>
            </p:extLst>
          </p:nvPr>
        </p:nvGraphicFramePr>
        <p:xfrm>
          <a:off x="1083741" y="1566330"/>
          <a:ext cx="7038647" cy="4868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350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03901" y="160453"/>
            <a:ext cx="8200884" cy="1143000"/>
          </a:xfrm>
        </p:spPr>
        <p:txBody>
          <a:bodyPr>
            <a:normAutofit/>
          </a:bodyPr>
          <a:lstStyle/>
          <a:p>
            <a:r>
              <a:rPr lang="en-US" sz="4400" dirty="0"/>
              <a:t>Finding</a:t>
            </a:r>
            <a:r>
              <a:rPr lang="en-US" sz="4400" dirty="0" smtClean="0"/>
              <a:t> Business Angels</a:t>
            </a:r>
            <a:endParaRPr lang="en-US" sz="4400" dirty="0"/>
          </a:p>
        </p:txBody>
      </p:sp>
      <p:sp>
        <p:nvSpPr>
          <p:cNvPr id="106500" name="Text Box 4"/>
          <p:cNvSpPr txBox="1">
            <a:spLocks noChangeArrowheads="1"/>
          </p:cNvSpPr>
          <p:nvPr/>
        </p:nvSpPr>
        <p:spPr bwMode="auto">
          <a:xfrm>
            <a:off x="635004" y="2057400"/>
            <a:ext cx="3886200" cy="33547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sz="2900" b="1" cap="small" dirty="0">
                <a:latin typeface="Arial" panose="020B0604020202020204" pitchFamily="34" charset="0"/>
                <a:cs typeface="Arial" panose="020B0604020202020204" pitchFamily="34" charset="0"/>
              </a:rPr>
              <a:t>Formal angel groups</a:t>
            </a:r>
          </a:p>
          <a:p>
            <a:pPr marL="342900" indent="-342900"/>
            <a:r>
              <a:rPr lang="en-US" sz="2400" b="1" dirty="0">
                <a:solidFill>
                  <a:srgbClr val="25AE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Pros: </a:t>
            </a:r>
            <a:r>
              <a:rPr lang="en-US" sz="2400" b="0" dirty="0">
                <a:latin typeface="Arial" panose="020B0604020202020204" pitchFamily="34" charset="0"/>
                <a:cs typeface="Arial" panose="020B0604020202020204" pitchFamily="34" charset="0"/>
              </a:rPr>
              <a:t>Easy to find</a:t>
            </a:r>
          </a:p>
          <a:p>
            <a:pPr marL="342900" indent="-342900" eaLnBrk="0" hangingPunct="0">
              <a:spcBef>
                <a:spcPts val="600"/>
              </a:spcBef>
            </a:pP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Cons: </a:t>
            </a:r>
            <a:r>
              <a:rPr lang="en-US" sz="2400" b="0" dirty="0">
                <a:latin typeface="Arial" panose="020B0604020202020204" pitchFamily="34" charset="0"/>
                <a:cs typeface="Arial" panose="020B0604020202020204" pitchFamily="34" charset="0"/>
              </a:rPr>
              <a:t>May charge</a:t>
            </a:r>
            <a:r>
              <a:rPr lang="en-US" sz="2400" b="0" dirty="0" smtClean="0">
                <a:latin typeface="Arial" panose="020B0604020202020204" pitchFamily="34" charset="0"/>
                <a:cs typeface="Arial" panose="020B0604020202020204" pitchFamily="34" charset="0"/>
              </a:rPr>
              <a:t> for the privilege to present </a:t>
            </a:r>
            <a:r>
              <a:rPr lang="en-US" sz="2400" b="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en-US" sz="2400" b="0" dirty="0" smtClean="0">
                <a:latin typeface="Arial" panose="020B0604020202020204" pitchFamily="34" charset="0"/>
                <a:cs typeface="Arial" panose="020B0604020202020204" pitchFamily="34" charset="0"/>
              </a:rPr>
              <a:t> submit a business plan;</a:t>
            </a:r>
          </a:p>
          <a:p>
            <a:pPr marL="342900" indent="-342900"/>
            <a:r>
              <a:rPr lang="en-US" sz="2400" b="0" dirty="0" smtClean="0">
                <a:latin typeface="Arial" panose="020B0604020202020204" pitchFamily="34" charset="0"/>
                <a:cs typeface="Arial" panose="020B0604020202020204" pitchFamily="34" charset="0"/>
              </a:rPr>
              <a:t>	Limited number </a:t>
            </a:r>
            <a:r>
              <a:rPr lang="en-US" sz="2400" b="0" dirty="0">
                <a:latin typeface="Arial" panose="020B0604020202020204" pitchFamily="34" charset="0"/>
                <a:cs typeface="Arial" panose="020B0604020202020204" pitchFamily="34" charset="0"/>
              </a:rPr>
              <a:t>(several thousand)</a:t>
            </a:r>
          </a:p>
        </p:txBody>
      </p:sp>
      <p:sp>
        <p:nvSpPr>
          <p:cNvPr id="106501" name="Text Box 5"/>
          <p:cNvSpPr txBox="1">
            <a:spLocks noChangeArrowheads="1"/>
          </p:cNvSpPr>
          <p:nvPr/>
        </p:nvSpPr>
        <p:spPr bwMode="auto">
          <a:xfrm>
            <a:off x="4724400" y="2057627"/>
            <a:ext cx="3886200" cy="2539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en-US" sz="2900" b="1" cap="small" dirty="0">
                <a:latin typeface="Arial" panose="020B0604020202020204" pitchFamily="34" charset="0"/>
                <a:cs typeface="Arial" panose="020B0604020202020204" pitchFamily="34" charset="0"/>
              </a:rPr>
              <a:t>2. Individual angels</a:t>
            </a:r>
          </a:p>
          <a:p>
            <a:r>
              <a:rPr lang="en-US" sz="2400" b="1" dirty="0">
                <a:solidFill>
                  <a:srgbClr val="25AE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Pros: </a:t>
            </a:r>
            <a:r>
              <a:rPr lang="en-US" sz="2400" b="0" dirty="0">
                <a:latin typeface="Arial" panose="020B0604020202020204" pitchFamily="34" charset="0"/>
                <a:cs typeface="Arial" panose="020B0604020202020204" pitchFamily="34" charset="0"/>
              </a:rPr>
              <a:t>Several hundred</a:t>
            </a:r>
            <a:r>
              <a:rPr lang="en-US" sz="2400" b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7472"/>
            <a:r>
              <a:rPr lang="en-US" sz="2400" b="0" dirty="0" smtClean="0">
                <a:latin typeface="Arial" panose="020B0604020202020204" pitchFamily="34" charset="0"/>
                <a:cs typeface="Arial" panose="020B0604020202020204" pitchFamily="34" charset="0"/>
              </a:rPr>
              <a:t>thousand available</a:t>
            </a:r>
          </a:p>
          <a:p>
            <a:pPr>
              <a:spcBef>
                <a:spcPts val="600"/>
              </a:spcBef>
            </a:pPr>
            <a:r>
              <a:rPr lang="en-US" sz="24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</a:t>
            </a: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400" b="0" dirty="0">
                <a:latin typeface="Arial" panose="020B0604020202020204" pitchFamily="34" charset="0"/>
                <a:cs typeface="Arial" panose="020B0604020202020204" pitchFamily="34" charset="0"/>
              </a:rPr>
              <a:t>Hard to find and</a:t>
            </a:r>
            <a:r>
              <a:rPr lang="en-US" sz="2400" b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7472"/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400" b="0" dirty="0" smtClean="0">
                <a:latin typeface="Arial" panose="020B0604020202020204" pitchFamily="34" charset="0"/>
                <a:cs typeface="Arial" panose="020B0604020202020204" pitchFamily="34" charset="0"/>
              </a:rPr>
              <a:t>pproach; must </a:t>
            </a:r>
            <a:r>
              <a:rPr lang="en-US" sz="2400" b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indentify</a:t>
            </a:r>
            <a:r>
              <a:rPr lang="en-US" sz="2400" b="0" dirty="0" smtClean="0">
                <a:latin typeface="Arial" panose="020B0604020202020204" pitchFamily="34" charset="0"/>
                <a:cs typeface="Arial" panose="020B0604020202020204" pitchFamily="34" charset="0"/>
              </a:rPr>
              <a:t> prospects and present</a:t>
            </a:r>
            <a:endParaRPr lang="en-US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697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06737" y="162274"/>
            <a:ext cx="7955709" cy="1143000"/>
          </a:xfrm>
        </p:spPr>
        <p:txBody>
          <a:bodyPr>
            <a:normAutofit/>
          </a:bodyPr>
          <a:lstStyle/>
          <a:p>
            <a:r>
              <a:rPr lang="en-US" sz="4400" dirty="0">
                <a:effectLst/>
              </a:rPr>
              <a:t>Types of Business Angels</a:t>
            </a:r>
          </a:p>
        </p:txBody>
      </p:sp>
      <p:sp>
        <p:nvSpPr>
          <p:cNvPr id="107530" name="Text Box 10"/>
          <p:cNvSpPr txBox="1">
            <a:spLocks noChangeArrowheads="1"/>
          </p:cNvSpPr>
          <p:nvPr/>
        </p:nvSpPr>
        <p:spPr bwMode="auto">
          <a:xfrm>
            <a:off x="7832725" y="528955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endParaRPr lang="en-US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7526" name="Picture 6" descr="MCj02501430000[1]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39000" y="135471"/>
            <a:ext cx="1705726" cy="1989667"/>
          </a:xfrm>
          <a:prstGeom prst="rect">
            <a:avLst/>
          </a:prstGeom>
          <a:noFill/>
        </p:spPr>
      </p:pic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882509"/>
              </p:ext>
            </p:extLst>
          </p:nvPr>
        </p:nvGraphicFramePr>
        <p:xfrm>
          <a:off x="589802" y="2032000"/>
          <a:ext cx="7707530" cy="3860800"/>
        </p:xfrm>
        <a:graphic>
          <a:graphicData uri="http://schemas.openxmlformats.org/drawingml/2006/table">
            <a:tbl>
              <a:tblPr bandRow="1">
                <a:tableStyleId>{72833802-FEF1-4C79-8D5D-14CF1EAF98D9}</a:tableStyleId>
              </a:tblPr>
              <a:tblGrid>
                <a:gridCol w="4371665"/>
                <a:gridCol w="3335865"/>
              </a:tblGrid>
              <a:tr h="772160">
                <a:tc>
                  <a:txBody>
                    <a:bodyPr/>
                    <a:lstStyle/>
                    <a:p>
                      <a:r>
                        <a:rPr lang="en-US" sz="2900" dirty="0" smtClean="0"/>
                        <a:t>Entrepreneurial Angels</a:t>
                      </a:r>
                      <a:endParaRPr lang="en-US" sz="2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May be valuable advisors</a:t>
                      </a:r>
                      <a:endParaRPr lang="en-US" sz="2200" dirty="0"/>
                    </a:p>
                  </a:txBody>
                  <a:tcPr/>
                </a:tc>
              </a:tr>
              <a:tr h="772160">
                <a:tc>
                  <a:txBody>
                    <a:bodyPr/>
                    <a:lstStyle/>
                    <a:p>
                      <a:r>
                        <a:rPr lang="en-US" sz="2900" dirty="0" smtClean="0"/>
                        <a:t>Corporate Angels</a:t>
                      </a:r>
                      <a:endParaRPr lang="en-US" sz="2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May take over or ruin company</a:t>
                      </a:r>
                      <a:endParaRPr lang="en-US" sz="2200" dirty="0"/>
                    </a:p>
                  </a:txBody>
                  <a:tcPr/>
                </a:tc>
              </a:tr>
              <a:tr h="772160">
                <a:tc>
                  <a:txBody>
                    <a:bodyPr/>
                    <a:lstStyle/>
                    <a:p>
                      <a:r>
                        <a:rPr lang="en-US" sz="2900" dirty="0" smtClean="0"/>
                        <a:t>Professional Angels</a:t>
                      </a:r>
                      <a:endParaRPr lang="en-US" sz="2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Silent partners</a:t>
                      </a:r>
                      <a:endParaRPr lang="en-US" sz="2200" dirty="0"/>
                    </a:p>
                  </a:txBody>
                  <a:tcPr/>
                </a:tc>
              </a:tr>
              <a:tr h="772160">
                <a:tc>
                  <a:txBody>
                    <a:bodyPr/>
                    <a:lstStyle/>
                    <a:p>
                      <a:r>
                        <a:rPr lang="en-US" sz="2900" dirty="0" smtClean="0"/>
                        <a:t>Enthusiast Angels</a:t>
                      </a:r>
                      <a:endParaRPr lang="en-US" sz="2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Passive investors</a:t>
                      </a:r>
                      <a:endParaRPr lang="en-US" sz="2200" dirty="0"/>
                    </a:p>
                  </a:txBody>
                  <a:tcPr/>
                </a:tc>
              </a:tr>
              <a:tr h="772160">
                <a:tc>
                  <a:txBody>
                    <a:bodyPr/>
                    <a:lstStyle/>
                    <a:p>
                      <a:r>
                        <a:rPr lang="en-US" sz="2900" dirty="0" smtClean="0"/>
                        <a:t>Micromanagement Angels</a:t>
                      </a:r>
                      <a:endParaRPr lang="en-US" sz="2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Intervene in the business</a:t>
                      </a:r>
                      <a:endParaRPr lang="en-US" sz="2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458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07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075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13752" y="350361"/>
            <a:ext cx="8301648" cy="8382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Top 6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Investment Factors For VCs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4" name="SmartArt Placeholder 43"/>
          <p:cNvGraphicFramePr>
            <a:graphicFrameLocks noGrp="1"/>
          </p:cNvGraphicFramePr>
          <p:nvPr>
            <p:ph type="dgm" idx="1"/>
            <p:extLst>
              <p:ext uri="{D42A27DB-BD31-4B8C-83A1-F6EECF244321}">
                <p14:modId xmlns:p14="http://schemas.microsoft.com/office/powerpoint/2010/main" val="4157968766"/>
              </p:ext>
            </p:extLst>
          </p:nvPr>
        </p:nvGraphicFramePr>
        <p:xfrm>
          <a:off x="251231" y="1428816"/>
          <a:ext cx="8686801" cy="50630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8567" name="Text Box 23"/>
          <p:cNvSpPr txBox="1">
            <a:spLocks noChangeArrowheads="1"/>
          </p:cNvSpPr>
          <p:nvPr/>
        </p:nvSpPr>
        <p:spPr bwMode="auto">
          <a:xfrm>
            <a:off x="2208306" y="1649741"/>
            <a:ext cx="1453539" cy="52322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VCs may help</a:t>
            </a:r>
          </a:p>
          <a:p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hire a Team</a:t>
            </a:r>
          </a:p>
        </p:txBody>
      </p:sp>
      <p:sp>
        <p:nvSpPr>
          <p:cNvPr id="108568" name="Text Box 24"/>
          <p:cNvSpPr txBox="1">
            <a:spLocks noChangeArrowheads="1"/>
          </p:cNvSpPr>
          <p:nvPr/>
        </p:nvSpPr>
        <p:spPr bwMode="auto">
          <a:xfrm>
            <a:off x="7231100" y="2920957"/>
            <a:ext cx="1316095" cy="738664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anchor="t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Fragmented,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accessible, </a:t>
            </a:r>
            <a:r>
              <a:rPr lang="en-U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growing</a:t>
            </a:r>
          </a:p>
        </p:txBody>
      </p:sp>
      <p:sp>
        <p:nvSpPr>
          <p:cNvPr id="108576" name="Text Box 32"/>
          <p:cNvSpPr txBox="1">
            <a:spLocks noChangeArrowheads="1"/>
          </p:cNvSpPr>
          <p:nvPr/>
        </p:nvSpPr>
        <p:spPr bwMode="auto">
          <a:xfrm>
            <a:off x="7229564" y="4576098"/>
            <a:ext cx="1010213" cy="52322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Better and</a:t>
            </a:r>
          </a:p>
          <a:p>
            <a:pPr algn="ctr"/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protected</a:t>
            </a:r>
          </a:p>
        </p:txBody>
      </p:sp>
      <p:sp>
        <p:nvSpPr>
          <p:cNvPr id="108581" name="Text Box 37"/>
          <p:cNvSpPr txBox="1">
            <a:spLocks noChangeArrowheads="1"/>
          </p:cNvSpPr>
          <p:nvPr/>
        </p:nvSpPr>
        <p:spPr bwMode="auto">
          <a:xfrm>
            <a:off x="5478477" y="5939727"/>
            <a:ext cx="2708273" cy="30777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anchor="t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distribution channels</a:t>
            </a:r>
            <a:endParaRPr 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586" name="Text Box 42"/>
          <p:cNvSpPr txBox="1">
            <a:spLocks noChangeArrowheads="1"/>
          </p:cNvSpPr>
          <p:nvPr/>
        </p:nvSpPr>
        <p:spPr bwMode="auto">
          <a:xfrm>
            <a:off x="875348" y="4590764"/>
            <a:ext cx="1061903" cy="52322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7X return in 5 years</a:t>
            </a:r>
          </a:p>
        </p:txBody>
      </p:sp>
      <p:sp>
        <p:nvSpPr>
          <p:cNvPr id="108591" name="Text Box 47"/>
          <p:cNvSpPr txBox="1">
            <a:spLocks noChangeArrowheads="1"/>
          </p:cNvSpPr>
          <p:nvPr/>
        </p:nvSpPr>
        <p:spPr bwMode="auto">
          <a:xfrm>
            <a:off x="309643" y="2946508"/>
            <a:ext cx="1766830" cy="52322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4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Competently 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written</a:t>
            </a:r>
          </a:p>
          <a:p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business plan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58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03901" y="146252"/>
            <a:ext cx="8132229" cy="1143000"/>
          </a:xfrm>
        </p:spPr>
        <p:txBody>
          <a:bodyPr>
            <a:normAutofit/>
          </a:bodyPr>
          <a:lstStyle/>
          <a:p>
            <a:r>
              <a:rPr lang="en-US" sz="4400" dirty="0" smtClean="0"/>
              <a:t>How to Assess </a:t>
            </a:r>
            <a:r>
              <a:rPr lang="en-US" sz="4400" dirty="0"/>
              <a:t>a VC</a:t>
            </a:r>
          </a:p>
        </p:txBody>
      </p:sp>
      <p:sp>
        <p:nvSpPr>
          <p:cNvPr id="110612" name="Text Box 20"/>
          <p:cNvSpPr txBox="1">
            <a:spLocks noChangeArrowheads="1"/>
          </p:cNvSpPr>
          <p:nvPr/>
        </p:nvSpPr>
        <p:spPr bwMode="auto">
          <a:xfrm>
            <a:off x="2444506" y="2851673"/>
            <a:ext cx="427450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 added   </a:t>
            </a:r>
            <a:r>
              <a:rPr lang="en-US" sz="2800" b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2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Patience</a:t>
            </a:r>
          </a:p>
        </p:txBody>
      </p:sp>
      <p:sp>
        <p:nvSpPr>
          <p:cNvPr id="110614" name="Text Box 22"/>
          <p:cNvSpPr txBox="1">
            <a:spLocks noChangeArrowheads="1"/>
          </p:cNvSpPr>
          <p:nvPr/>
        </p:nvSpPr>
        <p:spPr bwMode="auto">
          <a:xfrm>
            <a:off x="2286000" y="4038600"/>
            <a:ext cx="513255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7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 pockets</a:t>
            </a:r>
            <a:r>
              <a:rPr lang="en-US" sz="2800" b="0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en-US" sz="2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Accessibility</a:t>
            </a:r>
          </a:p>
        </p:txBody>
      </p:sp>
      <p:sp>
        <p:nvSpPr>
          <p:cNvPr id="110615" name="Text Box 23"/>
          <p:cNvSpPr txBox="1">
            <a:spLocks noChangeArrowheads="1"/>
          </p:cNvSpPr>
          <p:nvPr/>
        </p:nvSpPr>
        <p:spPr bwMode="auto">
          <a:xfrm>
            <a:off x="3875603" y="5257800"/>
            <a:ext cx="1564852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Board of</a:t>
            </a:r>
          </a:p>
          <a:p>
            <a:r>
              <a:rPr lang="en-US" sz="2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directors</a:t>
            </a:r>
          </a:p>
        </p:txBody>
      </p:sp>
      <p:graphicFrame>
        <p:nvGraphicFramePr>
          <p:cNvPr id="13" name="Diagram 12"/>
          <p:cNvGraphicFramePr/>
          <p:nvPr>
            <p:extLst>
              <p:ext uri="{D42A27DB-BD31-4B8C-83A1-F6EECF244321}">
                <p14:modId xmlns:p14="http://schemas.microsoft.com/office/powerpoint/2010/main" val="3988863424"/>
              </p:ext>
            </p:extLst>
          </p:nvPr>
        </p:nvGraphicFramePr>
        <p:xfrm>
          <a:off x="773247" y="1340051"/>
          <a:ext cx="7591822" cy="51779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452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596588" y="170127"/>
            <a:ext cx="8242612" cy="1143000"/>
          </a:xfrm>
        </p:spPr>
        <p:txBody>
          <a:bodyPr>
            <a:noAutofit/>
          </a:bodyPr>
          <a:lstStyle/>
          <a:p>
            <a:r>
              <a:rPr lang="en-US" sz="4400" dirty="0"/>
              <a:t>Harvesting </a:t>
            </a:r>
            <a:r>
              <a:rPr lang="en-US" sz="4400" dirty="0" smtClean="0"/>
              <a:t>(exiting</a:t>
            </a:r>
            <a:r>
              <a:rPr lang="en-US" sz="4400" dirty="0"/>
              <a:t>)</a:t>
            </a:r>
            <a:r>
              <a:rPr lang="en-US" sz="4400" dirty="0" smtClean="0"/>
              <a:t> Investments</a:t>
            </a:r>
            <a:endParaRPr lang="en-US" sz="4400" dirty="0"/>
          </a:p>
        </p:txBody>
      </p:sp>
      <p:sp>
        <p:nvSpPr>
          <p:cNvPr id="111619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596588" y="1828800"/>
            <a:ext cx="8248962" cy="4498975"/>
          </a:xfrm>
        </p:spPr>
        <p:txBody>
          <a:bodyPr/>
          <a:lstStyle/>
          <a:p>
            <a:pPr>
              <a:buFont typeface="Wingdings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Initial Public Offering (IPO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buFont typeface="Wingdings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acquisition</a:t>
            </a:r>
          </a:p>
          <a:p>
            <a:pPr>
              <a:buFont typeface="Wingdings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buyback of the investor’s stock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2590800" y="3403597"/>
            <a:ext cx="4495800" cy="1866908"/>
            <a:chOff x="1632" y="2000"/>
            <a:chExt cx="2832" cy="1176"/>
          </a:xfrm>
        </p:grpSpPr>
        <p:sp>
          <p:nvSpPr>
            <p:cNvPr id="111624" name="Rectangle 8"/>
            <p:cNvSpPr>
              <a:spLocks noChangeArrowheads="1"/>
            </p:cNvSpPr>
            <p:nvPr/>
          </p:nvSpPr>
          <p:spPr bwMode="auto">
            <a:xfrm>
              <a:off x="2880" y="2648"/>
              <a:ext cx="1584" cy="528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620" name="Line 4"/>
            <p:cNvSpPr>
              <a:spLocks noChangeShapeType="1"/>
            </p:cNvSpPr>
            <p:nvPr/>
          </p:nvSpPr>
          <p:spPr bwMode="auto">
            <a:xfrm flipH="1" flipV="1">
              <a:off x="1632" y="2000"/>
              <a:ext cx="1248" cy="672"/>
            </a:xfrm>
            <a:prstGeom prst="line">
              <a:avLst/>
            </a:prstGeom>
            <a:noFill/>
            <a:ln w="57150">
              <a:solidFill>
                <a:schemeClr val="accent5"/>
              </a:solidFill>
              <a:round/>
              <a:headEnd/>
              <a:tailEnd type="stealth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623" name="Text Box 7"/>
            <p:cNvSpPr txBox="1">
              <a:spLocks noChangeArrowheads="1"/>
            </p:cNvSpPr>
            <p:nvPr/>
          </p:nvSpPr>
          <p:spPr bwMode="auto">
            <a:xfrm>
              <a:off x="2945" y="2759"/>
              <a:ext cx="14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Very Unlikely</a:t>
              </a:r>
            </a:p>
          </p:txBody>
        </p: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764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596588" y="273936"/>
            <a:ext cx="7909237" cy="762000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Pros and Cons of an IPO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943642"/>
              </p:ext>
            </p:extLst>
          </p:nvPr>
        </p:nvGraphicFramePr>
        <p:xfrm>
          <a:off x="304798" y="1761064"/>
          <a:ext cx="8500534" cy="4487335"/>
        </p:xfrm>
        <a:graphic>
          <a:graphicData uri="http://schemas.openxmlformats.org/drawingml/2006/table">
            <a:tbl>
              <a:tblPr firstRow="1" bandRow="1" bandCol="1">
                <a:tableStyleId>{72833802-FEF1-4C79-8D5D-14CF1EAF98D9}</a:tableStyleId>
              </a:tblPr>
              <a:tblGrid>
                <a:gridCol w="4250267"/>
                <a:gridCol w="4250267"/>
              </a:tblGrid>
              <a:tr h="554182">
                <a:tc>
                  <a:txBody>
                    <a:bodyPr/>
                    <a:lstStyle/>
                    <a:p>
                      <a:pPr algn="ctr"/>
                      <a:r>
                        <a:rPr lang="en-US" sz="29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Upsides</a:t>
                      </a:r>
                      <a:endParaRPr lang="en-US" sz="2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Downsides</a:t>
                      </a:r>
                      <a:endParaRPr lang="en-US" sz="2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561879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Financing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expenses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561879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Follow-on financing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Public fishbowl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561879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Realizing prior</a:t>
                      </a:r>
                      <a:r>
                        <a:rPr lang="en-US" sz="24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investments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Short-term horizon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561879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Prestige and visibility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Post-IPO compliance costs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561879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Compensation</a:t>
                      </a:r>
                      <a:r>
                        <a:rPr lang="en-US" sz="24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for employees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Management’s time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561879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Acquiring other companies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Takeover target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561879">
                <a:tc>
                  <a:txBody>
                    <a:bodyPr/>
                    <a:lstStyle/>
                    <a:p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Employee disenchantment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8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586343" y="81387"/>
            <a:ext cx="8523329" cy="1143000"/>
          </a:xfrm>
        </p:spPr>
        <p:txBody>
          <a:bodyPr>
            <a:noAutofit/>
          </a:bodyPr>
          <a:lstStyle/>
          <a:p>
            <a:r>
              <a:rPr lang="en-US" sz="4400" dirty="0" smtClean="0"/>
              <a:t>Advantages/Disadvantages </a:t>
            </a:r>
            <a:r>
              <a:rPr lang="en-US" sz="4400" dirty="0"/>
              <a:t>of</a:t>
            </a:r>
            <a:r>
              <a:rPr lang="en-US" sz="4400" dirty="0" smtClean="0"/>
              <a:t> an Acquisition (part 1)</a:t>
            </a:r>
            <a:endParaRPr lang="en-US" sz="4400" dirty="0"/>
          </a:p>
        </p:txBody>
      </p:sp>
      <p:graphicFrame>
        <p:nvGraphicFramePr>
          <p:cNvPr id="29" name="Diagram 28"/>
          <p:cNvGraphicFramePr/>
          <p:nvPr>
            <p:extLst>
              <p:ext uri="{D42A27DB-BD31-4B8C-83A1-F6EECF244321}">
                <p14:modId xmlns:p14="http://schemas.microsoft.com/office/powerpoint/2010/main" val="550957802"/>
              </p:ext>
            </p:extLst>
          </p:nvPr>
        </p:nvGraphicFramePr>
        <p:xfrm>
          <a:off x="368408" y="1994309"/>
          <a:ext cx="1876831" cy="37755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0" name="Diagram 29"/>
          <p:cNvGraphicFramePr/>
          <p:nvPr>
            <p:extLst>
              <p:ext uri="{D42A27DB-BD31-4B8C-83A1-F6EECF244321}">
                <p14:modId xmlns:p14="http://schemas.microsoft.com/office/powerpoint/2010/main" val="3783554976"/>
              </p:ext>
            </p:extLst>
          </p:nvPr>
        </p:nvGraphicFramePr>
        <p:xfrm>
          <a:off x="2509432" y="1994308"/>
          <a:ext cx="1876831" cy="37755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31" name="Diagram 30"/>
          <p:cNvGraphicFramePr/>
          <p:nvPr>
            <p:extLst>
              <p:ext uri="{D42A27DB-BD31-4B8C-83A1-F6EECF244321}">
                <p14:modId xmlns:p14="http://schemas.microsoft.com/office/powerpoint/2010/main" val="1066120345"/>
              </p:ext>
            </p:extLst>
          </p:nvPr>
        </p:nvGraphicFramePr>
        <p:xfrm>
          <a:off x="4721482" y="1994309"/>
          <a:ext cx="1876831" cy="37755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32" name="Diagram 31"/>
          <p:cNvGraphicFramePr/>
          <p:nvPr>
            <p:extLst>
              <p:ext uri="{D42A27DB-BD31-4B8C-83A1-F6EECF244321}">
                <p14:modId xmlns:p14="http://schemas.microsoft.com/office/powerpoint/2010/main" val="1372463898"/>
              </p:ext>
            </p:extLst>
          </p:nvPr>
        </p:nvGraphicFramePr>
        <p:xfrm>
          <a:off x="6921963" y="1994309"/>
          <a:ext cx="1876831" cy="37755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530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579424" y="81387"/>
            <a:ext cx="8312164" cy="1143000"/>
          </a:xfrm>
        </p:spPr>
        <p:txBody>
          <a:bodyPr>
            <a:noAutofit/>
          </a:bodyPr>
          <a:lstStyle/>
          <a:p>
            <a:r>
              <a:rPr lang="en-US" sz="4400" dirty="0" smtClean="0"/>
              <a:t>Advantages/Disadvantages of an Acquisition (part 2)</a:t>
            </a:r>
            <a:endParaRPr lang="en-US" sz="4400" dirty="0"/>
          </a:p>
        </p:txBody>
      </p:sp>
      <p:graphicFrame>
        <p:nvGraphicFramePr>
          <p:cNvPr id="29" name="Diagram 28"/>
          <p:cNvGraphicFramePr/>
          <p:nvPr>
            <p:extLst>
              <p:ext uri="{D42A27DB-BD31-4B8C-83A1-F6EECF244321}">
                <p14:modId xmlns:p14="http://schemas.microsoft.com/office/powerpoint/2010/main" val="2934893918"/>
              </p:ext>
            </p:extLst>
          </p:nvPr>
        </p:nvGraphicFramePr>
        <p:xfrm>
          <a:off x="374013" y="1996358"/>
          <a:ext cx="1876831" cy="37755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0" name="Diagram 29"/>
          <p:cNvGraphicFramePr/>
          <p:nvPr>
            <p:extLst>
              <p:ext uri="{D42A27DB-BD31-4B8C-83A1-F6EECF244321}">
                <p14:modId xmlns:p14="http://schemas.microsoft.com/office/powerpoint/2010/main" val="3612989777"/>
              </p:ext>
            </p:extLst>
          </p:nvPr>
        </p:nvGraphicFramePr>
        <p:xfrm>
          <a:off x="4730571" y="2009057"/>
          <a:ext cx="1876831" cy="37755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31" name="Diagram 30"/>
          <p:cNvGraphicFramePr/>
          <p:nvPr>
            <p:extLst>
              <p:ext uri="{D42A27DB-BD31-4B8C-83A1-F6EECF244321}">
                <p14:modId xmlns:p14="http://schemas.microsoft.com/office/powerpoint/2010/main" val="1127398069"/>
              </p:ext>
            </p:extLst>
          </p:nvPr>
        </p:nvGraphicFramePr>
        <p:xfrm>
          <a:off x="2560611" y="1989846"/>
          <a:ext cx="1876831" cy="37755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32" name="Diagram 31"/>
          <p:cNvGraphicFramePr/>
          <p:nvPr>
            <p:extLst>
              <p:ext uri="{D42A27DB-BD31-4B8C-83A1-F6EECF244321}">
                <p14:modId xmlns:p14="http://schemas.microsoft.com/office/powerpoint/2010/main" val="961369733"/>
              </p:ext>
            </p:extLst>
          </p:nvPr>
        </p:nvGraphicFramePr>
        <p:xfrm>
          <a:off x="6942729" y="2007008"/>
          <a:ext cx="1876831" cy="37755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842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/>
              <a:t>Recap</a:t>
            </a:r>
            <a:endParaRPr lang="en-US" sz="44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q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Sophisticated investment money requires a future harvest time (return on investment)</a:t>
            </a:r>
          </a:p>
          <a:p>
            <a:pPr>
              <a:buFont typeface="Wingdings" charset="2"/>
              <a:buChar char="q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Harvest can be acquisitions or public offerings</a:t>
            </a:r>
          </a:p>
          <a:p>
            <a:pPr>
              <a:buFont typeface="Wingdings" charset="2"/>
              <a:buChar char="q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Investors want to know entrepreneur will remain on with the company after harvest</a:t>
            </a:r>
          </a:p>
          <a:p>
            <a:pPr>
              <a:buFont typeface="Wingdings" charset="2"/>
              <a:buChar char="q"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charset="2"/>
              <a:buChar char="q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0996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&quot;/&gt;&lt;property id=&quot;20307&quot; value=&quot;256&quot;/&gt;&lt;/object&gt;&lt;object type=&quot;3&quot; unique_id=&quot;10709&quot;&gt;&lt;property id=&quot;20148&quot; value=&quot;5&quot;/&gt;&lt;property id=&quot;20300&quot; value=&quot;Slide 2 - &amp;quot;Progression of Raising Money&amp;quot;&quot;/&gt;&lt;property id=&quot;20307&quot; value=&quot;279&quot;/&gt;&lt;/object&gt;&lt;object type=&quot;3&quot; unique_id=&quot;10710&quot;&gt;&lt;property id=&quot;20148&quot; value=&quot;5&quot;/&gt;&lt;property id=&quot;20300&quot; value=&quot;Slide 3 - &amp;quot;Basic Ways of Evaluating a Business&amp;quot;&quot;/&gt;&lt;property id=&quot;20307&quot; value=&quot;280&quot;/&gt;&lt;/object&gt;&lt;object type=&quot;3&quot; unique_id=&quot;10711&quot;&gt;&lt;property id=&quot;20148&quot; value=&quot;5&quot;/&gt;&lt;property id=&quot;20300&quot; value=&quot;Slide 4 - &amp;quot;Income-based Valuation Methods&amp;quot;&quot;/&gt;&lt;property id=&quot;20307&quot; value=&quot;281&quot;/&gt;&lt;/object&gt;&lt;object type=&quot;3&quot; unique_id=&quot;10712&quot;&gt;&lt;property id=&quot;20148&quot; value=&quot;5&quot;/&gt;&lt;property id=&quot;20300&quot; value=&quot;Slide 5 - &amp;quot;Asset-based Valuation Methods&amp;quot;&quot;/&gt;&lt;property id=&quot;20307&quot; value=&quot;282&quot;/&gt;&lt;/object&gt;&lt;object type=&quot;3&quot; unique_id=&quot;10713&quot;&gt;&lt;property id=&quot;20148&quot; value=&quot;5&quot;/&gt;&lt;property id=&quot;20300&quot; value=&quot;Slide 6 - &amp;quot;External Financing&amp;quot;&quot;/&gt;&lt;property id=&quot;20307&quot; value=&quot;283&quot;/&gt;&lt;/object&gt;&lt;object type=&quot;3&quot; unique_id=&quot;10714&quot;&gt;&lt;property id=&quot;20148&quot; value=&quot;5&quot;/&gt;&lt;property id=&quot;20300&quot; value=&quot;Slide 7 - &amp;quot;Finding Business Angels&amp;quot;&quot;/&gt;&lt;property id=&quot;20307&quot; value=&quot;284&quot;/&gt;&lt;/object&gt;&lt;object type=&quot;3&quot; unique_id=&quot;10715&quot;&gt;&lt;property id=&quot;20148&quot; value=&quot;5&quot;/&gt;&lt;property id=&quot;20300&quot; value=&quot;Slide 8 - &amp;quot;Types of Business Angels&amp;quot;&quot;/&gt;&lt;property id=&quot;20307&quot; value=&quot;285&quot;/&gt;&lt;/object&gt;&lt;object type=&quot;3&quot; unique_id=&quot;10716&quot;&gt;&lt;property id=&quot;20148&quot; value=&quot;5&quot;/&gt;&lt;property id=&quot;20300&quot; value=&quot;Slide 9 - &amp;quot;Top 6 Investment Factors For VCs&amp;quot;&quot;/&gt;&lt;property id=&quot;20307&quot; value=&quot;286&quot;/&gt;&lt;/object&gt;&lt;object type=&quot;3&quot; unique_id=&quot;10717&quot;&gt;&lt;property id=&quot;20148&quot; value=&quot;5&quot;/&gt;&lt;property id=&quot;20300&quot; value=&quot;Slide 10 - &amp;quot;How to Assess a VC&amp;quot;&quot;/&gt;&lt;property id=&quot;20307&quot; value=&quot;287&quot;/&gt;&lt;/object&gt;&lt;object type=&quot;3&quot; unique_id=&quot;10718&quot;&gt;&lt;property id=&quot;20148&quot; value=&quot;5&quot;/&gt;&lt;property id=&quot;20300&quot; value=&quot;Slide 11 - &amp;quot;Harvesting (exiting) Investments&amp;quot;&quot;/&gt;&lt;property id=&quot;20307&quot; value=&quot;288&quot;/&gt;&lt;/object&gt;&lt;object type=&quot;3&quot; unique_id=&quot;10719&quot;&gt;&lt;property id=&quot;20148&quot; value=&quot;5&quot;/&gt;&lt;property id=&quot;20300&quot; value=&quot;Slide 12 - &amp;quot;Pros and Cons of an IPO&amp;quot;&quot;/&gt;&lt;property id=&quot;20307&quot; value=&quot;289&quot;/&gt;&lt;/object&gt;&lt;object type=&quot;3&quot; unique_id=&quot;10720&quot;&gt;&lt;property id=&quot;20148&quot; value=&quot;5&quot;/&gt;&lt;property id=&quot;20300&quot; value=&quot;Slide 13 - &amp;quot;Advantages/Disadvantages of an Acquisition (part 1)&amp;quot;&quot;/&gt;&lt;property id=&quot;20307&quot; value=&quot;290&quot;/&gt;&lt;/object&gt;&lt;object type=&quot;3&quot; unique_id=&quot;10721&quot;&gt;&lt;property id=&quot;20148&quot; value=&quot;5&quot;/&gt;&lt;property id=&quot;20300&quot; value=&quot;Slide 14 - &amp;quot;Advantages/Disadvantages of an Acquisition (part 2)&amp;quot;&quot;/&gt;&lt;property id=&quot;20307&quot; value=&quot;291&quot;/&gt;&lt;/object&gt;&lt;object type=&quot;3&quot; unique_id=&quot;10722&quot;&gt;&lt;property id=&quot;20148&quot; value=&quot;5&quot;/&gt;&lt;property id=&quot;20300&quot; value=&quot;Slide 15 - &amp;quot;Recap&amp;quot;&quot;/&gt;&lt;property id=&quot;20307&quot; value=&quot;292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1371</TotalTime>
  <Words>632</Words>
  <Application>Microsoft Office PowerPoint</Application>
  <PresentationFormat>On-screen Show (4:3)</PresentationFormat>
  <Paragraphs>142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Progression of Raising Money</vt:lpstr>
      <vt:lpstr>Basic Ways of Evaluating a Business</vt:lpstr>
      <vt:lpstr>Income-based Valuation Methods</vt:lpstr>
      <vt:lpstr>Asset-based Valuation Methods</vt:lpstr>
      <vt:lpstr>External Financing</vt:lpstr>
      <vt:lpstr>Finding Business Angels</vt:lpstr>
      <vt:lpstr>Types of Business Angels</vt:lpstr>
      <vt:lpstr>Top 6 Investment Factors For VCs</vt:lpstr>
      <vt:lpstr>How to Assess a VC</vt:lpstr>
      <vt:lpstr>Harvesting (exiting) Investments</vt:lpstr>
      <vt:lpstr>Pros and Cons of an IPO</vt:lpstr>
      <vt:lpstr>Advantages/Disadvantages of an Acquisition (part 1)</vt:lpstr>
      <vt:lpstr>Advantages/Disadvantages of an Acquisition (part 2)</vt:lpstr>
      <vt:lpstr>Recap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Lauren</dc:creator>
  <cp:lastModifiedBy>Dallas, Amanda - Hoboken</cp:lastModifiedBy>
  <cp:revision>51</cp:revision>
  <dcterms:created xsi:type="dcterms:W3CDTF">2013-10-12T04:14:45Z</dcterms:created>
  <dcterms:modified xsi:type="dcterms:W3CDTF">2015-03-02T21:27:55Z</dcterms:modified>
</cp:coreProperties>
</file>