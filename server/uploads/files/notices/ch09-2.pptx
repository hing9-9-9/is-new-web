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pn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60" r:id="rId4"/>
    <p:sldId id="266" r:id="rId5"/>
    <p:sldId id="287" r:id="rId6"/>
    <p:sldId id="288" r:id="rId7"/>
    <p:sldId id="263" r:id="rId8"/>
    <p:sldId id="269" r:id="rId9"/>
    <p:sldId id="273" r:id="rId10"/>
    <p:sldId id="274" r:id="rId11"/>
    <p:sldId id="275" r:id="rId12"/>
    <p:sldId id="284" r:id="rId13"/>
    <p:sldId id="289" r:id="rId14"/>
    <p:sldId id="290" r:id="rId15"/>
    <p:sldId id="291" r:id="rId16"/>
    <p:sldId id="285" r:id="rId17"/>
    <p:sldId id="29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nry" initials="HM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D6BE"/>
    <a:srgbClr val="006643"/>
    <a:srgbClr val="6AB284"/>
    <a:srgbClr val="4C9265"/>
    <a:srgbClr val="75D580"/>
    <a:srgbClr val="23732D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2" autoAdjust="0"/>
    <p:restoredTop sz="94660"/>
  </p:normalViewPr>
  <p:slideViewPr>
    <p:cSldViewPr>
      <p:cViewPr>
        <p:scale>
          <a:sx n="100" d="100"/>
          <a:sy n="100" d="100"/>
        </p:scale>
        <p:origin x="-300" y="-2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C0805-868A-4DE8-A042-3E39956FAE3B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D40C6-0C4C-43F4-B86E-EB10C5363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762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E128F-3006-4A7A-B421-F056B1B7E6BF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3C044-54D3-4313-8D7A-7979BC6E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4235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3C044-54D3-4313-8D7A-7979BC6EFB56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0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A3C044-54D3-4313-8D7A-7979BC6EFB5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83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1252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7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6305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9310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39704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84724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4387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3317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43479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63344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45733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dirty="0" smtClean="0">
                <a:latin typeface="Novecento wide Book" pitchFamily="50" charset="0"/>
              </a:rPr>
              <a:t>TITLE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6086B-7102-490E-9750-FFDE71058C9A}" type="datetimeFigureOut">
              <a:rPr lang="en-US" smtClean="0"/>
              <a:t>3/10/2015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67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1.xls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2.xlsx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71599" y="1374390"/>
            <a:ext cx="6772429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FINANCING ENTREPRENEURIAL VENTURES WORLDWIDE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9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474"/>
          <a:stretch/>
        </p:blipFill>
        <p:spPr>
          <a:xfrm>
            <a:off x="6934200" y="5285874"/>
            <a:ext cx="2057400" cy="173736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2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4177" y="223243"/>
            <a:ext cx="9158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MICROFINANCING &amp; MICROCREDIT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283081"/>
              </p:ext>
            </p:extLst>
          </p:nvPr>
        </p:nvGraphicFramePr>
        <p:xfrm>
          <a:off x="1295400" y="974000"/>
          <a:ext cx="6858000" cy="3415120"/>
        </p:xfrm>
        <a:graphic>
          <a:graphicData uri="http://schemas.openxmlformats.org/drawingml/2006/table">
            <a:tbl>
              <a:tblPr/>
              <a:tblGrid>
                <a:gridCol w="772732"/>
                <a:gridCol w="2189409"/>
                <a:gridCol w="1835239"/>
                <a:gridCol w="2060620"/>
              </a:tblGrid>
              <a:tr h="257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Growth in the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implementation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of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microcredit, 1997-2010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Number of                           Institutions Reporting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Total Number of Clients Reached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Number of 'poorest' clients reported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6BE"/>
                    </a:solidFill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12/31/97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13,478,797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7,600,000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12/31/98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925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20,938,899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12,221,918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1,065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23,555,689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13,779,872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1,567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30,681,107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19,327,451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12/31/01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2,186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54,932,235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26,878,332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2,572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67,606,080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41,594,778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12/31/03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2,931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80,868,343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54,785,433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12/31/04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3,164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92,270,289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66,614,871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12/31/05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3,133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113,261,390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81,949,036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12/31/06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3,316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133,030,913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92,922,574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12/31/07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3,552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154,825,825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106,584,679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12/31/09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3,589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190,135,080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126,220,051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12/31/10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3,652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205,314,502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137,547,441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71450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endParaRPr lang="en-US" sz="1000" b="0" i="1" u="none" strike="noStrike" dirty="0" smtClean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l" fontAlgn="b"/>
                      <a:r>
                        <a:rPr lang="en-US" sz="800" b="0" i="1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Source: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Maes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, J.P.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and Reed, L.R. </a:t>
                      </a:r>
                      <a:r>
                        <a:rPr lang="en-US" sz="800" b="0" i="1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State </a:t>
                      </a:r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of the Microcredit Summit Campaign Report </a:t>
                      </a:r>
                      <a:r>
                        <a:rPr lang="en-US" sz="800" b="0" i="1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2012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. Microcredit Summit Campaign. 2013. p.35.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1400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378976"/>
              </p:ext>
            </p:extLst>
          </p:nvPr>
        </p:nvGraphicFramePr>
        <p:xfrm>
          <a:off x="838200" y="4343400"/>
          <a:ext cx="7620000" cy="1828800"/>
        </p:xfrm>
        <a:graphic>
          <a:graphicData uri="http://schemas.openxmlformats.org/drawingml/2006/table">
            <a:tbl>
              <a:tblPr/>
              <a:tblGrid>
                <a:gridCol w="2356701"/>
                <a:gridCol w="1178351"/>
                <a:gridCol w="1492577"/>
                <a:gridCol w="290544"/>
                <a:gridCol w="1123476"/>
                <a:gridCol w="1178351"/>
              </a:tblGrid>
              <a:tr h="349507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Microfinancing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by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region, 2010 (in millions)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9185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Asia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Africa/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Middle East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6B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Latin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America/ 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Caribbean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6B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0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Eastern</a:t>
                      </a:r>
                      <a:r>
                        <a:rPr lang="en-US" sz="1200" b="1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Europe &amp; Central</a:t>
                      </a:r>
                      <a:r>
                        <a:rPr lang="en-US" sz="1200" b="1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Asia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D6BE"/>
                    </a:solidFill>
                  </a:tcPr>
                </a:tc>
              </a:tr>
              <a:tr h="28076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Number of Poorest Families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182.4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79.8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0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3.4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7173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Number Reached by Microfinance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125.5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8.9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2.9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0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0.13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87173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Percent Coverage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B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69%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B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11%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B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32%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B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0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4%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B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12501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800" b="0" i="1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Source: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Maes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, J.P. and Reed, L.R..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800" b="0" i="1" u="none" strike="noStrike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State of the </a:t>
                      </a:r>
                      <a:r>
                        <a:rPr lang="en-US" sz="800" b="0" i="1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Microcredit </a:t>
                      </a:r>
                      <a:r>
                        <a:rPr lang="en-US" sz="800" b="0" i="1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Summit Campaign Report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2012. Microcredit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Summit Campaign, 2012.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Page 39.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D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12501">
                <a:tc gridSpan="4"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46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1159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INFORMAL INVESTORS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3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035133"/>
              </p:ext>
            </p:extLst>
          </p:nvPr>
        </p:nvGraphicFramePr>
        <p:xfrm>
          <a:off x="533400" y="1143000"/>
          <a:ext cx="7620000" cy="461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Worksheet" r:id="rId4" imgW="6572250" imgH="4629091" progId="Excel.Sheet.12">
                  <p:embed/>
                </p:oleObj>
              </mc:Choice>
              <mc:Fallback>
                <p:oleObj name="Worksheet" r:id="rId4" imgW="6572250" imgH="4629091" progId="Excel.Sheet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43000"/>
                        <a:ext cx="7620000" cy="461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1066800" y="4419600"/>
            <a:ext cx="6955750" cy="4343400"/>
          </a:xfrm>
          <a:prstGeom prst="rect">
            <a:avLst/>
          </a:prstGeom>
        </p:spPr>
        <p:txBody>
          <a:bodyPr vert="vert270" wrap="square">
            <a:spAutoFit/>
          </a:bodyPr>
          <a:lstStyle/>
          <a:p>
            <a:pPr algn="r"/>
            <a:r>
              <a:rPr lang="en-US" sz="800" dirty="0" smtClean="0">
                <a:latin typeface="UniversLTStd"/>
              </a:rPr>
              <a:t>Brazil</a:t>
            </a:r>
          </a:p>
          <a:p>
            <a:pPr algn="r"/>
            <a:r>
              <a:rPr lang="en-US" sz="800" dirty="0" smtClean="0">
                <a:latin typeface="UniversLTStd"/>
              </a:rPr>
              <a:t>Morocco</a:t>
            </a:r>
            <a:endParaRPr lang="en-US" sz="800" dirty="0">
              <a:latin typeface="UniversLTStd"/>
            </a:endParaRPr>
          </a:p>
          <a:p>
            <a:pPr algn="r"/>
            <a:r>
              <a:rPr lang="en-US" sz="800" dirty="0">
                <a:latin typeface="UniversLTStd"/>
              </a:rPr>
              <a:t>Yemen</a:t>
            </a:r>
          </a:p>
          <a:p>
            <a:pPr algn="r"/>
            <a:r>
              <a:rPr lang="en-US" sz="800" dirty="0" err="1">
                <a:latin typeface="UniversLTStd"/>
              </a:rPr>
              <a:t>Uinted</a:t>
            </a:r>
            <a:r>
              <a:rPr lang="en-US" sz="800" dirty="0">
                <a:latin typeface="UniversLTStd"/>
              </a:rPr>
              <a:t> Kingdom</a:t>
            </a:r>
          </a:p>
          <a:p>
            <a:pPr algn="r"/>
            <a:r>
              <a:rPr lang="en-US" sz="800" dirty="0">
                <a:latin typeface="UniversLTStd"/>
              </a:rPr>
              <a:t>Russia</a:t>
            </a:r>
          </a:p>
          <a:p>
            <a:pPr algn="r"/>
            <a:r>
              <a:rPr lang="en-US" sz="800" dirty="0">
                <a:latin typeface="UniversLTStd"/>
              </a:rPr>
              <a:t>Romania</a:t>
            </a:r>
          </a:p>
          <a:p>
            <a:pPr algn="r"/>
            <a:r>
              <a:rPr lang="en-US" sz="800" dirty="0">
                <a:latin typeface="UniversLTStd"/>
              </a:rPr>
              <a:t>Venezuela</a:t>
            </a:r>
          </a:p>
          <a:p>
            <a:pPr algn="r"/>
            <a:r>
              <a:rPr lang="en-US" sz="800" dirty="0">
                <a:latin typeface="UniversLTStd"/>
              </a:rPr>
              <a:t>Germany</a:t>
            </a:r>
          </a:p>
          <a:p>
            <a:pPr algn="r"/>
            <a:r>
              <a:rPr lang="en-US" sz="800" dirty="0">
                <a:latin typeface="UniversLTStd"/>
              </a:rPr>
              <a:t>West Bank &amp; Gaza Strip</a:t>
            </a:r>
          </a:p>
          <a:p>
            <a:pPr algn="r"/>
            <a:r>
              <a:rPr lang="en-US" sz="800" dirty="0">
                <a:latin typeface="UniversLTStd"/>
              </a:rPr>
              <a:t>Bosnia and Herzegovina</a:t>
            </a:r>
          </a:p>
          <a:p>
            <a:pPr algn="r"/>
            <a:r>
              <a:rPr lang="en-US" sz="800" dirty="0">
                <a:latin typeface="UniversLTStd"/>
              </a:rPr>
              <a:t>South Africa</a:t>
            </a:r>
          </a:p>
          <a:p>
            <a:pPr algn="r"/>
            <a:r>
              <a:rPr lang="en-US" sz="800" dirty="0">
                <a:latin typeface="UniversLTStd"/>
              </a:rPr>
              <a:t>Japan</a:t>
            </a:r>
          </a:p>
          <a:p>
            <a:pPr algn="r"/>
            <a:r>
              <a:rPr lang="en-US" sz="800" dirty="0">
                <a:latin typeface="UniversLTStd"/>
              </a:rPr>
              <a:t>Italy</a:t>
            </a:r>
          </a:p>
          <a:p>
            <a:pPr algn="r"/>
            <a:r>
              <a:rPr lang="en-US" sz="800" dirty="0">
                <a:latin typeface="UniversLTStd"/>
              </a:rPr>
              <a:t>Netherlands</a:t>
            </a:r>
          </a:p>
          <a:p>
            <a:pPr algn="r"/>
            <a:r>
              <a:rPr lang="en-US" sz="800" dirty="0">
                <a:latin typeface="UniversLTStd"/>
              </a:rPr>
              <a:t>Lebanon</a:t>
            </a:r>
          </a:p>
          <a:p>
            <a:pPr algn="r"/>
            <a:r>
              <a:rPr lang="en-US" sz="800" dirty="0">
                <a:latin typeface="UniversLTStd"/>
              </a:rPr>
              <a:t>Malaysia</a:t>
            </a:r>
          </a:p>
          <a:p>
            <a:pPr algn="r"/>
            <a:r>
              <a:rPr lang="en-US" sz="800" dirty="0">
                <a:latin typeface="UniversLTStd"/>
              </a:rPr>
              <a:t>Jordan</a:t>
            </a:r>
          </a:p>
          <a:p>
            <a:pPr algn="r"/>
            <a:r>
              <a:rPr lang="en-US" sz="800" dirty="0">
                <a:latin typeface="UniversLTStd"/>
              </a:rPr>
              <a:t>Denmark</a:t>
            </a:r>
          </a:p>
          <a:p>
            <a:pPr algn="r"/>
            <a:r>
              <a:rPr lang="en-US" sz="800" dirty="0">
                <a:latin typeface="UniversLTStd"/>
              </a:rPr>
              <a:t>Finland</a:t>
            </a:r>
          </a:p>
          <a:p>
            <a:pPr algn="r"/>
            <a:r>
              <a:rPr lang="en-US" sz="800" dirty="0">
                <a:latin typeface="UniversLTStd"/>
              </a:rPr>
              <a:t>Belgium</a:t>
            </a:r>
          </a:p>
          <a:p>
            <a:pPr algn="r"/>
            <a:r>
              <a:rPr lang="en-US" sz="800" dirty="0">
                <a:latin typeface="UniversLTStd"/>
              </a:rPr>
              <a:t>Greece</a:t>
            </a:r>
          </a:p>
          <a:p>
            <a:pPr algn="r"/>
            <a:r>
              <a:rPr lang="en-US" sz="800" dirty="0">
                <a:latin typeface="UniversLTStd"/>
              </a:rPr>
              <a:t>Panama</a:t>
            </a:r>
          </a:p>
          <a:p>
            <a:pPr algn="r"/>
            <a:r>
              <a:rPr lang="en-US" sz="800" dirty="0">
                <a:latin typeface="UniversLTStd"/>
              </a:rPr>
              <a:t>Hong Kong</a:t>
            </a:r>
          </a:p>
          <a:p>
            <a:pPr algn="r"/>
            <a:r>
              <a:rPr lang="en-US" sz="800" dirty="0">
                <a:latin typeface="UniversLTStd"/>
              </a:rPr>
              <a:t>Uruguay</a:t>
            </a:r>
          </a:p>
          <a:p>
            <a:pPr algn="r"/>
            <a:r>
              <a:rPr lang="en-US" sz="800" dirty="0">
                <a:latin typeface="UniversLTStd"/>
              </a:rPr>
              <a:t>Slovenia</a:t>
            </a:r>
          </a:p>
          <a:p>
            <a:pPr algn="r"/>
            <a:r>
              <a:rPr lang="en-US" sz="800" dirty="0">
                <a:latin typeface="UniversLTStd"/>
              </a:rPr>
              <a:t>Ecuador</a:t>
            </a:r>
          </a:p>
          <a:p>
            <a:pPr algn="r"/>
            <a:r>
              <a:rPr lang="en-US" sz="800" dirty="0">
                <a:latin typeface="UniversLTStd"/>
              </a:rPr>
              <a:t>Tonga</a:t>
            </a:r>
          </a:p>
          <a:p>
            <a:pPr algn="r"/>
            <a:r>
              <a:rPr lang="en-US" sz="800" dirty="0">
                <a:latin typeface="UniversLTStd"/>
              </a:rPr>
              <a:t>Croatia</a:t>
            </a:r>
          </a:p>
          <a:p>
            <a:pPr algn="r"/>
            <a:r>
              <a:rPr lang="en-US" sz="800" dirty="0">
                <a:latin typeface="UniversLTStd"/>
              </a:rPr>
              <a:t>Spain</a:t>
            </a:r>
          </a:p>
          <a:p>
            <a:pPr algn="r"/>
            <a:r>
              <a:rPr lang="en-US" sz="800" dirty="0">
                <a:latin typeface="UniversLTStd"/>
              </a:rPr>
              <a:t>Argentina</a:t>
            </a:r>
          </a:p>
          <a:p>
            <a:pPr algn="r"/>
            <a:r>
              <a:rPr lang="en-US" sz="800" dirty="0">
                <a:latin typeface="UniversLTStd"/>
              </a:rPr>
              <a:t>Korea</a:t>
            </a:r>
          </a:p>
          <a:p>
            <a:pPr algn="r"/>
            <a:r>
              <a:rPr lang="en-US" sz="800" dirty="0">
                <a:latin typeface="UniversLTStd"/>
              </a:rPr>
              <a:t>Israel</a:t>
            </a:r>
          </a:p>
          <a:p>
            <a:pPr algn="r"/>
            <a:r>
              <a:rPr lang="en-US" sz="800" dirty="0">
                <a:latin typeface="UniversLTStd"/>
              </a:rPr>
              <a:t>Shenzhen</a:t>
            </a:r>
          </a:p>
          <a:p>
            <a:pPr algn="r"/>
            <a:r>
              <a:rPr lang="en-US" sz="800" dirty="0">
                <a:latin typeface="UniversLTStd"/>
              </a:rPr>
              <a:t>Iran</a:t>
            </a:r>
          </a:p>
          <a:p>
            <a:pPr algn="r"/>
            <a:r>
              <a:rPr lang="en-US" sz="800" dirty="0">
                <a:latin typeface="UniversLTStd"/>
              </a:rPr>
              <a:t>Saudi Arabia</a:t>
            </a:r>
          </a:p>
          <a:p>
            <a:pPr algn="r"/>
            <a:r>
              <a:rPr lang="en-US" sz="800" dirty="0">
                <a:latin typeface="UniversLTStd"/>
              </a:rPr>
              <a:t>Colombia</a:t>
            </a:r>
          </a:p>
          <a:p>
            <a:pPr algn="r"/>
            <a:r>
              <a:rPr lang="en-US" sz="800" dirty="0">
                <a:latin typeface="UniversLTStd"/>
              </a:rPr>
              <a:t>United States</a:t>
            </a:r>
          </a:p>
          <a:p>
            <a:pPr algn="r"/>
            <a:r>
              <a:rPr lang="en-US" sz="800" dirty="0">
                <a:latin typeface="UniversLTStd"/>
              </a:rPr>
              <a:t>France</a:t>
            </a:r>
          </a:p>
          <a:p>
            <a:pPr algn="r"/>
            <a:r>
              <a:rPr lang="en-US" sz="800" dirty="0">
                <a:latin typeface="UniversLTStd"/>
              </a:rPr>
              <a:t>Serbia</a:t>
            </a:r>
          </a:p>
          <a:p>
            <a:pPr algn="r"/>
            <a:r>
              <a:rPr lang="en-US" sz="800" dirty="0">
                <a:latin typeface="UniversLTStd"/>
              </a:rPr>
              <a:t>Switzerland</a:t>
            </a:r>
          </a:p>
          <a:p>
            <a:pPr algn="r"/>
            <a:r>
              <a:rPr lang="en-US" sz="800" dirty="0">
                <a:latin typeface="UniversLTStd"/>
              </a:rPr>
              <a:t>Hungary</a:t>
            </a:r>
          </a:p>
          <a:p>
            <a:pPr algn="r"/>
            <a:r>
              <a:rPr lang="en-US" sz="800" dirty="0">
                <a:latin typeface="UniversLTStd"/>
              </a:rPr>
              <a:t>Syria</a:t>
            </a:r>
          </a:p>
          <a:p>
            <a:pPr algn="r"/>
            <a:r>
              <a:rPr lang="en-US" sz="800" dirty="0">
                <a:latin typeface="UniversLTStd"/>
              </a:rPr>
              <a:t>Dominican Republic</a:t>
            </a:r>
          </a:p>
          <a:p>
            <a:pPr algn="r"/>
            <a:r>
              <a:rPr lang="en-US" sz="800" dirty="0">
                <a:latin typeface="UniversLTStd"/>
              </a:rPr>
              <a:t>Tunisia</a:t>
            </a:r>
          </a:p>
          <a:p>
            <a:pPr algn="r"/>
            <a:r>
              <a:rPr lang="en-US" sz="800" dirty="0">
                <a:latin typeface="UniversLTStd"/>
              </a:rPr>
              <a:t>China</a:t>
            </a:r>
          </a:p>
          <a:p>
            <a:pPr algn="r"/>
            <a:r>
              <a:rPr lang="en-US" sz="800" dirty="0">
                <a:latin typeface="UniversLTStd"/>
              </a:rPr>
              <a:t>Norway</a:t>
            </a:r>
          </a:p>
          <a:p>
            <a:pPr algn="r"/>
            <a:r>
              <a:rPr lang="en-US" sz="800" dirty="0">
                <a:latin typeface="UniversLTStd"/>
              </a:rPr>
              <a:t>Iceland</a:t>
            </a:r>
          </a:p>
          <a:p>
            <a:pPr algn="r"/>
            <a:r>
              <a:rPr lang="en-US" sz="800" dirty="0">
                <a:latin typeface="UniversLTStd"/>
              </a:rPr>
              <a:t>Algeria</a:t>
            </a:r>
          </a:p>
          <a:p>
            <a:pPr algn="r"/>
            <a:r>
              <a:rPr lang="en-US" sz="800" dirty="0">
                <a:latin typeface="UniversLTStd"/>
              </a:rPr>
              <a:t>Latvia</a:t>
            </a:r>
          </a:p>
          <a:p>
            <a:pPr algn="r"/>
            <a:r>
              <a:rPr lang="en-US" sz="800" dirty="0">
                <a:latin typeface="UniversLTStd"/>
              </a:rPr>
              <a:t>Peru</a:t>
            </a:r>
          </a:p>
          <a:p>
            <a:pPr algn="r"/>
            <a:r>
              <a:rPr lang="en-US" sz="800" dirty="0">
                <a:latin typeface="UniversLTStd"/>
              </a:rPr>
              <a:t>Jamaica</a:t>
            </a:r>
          </a:p>
          <a:p>
            <a:pPr algn="r"/>
            <a:r>
              <a:rPr lang="en-US" sz="800" dirty="0">
                <a:latin typeface="UniversLTStd"/>
              </a:rPr>
              <a:t>United Arab Emirates</a:t>
            </a:r>
          </a:p>
          <a:p>
            <a:pPr algn="r"/>
            <a:r>
              <a:rPr lang="en-US" sz="800" dirty="0">
                <a:latin typeface="UniversLTStd"/>
              </a:rPr>
              <a:t>Chile</a:t>
            </a:r>
          </a:p>
          <a:p>
            <a:pPr algn="r"/>
            <a:r>
              <a:rPr lang="en-US" sz="800" dirty="0">
                <a:latin typeface="UniversLTStd"/>
              </a:rPr>
              <a:t>Guatemala</a:t>
            </a:r>
          </a:p>
          <a:p>
            <a:pPr algn="r"/>
            <a:r>
              <a:rPr lang="en-US" sz="800" dirty="0">
                <a:latin typeface="UniversLTStd"/>
              </a:rPr>
              <a:t>Uganda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4557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1159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INFORMAL</a:t>
            </a:r>
            <a:r>
              <a:rPr lang="en-US" sz="4800" b="1" dirty="0">
                <a:latin typeface="Novecento wide Book" pitchFamily="50" charset="0"/>
              </a:rPr>
              <a:t> </a:t>
            </a:r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INVESTMENT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4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graphicFrame>
        <p:nvGraphicFramePr>
          <p:cNvPr id="2" name="Objec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6579054"/>
              </p:ext>
            </p:extLst>
          </p:nvPr>
        </p:nvGraphicFramePr>
        <p:xfrm>
          <a:off x="647701" y="1284364"/>
          <a:ext cx="7772398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Worksheet" r:id="rId4" imgW="6581698" imgH="5810320" progId="Excel.Sheet.12">
                  <p:embed/>
                </p:oleObj>
              </mc:Choice>
              <mc:Fallback>
                <p:oleObj name="Worksheet" r:id="rId4" imgW="6581698" imgH="5810320" progId="Excel.Sheet.12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1" y="1284364"/>
                        <a:ext cx="7772398" cy="4800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6643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1244560" y="5303837"/>
            <a:ext cx="6832640" cy="1630363"/>
          </a:xfrm>
          <a:prstGeom prst="rect">
            <a:avLst/>
          </a:prstGeom>
        </p:spPr>
        <p:txBody>
          <a:bodyPr vert="vert270" wrap="square">
            <a:spAutoFit/>
          </a:bodyPr>
          <a:lstStyle/>
          <a:p>
            <a:pPr algn="r"/>
            <a:r>
              <a:rPr lang="en-US" sz="800" dirty="0"/>
              <a:t>Russia</a:t>
            </a:r>
          </a:p>
          <a:p>
            <a:pPr algn="r"/>
            <a:r>
              <a:rPr lang="en-US" sz="800" dirty="0"/>
              <a:t>Brazil</a:t>
            </a:r>
          </a:p>
          <a:p>
            <a:pPr algn="r"/>
            <a:r>
              <a:rPr lang="en-US" sz="800" dirty="0"/>
              <a:t>Morocco</a:t>
            </a:r>
          </a:p>
          <a:p>
            <a:pPr algn="r"/>
            <a:r>
              <a:rPr lang="en-US" sz="800" dirty="0"/>
              <a:t>Jamaica</a:t>
            </a:r>
          </a:p>
          <a:p>
            <a:pPr algn="r"/>
            <a:r>
              <a:rPr lang="en-US" sz="800" dirty="0"/>
              <a:t>Finland</a:t>
            </a:r>
          </a:p>
          <a:p>
            <a:pPr algn="r"/>
            <a:r>
              <a:rPr lang="en-US" sz="800" dirty="0"/>
              <a:t>United Kingdom</a:t>
            </a:r>
          </a:p>
          <a:p>
            <a:pPr algn="r"/>
            <a:r>
              <a:rPr lang="en-US" sz="800" dirty="0"/>
              <a:t>Ecuador</a:t>
            </a:r>
          </a:p>
          <a:p>
            <a:pPr algn="r"/>
            <a:r>
              <a:rPr lang="en-US" sz="800" dirty="0"/>
              <a:t>Venezuela</a:t>
            </a:r>
          </a:p>
          <a:p>
            <a:pPr algn="r"/>
            <a:r>
              <a:rPr lang="en-US" sz="800" dirty="0"/>
              <a:t>Malaysia</a:t>
            </a:r>
          </a:p>
          <a:p>
            <a:pPr algn="r"/>
            <a:r>
              <a:rPr lang="en-US" sz="800" dirty="0"/>
              <a:t>Panama</a:t>
            </a:r>
          </a:p>
          <a:p>
            <a:pPr algn="r"/>
            <a:r>
              <a:rPr lang="en-US" sz="800" dirty="0"/>
              <a:t>Norway</a:t>
            </a:r>
          </a:p>
          <a:p>
            <a:pPr algn="r"/>
            <a:r>
              <a:rPr lang="en-US" sz="800" dirty="0"/>
              <a:t>Hungary</a:t>
            </a:r>
          </a:p>
          <a:p>
            <a:pPr algn="r"/>
            <a:r>
              <a:rPr lang="en-US" sz="800" dirty="0"/>
              <a:t>Guatemala</a:t>
            </a:r>
          </a:p>
          <a:p>
            <a:pPr algn="r"/>
            <a:r>
              <a:rPr lang="en-US" sz="800" dirty="0"/>
              <a:t>Japan</a:t>
            </a:r>
          </a:p>
          <a:p>
            <a:pPr algn="r"/>
            <a:r>
              <a:rPr lang="en-US" sz="800" dirty="0"/>
              <a:t>Spain</a:t>
            </a:r>
          </a:p>
          <a:p>
            <a:pPr algn="r"/>
            <a:r>
              <a:rPr lang="en-US" sz="800" dirty="0"/>
              <a:t>Korea</a:t>
            </a:r>
          </a:p>
          <a:p>
            <a:pPr algn="r"/>
            <a:r>
              <a:rPr lang="en-US" sz="800" dirty="0"/>
              <a:t>Tonga</a:t>
            </a:r>
          </a:p>
          <a:p>
            <a:pPr algn="r"/>
            <a:r>
              <a:rPr lang="en-US" sz="800" dirty="0"/>
              <a:t>Germany</a:t>
            </a:r>
          </a:p>
          <a:p>
            <a:pPr algn="r"/>
            <a:r>
              <a:rPr lang="en-US" sz="800" dirty="0"/>
              <a:t>Argentina</a:t>
            </a:r>
          </a:p>
          <a:p>
            <a:pPr algn="r"/>
            <a:r>
              <a:rPr lang="en-US" sz="800" dirty="0"/>
              <a:t>Saudi Arabia</a:t>
            </a:r>
          </a:p>
          <a:p>
            <a:pPr algn="r"/>
            <a:r>
              <a:rPr lang="en-US" sz="800" dirty="0"/>
              <a:t>France</a:t>
            </a:r>
          </a:p>
          <a:p>
            <a:pPr algn="r"/>
            <a:r>
              <a:rPr lang="en-US" sz="800" dirty="0"/>
              <a:t>Lebanon</a:t>
            </a:r>
          </a:p>
          <a:p>
            <a:pPr algn="r"/>
            <a:r>
              <a:rPr lang="en-US" sz="800" dirty="0"/>
              <a:t>Colombia</a:t>
            </a:r>
          </a:p>
          <a:p>
            <a:pPr algn="r"/>
            <a:r>
              <a:rPr lang="en-US" sz="800" dirty="0"/>
              <a:t>Netherlands</a:t>
            </a:r>
          </a:p>
          <a:p>
            <a:pPr algn="r"/>
            <a:r>
              <a:rPr lang="en-US" sz="800" dirty="0"/>
              <a:t>Dominican Republic</a:t>
            </a:r>
          </a:p>
          <a:p>
            <a:pPr algn="r"/>
            <a:r>
              <a:rPr lang="en-US" sz="800" dirty="0"/>
              <a:t>Denmark</a:t>
            </a:r>
          </a:p>
          <a:p>
            <a:pPr algn="r"/>
            <a:r>
              <a:rPr lang="en-US" sz="800" dirty="0"/>
              <a:t>South Africa</a:t>
            </a:r>
          </a:p>
          <a:p>
            <a:pPr algn="r"/>
            <a:r>
              <a:rPr lang="en-US" sz="800" dirty="0"/>
              <a:t>Uganda</a:t>
            </a:r>
          </a:p>
          <a:p>
            <a:pPr algn="r"/>
            <a:r>
              <a:rPr lang="en-US" sz="800" dirty="0"/>
              <a:t>Switzerland</a:t>
            </a:r>
          </a:p>
          <a:p>
            <a:pPr algn="r"/>
            <a:r>
              <a:rPr lang="en-US" sz="800" dirty="0"/>
              <a:t>Romania</a:t>
            </a:r>
          </a:p>
          <a:p>
            <a:pPr algn="r"/>
            <a:r>
              <a:rPr lang="en-US" sz="800" dirty="0"/>
              <a:t>Peru</a:t>
            </a:r>
          </a:p>
          <a:p>
            <a:pPr algn="r"/>
            <a:r>
              <a:rPr lang="en-US" sz="800" dirty="0"/>
              <a:t>Italy</a:t>
            </a:r>
          </a:p>
          <a:p>
            <a:pPr algn="r"/>
            <a:r>
              <a:rPr lang="en-US" sz="800" dirty="0"/>
              <a:t>Belgium</a:t>
            </a:r>
          </a:p>
          <a:p>
            <a:pPr algn="r"/>
            <a:r>
              <a:rPr lang="en-US" sz="800" dirty="0"/>
              <a:t>Greece</a:t>
            </a:r>
          </a:p>
          <a:p>
            <a:pPr algn="r"/>
            <a:r>
              <a:rPr lang="en-US" sz="800" dirty="0"/>
              <a:t>Slovenia</a:t>
            </a:r>
          </a:p>
          <a:p>
            <a:pPr algn="r"/>
            <a:r>
              <a:rPr lang="en-US" sz="800" dirty="0"/>
              <a:t>Tunisia</a:t>
            </a:r>
          </a:p>
          <a:p>
            <a:pPr algn="r"/>
            <a:r>
              <a:rPr lang="en-US" sz="800" dirty="0"/>
              <a:t>Chile</a:t>
            </a:r>
          </a:p>
          <a:p>
            <a:pPr algn="r"/>
            <a:r>
              <a:rPr lang="en-US" sz="800" dirty="0"/>
              <a:t>United States</a:t>
            </a:r>
          </a:p>
          <a:p>
            <a:pPr algn="r"/>
            <a:r>
              <a:rPr lang="en-US" sz="800" dirty="0"/>
              <a:t>Israel</a:t>
            </a:r>
          </a:p>
          <a:p>
            <a:pPr algn="r"/>
            <a:r>
              <a:rPr lang="en-US" sz="800" dirty="0"/>
              <a:t>Jordan</a:t>
            </a:r>
          </a:p>
          <a:p>
            <a:pPr algn="r"/>
            <a:r>
              <a:rPr lang="en-US" sz="800" dirty="0"/>
              <a:t>Serbia</a:t>
            </a:r>
          </a:p>
          <a:p>
            <a:pPr algn="r"/>
            <a:r>
              <a:rPr lang="en-US" sz="800" dirty="0"/>
              <a:t>Uruguay</a:t>
            </a:r>
          </a:p>
          <a:p>
            <a:pPr algn="r"/>
            <a:r>
              <a:rPr lang="en-US" sz="800" dirty="0"/>
              <a:t>United Arab Emirates</a:t>
            </a:r>
          </a:p>
          <a:p>
            <a:pPr algn="r"/>
            <a:r>
              <a:rPr lang="en-US" sz="800" dirty="0"/>
              <a:t>West Bank &amp; Gaza Strip</a:t>
            </a:r>
          </a:p>
          <a:p>
            <a:pPr algn="r"/>
            <a:r>
              <a:rPr lang="en-US" sz="800" dirty="0"/>
              <a:t>Hong Kong</a:t>
            </a:r>
          </a:p>
          <a:p>
            <a:pPr algn="r"/>
            <a:r>
              <a:rPr lang="en-US" sz="800" dirty="0"/>
              <a:t>Croatia</a:t>
            </a:r>
          </a:p>
          <a:p>
            <a:pPr algn="r"/>
            <a:r>
              <a:rPr lang="en-US" sz="800" dirty="0"/>
              <a:t>Iceland</a:t>
            </a:r>
          </a:p>
          <a:p>
            <a:pPr algn="r"/>
            <a:r>
              <a:rPr lang="en-US" sz="800" dirty="0"/>
              <a:t>Iran</a:t>
            </a:r>
          </a:p>
          <a:p>
            <a:pPr algn="r"/>
            <a:r>
              <a:rPr lang="en-US" sz="800" dirty="0"/>
              <a:t>Latvia</a:t>
            </a:r>
          </a:p>
          <a:p>
            <a:pPr algn="r"/>
            <a:r>
              <a:rPr lang="en-US" sz="800" dirty="0"/>
              <a:t>Algeria</a:t>
            </a:r>
          </a:p>
          <a:p>
            <a:pPr algn="r"/>
            <a:r>
              <a:rPr lang="en-US" sz="800" dirty="0"/>
              <a:t>Syria</a:t>
            </a:r>
          </a:p>
          <a:p>
            <a:pPr algn="r"/>
            <a:r>
              <a:rPr lang="en-US" sz="800" dirty="0"/>
              <a:t>Shenzhen</a:t>
            </a:r>
          </a:p>
          <a:p>
            <a:pPr algn="r"/>
            <a:r>
              <a:rPr lang="en-US" sz="800" dirty="0"/>
              <a:t>Bosnia and Herzegovina</a:t>
            </a:r>
          </a:p>
          <a:p>
            <a:pPr algn="r"/>
            <a:r>
              <a:rPr lang="en-US" sz="800" dirty="0"/>
              <a:t>China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0020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Annual informal investment as a percentage of GDP, 2009  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85835" y="2514600"/>
            <a:ext cx="369332" cy="234012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200" b="1" dirty="0" smtClean="0"/>
              <a:t>Amount of Informal Capital, % GDP</a:t>
            </a:r>
            <a:endParaRPr lang="en-US" sz="1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12820" y="2286000"/>
            <a:ext cx="45878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7.00</a:t>
            </a:r>
          </a:p>
          <a:p>
            <a:endParaRPr lang="en-US" sz="1200" dirty="0" smtClean="0"/>
          </a:p>
          <a:p>
            <a:r>
              <a:rPr lang="en-US" sz="1200" dirty="0" smtClean="0"/>
              <a:t>6.00</a:t>
            </a:r>
          </a:p>
          <a:p>
            <a:endParaRPr lang="en-US" sz="1200" dirty="0" smtClean="0"/>
          </a:p>
          <a:p>
            <a:r>
              <a:rPr lang="en-US" sz="1200" dirty="0" smtClean="0"/>
              <a:t>5.00</a:t>
            </a:r>
          </a:p>
          <a:p>
            <a:endParaRPr lang="en-US" sz="1200" dirty="0" smtClean="0"/>
          </a:p>
          <a:p>
            <a:r>
              <a:rPr lang="en-US" sz="1200" dirty="0" smtClean="0"/>
              <a:t>4.00</a:t>
            </a:r>
          </a:p>
          <a:p>
            <a:endParaRPr lang="en-US" sz="1200" dirty="0" smtClean="0"/>
          </a:p>
          <a:p>
            <a:r>
              <a:rPr lang="en-US" sz="1200" dirty="0" smtClean="0"/>
              <a:t>3.00</a:t>
            </a:r>
          </a:p>
          <a:p>
            <a:endParaRPr lang="en-US" sz="1200" dirty="0" smtClean="0"/>
          </a:p>
          <a:p>
            <a:r>
              <a:rPr lang="en-US" sz="1200" dirty="0" smtClean="0"/>
              <a:t>2.00</a:t>
            </a:r>
          </a:p>
          <a:p>
            <a:endParaRPr lang="en-US" sz="1200" dirty="0" smtClean="0"/>
          </a:p>
          <a:p>
            <a:r>
              <a:rPr lang="en-US" sz="1200" dirty="0" smtClean="0"/>
              <a:t>1.00</a:t>
            </a:r>
          </a:p>
          <a:p>
            <a:endParaRPr lang="en-US" sz="1200" dirty="0" smtClean="0"/>
          </a:p>
          <a:p>
            <a:r>
              <a:rPr lang="en-US" sz="1200" dirty="0" smtClean="0"/>
              <a:t>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57400"/>
            <a:ext cx="507831" cy="497893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050" dirty="0" smtClean="0"/>
              <a:t>10.33%</a:t>
            </a:r>
          </a:p>
          <a:p>
            <a:r>
              <a:rPr lang="en-US" sz="1050" dirty="0" smtClean="0"/>
              <a:t>11.29%</a:t>
            </a:r>
          </a:p>
        </p:txBody>
      </p:sp>
    </p:spTree>
    <p:extLst>
      <p:ext uri="{BB962C8B-B14F-4D97-AF65-F5344CB8AC3E}">
        <p14:creationId xmlns:p14="http://schemas.microsoft.com/office/powerpoint/2010/main" val="39551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0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874520"/>
            <a:ext cx="7543800" cy="452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381000" y="0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ANNUAL AMOUNT PER</a:t>
            </a:r>
          </a:p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INFORMAL INVESTOR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5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47800" y="144780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Annual amount per informal investor vs. GDP per capita (US$)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65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00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310640"/>
            <a:ext cx="807169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-17164" y="221159"/>
            <a:ext cx="916116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SEED </a:t>
            </a: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FUNDING</a:t>
            </a:r>
            <a:r>
              <a:rPr lang="en-US" sz="4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PER COMPANY</a:t>
            </a:r>
            <a:endParaRPr lang="en-US" sz="4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6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05000" y="1002268"/>
            <a:ext cx="541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Startup funding per company vs. GDP per capita (US$)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3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" y="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RELATIONSHIP OF INFORMAL</a:t>
            </a:r>
          </a:p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INVESTOR TO INVESTEE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7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161346"/>
              </p:ext>
            </p:extLst>
          </p:nvPr>
        </p:nvGraphicFramePr>
        <p:xfrm>
          <a:off x="457200" y="1743601"/>
          <a:ext cx="8305800" cy="2804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61160"/>
                <a:gridCol w="1661160"/>
                <a:gridCol w="1661160"/>
                <a:gridCol w="1661160"/>
                <a:gridCol w="166116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Relationship: Investor-Investee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Percent Total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Mean Amount Invested US$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Median Payback Time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Median X Return</a:t>
                      </a:r>
                      <a:endParaRPr lang="en-US" sz="16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Close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23,190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</a:t>
                      </a:r>
                      <a:r>
                        <a:rPr lang="en-US" sz="1600" baseline="0" dirty="0" smtClean="0"/>
                        <a:t> years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 x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Other relative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9.4%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12,345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 years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 x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Work colleague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7.9%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39,032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 years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 x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Friend, neighbor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26.4%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15,548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 years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 x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Stranger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6.9%</a:t>
                      </a:r>
                      <a:endParaRPr lang="en-US" sz="16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67,672</a:t>
                      </a:r>
                      <a:endParaRPr lang="en-US" sz="16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2-5 years</a:t>
                      </a:r>
                      <a:endParaRPr lang="en-US" sz="16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1.5 x</a:t>
                      </a:r>
                      <a:endParaRPr lang="en-US" sz="16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100.0%</a:t>
                      </a:r>
                      <a:endParaRPr lang="en-US" sz="16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24,202</a:t>
                      </a:r>
                      <a:endParaRPr lang="en-US" sz="16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 years</a:t>
                      </a:r>
                      <a:endParaRPr lang="en-US" sz="16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 x</a:t>
                      </a:r>
                      <a:endParaRPr lang="en-US" sz="16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3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8814" y="1980210"/>
            <a:ext cx="800351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371600" y="1640503"/>
            <a:ext cx="7660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Novecento wide Book" pitchFamily="50" charset="0"/>
              </a:rPr>
              <a:t>E</a:t>
            </a:r>
            <a:r>
              <a:rPr lang="en-US" sz="2000" dirty="0" smtClean="0">
                <a:latin typeface="Novecento wide Book" pitchFamily="50" charset="0"/>
              </a:rPr>
              <a:t>xpected IRR for entrepreneurs and informal investors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8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6827" y="0"/>
            <a:ext cx="77301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FINANCIAL RETURNS ON</a:t>
            </a:r>
          </a:p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INFORMAL INVESTMENT</a:t>
            </a:r>
          </a:p>
        </p:txBody>
      </p:sp>
    </p:spTree>
    <p:extLst>
      <p:ext uri="{BB962C8B-B14F-4D97-AF65-F5344CB8AC3E}">
        <p14:creationId xmlns:p14="http://schemas.microsoft.com/office/powerpoint/2010/main" val="390482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2668" y="152400"/>
            <a:ext cx="87927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SUPPLY AND DEMAND FOR</a:t>
            </a:r>
          </a:p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STARTUP FINANCING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77000"/>
            <a:ext cx="28956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9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pic>
        <p:nvPicPr>
          <p:cNvPr id="8" name="Picture 1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81200"/>
            <a:ext cx="7305675" cy="4429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57200" y="167640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Percentage of nascent businesses that could be funded by available informal investment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6134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991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INFORMAL INVESTMENT VS.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VENTURE CAPITAL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10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47800"/>
            <a:ext cx="700708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4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11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CLASSIC VENTURE CAPITAL</a:t>
            </a:r>
          </a:p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INVESTMENT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0" name="Picture 30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447799"/>
            <a:ext cx="683336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8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12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CLASSIC VENTURE CAPITAL INVESTMENT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6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2" name="Rectangle 5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199" y="6123543"/>
            <a:ext cx="826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Classic venture capital investment per company, 2008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78" y="1504319"/>
            <a:ext cx="8192644" cy="451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2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13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FINANCING ENTREPRENEURIAL VENTURES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6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2" name="Rectangle 5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1935480"/>
            <a:ext cx="7255485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24000" y="1611868"/>
            <a:ext cx="609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Financing entrepreneurial ventures in the United States, 2008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31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14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ECONOMIC BENEFITS OF </a:t>
            </a:r>
            <a:endParaRPr lang="en-US" sz="3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VENTURE CAPITAL-BACKED COMPANIES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6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2" name="Rectangle 5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598955"/>
              </p:ext>
            </p:extLst>
          </p:nvPr>
        </p:nvGraphicFramePr>
        <p:xfrm>
          <a:off x="876300" y="1905000"/>
          <a:ext cx="73914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850"/>
                <a:gridCol w="1847850"/>
                <a:gridCol w="1847850"/>
                <a:gridCol w="184785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solidFill>
                      <a:srgbClr val="0066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2000</a:t>
                      </a:r>
                      <a:endParaRPr lang="en-US" dirty="0"/>
                    </a:p>
                  </a:txBody>
                  <a:tcPr anchor="ctr">
                    <a:solidFill>
                      <a:srgbClr val="0066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2010</a:t>
                      </a:r>
                      <a:endParaRPr lang="en-US" dirty="0"/>
                    </a:p>
                  </a:txBody>
                  <a:tcPr anchor="ctr">
                    <a:solidFill>
                      <a:srgbClr val="0066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2000-2010</a:t>
                      </a:r>
                      <a:r>
                        <a:rPr lang="en-US" baseline="0" dirty="0" smtClean="0"/>
                        <a:t> Annual Growth</a:t>
                      </a:r>
                      <a:endParaRPr lang="en-US" dirty="0"/>
                    </a:p>
                  </a:txBody>
                  <a:tcPr anchor="ctr">
                    <a:solidFill>
                      <a:srgbClr val="00664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Jobs</a:t>
                      </a:r>
                    </a:p>
                  </a:txBody>
                  <a:tcPr anchor="ctr"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8.7 Million</a:t>
                      </a:r>
                      <a:endParaRPr lang="en-US" dirty="0"/>
                    </a:p>
                  </a:txBody>
                  <a:tcPr anchor="ctr"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11.9</a:t>
                      </a:r>
                      <a:r>
                        <a:rPr lang="en-US" baseline="0" dirty="0" smtClean="0"/>
                        <a:t> Million</a:t>
                      </a:r>
                      <a:endParaRPr lang="en-US" dirty="0"/>
                    </a:p>
                  </a:txBody>
                  <a:tcPr anchor="ctr"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2.9%</a:t>
                      </a:r>
                      <a:endParaRPr lang="en-US" dirty="0"/>
                    </a:p>
                  </a:txBody>
                  <a:tcPr anchor="ctr">
                    <a:solidFill>
                      <a:srgbClr val="B0D6B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Sales</a:t>
                      </a:r>
                      <a:endParaRPr lang="en-US" dirty="0"/>
                    </a:p>
                  </a:txBody>
                  <a:tcPr anchor="ctr"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$1.5 Trillion</a:t>
                      </a:r>
                      <a:endParaRPr lang="en-US" dirty="0"/>
                    </a:p>
                  </a:txBody>
                  <a:tcPr anchor="ctr"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$3.08</a:t>
                      </a:r>
                      <a:r>
                        <a:rPr lang="en-US" baseline="0" dirty="0" smtClean="0"/>
                        <a:t> Trillion</a:t>
                      </a:r>
                      <a:endParaRPr lang="en-US" dirty="0"/>
                    </a:p>
                  </a:txBody>
                  <a:tcPr anchor="ctr">
                    <a:solidFill>
                      <a:srgbClr val="B0D6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6.8%</a:t>
                      </a:r>
                      <a:endParaRPr lang="en-US" dirty="0"/>
                    </a:p>
                  </a:txBody>
                  <a:tcPr anchor="ctr">
                    <a:solidFill>
                      <a:srgbClr val="B0D6B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38400" y="3815219"/>
            <a:ext cx="4267200" cy="25699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Top 5 States by Employment at </a:t>
            </a:r>
          </a:p>
          <a:p>
            <a:pPr algn="ctr"/>
            <a:r>
              <a:rPr lang="en-US" sz="2000" b="1" dirty="0" smtClean="0"/>
              <a:t>Venture-Capital-Backed Companies</a:t>
            </a:r>
          </a:p>
          <a:p>
            <a:pPr algn="ctr"/>
            <a:r>
              <a:rPr lang="en-US" sz="2000" b="1" dirty="0" smtClean="0"/>
              <a:t>Headquartered in the State in 2010</a:t>
            </a:r>
          </a:p>
          <a:p>
            <a:pPr algn="ctr"/>
            <a:endParaRPr lang="en-US" sz="800" dirty="0" smtClean="0"/>
          </a:p>
          <a:p>
            <a:pPr algn="ctr"/>
            <a:r>
              <a:rPr lang="en-US" dirty="0" smtClean="0"/>
              <a:t>California 2,887,063</a:t>
            </a:r>
          </a:p>
          <a:p>
            <a:pPr algn="ctr"/>
            <a:r>
              <a:rPr lang="en-US" dirty="0" smtClean="0"/>
              <a:t>Texas 1,129,551</a:t>
            </a:r>
          </a:p>
          <a:p>
            <a:pPr algn="ctr"/>
            <a:r>
              <a:rPr lang="en-US" dirty="0" smtClean="0"/>
              <a:t>Pennsylvania 783,527</a:t>
            </a:r>
          </a:p>
          <a:p>
            <a:pPr algn="ctr"/>
            <a:r>
              <a:rPr lang="en-US" dirty="0" smtClean="0"/>
              <a:t>Washington 778,579</a:t>
            </a:r>
          </a:p>
          <a:p>
            <a:pPr algn="ctr"/>
            <a:r>
              <a:rPr lang="en-US" dirty="0" smtClean="0"/>
              <a:t>Massachusetts 775,151</a:t>
            </a:r>
          </a:p>
        </p:txBody>
      </p:sp>
    </p:spTree>
    <p:extLst>
      <p:ext uri="{BB962C8B-B14F-4D97-AF65-F5344CB8AC3E}">
        <p14:creationId xmlns:p14="http://schemas.microsoft.com/office/powerpoint/2010/main" val="259604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15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FLOW OF VENTURE CAPITAL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6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2" name="Rectangle 5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2133600" y="4934784"/>
            <a:ext cx="0" cy="39921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133600" y="5330548"/>
            <a:ext cx="1752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Group 175"/>
          <p:cNvGrpSpPr/>
          <p:nvPr/>
        </p:nvGrpSpPr>
        <p:grpSpPr>
          <a:xfrm>
            <a:off x="1219200" y="1219200"/>
            <a:ext cx="6781800" cy="5315129"/>
            <a:chOff x="1219200" y="1219200"/>
            <a:chExt cx="6781800" cy="5315129"/>
          </a:xfrm>
        </p:grpSpPr>
        <p:sp>
          <p:nvSpPr>
            <p:cNvPr id="21" name="TextBox 20"/>
            <p:cNvSpPr txBox="1"/>
            <p:nvPr/>
          </p:nvSpPr>
          <p:spPr>
            <a:xfrm>
              <a:off x="2781301" y="1840468"/>
              <a:ext cx="1485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/>
                <a:t>TAKEDOWN</a:t>
              </a:r>
              <a:endParaRPr lang="en-US" b="1" dirty="0"/>
            </a:p>
          </p:txBody>
        </p:sp>
        <p:grpSp>
          <p:nvGrpSpPr>
            <p:cNvPr id="175" name="Group 174"/>
            <p:cNvGrpSpPr/>
            <p:nvPr/>
          </p:nvGrpSpPr>
          <p:grpSpPr>
            <a:xfrm>
              <a:off x="1219200" y="1219200"/>
              <a:ext cx="6781800" cy="5315129"/>
              <a:chOff x="1219200" y="1219200"/>
              <a:chExt cx="6781800" cy="531512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172200" y="1904999"/>
                <a:ext cx="1676400" cy="45878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657600" y="1905000"/>
                <a:ext cx="2209801" cy="45878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1219200" y="1904999"/>
                <a:ext cx="2057401" cy="45878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638301" y="1295400"/>
                <a:ext cx="1295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u="sng" dirty="0" smtClean="0"/>
                  <a:t>INVESTORS</a:t>
                </a:r>
                <a:endParaRPr lang="en-US" b="1" u="sng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733800" y="1258669"/>
                <a:ext cx="1981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u="sng" dirty="0" smtClean="0"/>
                  <a:t>VENTURE CAPITAL</a:t>
                </a:r>
              </a:p>
              <a:p>
                <a:pPr algn="ctr"/>
                <a:r>
                  <a:rPr lang="en-US" b="1" u="sng" dirty="0" smtClean="0"/>
                  <a:t> FIRMS</a:t>
                </a:r>
                <a:endParaRPr lang="en-US" b="1" u="sng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019800" y="1219200"/>
                <a:ext cx="1981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u="sng" dirty="0" smtClean="0"/>
                  <a:t>PORTFOLIO COMPANIES</a:t>
                </a:r>
                <a:endParaRPr lang="en-US" b="1" u="sng" dirty="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400800" y="1905000"/>
                <a:ext cx="1219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 smtClean="0"/>
                  <a:t>Money</a:t>
                </a:r>
                <a:endParaRPr lang="en-US" b="1" i="1" dirty="0"/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>
                <a:off x="2590800" y="2133600"/>
                <a:ext cx="3886200" cy="0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1524000" y="1916668"/>
                <a:ext cx="1219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 smtClean="0"/>
                  <a:t>Money</a:t>
                </a:r>
                <a:endParaRPr lang="en-US" b="1" i="1" dirty="0"/>
              </a:p>
            </p:txBody>
          </p:sp>
          <p:cxnSp>
            <p:nvCxnSpPr>
              <p:cNvPr id="22" name="Straight Arrow Connector 21"/>
              <p:cNvCxnSpPr/>
              <p:nvPr/>
            </p:nvCxnSpPr>
            <p:spPr>
              <a:xfrm>
                <a:off x="7010400" y="2350532"/>
                <a:ext cx="0" cy="838200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 flipV="1">
                <a:off x="2133600" y="2209800"/>
                <a:ext cx="0" cy="483632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1219200" y="2667000"/>
                <a:ext cx="1905000" cy="2339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u="sng" dirty="0" smtClean="0"/>
                  <a:t>Limited Partners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Pension Funds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Insurance Companies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Corporations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Foreign Endowments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Individuals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Funds of Funds</a:t>
                </a:r>
                <a:endParaRPr lang="en-US" sz="1600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1524000" y="5334000"/>
                <a:ext cx="160019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 smtClean="0"/>
                  <a:t>Return of Principal &amp; 80% of Capital Gains</a:t>
                </a:r>
                <a:endParaRPr lang="en-US" b="1" i="1" dirty="0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2171701" y="5021104"/>
                <a:ext cx="1790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smtClean="0"/>
                  <a:t>DISTRIBUTION</a:t>
                </a:r>
                <a:endParaRPr lang="en-US" b="1" dirty="0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6096000" y="32766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u="sng" dirty="0" smtClean="0"/>
                  <a:t>Entrepreneurs</a:t>
                </a:r>
              </a:p>
            </p:txBody>
          </p:sp>
          <p:cxnSp>
            <p:nvCxnSpPr>
              <p:cNvPr id="37" name="Straight Arrow Connector 36"/>
              <p:cNvCxnSpPr/>
              <p:nvPr/>
            </p:nvCxnSpPr>
            <p:spPr>
              <a:xfrm>
                <a:off x="7010400" y="3733800"/>
                <a:ext cx="0" cy="2362200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flipH="1">
                <a:off x="5410200" y="6096000"/>
                <a:ext cx="1600201" cy="12700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4191000" y="5911334"/>
                <a:ext cx="1219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 smtClean="0"/>
                  <a:t>Equity</a:t>
                </a:r>
                <a:endParaRPr lang="en-US" b="1" i="1" dirty="0"/>
              </a:p>
            </p:txBody>
          </p:sp>
          <p:cxnSp>
            <p:nvCxnSpPr>
              <p:cNvPr id="43" name="Straight Arrow Connector 42"/>
              <p:cNvCxnSpPr/>
              <p:nvPr/>
            </p:nvCxnSpPr>
            <p:spPr>
              <a:xfrm flipV="1">
                <a:off x="4762500" y="5534948"/>
                <a:ext cx="0" cy="399216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4" name="TextBox 43"/>
              <p:cNvSpPr txBox="1"/>
              <p:nvPr/>
            </p:nvSpPr>
            <p:spPr>
              <a:xfrm>
                <a:off x="3886200" y="4934784"/>
                <a:ext cx="1676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 smtClean="0"/>
                  <a:t>IPOs/Mergers/Acquisitions</a:t>
                </a:r>
                <a:endParaRPr lang="en-US" b="1" i="1" dirty="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3822700" y="2450068"/>
                <a:ext cx="1816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 smtClean="0"/>
                  <a:t>2-3% Annual Fee</a:t>
                </a:r>
                <a:endParaRPr lang="en-US" b="1" i="1" dirty="0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3835400" y="3188732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u="sng" dirty="0" smtClean="0"/>
                  <a:t>General Partners</a:t>
                </a:r>
              </a:p>
            </p:txBody>
          </p:sp>
          <p:cxnSp>
            <p:nvCxnSpPr>
              <p:cNvPr id="48" name="Straight Arrow Connector 47"/>
              <p:cNvCxnSpPr/>
              <p:nvPr/>
            </p:nvCxnSpPr>
            <p:spPr>
              <a:xfrm flipV="1">
                <a:off x="4749800" y="3615055"/>
                <a:ext cx="0" cy="399216"/>
              </a:xfrm>
              <a:prstGeom prst="straightConnector1">
                <a:avLst/>
              </a:prstGeom>
              <a:ln w="38100"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3822700" y="4014271"/>
                <a:ext cx="18161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 smtClean="0"/>
                  <a:t>20% of </a:t>
                </a:r>
              </a:p>
              <a:p>
                <a:pPr algn="ctr"/>
                <a:r>
                  <a:rPr lang="en-US" b="1" i="1" dirty="0" smtClean="0"/>
                  <a:t>Capital Gains</a:t>
                </a:r>
                <a:endParaRPr lang="en-US" b="1" i="1" dirty="0"/>
              </a:p>
            </p:txBody>
          </p:sp>
          <p:cxnSp>
            <p:nvCxnSpPr>
              <p:cNvPr id="57" name="Straight Connector 56"/>
              <p:cNvCxnSpPr/>
              <p:nvPr/>
            </p:nvCxnSpPr>
            <p:spPr>
              <a:xfrm>
                <a:off x="4730750" y="2133600"/>
                <a:ext cx="0" cy="4180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4749800" y="2770664"/>
                <a:ext cx="0" cy="4180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4762500" y="4584147"/>
                <a:ext cx="0" cy="35063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TextBox 80"/>
              <p:cNvSpPr txBox="1"/>
              <p:nvPr/>
            </p:nvSpPr>
            <p:spPr>
              <a:xfrm>
                <a:off x="5600700" y="5486400"/>
                <a:ext cx="1219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smtClean="0"/>
                  <a:t>Unrealized</a:t>
                </a:r>
              </a:p>
              <a:p>
                <a:pPr algn="ctr"/>
                <a:r>
                  <a:rPr lang="en-US" b="1" dirty="0" smtClean="0"/>
                  <a:t>RESIDUAL</a:t>
                </a:r>
                <a:endParaRPr lang="en-US" b="1" dirty="0"/>
              </a:p>
            </p:txBody>
          </p:sp>
        </p:grpSp>
        <p:sp>
          <p:nvSpPr>
            <p:cNvPr id="174" name="Rectangle 173"/>
            <p:cNvSpPr/>
            <p:nvPr/>
          </p:nvSpPr>
          <p:spPr>
            <a:xfrm>
              <a:off x="2324099" y="2247900"/>
              <a:ext cx="1498601" cy="4191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 smtClean="0">
                  <a:solidFill>
                    <a:schemeClr val="tx1"/>
                  </a:solidFill>
                </a:rPr>
                <a:t>Gatekeepers 1% Annual Fee</a:t>
              </a:r>
              <a:endParaRPr lang="en-US" sz="1600" i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413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16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FINANCIAL RETURNS ON VENTURE CAPITAL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" name="Rectangle 5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060914"/>
              </p:ext>
            </p:extLst>
          </p:nvPr>
        </p:nvGraphicFramePr>
        <p:xfrm>
          <a:off x="342900" y="1905000"/>
          <a:ext cx="8458200" cy="3012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00200"/>
                <a:gridCol w="1270000"/>
                <a:gridCol w="1435100"/>
                <a:gridCol w="1435100"/>
                <a:gridCol w="1435100"/>
                <a:gridCol w="12827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Fund Type</a:t>
                      </a:r>
                      <a:endParaRPr 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 Year</a:t>
                      </a:r>
                      <a:endParaRPr 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 Years</a:t>
                      </a:r>
                      <a:endParaRPr 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 Years</a:t>
                      </a:r>
                      <a:endParaRPr 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 Years</a:t>
                      </a:r>
                      <a:endParaRPr 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20</a:t>
                      </a:r>
                      <a:r>
                        <a:rPr lang="en-US" sz="1600" baseline="0" dirty="0" smtClean="0"/>
                        <a:t> Years</a:t>
                      </a:r>
                      <a:endParaRPr lang="en-US" sz="1600" b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Seed/Early 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12.9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4.5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4.9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39.7</a:t>
                      </a:r>
                      <a:endParaRPr lang="en-US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Later/Expansion</a:t>
                      </a:r>
                      <a:r>
                        <a:rPr lang="en-US" sz="1600" baseline="0" dirty="0" smtClean="0"/>
                        <a:t> Stage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5.4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17.1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8.1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10.3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12.5</a:t>
                      </a:r>
                      <a:endParaRPr lang="en-US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Multi</a:t>
                      </a:r>
                      <a:r>
                        <a:rPr lang="en-US" sz="1600" baseline="0" dirty="0" smtClean="0"/>
                        <a:t> Stage</a:t>
                      </a:r>
                      <a:endParaRPr 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9.4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3.0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6.8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13.9</a:t>
                      </a:r>
                      <a:endParaRPr lang="en-US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All</a:t>
                      </a:r>
                      <a:r>
                        <a:rPr lang="en-US" sz="1600" baseline="0" dirty="0" smtClean="0"/>
                        <a:t> Venture Funds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7.7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12.2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4.5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6.1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28.8</a:t>
                      </a:r>
                      <a:endParaRPr lang="en-US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NASDAQ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29.0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13.7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2.9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10.3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8.7</a:t>
                      </a:r>
                      <a:endParaRPr lang="en-US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S&amp;P</a:t>
                      </a:r>
                      <a:r>
                        <a:rPr lang="en-US" sz="1600" baseline="0" dirty="0" smtClean="0"/>
                        <a:t> 500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30.2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13.2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1.1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8.0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8.5</a:t>
                      </a:r>
                      <a:endParaRPr 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08001" y="5279395"/>
            <a:ext cx="86105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000000"/>
                </a:solidFill>
                <a:latin typeface="Arial"/>
              </a:rPr>
              <a:t>Source: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Arial"/>
              </a:rPr>
              <a:t>Cambridge Associates LLC. U.S. Venture Capital Index® and Selected Benchmark Statistics</a:t>
            </a:r>
            <a:endParaRPr lang="en-US" sz="1100" dirty="0"/>
          </a:p>
        </p:txBody>
      </p:sp>
      <p:sp>
        <p:nvSpPr>
          <p:cNvPr id="3" name="Rectangle 2"/>
          <p:cNvSpPr/>
          <p:nvPr/>
        </p:nvSpPr>
        <p:spPr>
          <a:xfrm>
            <a:off x="1676400" y="1535668"/>
            <a:ext cx="5867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Venture capital IRRs and NASDAQ and S&amp;P 500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7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705600" y="6477000"/>
            <a:ext cx="2133600" cy="365125"/>
          </a:xfrm>
        </p:spPr>
        <p:txBody>
          <a:bodyPr/>
          <a:lstStyle/>
          <a:p>
            <a:fld id="{1B04C7A8-F97C-46A0-B59E-C2E87FE6D2C5}" type="slidenum">
              <a:rPr lang="en-US" b="1" smtClean="0">
                <a:solidFill>
                  <a:schemeClr val="bg1"/>
                </a:solidFill>
                <a:latin typeface="Novecento wide Book" pitchFamily="50" charset="0"/>
              </a:rPr>
              <a:t>17</a:t>
            </a:fld>
            <a:endParaRPr lang="en-US" b="1" dirty="0">
              <a:solidFill>
                <a:schemeClr val="bg1"/>
              </a:solidFill>
              <a:latin typeface="Novecento wide Book" pitchFamily="50" charset="0"/>
            </a:endParaRPr>
          </a:p>
        </p:txBody>
      </p:sp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FINANCIAL RETURNS ON VENTURE CAPITAL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" name="Rectangle 5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" t="2384"/>
          <a:stretch/>
        </p:blipFill>
        <p:spPr>
          <a:xfrm>
            <a:off x="520700" y="1752600"/>
            <a:ext cx="8288003" cy="410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97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2267</TotalTime>
  <Words>928</Words>
  <Application>Microsoft Office PowerPoint</Application>
  <PresentationFormat>On-screen Show (4:3)</PresentationFormat>
  <Paragraphs>400</Paragraphs>
  <Slides>17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INFORMAL INVESTMENT VS. VENTURE CAPITAL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75</cp:revision>
  <dcterms:created xsi:type="dcterms:W3CDTF">2013-10-12T04:14:45Z</dcterms:created>
  <dcterms:modified xsi:type="dcterms:W3CDTF">2015-03-10T13:51:19Z</dcterms:modified>
</cp:coreProperties>
</file>