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672" r:id="rId2"/>
    <p:sldId id="673" r:id="rId3"/>
    <p:sldId id="674" r:id="rId4"/>
    <p:sldId id="748" r:id="rId5"/>
    <p:sldId id="677" r:id="rId6"/>
    <p:sldId id="854" r:id="rId7"/>
    <p:sldId id="855" r:id="rId8"/>
    <p:sldId id="856" r:id="rId9"/>
    <p:sldId id="1123" r:id="rId10"/>
    <p:sldId id="857" r:id="rId11"/>
    <p:sldId id="858" r:id="rId12"/>
    <p:sldId id="859" r:id="rId13"/>
    <p:sldId id="678" r:id="rId14"/>
    <p:sldId id="1122" r:id="rId15"/>
    <p:sldId id="860" r:id="rId16"/>
    <p:sldId id="861" r:id="rId17"/>
    <p:sldId id="862" r:id="rId18"/>
    <p:sldId id="863" r:id="rId19"/>
    <p:sldId id="864" r:id="rId20"/>
    <p:sldId id="1052" r:id="rId21"/>
    <p:sldId id="865" r:id="rId22"/>
    <p:sldId id="866" r:id="rId23"/>
    <p:sldId id="1053" r:id="rId24"/>
    <p:sldId id="867" r:id="rId25"/>
    <p:sldId id="868" r:id="rId26"/>
    <p:sldId id="869" r:id="rId27"/>
    <p:sldId id="1124" r:id="rId28"/>
    <p:sldId id="870" r:id="rId29"/>
    <p:sldId id="871" r:id="rId30"/>
    <p:sldId id="872" r:id="rId31"/>
    <p:sldId id="1054" r:id="rId32"/>
    <p:sldId id="873" r:id="rId33"/>
    <p:sldId id="1125" r:id="rId34"/>
    <p:sldId id="1126" r:id="rId35"/>
    <p:sldId id="1127" r:id="rId36"/>
    <p:sldId id="1128" r:id="rId37"/>
    <p:sldId id="874" r:id="rId38"/>
    <p:sldId id="875" r:id="rId39"/>
    <p:sldId id="1085"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r>
              <a:rPr lang="en-US" dirty="0" smtClean="0"/>
              <a:t>1. Was Sony’s response to the breach adequate? Why or why not?</a:t>
            </a:r>
          </a:p>
          <a:p>
            <a:r>
              <a:rPr lang="en-US" dirty="0" smtClean="0"/>
              <a:t>2. Should the U.S. government help private organizations that are attacked (or allegedly attacked) by foreign governments? Why or why not?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136607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b="1" dirty="0" smtClean="0"/>
              <a:t>Security: </a:t>
            </a:r>
            <a:r>
              <a:rPr lang="en-US" dirty="0" smtClean="0"/>
              <a:t>the degree of protection against criminal activity, danger, damage, and/or loss.</a:t>
            </a:r>
          </a:p>
          <a:p>
            <a:pPr marL="228600" indent="-228600">
              <a:buFont typeface="+mj-lt"/>
              <a:buAutoNum type="arabicPeriod"/>
            </a:pPr>
            <a:r>
              <a:rPr lang="en-US" b="1" dirty="0" smtClean="0"/>
              <a:t>Information Security: </a:t>
            </a:r>
            <a:r>
              <a:rPr lang="en-US" dirty="0" smtClean="0"/>
              <a:t>all of the processes and policies designed to protect an organization’s information and information systems (IS) from unauthorized access, use, disclosure, disruption, modification, or destruction.</a:t>
            </a:r>
          </a:p>
          <a:p>
            <a:pPr marL="228600" indent="-228600">
              <a:buFont typeface="+mj-lt"/>
              <a:buAutoNum type="arabicPeriod"/>
            </a:pPr>
            <a:r>
              <a:rPr lang="en-US" b="1" dirty="0" smtClean="0"/>
              <a:t>Threat (to an information resource): </a:t>
            </a:r>
            <a:r>
              <a:rPr lang="en-US" dirty="0" smtClean="0"/>
              <a:t>any danger to which a system may be exposed.</a:t>
            </a:r>
          </a:p>
          <a:p>
            <a:pPr marL="228600" indent="-228600">
              <a:buFont typeface="+mj-lt"/>
              <a:buAutoNum type="arabicPeriod"/>
            </a:pPr>
            <a:r>
              <a:rPr lang="en-US" b="1" dirty="0" smtClean="0"/>
              <a:t>Exposure: </a:t>
            </a:r>
            <a:r>
              <a:rPr lang="en-US" dirty="0" smtClean="0"/>
              <a:t>is the harm, loss, or damage that can result if a threat compromises an information resource.</a:t>
            </a:r>
          </a:p>
          <a:p>
            <a:pPr marL="228600" indent="-228600">
              <a:buFont typeface="+mj-lt"/>
              <a:buAutoNum type="arabicPeriod"/>
            </a:pPr>
            <a:r>
              <a:rPr lang="en-US" b="1" dirty="0" smtClean="0"/>
              <a:t>Vulnerability (of an information resource): </a:t>
            </a:r>
            <a:r>
              <a:rPr lang="en-US" dirty="0" smtClean="0"/>
              <a:t>is the possibility that the system will be harmed by a threat.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2487829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smtClean="0">
                <a:solidFill>
                  <a:schemeClr val="tx1"/>
                </a:solidFill>
                <a:latin typeface="+mn-lt"/>
                <a:ea typeface="+mn-ea"/>
                <a:cs typeface="+mn-cs"/>
              </a:rPr>
              <a:t>Unintentional Threats: </a:t>
            </a:r>
            <a:r>
              <a:rPr lang="en-US" sz="1200" b="0" i="0" u="none" strike="noStrike" kern="1200" baseline="0" dirty="0" smtClean="0">
                <a:solidFill>
                  <a:schemeClr val="tx1"/>
                </a:solidFill>
                <a:latin typeface="+mn-lt"/>
                <a:ea typeface="+mn-ea"/>
                <a:cs typeface="+mn-cs"/>
              </a:rPr>
              <a:t>acts performed without malicious intent that nevertheless represent a serious threat to information security.</a:t>
            </a: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3648834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271801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b="1" dirty="0" smtClean="0"/>
              <a:t>Carelessness with laptops: </a:t>
            </a:r>
            <a:r>
              <a:rPr lang="en-US" dirty="0" smtClean="0"/>
              <a:t>Losing or misplacing laptops, leaving them in taxis, and so on.</a:t>
            </a:r>
          </a:p>
          <a:p>
            <a:pPr marL="171450" indent="-171450">
              <a:buFont typeface="Arial" pitchFamily="34" charset="0"/>
              <a:buChar char="•"/>
            </a:pPr>
            <a:r>
              <a:rPr lang="en-US" b="1" dirty="0" smtClean="0"/>
              <a:t>Carelessness with computing devices: </a:t>
            </a:r>
            <a:r>
              <a:rPr lang="en-US" dirty="0" smtClean="0"/>
              <a:t>Losing or misplacing these devices, or using them carelessly so that malware is introduced into an organization’s network.</a:t>
            </a:r>
          </a:p>
          <a:p>
            <a:pPr marL="171450" indent="-171450">
              <a:buFont typeface="Arial" pitchFamily="34" charset="0"/>
              <a:buChar char="•"/>
            </a:pPr>
            <a:r>
              <a:rPr lang="en-US" b="1" dirty="0" smtClean="0"/>
              <a:t>Opening questionable e-mails: </a:t>
            </a:r>
            <a:r>
              <a:rPr lang="en-US" dirty="0" smtClean="0"/>
              <a:t>Opening e-mails from someone unknown, or clicking on links embedded in e-mails (see phishing attack in Table 4.2).</a:t>
            </a:r>
          </a:p>
          <a:p>
            <a:pPr marL="171450" indent="-171450">
              <a:buFont typeface="Arial" pitchFamily="34" charset="0"/>
              <a:buChar char="•"/>
            </a:pPr>
            <a:r>
              <a:rPr lang="en-US" b="1" dirty="0" smtClean="0"/>
              <a:t>Careless Internet surfing: </a:t>
            </a:r>
            <a:r>
              <a:rPr lang="en-US" dirty="0" smtClean="0"/>
              <a:t>Accessing questionable Web sites; can result in malware and/or alien software being introduced into the organization’s network.</a:t>
            </a:r>
          </a:p>
          <a:p>
            <a:pPr marL="171450" indent="-171450">
              <a:buFont typeface="Arial" pitchFamily="34" charset="0"/>
              <a:buChar char="•"/>
            </a:pPr>
            <a:r>
              <a:rPr lang="en-US" b="1" dirty="0" smtClean="0"/>
              <a:t>Poor password selection and use:  </a:t>
            </a:r>
            <a:r>
              <a:rPr lang="en-US" dirty="0" smtClean="0"/>
              <a:t>Choosing and using weak passwords (see strong passwords in the “Authentication” section later in this chapter).</a:t>
            </a:r>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2311004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smtClean="0"/>
              <a:t>Carelessness with one’s office: </a:t>
            </a:r>
            <a:r>
              <a:rPr lang="en-US" dirty="0" smtClean="0"/>
              <a:t>Leaving desks and filing cabinets unlocked when employees go home at night; not logging off the company network when leaving the office for any extended period of time.</a:t>
            </a:r>
          </a:p>
          <a:p>
            <a:pPr marL="171450" indent="-171450">
              <a:buFont typeface="Arial" pitchFamily="34" charset="0"/>
              <a:buChar char="•"/>
            </a:pPr>
            <a:r>
              <a:rPr lang="en-US" b="1" dirty="0" smtClean="0"/>
              <a:t>Carelessness using unmanaged devices: </a:t>
            </a:r>
            <a:r>
              <a:rPr lang="en-US" dirty="0" smtClean="0"/>
              <a:t>Unmanaged devices are those outside the control of an organization’s IT department and company security procedures. These devices include computers belonging to customers and business partners, computers in the business centers of hotels, and so on.</a:t>
            </a:r>
          </a:p>
          <a:p>
            <a:pPr marL="171450" indent="-171450">
              <a:buFont typeface="Arial" pitchFamily="34" charset="0"/>
              <a:buChar char="•"/>
            </a:pPr>
            <a:r>
              <a:rPr lang="en-US" b="1" dirty="0" smtClean="0"/>
              <a:t>Carelessness with discarded equipment: </a:t>
            </a:r>
            <a:r>
              <a:rPr lang="en-US" dirty="0" smtClean="0"/>
              <a:t>Discarding old computer hardware and devices without completely wiping the memory; includes computers, smartphones, BlackBerry® units, and digital copiers and printers.</a:t>
            </a:r>
          </a:p>
          <a:p>
            <a:pPr marL="171450" indent="-171450">
              <a:buFont typeface="Arial" pitchFamily="34" charset="0"/>
              <a:buChar char="•"/>
            </a:pPr>
            <a:r>
              <a:rPr lang="en-US" b="1" dirty="0" smtClean="0"/>
              <a:t>Careless monitoring of environmental hazards: </a:t>
            </a:r>
            <a:r>
              <a:rPr lang="en-US" dirty="0" smtClean="0"/>
              <a:t>These hazards, which include dirt, dust, humidity, and static electricity, are harmful to the operation of computing equipment.</a:t>
            </a:r>
          </a:p>
          <a:p>
            <a:pPr marL="171450" indent="-17145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2257095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What are two lessons we can learn from the </a:t>
            </a:r>
            <a:r>
              <a:rPr lang="en-US" dirty="0" err="1" smtClean="0"/>
              <a:t>Heartbleed</a:t>
            </a:r>
            <a:r>
              <a:rPr lang="en-US" dirty="0" smtClean="0"/>
              <a:t> bug?</a:t>
            </a:r>
          </a:p>
          <a:p>
            <a:pPr marL="228600" indent="-228600">
              <a:buFont typeface="+mj-lt"/>
              <a:buAutoNum type="arabicPeriod"/>
            </a:pPr>
            <a:r>
              <a:rPr lang="en-US" dirty="0" smtClean="0"/>
              <a:t>What actions should you (personally) take to combat the </a:t>
            </a:r>
            <a:r>
              <a:rPr lang="en-US" dirty="0" err="1" smtClean="0"/>
              <a:t>Heartbleed</a:t>
            </a:r>
            <a:r>
              <a:rPr lang="en-US" dirty="0" smtClean="0"/>
              <a:t> bug?</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2257095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b="1" dirty="0" smtClean="0"/>
              <a:t>Espionage or Trespass: </a:t>
            </a:r>
            <a:r>
              <a:rPr lang="en-US" dirty="0" smtClean="0"/>
              <a:t>occurs when an unauthorized individual attempts to gain illegal access to organizational information.</a:t>
            </a:r>
          </a:p>
          <a:p>
            <a:pPr marL="228600" indent="-228600">
              <a:buFont typeface="+mj-lt"/>
              <a:buAutoNum type="arabicPeriod"/>
            </a:pPr>
            <a:r>
              <a:rPr lang="en-US" b="1" dirty="0" smtClean="0"/>
              <a:t>Information Extortion: </a:t>
            </a:r>
            <a:r>
              <a:rPr lang="en-US" dirty="0" smtClean="0"/>
              <a:t>occurs when an attacker either threatens to steal, or actually steals, information from a company. The perpetrator demands payment for not stealing the information, for returning stolen information, or for agreeing not to disclose the information.</a:t>
            </a:r>
          </a:p>
          <a:p>
            <a:pPr marL="228600" indent="-228600">
              <a:buFont typeface="+mj-lt"/>
              <a:buAutoNum type="arabicPeriod"/>
            </a:pPr>
            <a:r>
              <a:rPr lang="en-US" b="1" dirty="0" smtClean="0"/>
              <a:t>Sabotage and Vandalism: </a:t>
            </a:r>
            <a:r>
              <a:rPr lang="en-US" dirty="0" smtClean="0"/>
              <a:t>deliberate acts that involve defacing an organization’s Web site, potentially damaging the organization’s image and causing its customers to lose faith.</a:t>
            </a:r>
          </a:p>
          <a:p>
            <a:pPr marL="228600" indent="-228600">
              <a:buFont typeface="+mj-lt"/>
              <a:buAutoNum type="arabicPeriod"/>
            </a:pPr>
            <a:r>
              <a:rPr lang="en-US" b="1" dirty="0" smtClean="0"/>
              <a:t>Theft of Equipment or Information: </a:t>
            </a:r>
            <a:r>
              <a:rPr lang="en-US" dirty="0" smtClean="0"/>
              <a:t>Computing devices and storage devices are becoming smaller yet more powerful with vastly increased storage and as a result these devices are becoming easier to steal and easier for attackers to use to steal information.</a:t>
            </a:r>
          </a:p>
          <a:p>
            <a:pPr marL="685800" lvl="1" indent="-228600">
              <a:buFont typeface="Arial" panose="020B0604020202020204" pitchFamily="34" charset="0"/>
              <a:buChar char="•"/>
            </a:pPr>
            <a:r>
              <a:rPr lang="en-US" b="1" dirty="0" smtClean="0"/>
              <a:t>Dumpster Diving: </a:t>
            </a:r>
            <a:r>
              <a:rPr lang="en-US" dirty="0" smtClean="0"/>
              <a:t>rummaging through commercial or residential trash to find discarded information.</a:t>
            </a:r>
          </a:p>
          <a:p>
            <a:pPr marL="228600" lvl="0" indent="-228600">
              <a:buFont typeface="+mj-lt"/>
              <a:buAutoNum type="arabicPeriod"/>
            </a:pPr>
            <a:r>
              <a:rPr lang="en-US" b="1" dirty="0" smtClean="0"/>
              <a:t>Identity Theft: </a:t>
            </a:r>
            <a:r>
              <a:rPr lang="en-US" dirty="0" smtClean="0"/>
              <a:t>is the deliberate assumption of another person’s identity, usually to gain access to his or her financial information or to frame him or her for a crime.</a:t>
            </a:r>
          </a:p>
          <a:p>
            <a:pPr marL="228600" lvl="0" indent="-228600">
              <a:buFont typeface="+mj-lt"/>
              <a:buAutoNum type="arabicPeriod"/>
            </a:pPr>
            <a:r>
              <a:rPr lang="en-US" b="1" u="sng" dirty="0" smtClean="0"/>
              <a:t>Compromises to Intellectual Property:</a:t>
            </a:r>
          </a:p>
          <a:p>
            <a:r>
              <a:rPr lang="en-US" b="1" dirty="0" smtClean="0"/>
              <a:t>Trade Secret: </a:t>
            </a:r>
            <a:r>
              <a:rPr lang="en-US" dirty="0" smtClean="0"/>
              <a:t>an intellectual work, such as a business plan, that is a company secret and is not based on public information.</a:t>
            </a:r>
          </a:p>
          <a:p>
            <a:r>
              <a:rPr lang="en-US" b="1" dirty="0" smtClean="0"/>
              <a:t>Patent: </a:t>
            </a:r>
            <a:r>
              <a:rPr lang="en-US" dirty="0" smtClean="0"/>
              <a:t>an official document that grants the holder exclusive rights on an invention or a process for a specified period of time.</a:t>
            </a:r>
          </a:p>
          <a:p>
            <a:r>
              <a:rPr lang="en-US" b="1" dirty="0" smtClean="0"/>
              <a:t>Copyright: </a:t>
            </a:r>
            <a:r>
              <a:rPr lang="en-US" dirty="0" smtClean="0"/>
              <a:t>a statutory grant that provides the creators or owners of intellectual property with ownership of the property, also for a designated period.</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Intellectual Property: </a:t>
            </a:r>
            <a:r>
              <a:rPr lang="en-US" dirty="0" smtClean="0"/>
              <a:t>the property created by individuals or corporations that is protected under trade secret, patent, and copyright laws.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258830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b="1" dirty="0" smtClean="0"/>
              <a:t>7.  Software Attacks</a:t>
            </a:r>
          </a:p>
          <a:p>
            <a:pPr marL="0" indent="0">
              <a:buFont typeface="+mj-lt"/>
              <a:buNone/>
            </a:pPr>
            <a:r>
              <a:rPr lang="en-US" b="1" dirty="0" smtClean="0"/>
              <a:t>8.  Alien Software: </a:t>
            </a:r>
            <a:r>
              <a:rPr lang="en-US" dirty="0" smtClean="0"/>
              <a:t>clandestine soft ware that is installed on your computer through duplicitous methods.</a:t>
            </a:r>
          </a:p>
          <a:p>
            <a:r>
              <a:rPr lang="en-US" b="1" dirty="0" smtClean="0"/>
              <a:t>9. Supervisory Control and Data Acquisition Attacks (SCADA): </a:t>
            </a:r>
            <a:r>
              <a:rPr lang="en-US" dirty="0" smtClean="0"/>
              <a:t>refers to a large-scale, distributed measurement and control system. SCADA systems are used to monitor or to control chemical, physical, and transport processes such as those used in oil refineries, water and sewage treatment plants, electrical generators, and nuclear power plants.</a:t>
            </a:r>
          </a:p>
          <a:p>
            <a:r>
              <a:rPr lang="en-US" b="1" dirty="0" smtClean="0"/>
              <a:t>10.  </a:t>
            </a:r>
            <a:r>
              <a:rPr lang="en-US" b="1" dirty="0" err="1" smtClean="0"/>
              <a:t>Cyberterrorism</a:t>
            </a:r>
            <a:r>
              <a:rPr lang="en-US" b="1" dirty="0" smtClean="0"/>
              <a:t> and </a:t>
            </a:r>
            <a:r>
              <a:rPr lang="en-US" b="1" dirty="0" err="1" smtClean="0"/>
              <a:t>Cyberwarfare</a:t>
            </a:r>
            <a:r>
              <a:rPr lang="en-US" b="1" dirty="0" smtClean="0"/>
              <a:t>: </a:t>
            </a:r>
            <a:r>
              <a:rPr lang="en-US" dirty="0" smtClean="0"/>
              <a:t>refer to malicious acts in which attackers use a target’s computer systems, particularly via the Internet, to cause physical, real-world harm or severe disruption, often to carry out a political agenda.</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1634282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Remote Attacks Requiring User Action</a:t>
            </a:r>
          </a:p>
          <a:p>
            <a:r>
              <a:rPr lang="en-US" b="1" dirty="0" smtClean="0"/>
              <a:t>Virus: </a:t>
            </a:r>
            <a:r>
              <a:rPr lang="en-US" dirty="0" smtClean="0"/>
              <a:t>Segment of computer code that performs malicious actions by attaching to another computer program.</a:t>
            </a:r>
          </a:p>
          <a:p>
            <a:r>
              <a:rPr lang="en-US" b="1" dirty="0" smtClean="0"/>
              <a:t>Worm: </a:t>
            </a:r>
            <a:r>
              <a:rPr lang="en-US" dirty="0" smtClean="0"/>
              <a:t>Segment of computer code that performs malicious actions and will replicate, or spread, by itself (without requiring another computer program).</a:t>
            </a:r>
          </a:p>
          <a:p>
            <a:r>
              <a:rPr lang="en-US" b="1" dirty="0" smtClean="0"/>
              <a:t>Phishing Attack: </a:t>
            </a:r>
            <a:r>
              <a:rPr lang="en-US" dirty="0" smtClean="0"/>
              <a:t>Phishing attacks use deception to acquire sensitive personal information by masquerading as official-looking e-mails or instant messages.</a:t>
            </a:r>
          </a:p>
          <a:p>
            <a:r>
              <a:rPr lang="en-US" b="1" dirty="0" smtClean="0"/>
              <a:t>Spear Phishing: </a:t>
            </a:r>
            <a:r>
              <a:rPr lang="en-US" dirty="0" smtClean="0"/>
              <a:t>Phishing attacks target large groups of people. In spear phishing attacks, attack the perpetrators find out as much information about an individual as possible to improve their chances that phishing techniques will obtain sensitive, personal information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2744158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(2) Remote Attacks Needing No User Action</a:t>
            </a:r>
          </a:p>
          <a:p>
            <a:r>
              <a:rPr lang="en-US" b="1" dirty="0" smtClean="0"/>
              <a:t>Denial-of-Service Attack: </a:t>
            </a:r>
            <a:r>
              <a:rPr lang="en-US" dirty="0" smtClean="0"/>
              <a:t>An attacker sends so many information requests to a target computer system that the target cannot handle them successfully and typically crashes (ceases to function).</a:t>
            </a:r>
          </a:p>
          <a:p>
            <a:r>
              <a:rPr lang="en-US" b="1" dirty="0" smtClean="0"/>
              <a:t>Distributed Denial-of-Service Attack: </a:t>
            </a:r>
            <a:r>
              <a:rPr lang="en-US" dirty="0" smtClean="0"/>
              <a:t>An attacker first takes over many computers, typically by using malicious soft ware. These computers are called zombies or bots. The attacker uses these bots—which form a botnet—to deliver a coordinated stream of information requests to a target computer, causing it to crash.</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3974485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(3) Attacks by a Programmer Developing a System</a:t>
            </a:r>
          </a:p>
          <a:p>
            <a:r>
              <a:rPr lang="en-US" b="1" dirty="0" smtClean="0"/>
              <a:t>Trojan Horse: </a:t>
            </a:r>
            <a:r>
              <a:rPr lang="en-US" dirty="0" smtClean="0"/>
              <a:t>Software programs that hide in other computer programs and reveal their designed behavior only when they are activated.</a:t>
            </a:r>
          </a:p>
          <a:p>
            <a:r>
              <a:rPr lang="en-US" b="1" dirty="0" smtClean="0"/>
              <a:t>Back Door: </a:t>
            </a:r>
            <a:r>
              <a:rPr lang="en-US" dirty="0" smtClean="0"/>
              <a:t>Typically a password, known only to the attacker, that allows him or her to access a computer system at will, without having to go through any security procedures (also called a trap door).</a:t>
            </a:r>
          </a:p>
          <a:p>
            <a:r>
              <a:rPr lang="en-US" b="1" dirty="0" smtClean="0"/>
              <a:t>Logic bomb: </a:t>
            </a:r>
            <a:r>
              <a:rPr lang="en-US" dirty="0" smtClean="0"/>
              <a:t>A segment of computer code that is embedded within an organization’s existing computer programs and is designed to activate and perform a destructive action at a certain time or date.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25960561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Is </a:t>
            </a:r>
            <a:r>
              <a:rPr lang="en-US" dirty="0" err="1" smtClean="0"/>
              <a:t>Shodan</a:t>
            </a:r>
            <a:r>
              <a:rPr lang="en-US" dirty="0" smtClean="0"/>
              <a:t> more useful for hackers or for security defenders? Provide </a:t>
            </a:r>
            <a:r>
              <a:rPr lang="en-US" dirty="0" err="1" smtClean="0"/>
              <a:t>specifi</a:t>
            </a:r>
            <a:r>
              <a:rPr lang="en-US" dirty="0" smtClean="0"/>
              <a:t> c examples to support your choice.</a:t>
            </a:r>
          </a:p>
          <a:p>
            <a:pPr marL="228600" indent="-228600">
              <a:buFont typeface="+mj-lt"/>
              <a:buAutoNum type="arabicPeriod"/>
            </a:pPr>
            <a:r>
              <a:rPr lang="en-US" dirty="0" smtClean="0"/>
              <a:t>What impact should </a:t>
            </a:r>
            <a:r>
              <a:rPr lang="en-US" dirty="0" err="1" smtClean="0"/>
              <a:t>Shodan</a:t>
            </a:r>
            <a:r>
              <a:rPr lang="en-US" dirty="0" smtClean="0"/>
              <a:t> have on the manufacturers of devices that connect to the Internet?</a:t>
            </a:r>
          </a:p>
          <a:p>
            <a:pPr marL="228600" indent="-228600">
              <a:buFont typeface="+mj-lt"/>
              <a:buAutoNum type="arabicPeriod"/>
            </a:pPr>
            <a:r>
              <a:rPr lang="en-US" dirty="0" smtClean="0"/>
              <a:t>As an increasingly large number of devices are connected to the Internet, what will </a:t>
            </a:r>
            <a:r>
              <a:rPr lang="en-US" dirty="0" err="1" smtClean="0"/>
              <a:t>Shodan’s</a:t>
            </a:r>
            <a:r>
              <a:rPr lang="en-US" dirty="0" smtClean="0"/>
              <a:t> impact be? Provide examples to support your answer.</a:t>
            </a:r>
          </a:p>
          <a:p>
            <a:pPr marL="228600" indent="-228600">
              <a:buFont typeface="+mj-lt"/>
              <a:buAutoNum type="arabicPeriod"/>
            </a:pPr>
            <a:r>
              <a:rPr lang="en-US" dirty="0" smtClean="0"/>
              <a:t>Explain how </a:t>
            </a:r>
            <a:r>
              <a:rPr lang="en-US" dirty="0" err="1" smtClean="0"/>
              <a:t>Shodan</a:t>
            </a:r>
            <a:r>
              <a:rPr lang="en-US" dirty="0" smtClean="0"/>
              <a:t> can be used to conduct a SCADA attack.</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b="1" dirty="0" smtClean="0"/>
              <a:t>.  Alien Software: </a:t>
            </a:r>
            <a:r>
              <a:rPr lang="en-US" dirty="0" smtClean="0"/>
              <a:t>clandestine software that is installed on your computer through duplicitous methods.</a:t>
            </a:r>
          </a:p>
          <a:p>
            <a:pPr marL="628650" lvl="1" indent="-171450">
              <a:buFont typeface="Arial" panose="020B0604020202020204" pitchFamily="34" charset="0"/>
              <a:buChar char="•"/>
            </a:pPr>
            <a:r>
              <a:rPr lang="en-US" b="1" i="1" dirty="0" smtClean="0"/>
              <a:t>Adware: </a:t>
            </a:r>
            <a:r>
              <a:rPr lang="en-US" dirty="0" smtClean="0"/>
              <a:t>software that causes pop-up advertisements to appear on your screen.</a:t>
            </a:r>
          </a:p>
          <a:p>
            <a:pPr marL="628650" lvl="1" indent="-171450">
              <a:buFont typeface="Arial" panose="020B0604020202020204" pitchFamily="34" charset="0"/>
              <a:buChar char="•"/>
            </a:pPr>
            <a:r>
              <a:rPr lang="en-US" b="1" i="1" dirty="0" smtClean="0"/>
              <a:t>Spyware: </a:t>
            </a:r>
            <a:r>
              <a:rPr lang="en-US" dirty="0" smtClean="0"/>
              <a:t>soft ware that collects personal information about users without their consent. Two common types of spyware are keystroke loggers and screen scrapers.</a:t>
            </a:r>
          </a:p>
          <a:p>
            <a:pPr marL="628650" lvl="1" indent="-171450">
              <a:buFont typeface="Arial" panose="020B0604020202020204" pitchFamily="34" charset="0"/>
              <a:buChar char="•"/>
            </a:pPr>
            <a:r>
              <a:rPr lang="en-US" b="1" i="1" dirty="0" err="1" smtClean="0"/>
              <a:t>Spamware</a:t>
            </a:r>
            <a:r>
              <a:rPr lang="en-US" b="1" i="1" dirty="0" smtClean="0"/>
              <a:t>: </a:t>
            </a:r>
            <a:r>
              <a:rPr lang="en-US" dirty="0" err="1" smtClean="0"/>
              <a:t>pestware</a:t>
            </a:r>
            <a:r>
              <a:rPr lang="en-US" dirty="0" smtClean="0"/>
              <a:t> that uses your computer as a launch pad for spammers.</a:t>
            </a:r>
          </a:p>
          <a:p>
            <a:pPr marL="628650" lvl="1" indent="-171450">
              <a:buFont typeface="Arial" panose="020B0604020202020204" pitchFamily="34" charset="0"/>
              <a:buChar char="•"/>
            </a:pPr>
            <a:r>
              <a:rPr lang="en-US" b="1" i="1" dirty="0" smtClean="0"/>
              <a:t>Spam: </a:t>
            </a:r>
            <a:r>
              <a:rPr lang="en-US" dirty="0" smtClean="0"/>
              <a:t>unsolicited e-mail, usually advertising for products and services</a:t>
            </a:r>
          </a:p>
          <a:p>
            <a:pPr marL="628650" lvl="1" indent="-171450">
              <a:buFont typeface="Arial" panose="020B0604020202020204" pitchFamily="34" charset="0"/>
              <a:buChar char="•"/>
            </a:pPr>
            <a:r>
              <a:rPr lang="en-US" b="1" i="1" dirty="0" smtClean="0"/>
              <a:t>Cookies: </a:t>
            </a:r>
            <a:r>
              <a:rPr lang="en-US" dirty="0" smtClean="0"/>
              <a:t>small amounts of information that Web sites store on your computer, temporarily or more or less permanently</a:t>
            </a:r>
            <a:endParaRPr lang="en-US" b="1"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480241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Risk: </a:t>
            </a:r>
            <a:r>
              <a:rPr lang="en-US" dirty="0" smtClean="0"/>
              <a:t>the probability that a threat will impact an information resource. </a:t>
            </a:r>
          </a:p>
          <a:p>
            <a:r>
              <a:rPr lang="en-US" b="1" dirty="0" smtClean="0"/>
              <a:t>Risk Management: </a:t>
            </a:r>
            <a:r>
              <a:rPr lang="en-US" dirty="0" smtClean="0"/>
              <a:t>identifies, controls, and minimizes the impact of threats. In other words, risk management seeks to reduce risk to acceptable levels. </a:t>
            </a:r>
          </a:p>
          <a:p>
            <a:r>
              <a:rPr lang="en-US" b="1" dirty="0" smtClean="0"/>
              <a:t>Risk Analyses: </a:t>
            </a:r>
            <a:r>
              <a:rPr lang="en-US" dirty="0" smtClean="0"/>
              <a:t>ensures IS security programs are cost effective. </a:t>
            </a:r>
          </a:p>
          <a:p>
            <a:r>
              <a:rPr lang="en-US" b="1" dirty="0" smtClean="0"/>
              <a:t>Risk Mitigation: </a:t>
            </a:r>
            <a:r>
              <a:rPr lang="en-US" dirty="0" smtClean="0"/>
              <a:t>the organization takes concrete actions against risks</a:t>
            </a:r>
            <a:r>
              <a:rPr lang="en-US" baseline="0" dirty="0" smtClean="0"/>
              <a:t> which has two functions: </a:t>
            </a:r>
            <a:endParaRPr lang="en-US" dirty="0" smtClean="0"/>
          </a:p>
          <a:p>
            <a:pPr marL="228600" indent="-228600">
              <a:buFont typeface="+mj-lt"/>
              <a:buAutoNum type="arabicPeriod"/>
            </a:pPr>
            <a:r>
              <a:rPr lang="en-US" dirty="0" smtClean="0"/>
              <a:t>implementing controls to prevent identified threats from occurring</a:t>
            </a:r>
          </a:p>
          <a:p>
            <a:pPr marL="228600" indent="-228600">
              <a:buFont typeface="+mj-lt"/>
              <a:buAutoNum type="arabicPeriod"/>
            </a:pPr>
            <a:r>
              <a:rPr lang="en-US" dirty="0" smtClean="0"/>
              <a:t>developing a means of recovery if the threat becomes a reality</a:t>
            </a:r>
          </a:p>
          <a:p>
            <a:r>
              <a:rPr lang="en-US" b="1" dirty="0" smtClean="0"/>
              <a:t>Risk Management: </a:t>
            </a:r>
            <a:r>
              <a:rPr lang="en-US" dirty="0" smtClean="0"/>
              <a:t>identifies, controls, and minimizes the impact of threats. In other words, risk management seeks to reduce risk to acceptable levels. </a:t>
            </a:r>
          </a:p>
          <a:p>
            <a:endParaRPr lang="en-US" b="1" dirty="0" smtClean="0"/>
          </a:p>
          <a:p>
            <a:r>
              <a:rPr lang="en-US" b="1" dirty="0" smtClean="0"/>
              <a:t>Three Processes of Risk management:</a:t>
            </a:r>
          </a:p>
          <a:p>
            <a:pPr marL="228600" indent="-228600">
              <a:buFont typeface="+mj-lt"/>
              <a:buAutoNum type="arabicPeriod"/>
            </a:pPr>
            <a:r>
              <a:rPr lang="en-US" dirty="0" smtClean="0"/>
              <a:t>risk analysis</a:t>
            </a:r>
          </a:p>
          <a:p>
            <a:pPr marL="228600" indent="-228600">
              <a:buFont typeface="+mj-lt"/>
              <a:buAutoNum type="arabicPeriod"/>
            </a:pPr>
            <a:r>
              <a:rPr lang="en-US" dirty="0" smtClean="0"/>
              <a:t>risk mitigation</a:t>
            </a:r>
          </a:p>
          <a:p>
            <a:pPr marL="228600" indent="-228600">
              <a:buFont typeface="+mj-lt"/>
              <a:buAutoNum type="arabicPeriod"/>
            </a:pPr>
            <a:r>
              <a:rPr lang="en-US" dirty="0" smtClean="0"/>
              <a:t>controls evaluation</a:t>
            </a:r>
          </a:p>
          <a:p>
            <a:endParaRPr lang="en-US" dirty="0" smtClean="0"/>
          </a:p>
          <a:p>
            <a:endParaRPr lang="en-US" dirty="0" smtClean="0"/>
          </a:p>
          <a:p>
            <a:r>
              <a:rPr lang="en-US" b="1" dirty="0" smtClean="0"/>
              <a:t>Risk Analyses: </a:t>
            </a:r>
            <a:r>
              <a:rPr lang="en-US" dirty="0" smtClean="0"/>
              <a:t>ensures IS security programs are cost effective. </a:t>
            </a:r>
          </a:p>
          <a:p>
            <a:endParaRPr lang="en-US" dirty="0" smtClean="0"/>
          </a:p>
          <a:p>
            <a:r>
              <a:rPr lang="en-US" b="1" dirty="0" smtClean="0"/>
              <a:t>Three Steps of Risk Analysis:</a:t>
            </a:r>
          </a:p>
          <a:p>
            <a:pPr marL="228600" indent="-228600">
              <a:buFont typeface="+mj-lt"/>
              <a:buAutoNum type="arabicPeriod"/>
            </a:pPr>
            <a:r>
              <a:rPr lang="en-US" dirty="0" smtClean="0"/>
              <a:t>assessing the value of each asset being protected</a:t>
            </a:r>
          </a:p>
          <a:p>
            <a:pPr marL="228600" indent="-228600">
              <a:buFont typeface="+mj-lt"/>
              <a:buAutoNum type="arabicPeriod"/>
            </a:pPr>
            <a:r>
              <a:rPr lang="en-US" dirty="0" smtClean="0"/>
              <a:t>estimating the probability that each asset will be compromised</a:t>
            </a:r>
          </a:p>
          <a:p>
            <a:pPr marL="228600" indent="-228600">
              <a:buFont typeface="+mj-lt"/>
              <a:buAutoNum type="arabicPeriod"/>
            </a:pPr>
            <a:r>
              <a:rPr lang="en-US" dirty="0" smtClean="0"/>
              <a:t>comparing the probable costs of the asset’s being compromised with the costs of protecting that asset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4108587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Why did the FBI need to “argue with law enforcement officials in various countries”?</a:t>
            </a:r>
          </a:p>
          <a:p>
            <a:pPr marL="228600" indent="-228600">
              <a:buFont typeface="+mj-lt"/>
              <a:buAutoNum type="arabicPeriod"/>
            </a:pPr>
            <a:r>
              <a:rPr lang="en-US" dirty="0" smtClean="0"/>
              <a:t>Describe the </a:t>
            </a:r>
            <a:r>
              <a:rPr lang="en-US" dirty="0" err="1" smtClean="0"/>
              <a:t>diffi</a:t>
            </a:r>
            <a:r>
              <a:rPr lang="en-US" dirty="0" smtClean="0"/>
              <a:t> </a:t>
            </a:r>
            <a:r>
              <a:rPr lang="en-US" dirty="0" err="1" smtClean="0"/>
              <a:t>culties</a:t>
            </a:r>
            <a:r>
              <a:rPr lang="en-US" dirty="0" smtClean="0"/>
              <a:t> that investigators encounter in bringing cybercriminals to justice.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b="1" dirty="0" smtClean="0"/>
              <a:t>Physical Controls: </a:t>
            </a:r>
            <a:r>
              <a:rPr lang="en-US" dirty="0" smtClean="0"/>
              <a:t>prevent unauthorized individuals from gaining access to a company’s facilities. Common physical controls include walls, doors, fencing, gates, locks, badges, guards, and alarm systems.</a:t>
            </a:r>
          </a:p>
          <a:p>
            <a:pPr marL="171450" indent="-171450">
              <a:buFont typeface="Arial" pitchFamily="34" charset="0"/>
              <a:buChar char="•"/>
            </a:pPr>
            <a:r>
              <a:rPr lang="en-US" b="1" dirty="0" smtClean="0"/>
              <a:t>Access Controls: </a:t>
            </a:r>
            <a:r>
              <a:rPr lang="en-US" dirty="0" smtClean="0"/>
              <a:t>restrict unauthorized individuals from using information resources and involve two major functions: authentication and authorization.</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smtClean="0"/>
              <a:t>Communication Controls (also called network controls): </a:t>
            </a:r>
            <a:r>
              <a:rPr lang="en-US" dirty="0" smtClean="0"/>
              <a:t>secure the movement of data across networks and consist of firewalls, anti-malware systems, whitelisting and blacklisting, encryption, virtual private networks (VPNs), secure socket layer (SSL), and employee monitoring systems.</a:t>
            </a:r>
          </a:p>
          <a:p>
            <a:pPr marL="171450" indent="-171450">
              <a:buFont typeface="Arial" pitchFamily="34" charset="0"/>
              <a:buChar char="•"/>
            </a:pPr>
            <a:r>
              <a:rPr lang="en-US" b="1" dirty="0" smtClean="0"/>
              <a:t>Business Continuity: </a:t>
            </a:r>
            <a:r>
              <a:rPr lang="en-US" dirty="0" smtClean="0"/>
              <a:t>the chain of events linking planning to protection and to recovery.</a:t>
            </a:r>
          </a:p>
          <a:p>
            <a:pPr marL="171450" indent="-171450">
              <a:buFont typeface="Arial" pitchFamily="34" charset="0"/>
              <a:buChar char="•"/>
            </a:pPr>
            <a:r>
              <a:rPr lang="en-US" b="1" dirty="0" smtClean="0"/>
              <a:t>Business Continuity Plan: </a:t>
            </a:r>
            <a:r>
              <a:rPr lang="en-US" dirty="0" smtClean="0"/>
              <a:t>purpose is to provide guidance to people who keep the business operating after a disaster occurs.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3625126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Physical Controls: </a:t>
            </a:r>
            <a:r>
              <a:rPr lang="en-US" dirty="0" smtClean="0"/>
              <a:t>prevent unauthorized individuals from gaining access to a company’s facilities. Common physical controls include walls, doors, fencing, gates, locks, badges, guards, and alarm systems.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22839494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4.2 </a:t>
            </a:r>
            <a:r>
              <a:rPr lang="en-US" dirty="0" smtClean="0"/>
              <a:t>Where defense mechanisms are located.</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30464026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Access Controls: </a:t>
            </a:r>
            <a:r>
              <a:rPr lang="en-US" dirty="0" smtClean="0"/>
              <a:t>restrict unauthorized individuals from using information resources and involve two major functions: authentication and authorization.</a:t>
            </a:r>
          </a:p>
          <a:p>
            <a:r>
              <a:rPr lang="en-US" b="1" dirty="0" smtClean="0"/>
              <a:t>Authentication: </a:t>
            </a:r>
            <a:r>
              <a:rPr lang="en-US" dirty="0" smtClean="0"/>
              <a:t>confirms the identity of the person requiring access.</a:t>
            </a:r>
          </a:p>
          <a:p>
            <a:r>
              <a:rPr lang="en-US" b="1" dirty="0" smtClean="0"/>
              <a:t>Authorization: </a:t>
            </a:r>
            <a:r>
              <a:rPr lang="en-US" dirty="0" smtClean="0"/>
              <a:t>determines which actions, rights, or privileges the person has, based on his or her </a:t>
            </a:r>
            <a:r>
              <a:rPr lang="en-US" dirty="0" err="1" smtClean="0"/>
              <a:t>verifi</a:t>
            </a:r>
            <a:r>
              <a:rPr lang="en-US" dirty="0" smtClean="0"/>
              <a:t> </a:t>
            </a:r>
            <a:r>
              <a:rPr lang="en-US" dirty="0" err="1" smtClean="0"/>
              <a:t>ed</a:t>
            </a:r>
            <a:r>
              <a:rPr lang="en-US" dirty="0" smtClean="0"/>
              <a:t> identity. </a:t>
            </a:r>
          </a:p>
          <a:p>
            <a:endParaRPr lang="en-US" dirty="0" smtClean="0"/>
          </a:p>
          <a:p>
            <a:r>
              <a:rPr lang="en-US" b="1" dirty="0" smtClean="0"/>
              <a:t>Authentication:</a:t>
            </a:r>
          </a:p>
          <a:p>
            <a:pPr marL="171450" indent="-171450">
              <a:buFont typeface="Arial" panose="020B0604020202020204" pitchFamily="34" charset="0"/>
              <a:buChar char="•"/>
            </a:pPr>
            <a:r>
              <a:rPr lang="en-US" b="1" dirty="0" smtClean="0"/>
              <a:t>Something the user is: </a:t>
            </a:r>
            <a:r>
              <a:rPr lang="en-US" dirty="0" smtClean="0"/>
              <a:t>also known as biometrics, is an authentication method that examines a person’s innate physical characteristics (e.g., fingerprint scans, palm scans, retina scans, iris recognition, and facial recognition).</a:t>
            </a:r>
          </a:p>
          <a:p>
            <a:pPr marL="171450" indent="-171450">
              <a:buFont typeface="Arial" panose="020B0604020202020204" pitchFamily="34" charset="0"/>
              <a:buChar char="•"/>
            </a:pPr>
            <a:r>
              <a:rPr lang="en-US" b="1" dirty="0" smtClean="0"/>
              <a:t>Something the user has: </a:t>
            </a:r>
            <a:r>
              <a:rPr lang="en-US" dirty="0" smtClean="0"/>
              <a:t>is an authentication mechanism that includes regular </a:t>
            </a:r>
            <a:r>
              <a:rPr lang="en-US" dirty="0" err="1" smtClean="0"/>
              <a:t>identifi</a:t>
            </a:r>
            <a:r>
              <a:rPr lang="en-US" dirty="0" smtClean="0"/>
              <a:t> </a:t>
            </a:r>
            <a:r>
              <a:rPr lang="en-US" dirty="0" err="1" smtClean="0"/>
              <a:t>cation</a:t>
            </a:r>
            <a:r>
              <a:rPr lang="en-US" dirty="0" smtClean="0"/>
              <a:t> (ID) cards, smart ID cards, and tokens.</a:t>
            </a:r>
          </a:p>
          <a:p>
            <a:pPr marL="171450" indent="-171450">
              <a:buFont typeface="Arial" panose="020B0604020202020204" pitchFamily="34" charset="0"/>
              <a:buChar char="•"/>
            </a:pPr>
            <a:r>
              <a:rPr lang="en-US" b="1" dirty="0" smtClean="0"/>
              <a:t>Something the user does: </a:t>
            </a:r>
            <a:r>
              <a:rPr lang="en-US" dirty="0" smtClean="0"/>
              <a:t>is an authentication mechanism that includes voice and signature recognition. </a:t>
            </a:r>
          </a:p>
          <a:p>
            <a:pPr marL="171450" indent="-171450">
              <a:buFont typeface="Arial" panose="020B0604020202020204" pitchFamily="34" charset="0"/>
              <a:buChar char="•"/>
            </a:pPr>
            <a:r>
              <a:rPr lang="en-US" b="1" dirty="0" smtClean="0"/>
              <a:t>Something the user knows: </a:t>
            </a:r>
            <a:r>
              <a:rPr lang="en-US" dirty="0" smtClean="0"/>
              <a:t>is an authentication mechanism that includes passwords and passphrases.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28585697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Access Controls: </a:t>
            </a:r>
            <a:r>
              <a:rPr lang="en-US" dirty="0" smtClean="0"/>
              <a:t>restrict unauthorized individuals from using information resources and involve two major functions: authentication and authorization.</a:t>
            </a:r>
          </a:p>
          <a:p>
            <a:r>
              <a:rPr lang="en-US" b="1" dirty="0" smtClean="0"/>
              <a:t>Authentication: </a:t>
            </a:r>
            <a:r>
              <a:rPr lang="en-US" dirty="0" smtClean="0"/>
              <a:t>confirms the identity of the person requiring access.</a:t>
            </a:r>
          </a:p>
          <a:p>
            <a:r>
              <a:rPr lang="en-US" b="1" dirty="0" smtClean="0"/>
              <a:t>Authorization: </a:t>
            </a:r>
            <a:r>
              <a:rPr lang="en-US" dirty="0" smtClean="0"/>
              <a:t>determines which actions, rights, or privileges the person has, based on his or her </a:t>
            </a:r>
            <a:r>
              <a:rPr lang="en-US" dirty="0" err="1" smtClean="0"/>
              <a:t>verifi</a:t>
            </a:r>
            <a:r>
              <a:rPr lang="en-US" dirty="0" smtClean="0"/>
              <a:t> </a:t>
            </a:r>
            <a:r>
              <a:rPr lang="en-US" dirty="0" err="1" smtClean="0"/>
              <a:t>ed</a:t>
            </a:r>
            <a:r>
              <a:rPr lang="en-US" dirty="0" smtClean="0"/>
              <a:t> identity. </a:t>
            </a:r>
          </a:p>
          <a:p>
            <a:endParaRPr lang="en-US" dirty="0" smtClean="0"/>
          </a:p>
          <a:p>
            <a:r>
              <a:rPr lang="en-US" b="1" dirty="0" smtClean="0"/>
              <a:t>Authentication:</a:t>
            </a:r>
          </a:p>
          <a:p>
            <a:pPr marL="171450" indent="-171450">
              <a:buFont typeface="Arial" panose="020B0604020202020204" pitchFamily="34" charset="0"/>
              <a:buChar char="•"/>
            </a:pPr>
            <a:r>
              <a:rPr lang="en-US" b="1" dirty="0" smtClean="0"/>
              <a:t>Something the user is: </a:t>
            </a:r>
            <a:r>
              <a:rPr lang="en-US" dirty="0" smtClean="0"/>
              <a:t>also known as biometrics, is an authentication method that examines a person’s innate physical characteristics (e.g., fingerprint scans, palm scans, retina scans, iris recognition, and facial recognition).</a:t>
            </a:r>
          </a:p>
          <a:p>
            <a:pPr marL="171450" indent="-171450">
              <a:buFont typeface="Arial" panose="020B0604020202020204" pitchFamily="34" charset="0"/>
              <a:buChar char="•"/>
            </a:pPr>
            <a:r>
              <a:rPr lang="en-US" b="1" dirty="0" smtClean="0"/>
              <a:t>Something the user has: </a:t>
            </a:r>
            <a:r>
              <a:rPr lang="en-US" dirty="0" smtClean="0"/>
              <a:t>is an authentication mechanism that includes regular </a:t>
            </a:r>
            <a:r>
              <a:rPr lang="en-US" dirty="0" err="1" smtClean="0"/>
              <a:t>identifi</a:t>
            </a:r>
            <a:r>
              <a:rPr lang="en-US" dirty="0" smtClean="0"/>
              <a:t> </a:t>
            </a:r>
            <a:r>
              <a:rPr lang="en-US" dirty="0" err="1" smtClean="0"/>
              <a:t>cation</a:t>
            </a:r>
            <a:r>
              <a:rPr lang="en-US" dirty="0" smtClean="0"/>
              <a:t> (ID) cards, smart ID cards, and tokens.</a:t>
            </a:r>
          </a:p>
          <a:p>
            <a:pPr marL="171450" indent="-171450">
              <a:buFont typeface="Arial" panose="020B0604020202020204" pitchFamily="34" charset="0"/>
              <a:buChar char="•"/>
            </a:pPr>
            <a:r>
              <a:rPr lang="en-US" b="1" dirty="0" smtClean="0"/>
              <a:t>Something the user does: </a:t>
            </a:r>
            <a:r>
              <a:rPr lang="en-US" dirty="0" smtClean="0"/>
              <a:t>is an authentication mechanism that includes voice and signature recognition. </a:t>
            </a:r>
          </a:p>
          <a:p>
            <a:pPr marL="171450" indent="-171450">
              <a:buFont typeface="Arial" panose="020B0604020202020204" pitchFamily="34" charset="0"/>
              <a:buChar char="•"/>
            </a:pPr>
            <a:r>
              <a:rPr lang="en-US" b="1" dirty="0" smtClean="0"/>
              <a:t>Something the user knows: </a:t>
            </a:r>
            <a:r>
              <a:rPr lang="en-US" dirty="0" smtClean="0"/>
              <a:t>is an authentication mechanism that includes passwords and passphrases.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31198204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What are the advantages, if any, of any of our FIDO examples over strong passwords?</a:t>
            </a:r>
          </a:p>
          <a:p>
            <a:pPr marL="228600" indent="-228600">
              <a:buFont typeface="+mj-lt"/>
              <a:buAutoNum type="arabicPeriod"/>
            </a:pPr>
            <a:r>
              <a:rPr lang="en-US" dirty="0" smtClean="0"/>
              <a:t>Examine the strength of the passwords you use. How vulnerable are your passwords to guessing? To brute-force hacking?</a:t>
            </a:r>
          </a:p>
          <a:p>
            <a:pPr marL="228600" indent="-228600">
              <a:buFont typeface="+mj-lt"/>
              <a:buAutoNum type="arabicPeriod"/>
            </a:pPr>
            <a:r>
              <a:rPr lang="en-US" dirty="0" smtClean="0"/>
              <a:t>Does the security burden fall primarily on the user? On the company that the user is doing business with? On both? Support your answer.</a:t>
            </a:r>
          </a:p>
          <a:p>
            <a:pPr marL="228600" indent="-228600">
              <a:buFont typeface="+mj-lt"/>
              <a:buAutoNum type="arabicPeriod"/>
            </a:pPr>
            <a:r>
              <a:rPr lang="en-US" dirty="0" smtClean="0"/>
              <a:t>Is it possible to ever have complete security in your online transactions? Why or why not? Explain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Communication Controls (also called network controls): </a:t>
            </a:r>
            <a:r>
              <a:rPr lang="en-US" dirty="0" smtClean="0"/>
              <a:t>secure the movement of data across networks and consist of firewalls, anti-malware systems, whitelisting and blacklisting, encryption, virtual private networks (VPNs), secure socket layer (SSL), and employee monitoring systems.</a:t>
            </a:r>
          </a:p>
          <a:p>
            <a:r>
              <a:rPr lang="en-US" b="1" dirty="0" smtClean="0"/>
              <a:t>Firewall: </a:t>
            </a:r>
            <a:r>
              <a:rPr lang="en-US" dirty="0" smtClean="0"/>
              <a:t>a system that prevents a specific type of information from moving between untrusted networks, such as the Internet, and private networks, such as your company’s network.</a:t>
            </a:r>
          </a:p>
          <a:p>
            <a:r>
              <a:rPr lang="en-US" b="1" dirty="0" smtClean="0"/>
              <a:t>Anti-malware Systems (or antivirus software): </a:t>
            </a:r>
            <a:r>
              <a:rPr lang="en-US" dirty="0" smtClean="0"/>
              <a:t>software packages that attempt to identify and eliminate viruses and worms, and other malicious software.</a:t>
            </a:r>
          </a:p>
          <a:p>
            <a:r>
              <a:rPr lang="en-US" b="1" dirty="0" smtClean="0"/>
              <a:t>Whitelisting: </a:t>
            </a:r>
            <a:r>
              <a:rPr lang="en-US" dirty="0" smtClean="0"/>
              <a:t>a process in which a company identifies the soft ware that it will allow to run on its computers and permits acceptable soft ware to run, and it either prevents any other soft ware from running or lets new soft ware run only in a quarantined environment until the company can verify its validity.</a:t>
            </a:r>
          </a:p>
          <a:p>
            <a:r>
              <a:rPr lang="en-US" b="1" dirty="0" smtClean="0"/>
              <a:t>Blacklist: </a:t>
            </a:r>
            <a:r>
              <a:rPr lang="en-US" dirty="0" smtClean="0"/>
              <a:t>includes certain types of software that are not allowed to run in the company environment.</a:t>
            </a:r>
          </a:p>
          <a:p>
            <a:r>
              <a:rPr lang="en-US" b="1" dirty="0" smtClean="0"/>
              <a:t>Encryption: </a:t>
            </a:r>
            <a:r>
              <a:rPr lang="en-US" dirty="0" smtClean="0"/>
              <a:t>the process of converting an original message into a form that cannot be read by anyone except the intended receiver.</a:t>
            </a:r>
          </a:p>
          <a:p>
            <a:r>
              <a:rPr lang="en-US" b="1" dirty="0" smtClean="0"/>
              <a:t>Virtual Private Network: </a:t>
            </a:r>
            <a:r>
              <a:rPr lang="en-US" dirty="0" smtClean="0"/>
              <a:t>a private network that uses a public network (usually the Internet) to connect users. VPNs essentially integrate the global connectivity of the Internet with the security of a private network and thereby extend the reach of the organization’s networks. VPNs are called virtual because they have no separate physical existence.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4287540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4.3</a:t>
            </a:r>
          </a:p>
          <a:p>
            <a:r>
              <a:rPr lang="en-US" b="1" dirty="0" smtClean="0"/>
              <a:t>(a) </a:t>
            </a:r>
            <a:r>
              <a:rPr lang="en-US" dirty="0" smtClean="0"/>
              <a:t>Basic firewall for home computer.</a:t>
            </a:r>
          </a:p>
          <a:p>
            <a:r>
              <a:rPr lang="en-US" b="1" dirty="0" smtClean="0"/>
              <a:t>(b) </a:t>
            </a:r>
            <a:r>
              <a:rPr lang="en-US" dirty="0" smtClean="0"/>
              <a:t>Organization with two firewalls and demilitarized zone.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37632965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4.4 </a:t>
            </a:r>
            <a:r>
              <a:rPr lang="en-US" dirty="0" smtClean="0"/>
              <a:t>How public key encryption works. (</a:t>
            </a:r>
            <a:r>
              <a:rPr lang="en-US" dirty="0" err="1" smtClean="0"/>
              <a:t>Omnisec</a:t>
            </a:r>
            <a:r>
              <a:rPr lang="en-US" dirty="0" smtClean="0"/>
              <a:t> AG.)</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3869272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4.5 </a:t>
            </a:r>
            <a:r>
              <a:rPr lang="en-US" dirty="0" smtClean="0"/>
              <a:t>How digital certificates work. Sony and Dell, business partners, use a digital Certificate from VeriSign for authentication.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30572746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4.6 </a:t>
            </a:r>
            <a:r>
              <a:rPr lang="en-US" dirty="0" smtClean="0"/>
              <a:t>Virtual private network (VPN) and tunneling.</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36</a:t>
            </a:fld>
            <a:endParaRPr lang="en-US"/>
          </a:p>
        </p:txBody>
      </p:sp>
    </p:spTree>
    <p:extLst>
      <p:ext uri="{BB962C8B-B14F-4D97-AF65-F5344CB8AC3E}">
        <p14:creationId xmlns:p14="http://schemas.microsoft.com/office/powerpoint/2010/main" val="39195338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Business Continuity: </a:t>
            </a:r>
            <a:r>
              <a:rPr lang="en-US" dirty="0" smtClean="0"/>
              <a:t>the chain of events linking planning to protection and to recovery.</a:t>
            </a:r>
          </a:p>
          <a:p>
            <a:r>
              <a:rPr lang="en-US" b="1" dirty="0" smtClean="0"/>
              <a:t>Business Continuity Plan: </a:t>
            </a:r>
            <a:r>
              <a:rPr lang="en-US" dirty="0" smtClean="0"/>
              <a:t>purpose is to provide guidance to people who keep the business operating after a disaster occurs.</a:t>
            </a:r>
          </a:p>
          <a:p>
            <a:endParaRPr lang="en-US" dirty="0" smtClean="0"/>
          </a:p>
          <a:p>
            <a:r>
              <a:rPr lang="en-US" b="1" dirty="0" smtClean="0"/>
              <a:t>These strategies include:</a:t>
            </a:r>
          </a:p>
          <a:p>
            <a:r>
              <a:rPr lang="en-US" b="1" i="1" dirty="0" smtClean="0"/>
              <a:t>Hot</a:t>
            </a:r>
            <a:r>
              <a:rPr lang="en-US" b="1" i="1" baseline="0" dirty="0" smtClean="0"/>
              <a:t> Sites: </a:t>
            </a:r>
            <a:r>
              <a:rPr lang="en-US" dirty="0" smtClean="0"/>
              <a:t>a fully configured computer facility with all of the company’s services, communications links, and physical plant operations. A hot site duplicates computing resources, peripherals, telephone systems, applications, and workstations. Hot sites reduce risk to the greatest extent, but they are the most expensive option.</a:t>
            </a:r>
          </a:p>
          <a:p>
            <a:r>
              <a:rPr lang="en-US" b="1" i="1" dirty="0" smtClean="0"/>
              <a:t>Warm Site: </a:t>
            </a:r>
            <a:r>
              <a:rPr lang="en-US" dirty="0" smtClean="0"/>
              <a:t>A warm site provides many of the same services and options as the hot site. However, it typically does not include the actual applications the company needs. A warm site includes computing equipment such as servers, but it often does not include user workstations. </a:t>
            </a:r>
          </a:p>
          <a:p>
            <a:r>
              <a:rPr lang="en-US" b="1" i="1" dirty="0" smtClean="0"/>
              <a:t>Cold</a:t>
            </a:r>
            <a:r>
              <a:rPr lang="en-US" b="1" i="1" baseline="0" dirty="0" smtClean="0"/>
              <a:t> Site: </a:t>
            </a:r>
            <a:r>
              <a:rPr lang="en-US" dirty="0" smtClean="0"/>
              <a:t>A cold site provides only rudimentary services and facilities, such as a building or a room with heating, air conditioning, and humidity control. This type of site provides no computer hardware or user workstations. Cold sites reduce risk the least, but they are the least expensive option.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37</a:t>
            </a:fld>
            <a:endParaRPr lang="en-US"/>
          </a:p>
        </p:txBody>
      </p:sp>
    </p:spTree>
    <p:extLst>
      <p:ext uri="{BB962C8B-B14F-4D97-AF65-F5344CB8AC3E}">
        <p14:creationId xmlns:p14="http://schemas.microsoft.com/office/powerpoint/2010/main" val="33453677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Two Types of Auditors and Audits: </a:t>
            </a:r>
            <a:endParaRPr lang="en-US" b="0" dirty="0" smtClean="0"/>
          </a:p>
          <a:p>
            <a:pPr marL="228600" indent="-228600">
              <a:buAutoNum type="arabicParenBoth"/>
            </a:pPr>
            <a:r>
              <a:rPr lang="en-US" b="1" i="1" baseline="0" dirty="0" smtClean="0"/>
              <a:t>I</a:t>
            </a:r>
            <a:r>
              <a:rPr lang="en-US" b="1" i="1" dirty="0" smtClean="0"/>
              <a:t>nternal: </a:t>
            </a:r>
            <a:r>
              <a:rPr lang="en-US" b="0" dirty="0" smtClean="0"/>
              <a:t>IS auditing is usually a part of accounting internal auditing, and it is frequently performed by corporate internal auditors. </a:t>
            </a:r>
          </a:p>
          <a:p>
            <a:pPr marL="228600" indent="-228600">
              <a:buAutoNum type="arabicParenBoth"/>
            </a:pPr>
            <a:r>
              <a:rPr lang="en-US" b="1" i="1" dirty="0" smtClean="0"/>
              <a:t>External: </a:t>
            </a:r>
            <a:r>
              <a:rPr lang="en-US" b="0" dirty="0" smtClean="0"/>
              <a:t>An external auditor reviews the findings of the internal audit as well as the inputs, processing, and outputs of information systems. The external audit of information systems is frequently a part of the overall external auditing performed by a certified public accounting (CPA) firm.</a:t>
            </a:r>
          </a:p>
          <a:p>
            <a:endParaRPr lang="en-US" b="0" dirty="0" smtClean="0"/>
          </a:p>
          <a:p>
            <a:r>
              <a:rPr lang="en-US" b="1" dirty="0" smtClean="0"/>
              <a:t>How Is Auditing Executed? </a:t>
            </a:r>
            <a:r>
              <a:rPr lang="en-US" dirty="0" smtClean="0"/>
              <a:t>IS auditing procedures fall into three categories: </a:t>
            </a:r>
            <a:br>
              <a:rPr lang="en-US" dirty="0" smtClean="0"/>
            </a:br>
            <a:r>
              <a:rPr lang="en-US" b="1" i="1" dirty="0" smtClean="0"/>
              <a:t>(1) auditing around the computer: </a:t>
            </a:r>
            <a:r>
              <a:rPr lang="en-US" dirty="0" smtClean="0"/>
              <a:t>verifying processing by checking for known outputs using specific inputs. This approach is most effective for systems with limited outputs.</a:t>
            </a:r>
          </a:p>
          <a:p>
            <a:r>
              <a:rPr lang="en-US" b="1" i="1" dirty="0" smtClean="0"/>
              <a:t>(2) auditing through the computer:</a:t>
            </a:r>
            <a:r>
              <a:rPr lang="en-US" b="1" i="1" baseline="0" dirty="0" smtClean="0"/>
              <a:t> </a:t>
            </a:r>
            <a:r>
              <a:rPr lang="en-US" dirty="0" smtClean="0"/>
              <a:t> auditors check inputs, outputs, and processing. They review program logic, and they test the data contained within the system. </a:t>
            </a:r>
          </a:p>
          <a:p>
            <a:r>
              <a:rPr lang="en-US" b="1" i="1" dirty="0" smtClean="0"/>
              <a:t>(3) auditing with the computer:</a:t>
            </a:r>
            <a:r>
              <a:rPr lang="en-US" b="1" i="1" baseline="0" dirty="0" smtClean="0"/>
              <a:t>  </a:t>
            </a:r>
            <a:r>
              <a:rPr lang="en-US" dirty="0" smtClean="0"/>
              <a:t>using a combination of client data, auditor software, and client and auditor hardware. This approach enables the auditor to perform tasks such as simulating payroll program logic using live data.</a:t>
            </a:r>
          </a:p>
          <a:p>
            <a:endParaRPr lang="en-US" b="0" dirty="0" smtClean="0"/>
          </a:p>
          <a:p>
            <a:r>
              <a:rPr lang="en-US" b="1" dirty="0" smtClean="0"/>
              <a:t>IS auditing considers:</a:t>
            </a:r>
          </a:p>
          <a:p>
            <a:pPr marL="171450" indent="-171450">
              <a:buFont typeface="Arial" pitchFamily="34" charset="0"/>
              <a:buChar char="•"/>
            </a:pPr>
            <a:r>
              <a:rPr lang="en-US" b="0" dirty="0" smtClean="0"/>
              <a:t>All of the potential hazards and controls in information systems</a:t>
            </a:r>
          </a:p>
          <a:p>
            <a:pPr marL="171450" indent="-171450">
              <a:buFont typeface="Arial" pitchFamily="34" charset="0"/>
              <a:buChar char="•"/>
            </a:pPr>
            <a:r>
              <a:rPr lang="en-US" b="0" dirty="0" smtClean="0"/>
              <a:t>Focuses on issues such as operations, data integrity, software applications, security and privacy, budgets and expenditures, cost control, and productivity.</a:t>
            </a:r>
          </a:p>
          <a:p>
            <a:pPr marL="171450" indent="-171450">
              <a:buFont typeface="Arial" pitchFamily="34" charset="0"/>
              <a:buChar char="•"/>
            </a:pPr>
            <a:r>
              <a:rPr lang="en-US" b="0" dirty="0" smtClean="0"/>
              <a:t>Guidelines are available to assist auditors in their jobs, such as those from the Information Systems Audit and Control Association (www.isaca.org).</a:t>
            </a:r>
          </a:p>
          <a:p>
            <a:endParaRPr lang="en-US" b="1" dirty="0" smtClean="0"/>
          </a:p>
          <a:p>
            <a:endParaRPr lang="en-US" b="1" dirty="0" smtClean="0"/>
          </a:p>
        </p:txBody>
      </p:sp>
      <p:sp>
        <p:nvSpPr>
          <p:cNvPr id="4" name="Slide Number Placeholder 3"/>
          <p:cNvSpPr>
            <a:spLocks noGrp="1"/>
          </p:cNvSpPr>
          <p:nvPr>
            <p:ph type="sldNum" sz="quarter" idx="10"/>
          </p:nvPr>
        </p:nvSpPr>
        <p:spPr/>
        <p:txBody>
          <a:bodyPr/>
          <a:lstStyle/>
          <a:p>
            <a:fld id="{2CF41C25-7A1F-47FB-B705-003A328B9163}" type="slidenum">
              <a:rPr lang="en-US" smtClean="0"/>
              <a:t>38</a:t>
            </a:fld>
            <a:endParaRPr lang="en-US"/>
          </a:p>
        </p:txBody>
      </p:sp>
    </p:spTree>
    <p:extLst>
      <p:ext uri="{BB962C8B-B14F-4D97-AF65-F5344CB8AC3E}">
        <p14:creationId xmlns:p14="http://schemas.microsoft.com/office/powerpoint/2010/main" val="31761941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Describe the flaws in Target’s security system that enabled the breach.</a:t>
            </a:r>
          </a:p>
          <a:p>
            <a:pPr marL="228600" indent="-228600">
              <a:buFont typeface="+mj-lt"/>
              <a:buAutoNum type="arabicPeriod"/>
            </a:pPr>
            <a:r>
              <a:rPr lang="en-US" b="0" dirty="0" smtClean="0"/>
              <a:t>Was Target’s response to the breach appropriate? Why or why not?</a:t>
            </a:r>
          </a:p>
          <a:p>
            <a:pPr marL="228600" indent="-228600">
              <a:buFont typeface="+mj-lt"/>
              <a:buAutoNum type="arabicPeriod"/>
            </a:pPr>
            <a:r>
              <a:rPr lang="en-US" b="0" dirty="0" smtClean="0"/>
              <a:t>What should you do as a consumer to protect yourself against losing your personal data from establishments where you shop?</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39</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Information Security</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4</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Identify the five factors that contribute to the increasing vulnerability of information resources, and provide a specific example of each one.</a:t>
            </a:r>
          </a:p>
          <a:p>
            <a:r>
              <a:rPr lang="en-US" dirty="0"/>
              <a:t>Compare and contrast human mistakes and social engineering, and provide a specific example of each one.</a:t>
            </a:r>
          </a:p>
          <a:p>
            <a:r>
              <a:rPr lang="en-US" dirty="0"/>
              <a:t>Discuss the </a:t>
            </a:r>
            <a:r>
              <a:rPr lang="en-US" dirty="0" smtClean="0"/>
              <a:t>10 </a:t>
            </a:r>
            <a:r>
              <a:rPr lang="en-US" dirty="0"/>
              <a:t>types of deliberate attacks.</a:t>
            </a:r>
          </a:p>
          <a:p>
            <a:r>
              <a:rPr lang="en-US" dirty="0"/>
              <a:t>Define the three risk mitigation strategies, and provide an example of each one in the context of owning a home.</a:t>
            </a:r>
          </a:p>
          <a:p>
            <a:r>
              <a:rPr lang="en-US" dirty="0"/>
              <a:t>Identify the three major types of controls that organizations can use to protect their information resources, and provide an example of each one</a:t>
            </a:r>
            <a:r>
              <a:rPr lang="en-US" dirty="0" smtClean="0"/>
              <a:t>.</a:t>
            </a:r>
            <a:endParaRPr lang="en-US" dirty="0"/>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Introduction to Information Security</a:t>
            </a:r>
          </a:p>
          <a:p>
            <a:r>
              <a:rPr lang="en-US" dirty="0"/>
              <a:t>Unintentional Threats to Information Systems</a:t>
            </a:r>
          </a:p>
          <a:p>
            <a:r>
              <a:rPr lang="en-US" dirty="0"/>
              <a:t>Deliberate Threats to Information Systems</a:t>
            </a:r>
          </a:p>
          <a:p>
            <a:r>
              <a:rPr lang="en-US" dirty="0"/>
              <a:t>What Organizations Are Doing to Protect Information Resources</a:t>
            </a:r>
          </a:p>
          <a:p>
            <a:r>
              <a:rPr lang="en-US" dirty="0"/>
              <a:t>Information Security </a:t>
            </a:r>
            <a:r>
              <a:rPr lang="en-US" dirty="0" smtClean="0"/>
              <a:t>Controls</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Sony Pictures Entertainment Hack</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a:t>The </a:t>
            </a:r>
            <a:r>
              <a:rPr lang="en-US" dirty="0">
                <a:solidFill>
                  <a:schemeClr val="tx1">
                    <a:lumMod val="65000"/>
                    <a:lumOff val="35000"/>
                  </a:schemeClr>
                </a:solidFill>
              </a:rPr>
              <a:t>Problem</a:t>
            </a:r>
          </a:p>
          <a:p>
            <a:r>
              <a:rPr lang="en-US" dirty="0"/>
              <a:t>The </a:t>
            </a:r>
            <a:r>
              <a:rPr lang="en-US" dirty="0" smtClean="0">
                <a:solidFill>
                  <a:schemeClr val="tx1">
                    <a:lumMod val="65000"/>
                    <a:lumOff val="35000"/>
                  </a:schemeClr>
                </a:solidFill>
              </a:rPr>
              <a:t>Law Enforcement Response</a:t>
            </a:r>
          </a:p>
          <a:p>
            <a:r>
              <a:rPr lang="en-US" dirty="0"/>
              <a:t>The </a:t>
            </a:r>
            <a:r>
              <a:rPr lang="en-US" dirty="0" smtClean="0">
                <a:solidFill>
                  <a:schemeClr val="tx1">
                    <a:lumMod val="65000"/>
                    <a:lumOff val="35000"/>
                  </a:schemeClr>
                </a:solidFill>
              </a:rPr>
              <a:t>Sony Response</a:t>
            </a:r>
          </a:p>
          <a:p>
            <a:r>
              <a:rPr lang="en-US" dirty="0"/>
              <a:t>The </a:t>
            </a:r>
            <a:r>
              <a:rPr lang="en-US" dirty="0" smtClean="0">
                <a:solidFill>
                  <a:schemeClr val="tx1">
                    <a:lumMod val="65000"/>
                    <a:lumOff val="35000"/>
                  </a:schemeClr>
                </a:solidFill>
              </a:rPr>
              <a:t>Results</a:t>
            </a:r>
          </a:p>
          <a:p>
            <a:r>
              <a:rPr lang="en-US" dirty="0" smtClean="0"/>
              <a:t>What We Learned From This Case</a:t>
            </a:r>
            <a:endParaRPr lang="en-US" dirty="0"/>
          </a:p>
          <a:p>
            <a:endParaRPr lang="en-US" dirty="0">
              <a:solidFill>
                <a:schemeClr val="tx1">
                  <a:lumMod val="65000"/>
                  <a:lumOff val="35000"/>
                </a:schemeClr>
              </a:solidFill>
            </a:endParaRPr>
          </a:p>
          <a:p>
            <a:endParaRPr lang="en-US" dirty="0">
              <a:solidFill>
                <a:schemeClr val="tx1">
                  <a:lumMod val="65000"/>
                  <a:lumOff val="35000"/>
                </a:schemeClr>
              </a:solidFill>
            </a:endParaRPr>
          </a:p>
          <a:p>
            <a:endParaRPr lang="en-US" dirty="0"/>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Introduction to Information Security</a:t>
            </a:r>
            <a:endParaRPr lang="en-US" dirty="0"/>
          </a:p>
        </p:txBody>
      </p:sp>
      <p:sp>
        <p:nvSpPr>
          <p:cNvPr id="6" name="Text Placeholder 5"/>
          <p:cNvSpPr>
            <a:spLocks noGrp="1"/>
          </p:cNvSpPr>
          <p:nvPr>
            <p:ph type="body" sz="quarter" idx="14"/>
          </p:nvPr>
        </p:nvSpPr>
        <p:spPr/>
        <p:txBody>
          <a:bodyPr/>
          <a:lstStyle/>
          <a:p>
            <a:r>
              <a:rPr lang="en-US" dirty="0" smtClean="0"/>
              <a:t>4.1</a:t>
            </a:r>
            <a:endParaRPr lang="en-US" dirty="0"/>
          </a:p>
        </p:txBody>
      </p:sp>
      <p:sp>
        <p:nvSpPr>
          <p:cNvPr id="7" name="Content Placeholder 6"/>
          <p:cNvSpPr>
            <a:spLocks noGrp="1"/>
          </p:cNvSpPr>
          <p:nvPr>
            <p:ph sz="quarter" idx="15"/>
          </p:nvPr>
        </p:nvSpPr>
        <p:spPr/>
        <p:txBody>
          <a:bodyPr>
            <a:normAutofit/>
          </a:bodyPr>
          <a:lstStyle/>
          <a:p>
            <a:r>
              <a:rPr lang="en-US" dirty="0" smtClean="0"/>
              <a:t>Security</a:t>
            </a:r>
          </a:p>
          <a:p>
            <a:r>
              <a:rPr lang="en-US" dirty="0" smtClean="0"/>
              <a:t>Information Security</a:t>
            </a:r>
          </a:p>
          <a:p>
            <a:r>
              <a:rPr lang="en-US" dirty="0" smtClean="0"/>
              <a:t>Threat</a:t>
            </a:r>
          </a:p>
          <a:p>
            <a:r>
              <a:rPr lang="en-US" dirty="0" smtClean="0"/>
              <a:t>Exposure</a:t>
            </a:r>
          </a:p>
          <a:p>
            <a:r>
              <a:rPr lang="en-US" dirty="0" smtClean="0"/>
              <a:t>Vulnerability</a:t>
            </a:r>
          </a:p>
        </p:txBody>
      </p:sp>
    </p:spTree>
    <p:extLst>
      <p:ext uri="{BB962C8B-B14F-4D97-AF65-F5344CB8AC3E}">
        <p14:creationId xmlns:p14="http://schemas.microsoft.com/office/powerpoint/2010/main" val="155421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lnSpcReduction="10000"/>
          </a:bodyPr>
          <a:lstStyle/>
          <a:p>
            <a:r>
              <a:rPr lang="en-US" dirty="0" smtClean="0"/>
              <a:t>Introduction to Information Security </a:t>
            </a:r>
            <a:endParaRPr lang="en-US" dirty="0"/>
          </a:p>
        </p:txBody>
      </p:sp>
      <p:sp>
        <p:nvSpPr>
          <p:cNvPr id="7" name="Content Placeholder 6"/>
          <p:cNvSpPr>
            <a:spLocks noGrp="1"/>
          </p:cNvSpPr>
          <p:nvPr>
            <p:ph sz="quarter" idx="14"/>
          </p:nvPr>
        </p:nvSpPr>
        <p:spPr/>
        <p:txBody>
          <a:bodyPr>
            <a:normAutofit fontScale="92500"/>
          </a:bodyPr>
          <a:lstStyle/>
          <a:p>
            <a:r>
              <a:rPr lang="en-US" dirty="0" smtClean="0"/>
              <a:t>Five Factors Contributing to Vulnerability</a:t>
            </a:r>
          </a:p>
          <a:p>
            <a:pPr lvl="1"/>
            <a:r>
              <a:rPr lang="en-US" dirty="0" smtClean="0"/>
              <a:t>Today’s </a:t>
            </a:r>
            <a:r>
              <a:rPr lang="en-US" dirty="0"/>
              <a:t>interconnected, interdependent, wirelessly networked business </a:t>
            </a:r>
            <a:r>
              <a:rPr lang="en-US" dirty="0" smtClean="0"/>
              <a:t>environment</a:t>
            </a:r>
            <a:endParaRPr lang="en-US" dirty="0"/>
          </a:p>
          <a:p>
            <a:pPr lvl="1"/>
            <a:r>
              <a:rPr lang="en-US" dirty="0" smtClean="0"/>
              <a:t>Smaller</a:t>
            </a:r>
            <a:r>
              <a:rPr lang="en-US" dirty="0"/>
              <a:t>, faster, cheaper computers </a:t>
            </a:r>
            <a:r>
              <a:rPr lang="en-US" dirty="0" smtClean="0"/>
              <a:t>&amp; storage devices</a:t>
            </a:r>
            <a:endParaRPr lang="en-US" dirty="0"/>
          </a:p>
          <a:p>
            <a:pPr lvl="1"/>
            <a:r>
              <a:rPr lang="en-US" dirty="0" smtClean="0"/>
              <a:t>Decreasing </a:t>
            </a:r>
            <a:r>
              <a:rPr lang="en-US" dirty="0"/>
              <a:t>skills necessary to be a computer </a:t>
            </a:r>
            <a:r>
              <a:rPr lang="en-US" dirty="0" smtClean="0"/>
              <a:t>hacker</a:t>
            </a:r>
            <a:endParaRPr lang="en-US" dirty="0"/>
          </a:p>
          <a:p>
            <a:pPr lvl="1"/>
            <a:r>
              <a:rPr lang="en-US" dirty="0" smtClean="0"/>
              <a:t>International </a:t>
            </a:r>
            <a:r>
              <a:rPr lang="en-US" dirty="0"/>
              <a:t>organized crime taking over </a:t>
            </a:r>
            <a:r>
              <a:rPr lang="en-US" dirty="0" smtClean="0"/>
              <a:t>cybercrime</a:t>
            </a:r>
            <a:endParaRPr lang="en-US" dirty="0"/>
          </a:p>
          <a:p>
            <a:pPr lvl="1"/>
            <a:r>
              <a:rPr lang="en-US" dirty="0" smtClean="0"/>
              <a:t>Lack </a:t>
            </a:r>
            <a:r>
              <a:rPr lang="en-US" dirty="0"/>
              <a:t>of management </a:t>
            </a:r>
            <a:r>
              <a:rPr lang="en-US" dirty="0" smtClean="0"/>
              <a:t>support</a:t>
            </a:r>
            <a:endParaRPr lang="en-US" dirty="0"/>
          </a:p>
        </p:txBody>
      </p:sp>
    </p:spTree>
    <p:extLst>
      <p:ext uri="{BB962C8B-B14F-4D97-AF65-F5344CB8AC3E}">
        <p14:creationId xmlns:p14="http://schemas.microsoft.com/office/powerpoint/2010/main" val="2336249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Unintentional Threats to Information Systems</a:t>
            </a:r>
            <a:endParaRPr lang="en-US" dirty="0"/>
          </a:p>
        </p:txBody>
      </p:sp>
      <p:sp>
        <p:nvSpPr>
          <p:cNvPr id="3" name="Text Placeholder 2"/>
          <p:cNvSpPr>
            <a:spLocks noGrp="1"/>
          </p:cNvSpPr>
          <p:nvPr>
            <p:ph type="body" sz="quarter" idx="14"/>
          </p:nvPr>
        </p:nvSpPr>
        <p:spPr/>
        <p:txBody>
          <a:bodyPr/>
          <a:lstStyle/>
          <a:p>
            <a:r>
              <a:rPr lang="en-US" dirty="0" smtClean="0"/>
              <a:t>4.2</a:t>
            </a:r>
            <a:endParaRPr lang="en-US" dirty="0"/>
          </a:p>
        </p:txBody>
      </p:sp>
      <p:sp>
        <p:nvSpPr>
          <p:cNvPr id="4" name="Content Placeholder 3"/>
          <p:cNvSpPr>
            <a:spLocks noGrp="1"/>
          </p:cNvSpPr>
          <p:nvPr>
            <p:ph sz="quarter" idx="15"/>
          </p:nvPr>
        </p:nvSpPr>
        <p:spPr/>
        <p:txBody>
          <a:bodyPr/>
          <a:lstStyle/>
          <a:p>
            <a:r>
              <a:rPr lang="en-US" dirty="0" smtClean="0"/>
              <a:t>Human Errors</a:t>
            </a:r>
          </a:p>
          <a:p>
            <a:r>
              <a:rPr lang="en-US" dirty="0" smtClean="0"/>
              <a:t>Social Engineering</a:t>
            </a:r>
          </a:p>
          <a:p>
            <a:endParaRPr lang="en-US" dirty="0"/>
          </a:p>
        </p:txBody>
      </p:sp>
    </p:spTree>
    <p:extLst>
      <p:ext uri="{BB962C8B-B14F-4D97-AF65-F5344CB8AC3E}">
        <p14:creationId xmlns:p14="http://schemas.microsoft.com/office/powerpoint/2010/main" val="2202154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71300"/>
            <a:ext cx="5500687" cy="663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4"/>
          <p:cNvSpPr>
            <a:spLocks noGrp="1"/>
          </p:cNvSpPr>
          <p:nvPr>
            <p:ph type="title"/>
          </p:nvPr>
        </p:nvSpPr>
        <p:spPr>
          <a:xfrm>
            <a:off x="304800" y="685800"/>
            <a:ext cx="2478087" cy="2070100"/>
          </a:xfrm>
        </p:spPr>
        <p:txBody>
          <a:bodyPr>
            <a:normAutofit fontScale="90000"/>
          </a:bodyPr>
          <a:lstStyle/>
          <a:p>
            <a:r>
              <a:rPr lang="en-US" dirty="0" smtClean="0"/>
              <a:t>FIGURE 4.1:</a:t>
            </a:r>
            <a:br>
              <a:rPr lang="en-US" dirty="0" smtClean="0"/>
            </a:br>
            <a:r>
              <a:rPr lang="en-US" dirty="0" smtClean="0"/>
              <a:t>Security</a:t>
            </a:r>
            <a:br>
              <a:rPr lang="en-US" dirty="0" smtClean="0"/>
            </a:br>
            <a:r>
              <a:rPr lang="en-US" dirty="0" smtClean="0"/>
              <a:t>Threats</a:t>
            </a:r>
            <a:endParaRPr lang="en-US" dirty="0"/>
          </a:p>
        </p:txBody>
      </p:sp>
    </p:spTree>
    <p:extLst>
      <p:ext uri="{BB962C8B-B14F-4D97-AF65-F5344CB8AC3E}">
        <p14:creationId xmlns:p14="http://schemas.microsoft.com/office/powerpoint/2010/main" val="3716487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Human Errors</a:t>
            </a:r>
            <a:endParaRPr lang="en-US" dirty="0"/>
          </a:p>
        </p:txBody>
      </p:sp>
      <p:sp>
        <p:nvSpPr>
          <p:cNvPr id="3" name="Text Placeholder 2"/>
          <p:cNvSpPr>
            <a:spLocks noGrp="1"/>
          </p:cNvSpPr>
          <p:nvPr>
            <p:ph type="body" sz="quarter" idx="13"/>
          </p:nvPr>
        </p:nvSpPr>
        <p:spPr/>
        <p:txBody>
          <a:bodyPr/>
          <a:lstStyle/>
          <a:p>
            <a:r>
              <a:rPr lang="en-US" dirty="0" smtClean="0"/>
              <a:t>Higher level employees + greater access privileges = greater threat</a:t>
            </a:r>
          </a:p>
          <a:p>
            <a:r>
              <a:rPr lang="en-US" dirty="0" smtClean="0"/>
              <a:t>Two areas pose significant threats</a:t>
            </a:r>
          </a:p>
          <a:p>
            <a:pPr lvl="1"/>
            <a:r>
              <a:rPr lang="en-US" dirty="0" smtClean="0"/>
              <a:t>Human Resources</a:t>
            </a:r>
          </a:p>
          <a:p>
            <a:pPr lvl="1"/>
            <a:r>
              <a:rPr lang="en-US" dirty="0" smtClean="0"/>
              <a:t>Information Systems</a:t>
            </a:r>
          </a:p>
          <a:p>
            <a:r>
              <a:rPr lang="en-US" dirty="0" smtClean="0"/>
              <a:t>Other areas of threats:</a:t>
            </a:r>
          </a:p>
          <a:p>
            <a:pPr lvl="1"/>
            <a:r>
              <a:rPr lang="en-US" dirty="0" smtClean="0"/>
              <a:t>Contract Labor, consultants, janitors, &amp; guards</a:t>
            </a:r>
            <a:endParaRPr lang="en-US" dirty="0"/>
          </a:p>
        </p:txBody>
      </p:sp>
    </p:spTree>
    <p:extLst>
      <p:ext uri="{BB962C8B-B14F-4D97-AF65-F5344CB8AC3E}">
        <p14:creationId xmlns:p14="http://schemas.microsoft.com/office/powerpoint/2010/main" val="1506147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Human Errors </a:t>
            </a:r>
            <a:endParaRPr lang="en-US" dirty="0"/>
          </a:p>
        </p:txBody>
      </p:sp>
      <p:sp>
        <p:nvSpPr>
          <p:cNvPr id="3" name="Text Placeholder 2"/>
          <p:cNvSpPr>
            <a:spLocks noGrp="1"/>
          </p:cNvSpPr>
          <p:nvPr>
            <p:ph type="body" sz="quarter" idx="13"/>
          </p:nvPr>
        </p:nvSpPr>
        <p:spPr/>
        <p:txBody>
          <a:bodyPr/>
          <a:lstStyle/>
          <a:p>
            <a:r>
              <a:rPr lang="en-US" dirty="0" smtClean="0"/>
              <a:t>Common Human Error</a:t>
            </a:r>
          </a:p>
          <a:p>
            <a:pPr lvl="1"/>
            <a:r>
              <a:rPr lang="en-US" dirty="0" smtClean="0"/>
              <a:t>Carelessness with Laptops</a:t>
            </a:r>
          </a:p>
          <a:p>
            <a:pPr lvl="1"/>
            <a:r>
              <a:rPr lang="en-US" dirty="0" smtClean="0"/>
              <a:t>Carelessness with Computing Devices</a:t>
            </a:r>
          </a:p>
          <a:p>
            <a:pPr lvl="1"/>
            <a:r>
              <a:rPr lang="en-US" dirty="0" smtClean="0"/>
              <a:t>Opening Questionable E-mail</a:t>
            </a:r>
          </a:p>
          <a:p>
            <a:pPr lvl="1"/>
            <a:r>
              <a:rPr lang="en-US" dirty="0" smtClean="0"/>
              <a:t>Careless Internet Surfing</a:t>
            </a:r>
          </a:p>
          <a:p>
            <a:pPr lvl="1"/>
            <a:r>
              <a:rPr lang="en-US" dirty="0" smtClean="0"/>
              <a:t>Poor Password Selection and Use</a:t>
            </a:r>
          </a:p>
        </p:txBody>
      </p:sp>
    </p:spTree>
    <p:extLst>
      <p:ext uri="{BB962C8B-B14F-4D97-AF65-F5344CB8AC3E}">
        <p14:creationId xmlns:p14="http://schemas.microsoft.com/office/powerpoint/2010/main" val="3846428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Human Errors </a:t>
            </a:r>
            <a:endParaRPr lang="en-US" dirty="0"/>
          </a:p>
        </p:txBody>
      </p:sp>
      <p:sp>
        <p:nvSpPr>
          <p:cNvPr id="3" name="Text Placeholder 2"/>
          <p:cNvSpPr>
            <a:spLocks noGrp="1"/>
          </p:cNvSpPr>
          <p:nvPr>
            <p:ph type="body" sz="quarter" idx="13"/>
          </p:nvPr>
        </p:nvSpPr>
        <p:spPr/>
        <p:txBody>
          <a:bodyPr/>
          <a:lstStyle/>
          <a:p>
            <a:r>
              <a:rPr lang="en-US" dirty="0" smtClean="0"/>
              <a:t>Common Human Error</a:t>
            </a:r>
          </a:p>
          <a:p>
            <a:pPr lvl="1"/>
            <a:r>
              <a:rPr lang="en-US" dirty="0" smtClean="0"/>
              <a:t>Carelessness with One’s Office</a:t>
            </a:r>
          </a:p>
          <a:p>
            <a:pPr lvl="1"/>
            <a:r>
              <a:rPr lang="en-US" dirty="0" smtClean="0"/>
              <a:t>Carelessness Using Unmanaged Devices</a:t>
            </a:r>
          </a:p>
          <a:p>
            <a:pPr lvl="1"/>
            <a:r>
              <a:rPr lang="en-US" dirty="0" smtClean="0"/>
              <a:t>Carelessness with Discarded Equipment</a:t>
            </a:r>
          </a:p>
          <a:p>
            <a:pPr lvl="1"/>
            <a:r>
              <a:rPr lang="en-US" dirty="0" smtClean="0"/>
              <a:t>Careless Monitoring of Environmental Hazards</a:t>
            </a:r>
            <a:endParaRPr lang="en-US" dirty="0"/>
          </a:p>
        </p:txBody>
      </p:sp>
    </p:spTree>
    <p:extLst>
      <p:ext uri="{BB962C8B-B14F-4D97-AF65-F5344CB8AC3E}">
        <p14:creationId xmlns:p14="http://schemas.microsoft.com/office/powerpoint/2010/main" val="677604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The </a:t>
            </a:r>
            <a:r>
              <a:rPr lang="en-US" dirty="0" err="1" smtClean="0"/>
              <a:t>Heartbleed</a:t>
            </a:r>
            <a:r>
              <a:rPr lang="en-US" dirty="0" smtClean="0"/>
              <a:t> Bug</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4.1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Social Engineering</a:t>
            </a:r>
            <a:endParaRPr lang="en-US" dirty="0"/>
          </a:p>
        </p:txBody>
      </p:sp>
      <p:sp>
        <p:nvSpPr>
          <p:cNvPr id="3" name="Text Placeholder 2"/>
          <p:cNvSpPr>
            <a:spLocks noGrp="1"/>
          </p:cNvSpPr>
          <p:nvPr>
            <p:ph type="body" sz="quarter" idx="13"/>
          </p:nvPr>
        </p:nvSpPr>
        <p:spPr/>
        <p:txBody>
          <a:bodyPr/>
          <a:lstStyle/>
          <a:p>
            <a:r>
              <a:rPr lang="en-US" dirty="0"/>
              <a:t>Social </a:t>
            </a:r>
            <a:r>
              <a:rPr lang="en-US" dirty="0" smtClean="0"/>
              <a:t>Engineering</a:t>
            </a:r>
            <a:r>
              <a:rPr lang="en-US" dirty="0"/>
              <a:t>: </a:t>
            </a:r>
          </a:p>
          <a:p>
            <a:pPr lvl="1"/>
            <a:r>
              <a:rPr lang="en-US" dirty="0"/>
              <a:t>an attack in which the perpetrator uses social skills to trick or manipulate legitimate employees into providing confidential company information such as passwords</a:t>
            </a:r>
            <a:r>
              <a:rPr lang="en-US" dirty="0" smtClean="0"/>
              <a:t>.</a:t>
            </a:r>
          </a:p>
          <a:p>
            <a:r>
              <a:rPr lang="en-US" dirty="0" smtClean="0"/>
              <a:t>Example:</a:t>
            </a:r>
          </a:p>
          <a:p>
            <a:pPr lvl="1"/>
            <a:r>
              <a:rPr lang="en-US" dirty="0" smtClean="0"/>
              <a:t>Kevin </a:t>
            </a:r>
            <a:r>
              <a:rPr lang="en-US" dirty="0" err="1" smtClean="0"/>
              <a:t>Mitnick</a:t>
            </a:r>
            <a:r>
              <a:rPr lang="en-US" dirty="0" smtClean="0"/>
              <a:t>, world famous hacker and former FBI’s most wanted.</a:t>
            </a:r>
            <a:endParaRPr lang="en-US" dirty="0"/>
          </a:p>
          <a:p>
            <a:pPr marL="0" indent="0">
              <a:buNone/>
            </a:pPr>
            <a:endParaRPr lang="en-US" dirty="0" smtClean="0"/>
          </a:p>
        </p:txBody>
      </p:sp>
    </p:spTree>
    <p:extLst>
      <p:ext uri="{BB962C8B-B14F-4D97-AF65-F5344CB8AC3E}">
        <p14:creationId xmlns:p14="http://schemas.microsoft.com/office/powerpoint/2010/main" val="1982802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Deliberate Threats to Information Systems</a:t>
            </a:r>
            <a:endParaRPr lang="en-US" dirty="0"/>
          </a:p>
        </p:txBody>
      </p:sp>
      <p:sp>
        <p:nvSpPr>
          <p:cNvPr id="3" name="Text Placeholder 2"/>
          <p:cNvSpPr>
            <a:spLocks noGrp="1"/>
          </p:cNvSpPr>
          <p:nvPr>
            <p:ph type="body" sz="quarter" idx="14"/>
          </p:nvPr>
        </p:nvSpPr>
        <p:spPr/>
        <p:txBody>
          <a:bodyPr/>
          <a:lstStyle/>
          <a:p>
            <a:r>
              <a:rPr lang="en-US" dirty="0" smtClean="0"/>
              <a:t>4.3</a:t>
            </a:r>
            <a:endParaRPr lang="en-US" dirty="0"/>
          </a:p>
        </p:txBody>
      </p:sp>
      <p:sp>
        <p:nvSpPr>
          <p:cNvPr id="4" name="Content Placeholder 3"/>
          <p:cNvSpPr>
            <a:spLocks noGrp="1"/>
          </p:cNvSpPr>
          <p:nvPr>
            <p:ph sz="quarter" idx="15"/>
          </p:nvPr>
        </p:nvSpPr>
        <p:spPr/>
        <p:txBody>
          <a:bodyPr>
            <a:normAutofit lnSpcReduction="10000"/>
          </a:bodyPr>
          <a:lstStyle/>
          <a:p>
            <a:r>
              <a:rPr lang="en-US" dirty="0" smtClean="0"/>
              <a:t>Espionage or Trespass</a:t>
            </a:r>
          </a:p>
          <a:p>
            <a:r>
              <a:rPr lang="en-US" dirty="0" smtClean="0"/>
              <a:t>Information Extortion</a:t>
            </a:r>
          </a:p>
          <a:p>
            <a:r>
              <a:rPr lang="en-US" dirty="0" smtClean="0"/>
              <a:t>Sabotage or Vandalism</a:t>
            </a:r>
          </a:p>
          <a:p>
            <a:r>
              <a:rPr lang="en-US" dirty="0" smtClean="0"/>
              <a:t>Theft of Equipment or Information</a:t>
            </a:r>
          </a:p>
          <a:p>
            <a:r>
              <a:rPr lang="en-US" dirty="0" smtClean="0"/>
              <a:t>Identity Theft</a:t>
            </a:r>
          </a:p>
          <a:p>
            <a:r>
              <a:rPr lang="en-US" dirty="0" smtClean="0"/>
              <a:t>Compromises to Intellectual Property</a:t>
            </a:r>
          </a:p>
        </p:txBody>
      </p:sp>
    </p:spTree>
    <p:extLst>
      <p:ext uri="{BB962C8B-B14F-4D97-AF65-F5344CB8AC3E}">
        <p14:creationId xmlns:p14="http://schemas.microsoft.com/office/powerpoint/2010/main" val="593466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Deliberate Threats to Information Systems </a:t>
            </a:r>
            <a:endParaRPr lang="en-US" dirty="0"/>
          </a:p>
        </p:txBody>
      </p:sp>
      <p:sp>
        <p:nvSpPr>
          <p:cNvPr id="3" name="Text Placeholder 2"/>
          <p:cNvSpPr>
            <a:spLocks noGrp="1"/>
          </p:cNvSpPr>
          <p:nvPr>
            <p:ph type="body" sz="quarter" idx="14"/>
          </p:nvPr>
        </p:nvSpPr>
        <p:spPr/>
        <p:txBody>
          <a:bodyPr/>
          <a:lstStyle/>
          <a:p>
            <a:r>
              <a:rPr lang="en-US" dirty="0" smtClean="0"/>
              <a:t>4.3</a:t>
            </a:r>
            <a:endParaRPr lang="en-US" dirty="0"/>
          </a:p>
        </p:txBody>
      </p:sp>
      <p:sp>
        <p:nvSpPr>
          <p:cNvPr id="4" name="Content Placeholder 3"/>
          <p:cNvSpPr>
            <a:spLocks noGrp="1"/>
          </p:cNvSpPr>
          <p:nvPr>
            <p:ph sz="quarter" idx="15"/>
          </p:nvPr>
        </p:nvSpPr>
        <p:spPr/>
        <p:txBody>
          <a:bodyPr>
            <a:normAutofit/>
          </a:bodyPr>
          <a:lstStyle/>
          <a:p>
            <a:r>
              <a:rPr lang="en-US" dirty="0" smtClean="0"/>
              <a:t>Software Attacks</a:t>
            </a:r>
          </a:p>
          <a:p>
            <a:r>
              <a:rPr lang="en-US" dirty="0" smtClean="0"/>
              <a:t>Alien Software</a:t>
            </a:r>
          </a:p>
          <a:p>
            <a:r>
              <a:rPr lang="en-US" dirty="0" smtClean="0"/>
              <a:t>Supervisory Control and Data Acquisition (SCADA) Attacks</a:t>
            </a:r>
          </a:p>
          <a:p>
            <a:r>
              <a:rPr lang="en-US" dirty="0" err="1" smtClean="0"/>
              <a:t>Cyberterrorism</a:t>
            </a:r>
            <a:r>
              <a:rPr lang="en-US" dirty="0" smtClean="0"/>
              <a:t> and </a:t>
            </a:r>
            <a:r>
              <a:rPr lang="en-US" dirty="0" err="1" smtClean="0"/>
              <a:t>Cyberwarfare</a:t>
            </a:r>
            <a:endParaRPr lang="en-US" dirty="0" smtClean="0"/>
          </a:p>
          <a:p>
            <a:endParaRPr lang="en-US" dirty="0"/>
          </a:p>
        </p:txBody>
      </p:sp>
    </p:spTree>
    <p:extLst>
      <p:ext uri="{BB962C8B-B14F-4D97-AF65-F5344CB8AC3E}">
        <p14:creationId xmlns:p14="http://schemas.microsoft.com/office/powerpoint/2010/main" val="3885829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Software Attacks</a:t>
            </a:r>
            <a:endParaRPr lang="en-US" dirty="0"/>
          </a:p>
        </p:txBody>
      </p:sp>
      <p:sp>
        <p:nvSpPr>
          <p:cNvPr id="3" name="Text Placeholder 2"/>
          <p:cNvSpPr>
            <a:spLocks noGrp="1"/>
          </p:cNvSpPr>
          <p:nvPr>
            <p:ph type="body" sz="quarter" idx="13"/>
          </p:nvPr>
        </p:nvSpPr>
        <p:spPr/>
        <p:txBody>
          <a:bodyPr>
            <a:normAutofit/>
          </a:bodyPr>
          <a:lstStyle/>
          <a:p>
            <a:r>
              <a:rPr lang="en-US" dirty="0" smtClean="0"/>
              <a:t>Remote Attacks Requiring User Action</a:t>
            </a:r>
          </a:p>
          <a:p>
            <a:pPr lvl="1"/>
            <a:r>
              <a:rPr lang="en-US" dirty="0" smtClean="0"/>
              <a:t>Virus</a:t>
            </a:r>
          </a:p>
          <a:p>
            <a:pPr lvl="1"/>
            <a:r>
              <a:rPr lang="en-US" dirty="0" smtClean="0"/>
              <a:t>Worm</a:t>
            </a:r>
          </a:p>
          <a:p>
            <a:pPr lvl="1"/>
            <a:r>
              <a:rPr lang="en-US" dirty="0" smtClean="0"/>
              <a:t>Phishing Attack</a:t>
            </a:r>
          </a:p>
          <a:p>
            <a:pPr lvl="1"/>
            <a:r>
              <a:rPr lang="en-US" dirty="0" smtClean="0"/>
              <a:t>Spear Phishing Attack</a:t>
            </a:r>
          </a:p>
        </p:txBody>
      </p:sp>
    </p:spTree>
    <p:extLst>
      <p:ext uri="{BB962C8B-B14F-4D97-AF65-F5344CB8AC3E}">
        <p14:creationId xmlns:p14="http://schemas.microsoft.com/office/powerpoint/2010/main" val="2737336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Software Attacks </a:t>
            </a:r>
            <a:endParaRPr lang="en-US" dirty="0"/>
          </a:p>
        </p:txBody>
      </p:sp>
      <p:sp>
        <p:nvSpPr>
          <p:cNvPr id="3" name="Text Placeholder 2"/>
          <p:cNvSpPr>
            <a:spLocks noGrp="1"/>
          </p:cNvSpPr>
          <p:nvPr>
            <p:ph type="body" sz="quarter" idx="13"/>
          </p:nvPr>
        </p:nvSpPr>
        <p:spPr/>
        <p:txBody>
          <a:bodyPr>
            <a:normAutofit/>
          </a:bodyPr>
          <a:lstStyle/>
          <a:p>
            <a:r>
              <a:rPr lang="en-US" dirty="0" smtClean="0"/>
              <a:t>Remote Attacks Needing No User Action</a:t>
            </a:r>
          </a:p>
          <a:p>
            <a:pPr lvl="1"/>
            <a:r>
              <a:rPr lang="en-US" dirty="0" smtClean="0"/>
              <a:t>Denial of Service Attack</a:t>
            </a:r>
          </a:p>
          <a:p>
            <a:pPr lvl="1"/>
            <a:r>
              <a:rPr lang="en-US" dirty="0" smtClean="0"/>
              <a:t>Distributed Denial of Service Attack</a:t>
            </a:r>
            <a:endParaRPr lang="en-US" dirty="0"/>
          </a:p>
        </p:txBody>
      </p:sp>
    </p:spTree>
    <p:extLst>
      <p:ext uri="{BB962C8B-B14F-4D97-AF65-F5344CB8AC3E}">
        <p14:creationId xmlns:p14="http://schemas.microsoft.com/office/powerpoint/2010/main" val="1778024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Software Attacks </a:t>
            </a:r>
            <a:endParaRPr lang="en-US" dirty="0"/>
          </a:p>
        </p:txBody>
      </p:sp>
      <p:sp>
        <p:nvSpPr>
          <p:cNvPr id="3" name="Text Placeholder 2"/>
          <p:cNvSpPr>
            <a:spLocks noGrp="1"/>
          </p:cNvSpPr>
          <p:nvPr>
            <p:ph type="body" sz="quarter" idx="13"/>
          </p:nvPr>
        </p:nvSpPr>
        <p:spPr/>
        <p:txBody>
          <a:bodyPr>
            <a:normAutofit/>
          </a:bodyPr>
          <a:lstStyle/>
          <a:p>
            <a:r>
              <a:rPr lang="en-US" dirty="0" smtClean="0"/>
              <a:t>Attacks by a Programmer Developing a System</a:t>
            </a:r>
          </a:p>
          <a:p>
            <a:pPr lvl="1"/>
            <a:r>
              <a:rPr lang="en-US" dirty="0" smtClean="0"/>
              <a:t>Trojan Horse</a:t>
            </a:r>
          </a:p>
          <a:p>
            <a:pPr lvl="1"/>
            <a:r>
              <a:rPr lang="en-US" dirty="0" smtClean="0"/>
              <a:t>Back Door</a:t>
            </a:r>
          </a:p>
          <a:p>
            <a:pPr lvl="1"/>
            <a:r>
              <a:rPr lang="en-US" dirty="0" smtClean="0"/>
              <a:t>Logic Bomb</a:t>
            </a:r>
            <a:endParaRPr lang="en-US" dirty="0"/>
          </a:p>
        </p:txBody>
      </p:sp>
    </p:spTree>
    <p:extLst>
      <p:ext uri="{BB962C8B-B14F-4D97-AF65-F5344CB8AC3E}">
        <p14:creationId xmlns:p14="http://schemas.microsoft.com/office/powerpoint/2010/main" val="363532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err="1" smtClean="0"/>
              <a:t>Shodan</a:t>
            </a:r>
            <a:r>
              <a:rPr lang="en-US" dirty="0" smtClean="0"/>
              <a:t>: Good Tool or Bad Tool?</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4.2</a:t>
            </a:r>
            <a:endParaRPr lang="en-US" dirty="0"/>
          </a:p>
        </p:txBody>
      </p:sp>
    </p:spTree>
    <p:extLst>
      <p:ext uri="{BB962C8B-B14F-4D97-AF65-F5344CB8AC3E}">
        <p14:creationId xmlns:p14="http://schemas.microsoft.com/office/powerpoint/2010/main" val="18534001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lstStyle/>
          <a:p>
            <a:r>
              <a:rPr lang="en-US" dirty="0" smtClean="0"/>
              <a:t>Alien Software</a:t>
            </a:r>
            <a:endParaRPr lang="en-US" dirty="0"/>
          </a:p>
        </p:txBody>
      </p:sp>
      <p:sp>
        <p:nvSpPr>
          <p:cNvPr id="8" name="Text Placeholder 7"/>
          <p:cNvSpPr>
            <a:spLocks noGrp="1"/>
          </p:cNvSpPr>
          <p:nvPr>
            <p:ph type="body" sz="quarter" idx="13"/>
          </p:nvPr>
        </p:nvSpPr>
        <p:spPr/>
        <p:txBody>
          <a:bodyPr/>
          <a:lstStyle/>
          <a:p>
            <a:r>
              <a:rPr lang="en-US" dirty="0" smtClean="0"/>
              <a:t>Adware</a:t>
            </a:r>
          </a:p>
          <a:p>
            <a:r>
              <a:rPr lang="en-US" dirty="0" smtClean="0"/>
              <a:t>Spyware</a:t>
            </a:r>
          </a:p>
          <a:p>
            <a:pPr lvl="1"/>
            <a:r>
              <a:rPr lang="en-US" dirty="0" err="1" smtClean="0"/>
              <a:t>Keyloggers</a:t>
            </a:r>
            <a:endParaRPr lang="en-US" dirty="0" smtClean="0"/>
          </a:p>
          <a:p>
            <a:r>
              <a:rPr lang="en-US" dirty="0" err="1" smtClean="0"/>
              <a:t>Spamware</a:t>
            </a:r>
            <a:endParaRPr lang="en-US" dirty="0" smtClean="0"/>
          </a:p>
          <a:p>
            <a:r>
              <a:rPr lang="en-US" dirty="0" smtClean="0"/>
              <a:t>Cookies</a:t>
            </a:r>
          </a:p>
          <a:p>
            <a:pPr lvl="1"/>
            <a:r>
              <a:rPr lang="en-US" dirty="0" smtClean="0"/>
              <a:t>Tracking cookies</a:t>
            </a:r>
          </a:p>
        </p:txBody>
      </p:sp>
    </p:spTree>
    <p:extLst>
      <p:ext uri="{BB962C8B-B14F-4D97-AF65-F5344CB8AC3E}">
        <p14:creationId xmlns:p14="http://schemas.microsoft.com/office/powerpoint/2010/main" val="1149858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779232" y="762000"/>
            <a:ext cx="6831367" cy="2057400"/>
          </a:xfrm>
        </p:spPr>
        <p:txBody>
          <a:bodyPr>
            <a:normAutofit fontScale="92500" lnSpcReduction="10000"/>
          </a:bodyPr>
          <a:lstStyle/>
          <a:p>
            <a:r>
              <a:rPr lang="en-US" dirty="0" smtClean="0"/>
              <a:t>What Organizations Are Doing to Protect Information Resources</a:t>
            </a:r>
            <a:endParaRPr lang="en-US" dirty="0"/>
          </a:p>
        </p:txBody>
      </p:sp>
      <p:sp>
        <p:nvSpPr>
          <p:cNvPr id="3" name="Text Placeholder 2"/>
          <p:cNvSpPr>
            <a:spLocks noGrp="1"/>
          </p:cNvSpPr>
          <p:nvPr>
            <p:ph type="body" sz="quarter" idx="14"/>
          </p:nvPr>
        </p:nvSpPr>
        <p:spPr/>
        <p:txBody>
          <a:bodyPr/>
          <a:lstStyle/>
          <a:p>
            <a:r>
              <a:rPr lang="en-US" dirty="0" smtClean="0"/>
              <a:t>4.4</a:t>
            </a:r>
            <a:endParaRPr lang="en-US" dirty="0"/>
          </a:p>
        </p:txBody>
      </p:sp>
      <p:sp>
        <p:nvSpPr>
          <p:cNvPr id="4" name="Content Placeholder 3"/>
          <p:cNvSpPr>
            <a:spLocks noGrp="1"/>
          </p:cNvSpPr>
          <p:nvPr>
            <p:ph sz="quarter" idx="15"/>
          </p:nvPr>
        </p:nvSpPr>
        <p:spPr>
          <a:xfrm>
            <a:off x="1752600" y="2971800"/>
            <a:ext cx="6858000" cy="3276600"/>
          </a:xfrm>
        </p:spPr>
        <p:txBody>
          <a:bodyPr/>
          <a:lstStyle/>
          <a:p>
            <a:r>
              <a:rPr lang="en-US" dirty="0" smtClean="0"/>
              <a:t>Risk</a:t>
            </a:r>
          </a:p>
          <a:p>
            <a:r>
              <a:rPr lang="en-US" dirty="0" smtClean="0"/>
              <a:t>Risk Analysis</a:t>
            </a:r>
          </a:p>
          <a:p>
            <a:r>
              <a:rPr lang="en-US" dirty="0" smtClean="0"/>
              <a:t>Risk Mitigation</a:t>
            </a:r>
            <a:endParaRPr lang="en-US" dirty="0"/>
          </a:p>
        </p:txBody>
      </p:sp>
    </p:spTree>
    <p:extLst>
      <p:ext uri="{BB962C8B-B14F-4D97-AF65-F5344CB8AC3E}">
        <p14:creationId xmlns:p14="http://schemas.microsoft.com/office/powerpoint/2010/main" val="2021889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Catching a Hacker</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4.3</a:t>
            </a:r>
            <a:endParaRPr lang="en-US" dirty="0"/>
          </a:p>
        </p:txBody>
      </p:sp>
    </p:spTree>
    <p:extLst>
      <p:ext uri="{BB962C8B-B14F-4D97-AF65-F5344CB8AC3E}">
        <p14:creationId xmlns:p14="http://schemas.microsoft.com/office/powerpoint/2010/main" val="185340012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Risk Mitigation</a:t>
            </a:r>
            <a:endParaRPr lang="en-US" dirty="0"/>
          </a:p>
        </p:txBody>
      </p:sp>
      <p:sp>
        <p:nvSpPr>
          <p:cNvPr id="3" name="Content Placeholder 2"/>
          <p:cNvSpPr>
            <a:spLocks noGrp="1"/>
          </p:cNvSpPr>
          <p:nvPr>
            <p:ph sz="quarter" idx="14"/>
          </p:nvPr>
        </p:nvSpPr>
        <p:spPr/>
        <p:txBody>
          <a:bodyPr/>
          <a:lstStyle/>
          <a:p>
            <a:r>
              <a:rPr lang="en-US" dirty="0" smtClean="0"/>
              <a:t>Risk Acceptance</a:t>
            </a:r>
          </a:p>
          <a:p>
            <a:r>
              <a:rPr lang="en-US" dirty="0" smtClean="0"/>
              <a:t>Risk Limitation</a:t>
            </a:r>
          </a:p>
          <a:p>
            <a:r>
              <a:rPr lang="en-US" dirty="0" smtClean="0"/>
              <a:t>Risk Transference</a:t>
            </a:r>
            <a:endParaRPr lang="en-US" dirty="0"/>
          </a:p>
        </p:txBody>
      </p:sp>
    </p:spTree>
    <p:extLst>
      <p:ext uri="{BB962C8B-B14F-4D97-AF65-F5344CB8AC3E}">
        <p14:creationId xmlns:p14="http://schemas.microsoft.com/office/powerpoint/2010/main" val="1826792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Information Security Controls</a:t>
            </a:r>
            <a:endParaRPr lang="en-US" dirty="0"/>
          </a:p>
        </p:txBody>
      </p:sp>
      <p:sp>
        <p:nvSpPr>
          <p:cNvPr id="3" name="Text Placeholder 2"/>
          <p:cNvSpPr>
            <a:spLocks noGrp="1"/>
          </p:cNvSpPr>
          <p:nvPr>
            <p:ph type="body" sz="quarter" idx="14"/>
          </p:nvPr>
        </p:nvSpPr>
        <p:spPr/>
        <p:txBody>
          <a:bodyPr/>
          <a:lstStyle/>
          <a:p>
            <a:r>
              <a:rPr lang="en-US" dirty="0" smtClean="0"/>
              <a:t>4.5</a:t>
            </a:r>
            <a:endParaRPr lang="en-US" dirty="0"/>
          </a:p>
        </p:txBody>
      </p:sp>
      <p:sp>
        <p:nvSpPr>
          <p:cNvPr id="4" name="Content Placeholder 3"/>
          <p:cNvSpPr>
            <a:spLocks noGrp="1"/>
          </p:cNvSpPr>
          <p:nvPr>
            <p:ph sz="quarter" idx="15"/>
          </p:nvPr>
        </p:nvSpPr>
        <p:spPr/>
        <p:txBody>
          <a:bodyPr/>
          <a:lstStyle/>
          <a:p>
            <a:r>
              <a:rPr lang="en-US" dirty="0" smtClean="0"/>
              <a:t>Physical Controls</a:t>
            </a:r>
          </a:p>
          <a:p>
            <a:r>
              <a:rPr lang="en-US" dirty="0" smtClean="0"/>
              <a:t>Access Controls</a:t>
            </a:r>
          </a:p>
          <a:p>
            <a:r>
              <a:rPr lang="en-US" dirty="0" smtClean="0"/>
              <a:t>Communication Controls</a:t>
            </a:r>
          </a:p>
          <a:p>
            <a:r>
              <a:rPr lang="en-US" dirty="0" smtClean="0"/>
              <a:t>Business Continuity Planning</a:t>
            </a:r>
          </a:p>
          <a:p>
            <a:r>
              <a:rPr lang="en-US" dirty="0" smtClean="0"/>
              <a:t>Information Systems Auditing</a:t>
            </a:r>
          </a:p>
          <a:p>
            <a:endParaRPr lang="en-US" dirty="0"/>
          </a:p>
        </p:txBody>
      </p:sp>
    </p:spTree>
    <p:extLst>
      <p:ext uri="{BB962C8B-B14F-4D97-AF65-F5344CB8AC3E}">
        <p14:creationId xmlns:p14="http://schemas.microsoft.com/office/powerpoint/2010/main" val="1484094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Physical Controls</a:t>
            </a:r>
            <a:endParaRPr lang="en-US" dirty="0"/>
          </a:p>
        </p:txBody>
      </p:sp>
      <p:sp>
        <p:nvSpPr>
          <p:cNvPr id="3" name="Content Placeholder 2"/>
          <p:cNvSpPr>
            <a:spLocks noGrp="1"/>
          </p:cNvSpPr>
          <p:nvPr>
            <p:ph sz="quarter" idx="14"/>
          </p:nvPr>
        </p:nvSpPr>
        <p:spPr/>
        <p:txBody>
          <a:bodyPr>
            <a:normAutofit fontScale="92500" lnSpcReduction="20000"/>
          </a:bodyPr>
          <a:lstStyle/>
          <a:p>
            <a:r>
              <a:rPr lang="en-US" dirty="0" smtClean="0"/>
              <a:t>Prevent unauthorized individuals from gaining access to a company’s facilities.</a:t>
            </a:r>
          </a:p>
          <a:p>
            <a:pPr lvl="1"/>
            <a:r>
              <a:rPr lang="en-US" dirty="0" smtClean="0"/>
              <a:t>Walls</a:t>
            </a:r>
          </a:p>
          <a:p>
            <a:pPr lvl="1"/>
            <a:r>
              <a:rPr lang="en-US" dirty="0" smtClean="0"/>
              <a:t>Doors</a:t>
            </a:r>
          </a:p>
          <a:p>
            <a:pPr lvl="1"/>
            <a:r>
              <a:rPr lang="en-US" dirty="0" smtClean="0"/>
              <a:t>Fencing</a:t>
            </a:r>
          </a:p>
          <a:p>
            <a:pPr lvl="1"/>
            <a:r>
              <a:rPr lang="en-US" dirty="0" smtClean="0"/>
              <a:t>Gates</a:t>
            </a:r>
          </a:p>
          <a:p>
            <a:pPr lvl="1"/>
            <a:r>
              <a:rPr lang="en-US" dirty="0" smtClean="0"/>
              <a:t>Locks</a:t>
            </a:r>
          </a:p>
          <a:p>
            <a:pPr lvl="1"/>
            <a:r>
              <a:rPr lang="en-US" dirty="0" smtClean="0"/>
              <a:t>Badges</a:t>
            </a:r>
          </a:p>
          <a:p>
            <a:pPr lvl="1"/>
            <a:r>
              <a:rPr lang="en-US" dirty="0" smtClean="0"/>
              <a:t>Guards</a:t>
            </a:r>
          </a:p>
          <a:p>
            <a:pPr lvl="1"/>
            <a:r>
              <a:rPr lang="en-US" dirty="0" smtClean="0"/>
              <a:t>Alarm systems</a:t>
            </a:r>
            <a:endParaRPr lang="en-US" dirty="0"/>
          </a:p>
        </p:txBody>
      </p:sp>
    </p:spTree>
    <p:extLst>
      <p:ext uri="{BB962C8B-B14F-4D97-AF65-F5344CB8AC3E}">
        <p14:creationId xmlns:p14="http://schemas.microsoft.com/office/powerpoint/2010/main" val="2080248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4.2 </a:t>
            </a:r>
            <a:r>
              <a:rPr lang="en-US" dirty="0"/>
              <a:t>Where defense mechanisms are located</a:t>
            </a:r>
            <a:r>
              <a:rPr lang="en-US" dirty="0" smtClean="0"/>
              <a:t>.</a:t>
            </a:r>
            <a:endParaRPr lang="en-US" dirty="0"/>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832361" y="1447800"/>
            <a:ext cx="7555478"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9052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Access Controls</a:t>
            </a:r>
            <a:endParaRPr lang="en-US" dirty="0"/>
          </a:p>
        </p:txBody>
      </p:sp>
      <p:sp>
        <p:nvSpPr>
          <p:cNvPr id="3" name="Content Placeholder 2"/>
          <p:cNvSpPr>
            <a:spLocks noGrp="1"/>
          </p:cNvSpPr>
          <p:nvPr>
            <p:ph sz="quarter" idx="14"/>
          </p:nvPr>
        </p:nvSpPr>
        <p:spPr/>
        <p:txBody>
          <a:bodyPr/>
          <a:lstStyle/>
          <a:p>
            <a:r>
              <a:rPr lang="en-US" dirty="0" smtClean="0"/>
              <a:t>Authentication</a:t>
            </a:r>
          </a:p>
          <a:p>
            <a:r>
              <a:rPr lang="en-US" dirty="0" smtClean="0"/>
              <a:t>Authorization</a:t>
            </a:r>
          </a:p>
          <a:p>
            <a:endParaRPr lang="en-US" dirty="0"/>
          </a:p>
        </p:txBody>
      </p:sp>
    </p:spTree>
    <p:extLst>
      <p:ext uri="{BB962C8B-B14F-4D97-AF65-F5344CB8AC3E}">
        <p14:creationId xmlns:p14="http://schemas.microsoft.com/office/powerpoint/2010/main" val="1217982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Authentication</a:t>
            </a:r>
            <a:endParaRPr lang="en-US" dirty="0"/>
          </a:p>
        </p:txBody>
      </p:sp>
      <p:sp>
        <p:nvSpPr>
          <p:cNvPr id="3" name="Text Placeholder 2"/>
          <p:cNvSpPr>
            <a:spLocks noGrp="1"/>
          </p:cNvSpPr>
          <p:nvPr>
            <p:ph type="body" sz="quarter" idx="13"/>
          </p:nvPr>
        </p:nvSpPr>
        <p:spPr/>
        <p:txBody>
          <a:bodyPr/>
          <a:lstStyle/>
          <a:p>
            <a:r>
              <a:rPr lang="en-US" dirty="0" smtClean="0"/>
              <a:t>Something the user is</a:t>
            </a:r>
          </a:p>
          <a:p>
            <a:r>
              <a:rPr lang="en-US" dirty="0" smtClean="0"/>
              <a:t>Something the user has</a:t>
            </a:r>
          </a:p>
          <a:p>
            <a:r>
              <a:rPr lang="en-US" dirty="0" smtClean="0"/>
              <a:t>Something the user does</a:t>
            </a:r>
          </a:p>
          <a:p>
            <a:r>
              <a:rPr lang="en-US" dirty="0" smtClean="0"/>
              <a:t>Something the user knows</a:t>
            </a:r>
          </a:p>
          <a:p>
            <a:pPr lvl="1"/>
            <a:r>
              <a:rPr lang="en-US" dirty="0" smtClean="0"/>
              <a:t>Passwords</a:t>
            </a:r>
          </a:p>
          <a:p>
            <a:endParaRPr lang="en-US" dirty="0"/>
          </a:p>
        </p:txBody>
      </p:sp>
    </p:spTree>
    <p:extLst>
      <p:ext uri="{BB962C8B-B14F-4D97-AF65-F5344CB8AC3E}">
        <p14:creationId xmlns:p14="http://schemas.microsoft.com/office/powerpoint/2010/main" val="3720877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Basic Guidelines for Passwords</a:t>
            </a:r>
            <a:endParaRPr lang="en-US" dirty="0"/>
          </a:p>
        </p:txBody>
      </p:sp>
      <p:sp>
        <p:nvSpPr>
          <p:cNvPr id="3" name="Text Placeholder 2"/>
          <p:cNvSpPr>
            <a:spLocks noGrp="1"/>
          </p:cNvSpPr>
          <p:nvPr>
            <p:ph type="body" sz="quarter" idx="13"/>
          </p:nvPr>
        </p:nvSpPr>
        <p:spPr/>
        <p:txBody>
          <a:bodyPr>
            <a:normAutofit fontScale="85000" lnSpcReduction="10000"/>
          </a:bodyPr>
          <a:lstStyle/>
          <a:p>
            <a:r>
              <a:rPr lang="en-US" dirty="0" smtClean="0"/>
              <a:t>difficult </a:t>
            </a:r>
            <a:r>
              <a:rPr lang="en-US" dirty="0"/>
              <a:t>to guess.</a:t>
            </a:r>
          </a:p>
          <a:p>
            <a:r>
              <a:rPr lang="en-US" dirty="0" smtClean="0"/>
              <a:t>long </a:t>
            </a:r>
            <a:r>
              <a:rPr lang="en-US" dirty="0"/>
              <a:t>rather than short.</a:t>
            </a:r>
          </a:p>
          <a:p>
            <a:r>
              <a:rPr lang="en-US" dirty="0"/>
              <a:t>They should have uppercase letters, lowercase letters, numbers, and special characters.</a:t>
            </a:r>
          </a:p>
          <a:p>
            <a:r>
              <a:rPr lang="en-US" dirty="0"/>
              <a:t>n</a:t>
            </a:r>
            <a:r>
              <a:rPr lang="en-US" dirty="0" smtClean="0"/>
              <a:t>ot recognizable </a:t>
            </a:r>
            <a:r>
              <a:rPr lang="en-US" dirty="0"/>
              <a:t>words.</a:t>
            </a:r>
          </a:p>
          <a:p>
            <a:r>
              <a:rPr lang="en-US" dirty="0" smtClean="0"/>
              <a:t>not the </a:t>
            </a:r>
            <a:r>
              <a:rPr lang="en-US" dirty="0"/>
              <a:t>name of anything or anyone familiar, such as family names or names of pets.</a:t>
            </a:r>
          </a:p>
          <a:p>
            <a:r>
              <a:rPr lang="en-US" dirty="0" smtClean="0"/>
              <a:t>not a </a:t>
            </a:r>
            <a:r>
              <a:rPr lang="en-US" dirty="0"/>
              <a:t>recognizable string of numbers, such as a Social Security number or a birthday.</a:t>
            </a:r>
          </a:p>
        </p:txBody>
      </p:sp>
    </p:spTree>
    <p:extLst>
      <p:ext uri="{BB962C8B-B14F-4D97-AF65-F5344CB8AC3E}">
        <p14:creationId xmlns:p14="http://schemas.microsoft.com/office/powerpoint/2010/main" val="265905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Let’s Kill the Password!</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4.4</a:t>
            </a:r>
            <a:endParaRPr lang="en-US" dirty="0"/>
          </a:p>
        </p:txBody>
      </p:sp>
    </p:spTree>
    <p:extLst>
      <p:ext uri="{BB962C8B-B14F-4D97-AF65-F5344CB8AC3E}">
        <p14:creationId xmlns:p14="http://schemas.microsoft.com/office/powerpoint/2010/main" val="18534001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Communication Controls</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Firewalls</a:t>
            </a:r>
          </a:p>
          <a:p>
            <a:r>
              <a:rPr lang="en-US" dirty="0" smtClean="0"/>
              <a:t>Anti-malware Systems</a:t>
            </a:r>
          </a:p>
          <a:p>
            <a:r>
              <a:rPr lang="en-US" dirty="0" smtClean="0"/>
              <a:t>Whitelisting and Blacklisting</a:t>
            </a:r>
          </a:p>
          <a:p>
            <a:r>
              <a:rPr lang="en-US" dirty="0" smtClean="0"/>
              <a:t>Encryption</a:t>
            </a:r>
          </a:p>
          <a:p>
            <a:r>
              <a:rPr lang="en-US" dirty="0" smtClean="0"/>
              <a:t>Virtual Private Networking</a:t>
            </a:r>
          </a:p>
          <a:p>
            <a:r>
              <a:rPr lang="en-US" dirty="0" smtClean="0"/>
              <a:t>Secure Socket Layer</a:t>
            </a:r>
          </a:p>
          <a:p>
            <a:r>
              <a:rPr lang="en-US" dirty="0" smtClean="0"/>
              <a:t>Employee Monitoring Systems</a:t>
            </a:r>
            <a:endParaRPr lang="en-US" dirty="0"/>
          </a:p>
        </p:txBody>
      </p:sp>
    </p:spTree>
    <p:extLst>
      <p:ext uri="{BB962C8B-B14F-4D97-AF65-F5344CB8AC3E}">
        <p14:creationId xmlns:p14="http://schemas.microsoft.com/office/powerpoint/2010/main" val="988802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0000" lnSpcReduction="20000"/>
          </a:bodyPr>
          <a:lstStyle/>
          <a:p>
            <a:r>
              <a:rPr lang="en-US" b="1" dirty="0"/>
              <a:t>FIGURE </a:t>
            </a:r>
            <a:r>
              <a:rPr lang="en-US" b="1" dirty="0" smtClean="0"/>
              <a:t>4.3 (a</a:t>
            </a:r>
            <a:r>
              <a:rPr lang="en-US" b="1" dirty="0"/>
              <a:t>) </a:t>
            </a:r>
            <a:r>
              <a:rPr lang="en-US" dirty="0"/>
              <a:t>Basic firewall for home computer</a:t>
            </a:r>
            <a:r>
              <a:rPr lang="en-US" dirty="0" smtClean="0"/>
              <a:t>. </a:t>
            </a:r>
            <a:r>
              <a:rPr lang="en-US" b="1" dirty="0" smtClean="0"/>
              <a:t>(</a:t>
            </a:r>
            <a:r>
              <a:rPr lang="en-US" b="1" dirty="0"/>
              <a:t>b) </a:t>
            </a:r>
            <a:r>
              <a:rPr lang="en-US" dirty="0"/>
              <a:t>Organization with two firewalls and demilitarized zone.</a:t>
            </a:r>
          </a:p>
          <a:p>
            <a:endParaRPr lang="en-US" dirty="0"/>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752730"/>
            <a:ext cx="8153400" cy="4495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2900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55000" lnSpcReduction="20000"/>
          </a:bodyPr>
          <a:lstStyle/>
          <a:p>
            <a:r>
              <a:rPr lang="en-US" b="1" dirty="0"/>
              <a:t>FIGURE 4.4 </a:t>
            </a:r>
            <a:r>
              <a:rPr lang="en-US" dirty="0"/>
              <a:t>How public key encryption works</a:t>
            </a:r>
            <a:r>
              <a:rPr lang="en-US" dirty="0" smtClean="0"/>
              <a:t>.</a:t>
            </a:r>
            <a:endParaRPr lang="en-US" dirty="0"/>
          </a:p>
        </p:txBody>
      </p:sp>
      <p:pic>
        <p:nvPicPr>
          <p:cNvPr id="5" name="Picture 3"/>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314916" y="1447800"/>
            <a:ext cx="6590368"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38151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62500" lnSpcReduction="20000"/>
          </a:bodyPr>
          <a:lstStyle/>
          <a:p>
            <a:r>
              <a:rPr lang="en-US" b="1" dirty="0"/>
              <a:t>FIGURE 4.5 </a:t>
            </a:r>
            <a:r>
              <a:rPr lang="en-US" dirty="0"/>
              <a:t>How digital certificates work. </a:t>
            </a:r>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775108"/>
            <a:ext cx="8153400" cy="4450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39213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4.6 </a:t>
            </a:r>
            <a:r>
              <a:rPr lang="en-US" dirty="0"/>
              <a:t>Virtual private network (VPN) and tunneling</a:t>
            </a:r>
            <a:r>
              <a:rPr lang="en-US" dirty="0" smtClean="0"/>
              <a:t>.</a:t>
            </a:r>
            <a:endParaRPr lang="en-US" dirty="0"/>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235368"/>
            <a:ext cx="8153400" cy="3530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6924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Business Continuity Planning</a:t>
            </a:r>
            <a:endParaRPr lang="en-US" dirty="0"/>
          </a:p>
        </p:txBody>
      </p:sp>
      <p:sp>
        <p:nvSpPr>
          <p:cNvPr id="3" name="Content Placeholder 2"/>
          <p:cNvSpPr>
            <a:spLocks noGrp="1"/>
          </p:cNvSpPr>
          <p:nvPr>
            <p:ph sz="quarter" idx="14"/>
          </p:nvPr>
        </p:nvSpPr>
        <p:spPr/>
        <p:txBody>
          <a:bodyPr/>
          <a:lstStyle/>
          <a:p>
            <a:r>
              <a:rPr lang="en-US" dirty="0" smtClean="0"/>
              <a:t>Disaster Recovery Plan</a:t>
            </a:r>
          </a:p>
          <a:p>
            <a:r>
              <a:rPr lang="en-US" dirty="0" smtClean="0"/>
              <a:t>Hot Site</a:t>
            </a:r>
          </a:p>
          <a:p>
            <a:r>
              <a:rPr lang="en-US" dirty="0" smtClean="0"/>
              <a:t>Cold Site</a:t>
            </a:r>
            <a:endParaRPr lang="en-US" dirty="0"/>
          </a:p>
        </p:txBody>
      </p:sp>
    </p:spTree>
    <p:extLst>
      <p:ext uri="{BB962C8B-B14F-4D97-AF65-F5344CB8AC3E}">
        <p14:creationId xmlns:p14="http://schemas.microsoft.com/office/powerpoint/2010/main" val="10598910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Information Systems Auditing</a:t>
            </a:r>
            <a:endParaRPr lang="en-US" dirty="0"/>
          </a:p>
        </p:txBody>
      </p:sp>
      <p:sp>
        <p:nvSpPr>
          <p:cNvPr id="3" name="Content Placeholder 2"/>
          <p:cNvSpPr>
            <a:spLocks noGrp="1"/>
          </p:cNvSpPr>
          <p:nvPr>
            <p:ph sz="quarter" idx="14"/>
          </p:nvPr>
        </p:nvSpPr>
        <p:spPr/>
        <p:txBody>
          <a:bodyPr/>
          <a:lstStyle/>
          <a:p>
            <a:r>
              <a:rPr lang="en-US" dirty="0" smtClean="0"/>
              <a:t>Types of Auditors and Audits</a:t>
            </a:r>
          </a:p>
          <a:p>
            <a:r>
              <a:rPr lang="en-US" dirty="0" smtClean="0"/>
              <a:t>How is Auditing Executed?</a:t>
            </a:r>
          </a:p>
          <a:p>
            <a:endParaRPr lang="en-US" dirty="0"/>
          </a:p>
        </p:txBody>
      </p:sp>
    </p:spTree>
    <p:extLst>
      <p:ext uri="{BB962C8B-B14F-4D97-AF65-F5344CB8AC3E}">
        <p14:creationId xmlns:p14="http://schemas.microsoft.com/office/powerpoint/2010/main" val="808155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Lessons Learned from the Target Data Breach</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Business Problem</a:t>
            </a:r>
          </a:p>
          <a:p>
            <a:r>
              <a:rPr lang="en-US" dirty="0" smtClean="0"/>
              <a:t>Target’s </a:t>
            </a:r>
            <a:r>
              <a:rPr lang="en-US" dirty="0" smtClean="0">
                <a:solidFill>
                  <a:schemeClr val="tx1">
                    <a:lumMod val="65000"/>
                    <a:lumOff val="35000"/>
                  </a:schemeClr>
                </a:solidFill>
              </a:rPr>
              <a:t>Response</a:t>
            </a:r>
          </a:p>
          <a:p>
            <a:r>
              <a:rPr lang="en-US" dirty="0"/>
              <a:t>The </a:t>
            </a:r>
            <a:r>
              <a:rPr lang="en-US" dirty="0" smtClean="0"/>
              <a:t>Results </a:t>
            </a:r>
            <a:r>
              <a:rPr lang="en-US" dirty="0" smtClean="0">
                <a:solidFill>
                  <a:schemeClr val="tx1">
                    <a:lumMod val="65000"/>
                    <a:lumOff val="35000"/>
                  </a:schemeClr>
                </a:solidFill>
              </a:rPr>
              <a:t>from the Breach</a:t>
            </a:r>
            <a:endParaRPr lang="en-US" dirty="0">
              <a:solidFill>
                <a:schemeClr val="tx1">
                  <a:lumMod val="65000"/>
                  <a:lumOff val="35000"/>
                </a:schemeClr>
              </a:solidFill>
            </a:endParaRPr>
          </a:p>
        </p:txBody>
      </p:sp>
    </p:spTree>
    <p:extLst>
      <p:ext uri="{BB962C8B-B14F-4D97-AF65-F5344CB8AC3E}">
        <p14:creationId xmlns:p14="http://schemas.microsoft.com/office/powerpoint/2010/main" val="4113457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16047</TotalTime>
  <Words>3627</Words>
  <Application>Microsoft Office PowerPoint</Application>
  <PresentationFormat>On-screen Show (4:3)</PresentationFormat>
  <Paragraphs>362</Paragraphs>
  <Slides>39</Slides>
  <Notes>31</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PowerPoint Presentation</vt:lpstr>
      <vt:lpstr>PowerPoint Presentation</vt:lpstr>
      <vt:lpstr>[ WEB RESOURCES]</vt:lpstr>
      <vt:lpstr>[ Opening Case Sony Pictures Entertainment Hack]</vt:lpstr>
      <vt:lpstr>PowerPoint Presentation</vt:lpstr>
      <vt:lpstr>PowerPoint Presentation</vt:lpstr>
      <vt:lpstr>PowerPoint Presentation</vt:lpstr>
      <vt:lpstr>FIGURE 4.1: Security Threats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Lessons Learned from the Target Data Breach]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Rainer_6e_Chapter4_Slides</dc:title>
  <dc:creator>John Kenneth Corley</dc:creator>
  <cp:lastModifiedBy>techsupport</cp:lastModifiedBy>
  <cp:revision>474</cp:revision>
  <dcterms:created xsi:type="dcterms:W3CDTF">2013-08-07T23:49:12Z</dcterms:created>
  <dcterms:modified xsi:type="dcterms:W3CDTF">2015-10-01T20:04:45Z</dcterms:modified>
</cp:coreProperties>
</file>