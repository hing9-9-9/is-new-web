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714" r:id="rId2"/>
    <p:sldId id="715" r:id="rId3"/>
    <p:sldId id="716" r:id="rId4"/>
    <p:sldId id="755" r:id="rId5"/>
    <p:sldId id="719" r:id="rId6"/>
    <p:sldId id="986" r:id="rId7"/>
    <p:sldId id="720" r:id="rId8"/>
    <p:sldId id="987" r:id="rId9"/>
    <p:sldId id="1187" r:id="rId10"/>
    <p:sldId id="1188" r:id="rId11"/>
    <p:sldId id="1069" r:id="rId12"/>
    <p:sldId id="988" r:id="rId13"/>
    <p:sldId id="989" r:id="rId14"/>
    <p:sldId id="990" r:id="rId15"/>
    <p:sldId id="991" r:id="rId16"/>
    <p:sldId id="992" r:id="rId17"/>
    <p:sldId id="993" r:id="rId18"/>
    <p:sldId id="994" r:id="rId19"/>
    <p:sldId id="995" r:id="rId20"/>
    <p:sldId id="996" r:id="rId21"/>
    <p:sldId id="1189" r:id="rId22"/>
    <p:sldId id="997" r:id="rId23"/>
    <p:sldId id="998" r:id="rId24"/>
    <p:sldId id="1070" r:id="rId25"/>
    <p:sldId id="999" r:id="rId26"/>
    <p:sldId id="1071" r:id="rId27"/>
    <p:sldId id="1072" r:id="rId28"/>
    <p:sldId id="1000" r:id="rId29"/>
    <p:sldId id="1190" r:id="rId30"/>
    <p:sldId id="1001" r:id="rId31"/>
    <p:sldId id="1002" r:id="rId32"/>
    <p:sldId id="1003" r:id="rId33"/>
    <p:sldId id="1004" r:id="rId34"/>
    <p:sldId id="1073" r:id="rId35"/>
    <p:sldId id="1005" r:id="rId36"/>
    <p:sldId id="1006" r:id="rId37"/>
    <p:sldId id="1007" r:id="rId38"/>
    <p:sldId id="1008" r:id="rId39"/>
    <p:sldId id="1191" r:id="rId40"/>
    <p:sldId id="1009" r:id="rId41"/>
    <p:sldId id="1010" r:id="rId42"/>
    <p:sldId id="1011" r:id="rId43"/>
    <p:sldId id="1192" r:id="rId44"/>
    <p:sldId id="1193" r:id="rId45"/>
    <p:sldId id="1194" r:id="rId46"/>
    <p:sldId id="1074" r:id="rId47"/>
    <p:sldId id="1012" r:id="rId48"/>
    <p:sldId id="1092"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9B0B"/>
    <a:srgbClr val="F17901"/>
    <a:srgbClr val="69BE02"/>
    <a:srgbClr val="8E0000"/>
    <a:srgbClr val="B5FD5D"/>
    <a:srgbClr val="FEBB34"/>
    <a:srgbClr val="D5FEA4"/>
    <a:srgbClr val="7CFF33"/>
    <a:srgbClr val="75D402"/>
    <a:srgbClr val="74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77149" autoAdjust="0"/>
  </p:normalViewPr>
  <p:slideViewPr>
    <p:cSldViewPr>
      <p:cViewPr>
        <p:scale>
          <a:sx n="60" d="100"/>
          <a:sy n="60" d="100"/>
        </p:scale>
        <p:origin x="-2364" y="-7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10/1/2015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sugarcrm.com/" TargetMode="External"/><Relationship Id="rId2" Type="http://schemas.openxmlformats.org/officeDocument/2006/relationships/slide" Target="../slides/slide25.xml"/><Relationship Id="rId1" Type="http://schemas.openxmlformats.org/officeDocument/2006/relationships/notesMaster" Target="../notesMasters/notesMaster1.xml"/><Relationship Id="rId5" Type="http://schemas.openxmlformats.org/officeDocument/2006/relationships/hyperlink" Target="http://www.vtiger.com/" TargetMode="External"/><Relationship Id="rId4" Type="http://schemas.openxmlformats.org/officeDocument/2006/relationships/hyperlink" Target="http://www.concursive.com/"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dirty="0" smtClean="0"/>
              <a:t>Why is B2C electronic commerce so important in China?</a:t>
            </a:r>
          </a:p>
          <a:p>
            <a:pPr marL="228600" indent="-228600">
              <a:buFont typeface="+mj-lt"/>
              <a:buAutoNum type="arabicPeriod"/>
            </a:pPr>
            <a:r>
              <a:rPr lang="en-US" dirty="0" smtClean="0"/>
              <a:t>Why is customer relationship management so important to B2C electronic commerce?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5</a:t>
            </a:fld>
            <a:endParaRPr lang="en-US"/>
          </a:p>
        </p:txBody>
      </p:sp>
    </p:spTree>
    <p:extLst>
      <p:ext uri="{BB962C8B-B14F-4D97-AF65-F5344CB8AC3E}">
        <p14:creationId xmlns:p14="http://schemas.microsoft.com/office/powerpoint/2010/main" val="1292154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 Touch Points: </a:t>
            </a:r>
            <a:r>
              <a:rPr lang="en-US" dirty="0" smtClean="0"/>
              <a:t>the numerous and diverse interactions organizations have with their customers including traditional customer touch points such as telephone contact, direct mailings, and actual physical interactions with customers during their visits to a store and the additional touch points that occur through organizational CRM systems such as e-mail, Web sites, and communications via smartphones.</a:t>
            </a:r>
          </a:p>
          <a:p>
            <a:r>
              <a:rPr lang="en-US" b="1" dirty="0" smtClean="0"/>
              <a:t>Data Consolidation: </a:t>
            </a:r>
            <a:r>
              <a:rPr lang="en-US" dirty="0" smtClean="0"/>
              <a:t>the organization’s CRM systems must manage customer data effectively with modern interconnected systems built around a data warehouse to make all customer-related data available to every unit of the business.</a:t>
            </a:r>
          </a:p>
          <a:p>
            <a:r>
              <a:rPr lang="en-US" b="1" dirty="0" smtClean="0"/>
              <a:t>360° Data View Customer: </a:t>
            </a:r>
            <a:r>
              <a:rPr lang="en-US" dirty="0" smtClean="0"/>
              <a:t>complete data set on each customer that allows a company can enhance its relationship with its customers and ultimately make more productive and profitable decisions.</a:t>
            </a:r>
          </a:p>
          <a:p>
            <a:r>
              <a:rPr lang="en-US" dirty="0" smtClean="0"/>
              <a:t>-----------------</a:t>
            </a:r>
          </a:p>
          <a:p>
            <a:pPr marL="171450" indent="-171450">
              <a:buFont typeface="Arial" panose="020B0604020202020204" pitchFamily="34" charset="0"/>
              <a:buChar char="•"/>
            </a:pPr>
            <a:r>
              <a:rPr lang="en-US" dirty="0" smtClean="0"/>
              <a:t>Data consolidation and the 360° view of the customer enable the organization’s functional areas to readily share information about customers which leads to collaborative CRM. </a:t>
            </a:r>
          </a:p>
          <a:p>
            <a:r>
              <a:rPr lang="en-US" b="1" dirty="0" smtClean="0"/>
              <a:t>Collaborative CRM Systems: </a:t>
            </a:r>
            <a:r>
              <a:rPr lang="en-US" dirty="0" smtClean="0"/>
              <a:t>provide effective and efficient interactive communication in all aspects of marketing, sales, and customer support with the customer throughout the entire organization.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6</a:t>
            </a:fld>
            <a:endParaRPr lang="en-US"/>
          </a:p>
        </p:txBody>
      </p:sp>
    </p:spTree>
    <p:extLst>
      <p:ext uri="{BB962C8B-B14F-4D97-AF65-F5344CB8AC3E}">
        <p14:creationId xmlns:p14="http://schemas.microsoft.com/office/powerpoint/2010/main" val="1784137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advantages that Amazon has over bricks-</a:t>
            </a:r>
            <a:r>
              <a:rPr lang="en-US" dirty="0" err="1" smtClean="0"/>
              <a:t>andmortar</a:t>
            </a:r>
            <a:r>
              <a:rPr lang="en-US" dirty="0" smtClean="0"/>
              <a:t> retailers.</a:t>
            </a:r>
          </a:p>
          <a:p>
            <a:pPr marL="228600" indent="-228600">
              <a:buFont typeface="+mj-lt"/>
              <a:buAutoNum type="arabicPeriod"/>
            </a:pPr>
            <a:r>
              <a:rPr lang="en-US" dirty="0" smtClean="0"/>
              <a:t>Describe the many facets of Amazon’s relentless focus on customer relationship management.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FIGURE 11.1 </a:t>
            </a:r>
            <a:r>
              <a:rPr lang="en-US" dirty="0" smtClean="0"/>
              <a:t>The customer relationship management process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9</a:t>
            </a:fld>
            <a:endParaRPr lang="en-US"/>
          </a:p>
        </p:txBody>
      </p:sp>
    </p:spTree>
    <p:extLst>
      <p:ext uri="{BB962C8B-B14F-4D97-AF65-F5344CB8AC3E}">
        <p14:creationId xmlns:p14="http://schemas.microsoft.com/office/powerpoint/2010/main" val="44388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11.2 </a:t>
            </a:r>
            <a:r>
              <a:rPr lang="en-US" dirty="0" smtClean="0"/>
              <a:t>Customer touch points. (“</a:t>
            </a:r>
            <a:r>
              <a:rPr lang="en-US" dirty="0" err="1" smtClean="0"/>
              <a:t>Oleksiy</a:t>
            </a:r>
            <a:r>
              <a:rPr lang="en-US" dirty="0" smtClean="0"/>
              <a:t> Mark/</a:t>
            </a:r>
            <a:r>
              <a:rPr lang="en-US" dirty="0" err="1" smtClean="0"/>
              <a:t>Shutterstock</a:t>
            </a:r>
            <a:r>
              <a:rPr lang="en-US" dirty="0" smtClean="0"/>
              <a:t>” for the smartphone and “Media Bakery” for the service center and “Media Bakery” for the physical store.)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3120569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Why is it so valuable for an online retailer to be able to post </a:t>
            </a:r>
            <a:r>
              <a:rPr lang="en-US" dirty="0" err="1" smtClean="0"/>
              <a:t>StellaService’s</a:t>
            </a:r>
            <a:r>
              <a:rPr lang="en-US" dirty="0" smtClean="0"/>
              <a:t> seal of approval on its Web site and advertising materials?</a:t>
            </a:r>
          </a:p>
          <a:p>
            <a:pPr marL="228600" indent="-228600">
              <a:buFont typeface="+mj-lt"/>
              <a:buAutoNum type="arabicPeriod"/>
            </a:pPr>
            <a:r>
              <a:rPr lang="en-US" dirty="0" smtClean="0"/>
              <a:t>Why doesn’t </a:t>
            </a:r>
            <a:r>
              <a:rPr lang="en-US" dirty="0" err="1" smtClean="0"/>
              <a:t>StellaService</a:t>
            </a:r>
            <a:r>
              <a:rPr lang="en-US" dirty="0" smtClean="0"/>
              <a:t> provide the same service for </a:t>
            </a:r>
            <a:r>
              <a:rPr lang="en-US" dirty="0" err="1" smtClean="0"/>
              <a:t>bricksand</a:t>
            </a:r>
            <a:r>
              <a:rPr lang="en-US" dirty="0" smtClean="0"/>
              <a:t>-mortar retailers?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Consolidation: </a:t>
            </a:r>
            <a:r>
              <a:rPr lang="en-US" dirty="0" smtClean="0"/>
              <a:t>the organization’s CRM systems must manage customer data effectively with modern interconnected systems built around a data warehouse to make all customer-related data available to every unit of the business.</a:t>
            </a:r>
          </a:p>
          <a:p>
            <a:r>
              <a:rPr lang="en-US" b="1" dirty="0" smtClean="0"/>
              <a:t>360° Data View Customer: </a:t>
            </a:r>
            <a:r>
              <a:rPr lang="en-US" dirty="0" smtClean="0"/>
              <a:t>complete data set on each customer that allows a company can enhance its relationship with its customers and ultimately make more productive and profitable decisions.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12</a:t>
            </a:fld>
            <a:endParaRPr lang="en-US"/>
          </a:p>
        </p:txBody>
      </p:sp>
    </p:spTree>
    <p:extLst>
      <p:ext uri="{BB962C8B-B14F-4D97-AF65-F5344CB8AC3E}">
        <p14:creationId xmlns:p14="http://schemas.microsoft.com/office/powerpoint/2010/main" val="4152487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Operational CRM: </a:t>
            </a:r>
            <a:r>
              <a:rPr lang="en-US" dirty="0" smtClean="0"/>
              <a:t>systems that support front-office business processes.</a:t>
            </a:r>
          </a:p>
          <a:p>
            <a:r>
              <a:rPr lang="en-US" b="1" dirty="0" smtClean="0"/>
              <a:t>Front-Office Processes: </a:t>
            </a:r>
            <a:r>
              <a:rPr lang="en-US" dirty="0" smtClean="0"/>
              <a:t>those processes that directly interact with customers (i.e., sales, marketing, and service).</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smtClean="0"/>
              <a:t>Customer-Touching Applications: </a:t>
            </a:r>
            <a:r>
              <a:rPr lang="en-US" dirty="0" smtClean="0"/>
              <a:t>(or electronic CRM e-CRM) customer self-help applications/technologies.</a:t>
            </a:r>
          </a:p>
          <a:p>
            <a:r>
              <a:rPr lang="en-US" dirty="0" smtClean="0"/>
              <a:t>-----------------</a:t>
            </a:r>
          </a:p>
          <a:p>
            <a:r>
              <a:rPr lang="en-US" b="1" dirty="0" smtClean="0"/>
              <a:t>Two Major Components of Operational CRM:</a:t>
            </a:r>
          </a:p>
          <a:p>
            <a:pPr marL="171450" indent="-171450">
              <a:buFont typeface="Arial" panose="020B0604020202020204" pitchFamily="34" charset="0"/>
              <a:buChar char="•"/>
            </a:pPr>
            <a:r>
              <a:rPr lang="en-US" dirty="0" smtClean="0"/>
              <a:t>Customer-Facing Applications</a:t>
            </a:r>
          </a:p>
          <a:p>
            <a:pPr marL="171450" indent="-171450">
              <a:buFont typeface="Arial" panose="020B0604020202020204" pitchFamily="34" charset="0"/>
              <a:buChar char="•"/>
            </a:pPr>
            <a:r>
              <a:rPr lang="en-US" dirty="0" smtClean="0"/>
              <a:t>Customer-Touching Applications</a:t>
            </a:r>
          </a:p>
          <a:p>
            <a:pPr marL="0" indent="0">
              <a:buFont typeface="Arial" panose="020B0604020202020204" pitchFamily="34" charset="0"/>
              <a:buNone/>
            </a:pPr>
            <a:r>
              <a:rPr lang="en-US" dirty="0" smtClean="0"/>
              <a:t>-------------------</a:t>
            </a:r>
          </a:p>
          <a:p>
            <a:pPr marL="171450" indent="-171450">
              <a:buFont typeface="Arial" panose="020B0604020202020204" pitchFamily="34" charset="0"/>
              <a:buChar cha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13</a:t>
            </a:fld>
            <a:endParaRPr lang="en-US"/>
          </a:p>
        </p:txBody>
      </p:sp>
    </p:spTree>
    <p:extLst>
      <p:ext uri="{BB962C8B-B14F-4D97-AF65-F5344CB8AC3E}">
        <p14:creationId xmlns:p14="http://schemas.microsoft.com/office/powerpoint/2010/main" val="186253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Sales Force Automation (SFA): </a:t>
            </a:r>
            <a:r>
              <a:rPr lang="en-US" dirty="0" smtClean="0"/>
              <a:t>the component of an operational CRM system that automatically records all of the components in a sales transaction process.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Marketing: </a:t>
            </a:r>
            <a:r>
              <a:rPr lang="en-US" dirty="0" smtClean="0"/>
              <a:t>CRM Marketing applications use data mining to sift through volumes of customer data</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Campaign Management: </a:t>
            </a:r>
            <a:r>
              <a:rPr lang="en-US" dirty="0" smtClean="0"/>
              <a:t>applications that help organizations plan campaigns that send the right messages to the right people through the right channels (e.g., avoid targeting people who have opted out of receiving marketing communications).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15</a:t>
            </a:fld>
            <a:endParaRPr lang="en-US"/>
          </a:p>
        </p:txBody>
      </p:sp>
    </p:spTree>
    <p:extLst>
      <p:ext uri="{BB962C8B-B14F-4D97-AF65-F5344CB8AC3E}">
        <p14:creationId xmlns:p14="http://schemas.microsoft.com/office/powerpoint/2010/main" val="3099454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r>
              <a:rPr lang="en-US" dirty="0" smtClean="0"/>
              <a:t>--------------</a:t>
            </a:r>
          </a:p>
          <a:p>
            <a:r>
              <a:rPr lang="en-US" b="1" dirty="0" smtClean="0"/>
              <a:t>Customer Service and Support: </a:t>
            </a:r>
            <a:r>
              <a:rPr lang="en-US" dirty="0" smtClean="0"/>
              <a:t>systems that automate service requests, complaints, product returns, and requests for information.</a:t>
            </a:r>
          </a:p>
          <a:p>
            <a:r>
              <a:rPr lang="en-US" b="1" dirty="0" smtClean="0"/>
              <a:t>Customer Interaction Centers (CIC): </a:t>
            </a:r>
            <a:r>
              <a:rPr lang="en-US" dirty="0" smtClean="0"/>
              <a:t>where organizational representatives use multiple channels such as the Web, telephone, fax, and face-to-face interactions to communicate with customers.</a:t>
            </a:r>
          </a:p>
          <a:p>
            <a:r>
              <a:rPr lang="en-US" b="1" dirty="0" smtClean="0"/>
              <a:t>Call Center: </a:t>
            </a:r>
            <a:r>
              <a:rPr lang="en-US" dirty="0" smtClean="0"/>
              <a:t>a centralized office set up to receive and transmit a large volume of requests by telephone.</a:t>
            </a:r>
          </a:p>
          <a:p>
            <a:r>
              <a:rPr lang="en-US" b="1" dirty="0" err="1" smtClean="0"/>
              <a:t>Oubound</a:t>
            </a:r>
            <a:r>
              <a:rPr lang="en-US" b="1" dirty="0" smtClean="0"/>
              <a:t> Telesales: </a:t>
            </a:r>
            <a:r>
              <a:rPr lang="en-US" dirty="0" smtClean="0"/>
              <a:t>the CIC generates a call list for the sales team, whose members contact sales prospects.</a:t>
            </a:r>
          </a:p>
          <a:p>
            <a:r>
              <a:rPr lang="en-US" b="1" dirty="0" smtClean="0"/>
              <a:t>Inbound </a:t>
            </a:r>
            <a:r>
              <a:rPr lang="en-US" b="1" dirty="0" err="1" smtClean="0"/>
              <a:t>Teleservice</a:t>
            </a:r>
            <a:r>
              <a:rPr lang="en-US" b="1" dirty="0" smtClean="0"/>
              <a:t>: </a:t>
            </a:r>
            <a:r>
              <a:rPr lang="en-US" dirty="0" smtClean="0"/>
              <a:t>customers communicate directly with the CIC to initiate a sales order, inquire about products and services before placing an order, and obtain information about a transaction they have already made.</a:t>
            </a:r>
          </a:p>
          <a:p>
            <a:r>
              <a:rPr lang="en-US" b="1" dirty="0" smtClean="0"/>
              <a:t>Information Help Desk: </a:t>
            </a:r>
            <a:r>
              <a:rPr lang="en-US" dirty="0" smtClean="0"/>
              <a:t>assists customers with their questions concerning products or services, and it also processes customer complaints.</a:t>
            </a:r>
          </a:p>
          <a:p>
            <a:r>
              <a:rPr lang="en-US" b="1" dirty="0" smtClean="0"/>
              <a:t>Live Chat: </a:t>
            </a:r>
            <a:r>
              <a:rPr lang="en-US" dirty="0" smtClean="0"/>
              <a:t>allows customers to connect to a company representative and conduct an instant messaging session enabling the participants to share documents and photos.</a:t>
            </a:r>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11670610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r>
              <a:rPr lang="en-US" dirty="0" smtClean="0"/>
              <a:t>--------------</a:t>
            </a:r>
          </a:p>
          <a:p>
            <a:r>
              <a:rPr lang="en-US" b="1" dirty="0" smtClean="0"/>
              <a:t>Sales Force Automation (SFA): </a:t>
            </a:r>
            <a:r>
              <a:rPr lang="en-US" dirty="0" smtClean="0"/>
              <a:t>the component of an operational CRM system that automatically records all of the components in a sales transaction process.</a:t>
            </a:r>
          </a:p>
          <a:p>
            <a:r>
              <a:rPr lang="en-US" b="1" dirty="0" smtClean="0"/>
              <a:t>Contact Management System: </a:t>
            </a:r>
            <a:r>
              <a:rPr lang="en-US" dirty="0" smtClean="0"/>
              <a:t>tracks all communications between the company and the customer, the purpose of each communication, and any necessary follow-up which eliminates duplicated contacts and redundancy, which in turn reduces the risk of irritating customers.</a:t>
            </a:r>
          </a:p>
          <a:p>
            <a:r>
              <a:rPr lang="en-US" b="1" dirty="0" smtClean="0"/>
              <a:t>Sales Lead Tracking System: </a:t>
            </a:r>
            <a:r>
              <a:rPr lang="en-US" dirty="0" smtClean="0"/>
              <a:t>lists potential customers or customers who have purchased related products; that is, products similar to those that the salesperson is trying to sell to the customer.</a:t>
            </a:r>
          </a:p>
          <a:p>
            <a:r>
              <a:rPr lang="en-US" b="1" dirty="0" smtClean="0"/>
              <a:t>Sales Forecasting System: </a:t>
            </a:r>
            <a:r>
              <a:rPr lang="en-US" dirty="0" smtClean="0"/>
              <a:t>a mathematical technique for estimating future sales.</a:t>
            </a:r>
          </a:p>
          <a:p>
            <a:r>
              <a:rPr lang="en-US" b="1" dirty="0" smtClean="0"/>
              <a:t>Product Knowledge System: </a:t>
            </a:r>
            <a:r>
              <a:rPr lang="en-US" dirty="0" smtClean="0"/>
              <a:t>a comprehensive source of information regarding products and services.</a:t>
            </a:r>
          </a:p>
          <a:p>
            <a:r>
              <a:rPr lang="en-US" b="1" dirty="0" smtClean="0"/>
              <a:t>Configurator: </a:t>
            </a:r>
            <a:r>
              <a:rPr lang="en-US" dirty="0" smtClean="0"/>
              <a:t>an online product-building feature that enables customers to model the product to meet their specific needs.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17</a:t>
            </a:fld>
            <a:endParaRPr lang="en-US"/>
          </a:p>
        </p:txBody>
      </p:sp>
    </p:spTree>
    <p:extLst>
      <p:ext uri="{BB962C8B-B14F-4D97-AF65-F5344CB8AC3E}">
        <p14:creationId xmlns:p14="http://schemas.microsoft.com/office/powerpoint/2010/main" val="2808654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Customer-Facing Applications: </a:t>
            </a:r>
            <a:r>
              <a:rPr lang="en-US" dirty="0" smtClean="0"/>
              <a:t>allow an organization’s sales, field service, and customer interaction center representatives interact directly with customers through customer service and support, sales force automation, marketing, and campaign management.</a:t>
            </a:r>
          </a:p>
          <a:p>
            <a:r>
              <a:rPr lang="en-US" dirty="0" smtClean="0"/>
              <a:t>--------------</a:t>
            </a:r>
          </a:p>
          <a:p>
            <a:r>
              <a:rPr lang="en-US" b="1" dirty="0" smtClean="0"/>
              <a:t>Marketing: </a:t>
            </a:r>
            <a:r>
              <a:rPr lang="en-US" dirty="0" smtClean="0"/>
              <a:t>CRM Marketing applications use data mining to sift through volumes of customer data</a:t>
            </a:r>
          </a:p>
          <a:p>
            <a:r>
              <a:rPr lang="en-US" b="1" dirty="0" smtClean="0"/>
              <a:t>Data Mining: </a:t>
            </a:r>
            <a:r>
              <a:rPr lang="en-US" dirty="0" smtClean="0"/>
              <a:t>develops a purchasing profile or snapshot of a consumer’s buying habits that may lead to additional sales through cross-selling, upselling, and bundling.</a:t>
            </a:r>
          </a:p>
          <a:p>
            <a:r>
              <a:rPr lang="en-US" b="1" dirty="0" smtClean="0"/>
              <a:t>Cross-Selling: </a:t>
            </a:r>
            <a:r>
              <a:rPr lang="en-US" dirty="0" smtClean="0"/>
              <a:t>the marketing of additional related products to customers based on a previous purchase.</a:t>
            </a:r>
          </a:p>
          <a:p>
            <a:r>
              <a:rPr lang="en-US" b="1" dirty="0" smtClean="0"/>
              <a:t>Upselling: </a:t>
            </a:r>
            <a:r>
              <a:rPr lang="en-US" dirty="0" smtClean="0"/>
              <a:t>a strategy in which the salesperson provides customers with the opportunity to purchase related products or services of greater value in place of, or along with, the consumer’s initial product or service selection.</a:t>
            </a:r>
          </a:p>
          <a:p>
            <a:r>
              <a:rPr lang="en-US" b="1" dirty="0" smtClean="0"/>
              <a:t>Bundling: </a:t>
            </a:r>
            <a:r>
              <a:rPr lang="en-US" dirty="0" smtClean="0"/>
              <a:t>is a form of cross-selling in which a business sells a group of products or services together at a lower price than their combined individual prices.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3928114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Customer-Touching Applications: </a:t>
            </a:r>
            <a:r>
              <a:rPr lang="en-US" dirty="0" smtClean="0"/>
              <a:t>(or electronic CRM e-CRM) customer self-help applications/technologies.</a:t>
            </a:r>
          </a:p>
          <a:p>
            <a:r>
              <a:rPr lang="en-US" dirty="0" smtClean="0"/>
              <a:t>-----------------</a:t>
            </a:r>
          </a:p>
          <a:p>
            <a:r>
              <a:rPr lang="en-US" b="1" dirty="0" smtClean="0"/>
              <a:t>Search and Comparison Capabilities: </a:t>
            </a:r>
            <a:r>
              <a:rPr lang="en-US" dirty="0" smtClean="0"/>
              <a:t>search and comparison capabilities offered to customers by online stores, online malls, and independent comparison Web sites.</a:t>
            </a:r>
          </a:p>
          <a:p>
            <a:r>
              <a:rPr lang="en-US" b="1" dirty="0" smtClean="0"/>
              <a:t>Technical and Other Information and Services:  </a:t>
            </a:r>
            <a:r>
              <a:rPr lang="en-US" dirty="0" smtClean="0"/>
              <a:t>personalized experiences offered by organizations to induce customers to make purchases or to remain loyal (e.g., allowing customers to download product manuals; providing detailed technical information, maintenance information, and replacement parts to customers).</a:t>
            </a:r>
          </a:p>
          <a:p>
            <a:r>
              <a:rPr lang="en-US" b="1" dirty="0" smtClean="0"/>
              <a:t>Customized Products and Services: </a:t>
            </a:r>
            <a:r>
              <a:rPr lang="en-US" dirty="0" smtClean="0"/>
              <a:t>offering customers the ability to </a:t>
            </a:r>
            <a:r>
              <a:rPr lang="en-US" dirty="0" err="1" smtClean="0"/>
              <a:t>custimize</a:t>
            </a:r>
            <a:r>
              <a:rPr lang="en-US" dirty="0" smtClean="0"/>
              <a:t> products, view account balances, check shipping status of an order, etc.</a:t>
            </a:r>
          </a:p>
          <a:p>
            <a:r>
              <a:rPr lang="en-US" b="1" dirty="0" smtClean="0"/>
              <a:t>Mass Customization: </a:t>
            </a:r>
            <a:r>
              <a:rPr lang="en-US" dirty="0" smtClean="0"/>
              <a:t>a process in which customers can configure their own products (e.g., customized computer systems from Dell).</a:t>
            </a:r>
          </a:p>
          <a:p>
            <a:r>
              <a:rPr lang="en-US" b="1" dirty="0" smtClean="0"/>
              <a:t>Personalized Web Pages: </a:t>
            </a:r>
            <a:r>
              <a:rPr lang="en-US" dirty="0" smtClean="0"/>
              <a:t>organizations permit their customers to create personalized Web pages used to record purchases and preferences, as well as problems and requests.</a:t>
            </a:r>
          </a:p>
          <a:p>
            <a:r>
              <a:rPr lang="en-US" b="1" dirty="0" smtClean="0"/>
              <a:t>Frequently Asked Questions (FAQs): </a:t>
            </a:r>
            <a:r>
              <a:rPr lang="en-US" dirty="0" smtClean="0"/>
              <a:t>a simple tool for answering repetitive customer queries and when customers find the information they need by using FAQs the need to communicate with an actual person is eliminated.</a:t>
            </a:r>
          </a:p>
          <a:p>
            <a:r>
              <a:rPr lang="en-US" b="1" dirty="0" smtClean="0"/>
              <a:t>E-mail and Automated Response: </a:t>
            </a:r>
            <a:r>
              <a:rPr lang="en-US" dirty="0" smtClean="0"/>
              <a:t>the most popular tool for customer service, inexpensive, fast, and companies use e-mail not only to answer customer inquiries but also to disseminate information, send alerts and product information, and conduct correspondence on any topic.</a:t>
            </a:r>
          </a:p>
          <a:p>
            <a:r>
              <a:rPr lang="en-US" b="1" dirty="0" smtClean="0"/>
              <a:t>Loyalty Programs: </a:t>
            </a:r>
            <a:r>
              <a:rPr lang="en-US" dirty="0" smtClean="0"/>
              <a:t>programs that recognize customers who repeatedly use a vendor’s</a:t>
            </a:r>
          </a:p>
          <a:p>
            <a:r>
              <a:rPr lang="en-US" dirty="0" smtClean="0"/>
              <a:t>products or services.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3787173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Analytical CRM: provide business intelligence by analyzing customer behavior and perceptions providing information concerning customer requests and transactions, as well as customer responses to the organization’s marketing, sales, and service initiatives. These systems also create statistical models of customer behavior and the value of customer relationships over time, as well as forecasts about acquiring, retaining, and losing customers.</a:t>
            </a:r>
          </a:p>
          <a:p>
            <a:endParaRPr lang="en-US" dirty="0" smtClean="0"/>
          </a:p>
          <a:p>
            <a:r>
              <a:rPr lang="en-US" b="1" dirty="0" smtClean="0"/>
              <a:t>Analytical CRM Systems Analyze Customer Data for:</a:t>
            </a:r>
          </a:p>
          <a:p>
            <a:pPr marL="171450" indent="-171450">
              <a:buFont typeface="Arial" panose="020B0604020202020204" pitchFamily="34" charset="0"/>
              <a:buChar char="•"/>
            </a:pPr>
            <a:r>
              <a:rPr lang="en-US" dirty="0" smtClean="0"/>
              <a:t>Designing and executing targeted marketing campaigns</a:t>
            </a:r>
          </a:p>
          <a:p>
            <a:pPr marL="171450" indent="-171450">
              <a:buFont typeface="Arial" panose="020B0604020202020204" pitchFamily="34" charset="0"/>
              <a:buChar char="•"/>
            </a:pPr>
            <a:r>
              <a:rPr lang="en-US" dirty="0" smtClean="0"/>
              <a:t>Increasing customer acquisition, cross-selling, and upselling</a:t>
            </a:r>
          </a:p>
          <a:p>
            <a:pPr marL="171450" indent="-171450">
              <a:buFont typeface="Arial" panose="020B0604020202020204" pitchFamily="34" charset="0"/>
              <a:buChar char="•"/>
            </a:pPr>
            <a:r>
              <a:rPr lang="en-US" dirty="0" smtClean="0"/>
              <a:t>Providing input into decisions relating to products and services (e.g., pricing and product development)</a:t>
            </a:r>
          </a:p>
          <a:p>
            <a:pPr marL="171450" indent="-171450">
              <a:buFont typeface="Arial" panose="020B0604020202020204" pitchFamily="34" charset="0"/>
              <a:buChar char="•"/>
            </a:pPr>
            <a:r>
              <a:rPr lang="en-US" dirty="0" smtClean="0"/>
              <a:t>Providing financial forecasting and customer profitability analysis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20</a:t>
            </a:fld>
            <a:endParaRPr lang="en-US"/>
          </a:p>
        </p:txBody>
      </p:sp>
    </p:spTree>
    <p:extLst>
      <p:ext uri="{BB962C8B-B14F-4D97-AF65-F5344CB8AC3E}">
        <p14:creationId xmlns:p14="http://schemas.microsoft.com/office/powerpoint/2010/main" val="4084499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11.3 </a:t>
            </a:r>
            <a:r>
              <a:rPr lang="en-US" dirty="0" smtClean="0"/>
              <a:t>The relationship between operational CRM and analytical CRM.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21</a:t>
            </a:fld>
            <a:endParaRPr lang="en-US"/>
          </a:p>
        </p:txBody>
      </p:sp>
    </p:spTree>
    <p:extLst>
      <p:ext uri="{BB962C8B-B14F-4D97-AF65-F5344CB8AC3E}">
        <p14:creationId xmlns:p14="http://schemas.microsoft.com/office/powerpoint/2010/main" val="3580280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Analytical CRM: provide business intelligence by analyzing customer behavior and perceptions providing information concerning customer requests and transactions, as well as customer responses to the organization’s marketing, sales, and service initiatives. These systems also create statistical models of customer behavior and the value of customer relationships over time, as well as forecasts about acquiring, retaining, and losing customers.</a:t>
            </a:r>
          </a:p>
          <a:p>
            <a:endParaRPr lang="en-US" dirty="0" smtClean="0"/>
          </a:p>
          <a:p>
            <a:r>
              <a:rPr lang="en-US" b="1" dirty="0" smtClean="0"/>
              <a:t>Analytical CRM Systems Analyze Customer Data for:</a:t>
            </a:r>
          </a:p>
          <a:p>
            <a:pPr marL="171450" indent="-171450">
              <a:buFont typeface="Arial" panose="020B0604020202020204" pitchFamily="34" charset="0"/>
              <a:buChar char="•"/>
            </a:pPr>
            <a:r>
              <a:rPr lang="en-US" dirty="0" smtClean="0"/>
              <a:t>Designing and executing targeted marketing campaigns</a:t>
            </a:r>
          </a:p>
          <a:p>
            <a:pPr marL="171450" indent="-171450">
              <a:buFont typeface="Arial" panose="020B0604020202020204" pitchFamily="34" charset="0"/>
              <a:buChar char="•"/>
            </a:pPr>
            <a:r>
              <a:rPr lang="en-US" dirty="0" smtClean="0"/>
              <a:t>Increasing customer acquisition, cross-selling, and upselling</a:t>
            </a:r>
          </a:p>
          <a:p>
            <a:pPr marL="171450" indent="-171450">
              <a:buFont typeface="Arial" panose="020B0604020202020204" pitchFamily="34" charset="0"/>
              <a:buChar char="•"/>
            </a:pPr>
            <a:r>
              <a:rPr lang="en-US" dirty="0" smtClean="0"/>
              <a:t>Providing input into decisions relating to products and services (e.g., pricing and product development)</a:t>
            </a:r>
          </a:p>
          <a:p>
            <a:pPr marL="171450" indent="-171450">
              <a:buFont typeface="Arial" panose="020B0604020202020204" pitchFamily="34" charset="0"/>
              <a:buChar char="•"/>
            </a:pPr>
            <a:r>
              <a:rPr lang="en-US" dirty="0" smtClean="0"/>
              <a:t>Providing financial forecasting and customer profitability analysis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26165424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On-Demand CRM Systems: </a:t>
            </a:r>
            <a:r>
              <a:rPr lang="en-US" dirty="0" smtClean="0"/>
              <a:t>systems hosted by an external vendor in the vendor’s data center which spares the organization the costs associated with purchasing the system, maintenance, and employees need to know only how to access and utilize it. Also known as utility computing or soft ware-as-a-service (</a:t>
            </a:r>
            <a:r>
              <a:rPr lang="en-US" dirty="0" err="1" smtClean="0"/>
              <a:t>SaaS</a:t>
            </a:r>
            <a:r>
              <a:rPr lang="en-US" dirty="0" smtClean="0"/>
              <a:t>).</a:t>
            </a:r>
          </a:p>
          <a:p>
            <a:r>
              <a:rPr lang="en-US" b="1" dirty="0" smtClean="0"/>
              <a:t>Mobile CRM Systems: </a:t>
            </a:r>
            <a:r>
              <a:rPr lang="en-US" dirty="0" smtClean="0"/>
              <a:t>an interactive system that enables an organization to conduct communications related to sales, marketing, and customer service activities through a mobile medium for the purpose of building and maintaining relationships with its customers.</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Open-Source CRM Systems: </a:t>
            </a:r>
            <a:r>
              <a:rPr lang="en-US" dirty="0" smtClean="0"/>
              <a:t>the source code for open-source software is available at no cost.</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Social CRM: </a:t>
            </a:r>
            <a:r>
              <a:rPr lang="en-US" dirty="0" smtClean="0"/>
              <a:t>the use of social media technology and services to enable organizations to engage their customers in a collaborative conversation in order to provide mutually beneficial value in a trusted and transparent manner.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2309663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How do </a:t>
            </a:r>
            <a:r>
              <a:rPr lang="en-US" dirty="0" err="1" smtClean="0"/>
              <a:t>MyMagic</a:t>
            </a:r>
            <a:r>
              <a:rPr lang="en-US" dirty="0" smtClean="0"/>
              <a:t>+ and </a:t>
            </a:r>
            <a:r>
              <a:rPr lang="en-US" dirty="0" err="1" smtClean="0"/>
              <a:t>MagicBands</a:t>
            </a:r>
            <a:r>
              <a:rPr lang="en-US" dirty="0" smtClean="0"/>
              <a:t> contribute positively to the customer experience at Disney parks? Provide specific examples to support your answer.</a:t>
            </a:r>
          </a:p>
          <a:p>
            <a:pPr marL="228600" indent="-228600">
              <a:buFont typeface="+mj-lt"/>
              <a:buAutoNum type="arabicPeriod"/>
            </a:pPr>
            <a:r>
              <a:rPr lang="en-US" dirty="0" smtClean="0"/>
              <a:t>Other than privacy, what are other disadvantages of </a:t>
            </a:r>
            <a:r>
              <a:rPr lang="en-US" dirty="0" err="1" smtClean="0"/>
              <a:t>MyMagic</a:t>
            </a:r>
            <a:r>
              <a:rPr lang="en-US" dirty="0" smtClean="0"/>
              <a:t>+ and </a:t>
            </a:r>
            <a:r>
              <a:rPr lang="en-US" dirty="0" err="1" smtClean="0"/>
              <a:t>MagicBands</a:t>
            </a:r>
            <a:r>
              <a:rPr lang="en-US" dirty="0" smtClean="0"/>
              <a:t> to guests? To Disney? To Disney employees? Provide specific examples to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On-Demand CRM Systems: </a:t>
            </a:r>
            <a:r>
              <a:rPr lang="en-US" dirty="0" smtClean="0"/>
              <a:t>systems hosted by an external vendor in the vendor’s data center which spares the organization the costs associated with purchasing the system, maintenance, and employees need to know only how to access and utilize it. Also known as utility computing or soft ware-as-a-service (</a:t>
            </a:r>
            <a:r>
              <a:rPr lang="en-US" dirty="0" err="1" smtClean="0"/>
              <a:t>SaaS</a:t>
            </a:r>
            <a:r>
              <a:rPr lang="en-US" dirty="0" smtClean="0"/>
              <a:t>).</a:t>
            </a:r>
          </a:p>
          <a:p>
            <a:endParaRPr lang="en-US" dirty="0" smtClean="0"/>
          </a:p>
          <a:p>
            <a:r>
              <a:rPr lang="en-US" b="1" dirty="0" smtClean="0"/>
              <a:t>Potential Problems with On-Demand CRM:</a:t>
            </a:r>
          </a:p>
          <a:p>
            <a:pPr marL="171450" indent="-171450">
              <a:buFont typeface="Arial" panose="020B0604020202020204" pitchFamily="34" charset="0"/>
              <a:buChar char="•"/>
            </a:pPr>
            <a:r>
              <a:rPr lang="en-US" dirty="0" smtClean="0"/>
              <a:t>Unreliable vendors</a:t>
            </a:r>
          </a:p>
          <a:p>
            <a:pPr marL="171450" indent="-171450">
              <a:buFont typeface="Arial" panose="020B0604020202020204" pitchFamily="34" charset="0"/>
              <a:buChar char="•"/>
            </a:pPr>
            <a:r>
              <a:rPr lang="en-US" dirty="0" smtClean="0"/>
              <a:t>Hosted software difficult to modify</a:t>
            </a:r>
          </a:p>
          <a:p>
            <a:pPr marL="171450" indent="-171450">
              <a:buFont typeface="Arial" panose="020B0604020202020204" pitchFamily="34" charset="0"/>
              <a:buChar char="•"/>
            </a:pPr>
            <a:r>
              <a:rPr lang="en-US" dirty="0" smtClean="0"/>
              <a:t>Upgrades only available through the vendor</a:t>
            </a:r>
          </a:p>
          <a:p>
            <a:pPr marL="171450" indent="-171450">
              <a:buFont typeface="Arial" panose="020B0604020202020204" pitchFamily="34" charset="0"/>
              <a:buChar char="•"/>
            </a:pPr>
            <a:r>
              <a:rPr lang="en-US" dirty="0" smtClean="0"/>
              <a:t>Difficult to integrate with organization’s existing software</a:t>
            </a:r>
          </a:p>
          <a:p>
            <a:pPr marL="171450" indent="-171450">
              <a:buFont typeface="Arial" panose="020B0604020202020204" pitchFamily="34" charset="0"/>
              <a:buChar char="•"/>
            </a:pPr>
            <a:r>
              <a:rPr lang="en-US" dirty="0" smtClean="0"/>
              <a:t>Information security and privacy risks</a:t>
            </a:r>
          </a:p>
          <a:p>
            <a:pPr marL="171450" indent="-171450">
              <a:buFont typeface="Arial" panose="020B0604020202020204" pitchFamily="34" charset="0"/>
              <a:buChar char="•"/>
            </a:pPr>
            <a:r>
              <a:rPr lang="en-US" dirty="0" smtClean="0"/>
              <a:t>------------------</a:t>
            </a:r>
          </a:p>
          <a:p>
            <a:pPr marL="171450" indent="-171450">
              <a:buFont typeface="Arial" panose="020B0604020202020204" pitchFamily="34" charset="0"/>
              <a:buChar char="•"/>
            </a:pPr>
            <a:endParaRPr lang="en-US" dirty="0" smtClean="0"/>
          </a:p>
          <a:p>
            <a:r>
              <a:rPr lang="en-US" b="1" dirty="0" smtClean="0"/>
              <a:t>Open-Source CRM Systems: </a:t>
            </a:r>
            <a:r>
              <a:rPr lang="en-US" dirty="0" smtClean="0"/>
              <a:t>the source code for open-source software is available at no cost.</a:t>
            </a:r>
          </a:p>
          <a:p>
            <a:endParaRPr lang="en-US" dirty="0" smtClean="0"/>
          </a:p>
          <a:p>
            <a:r>
              <a:rPr lang="en-US" b="1" dirty="0" smtClean="0"/>
              <a:t>Benefits of Open-Source CRM:</a:t>
            </a:r>
          </a:p>
          <a:p>
            <a:pPr marL="171450" indent="-171450">
              <a:buFont typeface="Arial" panose="020B0604020202020204" pitchFamily="34" charset="0"/>
              <a:buChar char="•"/>
            </a:pPr>
            <a:r>
              <a:rPr lang="en-US" dirty="0" smtClean="0"/>
              <a:t>source code is available to developers and users</a:t>
            </a:r>
          </a:p>
          <a:p>
            <a:pPr marL="171450" indent="-171450">
              <a:buFont typeface="Arial" panose="020B0604020202020204" pitchFamily="34" charset="0"/>
              <a:buChar char="•"/>
            </a:pPr>
            <a:r>
              <a:rPr lang="en-US" dirty="0" smtClean="0"/>
              <a:t>Provide the same features or functions as other CRM</a:t>
            </a:r>
          </a:p>
          <a:p>
            <a:pPr marL="171450" indent="-171450">
              <a:buFont typeface="Arial" panose="020B0604020202020204" pitchFamily="34" charset="0"/>
              <a:buChar char="•"/>
            </a:pPr>
            <a:r>
              <a:rPr lang="en-US" dirty="0" smtClean="0"/>
              <a:t>Implemented either on-premise or on-demand</a:t>
            </a:r>
          </a:p>
          <a:p>
            <a:pPr marL="171450" indent="-171450">
              <a:buFont typeface="Arial" panose="020B0604020202020204" pitchFamily="34" charset="0"/>
              <a:buChar char="•"/>
            </a:pPr>
            <a:r>
              <a:rPr lang="en-US" dirty="0" smtClean="0"/>
              <a:t>Favorable pricing</a:t>
            </a:r>
          </a:p>
          <a:p>
            <a:pPr marL="171450" indent="-171450">
              <a:buFont typeface="Arial" panose="020B0604020202020204" pitchFamily="34" charset="0"/>
              <a:buChar char="•"/>
            </a:pPr>
            <a:r>
              <a:rPr lang="en-US" dirty="0" smtClean="0"/>
              <a:t>Wide variety of applications</a:t>
            </a:r>
          </a:p>
          <a:p>
            <a:pPr marL="171450" indent="-171450">
              <a:buFont typeface="Arial" panose="020B0604020202020204" pitchFamily="34" charset="0"/>
              <a:buChar char="•"/>
            </a:pPr>
            <a:r>
              <a:rPr lang="en-US" dirty="0" smtClean="0"/>
              <a:t>Easy to customize</a:t>
            </a:r>
          </a:p>
          <a:p>
            <a:pPr marL="171450" indent="-171450">
              <a:buFont typeface="Arial" panose="020B0604020202020204" pitchFamily="34" charset="0"/>
              <a:buChar char="•"/>
            </a:pPr>
            <a:r>
              <a:rPr lang="en-US" dirty="0" smtClean="0"/>
              <a:t>Updates and bug (software error) fixes rapidly distributed</a:t>
            </a:r>
          </a:p>
          <a:p>
            <a:pPr marL="171450" indent="-171450">
              <a:buFont typeface="Arial" panose="020B0604020202020204" pitchFamily="34" charset="0"/>
              <a:buChar char="•"/>
            </a:pPr>
            <a:r>
              <a:rPr lang="en-US" dirty="0" smtClean="0"/>
              <a:t>Extensive support information available for free</a:t>
            </a:r>
          </a:p>
          <a:p>
            <a:endParaRPr lang="en-US" dirty="0" smtClean="0"/>
          </a:p>
          <a:p>
            <a:r>
              <a:rPr lang="en-US" b="1" dirty="0" smtClean="0"/>
              <a:t>Open-Source CRM Disadvantages:</a:t>
            </a:r>
          </a:p>
          <a:p>
            <a:pPr marL="171450" indent="-171450">
              <a:buFont typeface="Arial" panose="020B0604020202020204" pitchFamily="34" charset="0"/>
              <a:buChar char="•"/>
            </a:pPr>
            <a:r>
              <a:rPr lang="en-US" dirty="0" smtClean="0"/>
              <a:t>Risk related to quality control</a:t>
            </a:r>
          </a:p>
          <a:p>
            <a:pPr marL="171450" indent="-171450">
              <a:buFont typeface="Arial" panose="020B0604020202020204" pitchFamily="34" charset="0"/>
              <a:buChar char="•"/>
            </a:pPr>
            <a:r>
              <a:rPr lang="en-US" dirty="0" smtClean="0"/>
              <a:t>Company IT platform must match development platform of open-source CRM system</a:t>
            </a:r>
          </a:p>
          <a:p>
            <a:pPr marL="171450" indent="-171450">
              <a:buFont typeface="Arial" panose="020B0604020202020204" pitchFamily="34" charset="0"/>
              <a:buChar char="•"/>
            </a:pPr>
            <a:endParaRPr lang="en-US" dirty="0" smtClean="0"/>
          </a:p>
          <a:p>
            <a:r>
              <a:rPr lang="en-US" b="1" dirty="0" smtClean="0"/>
              <a:t>Examples:</a:t>
            </a:r>
          </a:p>
          <a:p>
            <a:pPr marL="171450" lvl="0" indent="-171450">
              <a:buFont typeface="Arial" panose="020B0604020202020204" pitchFamily="34" charset="0"/>
              <a:buChar char="•"/>
            </a:pPr>
            <a:r>
              <a:rPr lang="en-US" dirty="0" err="1" smtClean="0"/>
              <a:t>SugarCRM</a:t>
            </a:r>
            <a:r>
              <a:rPr lang="en-US" dirty="0" smtClean="0"/>
              <a:t> (</a:t>
            </a:r>
            <a:r>
              <a:rPr lang="en-US" dirty="0" smtClean="0">
                <a:hlinkClick r:id="rId3"/>
              </a:rPr>
              <a:t>www.sugarcrm.com</a:t>
            </a:r>
            <a:r>
              <a:rPr lang="en-US" dirty="0" smtClean="0"/>
              <a:t>)</a:t>
            </a:r>
          </a:p>
          <a:p>
            <a:pPr marL="171450" lvl="0" indent="-171450">
              <a:buFont typeface="Arial" panose="020B0604020202020204" pitchFamily="34" charset="0"/>
              <a:buChar char="•"/>
            </a:pPr>
            <a:r>
              <a:rPr lang="en-US" dirty="0" err="1" smtClean="0"/>
              <a:t>Concursive</a:t>
            </a:r>
            <a:r>
              <a:rPr lang="en-US" dirty="0" smtClean="0"/>
              <a:t> (</a:t>
            </a:r>
            <a:r>
              <a:rPr lang="en-US" dirty="0" smtClean="0">
                <a:hlinkClick r:id="rId4"/>
              </a:rPr>
              <a:t>www.concursive.com</a:t>
            </a:r>
            <a:r>
              <a:rPr lang="en-US" dirty="0" smtClean="0"/>
              <a:t>) </a:t>
            </a:r>
          </a:p>
          <a:p>
            <a:pPr marL="171450" lvl="0" indent="-171450">
              <a:buFont typeface="Arial" panose="020B0604020202020204" pitchFamily="34" charset="0"/>
              <a:buChar char="•"/>
            </a:pPr>
            <a:r>
              <a:rPr lang="en-US" dirty="0" err="1" smtClean="0"/>
              <a:t>Vtiger</a:t>
            </a:r>
            <a:r>
              <a:rPr lang="en-US" dirty="0" smtClean="0"/>
              <a:t> (</a:t>
            </a:r>
            <a:r>
              <a:rPr lang="en-US" dirty="0" smtClean="0">
                <a:hlinkClick r:id="rId5"/>
              </a:rPr>
              <a:t>www.vtiger.com</a:t>
            </a:r>
            <a:r>
              <a:rPr lang="en-US" dirty="0" smtClean="0"/>
              <a:t>)</a:t>
            </a:r>
          </a:p>
          <a:p>
            <a:pPr marL="171450" indent="-171450">
              <a:buFont typeface="Arial" panose="020B0604020202020204" pitchFamily="34" charset="0"/>
              <a:buChar char="•"/>
            </a:pP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2155900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Describe the advantages provided to </a:t>
            </a:r>
            <a:r>
              <a:rPr lang="en-US" dirty="0" err="1" smtClean="0"/>
              <a:t>uShip</a:t>
            </a:r>
            <a:r>
              <a:rPr lang="en-US" dirty="0" smtClean="0"/>
              <a:t> by the </a:t>
            </a:r>
            <a:r>
              <a:rPr lang="en-US" dirty="0" err="1" smtClean="0"/>
              <a:t>SugarCRM</a:t>
            </a:r>
            <a:r>
              <a:rPr lang="en-US" dirty="0" smtClean="0"/>
              <a:t> system.</a:t>
            </a:r>
          </a:p>
          <a:p>
            <a:pPr marL="228600" indent="-228600">
              <a:buFont typeface="+mj-lt"/>
              <a:buAutoNum type="arabicPeriod"/>
            </a:pPr>
            <a:r>
              <a:rPr lang="en-US" dirty="0" smtClean="0"/>
              <a:t>Describe the business needs of </a:t>
            </a:r>
            <a:r>
              <a:rPr lang="en-US" dirty="0" err="1" smtClean="0"/>
              <a:t>uShip</a:t>
            </a:r>
            <a:r>
              <a:rPr lang="en-US" dirty="0" smtClean="0"/>
              <a:t> that led to the company’s decision to implement a CRM system.</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Explain how Morton’s monitoring of social media illustrates how CRM is reviving personal marketing.</a:t>
            </a:r>
          </a:p>
          <a:p>
            <a:pPr marL="228600" indent="-228600">
              <a:buFont typeface="+mj-lt"/>
              <a:buAutoNum type="arabicPeriod"/>
            </a:pPr>
            <a:r>
              <a:rPr lang="en-US" dirty="0" smtClean="0"/>
              <a:t>Do you see any disadvantages in such close monitoring of social media? Provide </a:t>
            </a:r>
            <a:r>
              <a:rPr lang="en-US" dirty="0" err="1" smtClean="0"/>
              <a:t>specifi</a:t>
            </a:r>
            <a:r>
              <a:rPr lang="en-US" dirty="0" smtClean="0"/>
              <a:t> c examples to support your answer.</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11.4 </a:t>
            </a:r>
            <a:r>
              <a:rPr lang="en-US" dirty="0" smtClean="0"/>
              <a:t>Generic supply chain.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937608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Supply Chain: </a:t>
            </a:r>
            <a:r>
              <a:rPr lang="en-US" dirty="0" smtClean="0"/>
              <a:t>the flow of materials, information, money, and services from raw material suppliers, through factories and warehouses, to the end customers.</a:t>
            </a:r>
          </a:p>
          <a:p>
            <a:r>
              <a:rPr lang="en-US" b="1" dirty="0" smtClean="0"/>
              <a:t>Supply Chain Visibility: </a:t>
            </a:r>
            <a:r>
              <a:rPr lang="en-US" dirty="0" smtClean="0"/>
              <a:t>the ability of all organizations within a supply chain to access or view relevant data on purchased materials as these materials move through their suppliers’ production processes and transportation networks to their receiving docks.</a:t>
            </a:r>
          </a:p>
          <a:p>
            <a:r>
              <a:rPr lang="en-US" b="1" dirty="0" smtClean="0"/>
              <a:t>Inventory Velocity: </a:t>
            </a:r>
            <a:r>
              <a:rPr lang="en-US" dirty="0" smtClean="0"/>
              <a:t>the speed at which a company can deliver products and services after receiving the materials required to make them.</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30</a:t>
            </a:fld>
            <a:endParaRPr lang="en-US"/>
          </a:p>
        </p:txBody>
      </p:sp>
    </p:spTree>
    <p:extLst>
      <p:ext uri="{BB962C8B-B14F-4D97-AF65-F5344CB8AC3E}">
        <p14:creationId xmlns:p14="http://schemas.microsoft.com/office/powerpoint/2010/main" val="2408892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The Supply Chain Involves Three Segments:</a:t>
            </a:r>
          </a:p>
          <a:p>
            <a:r>
              <a:rPr lang="en-US" b="1" i="1" dirty="0" smtClean="0"/>
              <a:t>Upstream: </a:t>
            </a:r>
            <a:r>
              <a:rPr lang="en-US" dirty="0" smtClean="0"/>
              <a:t>where sourcing or procurement from external suppliers occurs.</a:t>
            </a:r>
          </a:p>
          <a:p>
            <a:r>
              <a:rPr lang="en-US" b="1" i="1" dirty="0" smtClean="0"/>
              <a:t>Internal: </a:t>
            </a:r>
            <a:r>
              <a:rPr lang="en-US" dirty="0" smtClean="0"/>
              <a:t>where packaging, assembly, or manufacturing takes place.</a:t>
            </a:r>
          </a:p>
          <a:p>
            <a:r>
              <a:rPr lang="en-US" b="1" i="1" dirty="0" smtClean="0"/>
              <a:t>Downstream: </a:t>
            </a:r>
            <a:r>
              <a:rPr lang="en-US" dirty="0" smtClean="0"/>
              <a:t>where distribution takes place, frequently by external distributors.</a:t>
            </a:r>
          </a:p>
          <a:p>
            <a:r>
              <a:rPr lang="en-US" dirty="0" smtClean="0"/>
              <a:t>-------------------</a:t>
            </a:r>
          </a:p>
          <a:p>
            <a:r>
              <a:rPr lang="en-US" b="1" dirty="0" smtClean="0"/>
              <a:t>Tiers of Suppliers: </a:t>
            </a:r>
            <a:r>
              <a:rPr lang="en-US" dirty="0" smtClean="0"/>
              <a:t>a supplier may have one or more </a:t>
            </a:r>
            <a:r>
              <a:rPr lang="en-US" dirty="0" err="1" smtClean="0"/>
              <a:t>subsuppliers</a:t>
            </a:r>
            <a:r>
              <a:rPr lang="en-US" dirty="0" smtClean="0"/>
              <a:t>, a </a:t>
            </a:r>
            <a:r>
              <a:rPr lang="en-US" dirty="0" err="1" smtClean="0"/>
              <a:t>subsupplier</a:t>
            </a:r>
            <a:r>
              <a:rPr lang="en-US" dirty="0" smtClean="0"/>
              <a:t> may have its own </a:t>
            </a:r>
            <a:r>
              <a:rPr lang="en-US" dirty="0" err="1" smtClean="0"/>
              <a:t>subsupplier</a:t>
            </a:r>
            <a:r>
              <a:rPr lang="en-US" dirty="0" smtClean="0"/>
              <a:t>(s), and so on. For an automobile manufacturer, for example, Tier 3 suppliers produce basic products such as glass, plastic, and rubber; Tier 2 suppliers use these inputs to make windshields, tires, and plastic moldings; and Tier 1 suppliers produce integrated components such as dashboards and seat assemblies.</a:t>
            </a:r>
          </a:p>
          <a:p>
            <a:r>
              <a:rPr lang="en-US" dirty="0" smtClean="0"/>
              <a:t>-------------------</a:t>
            </a:r>
          </a:p>
          <a:p>
            <a:pPr marL="228600" indent="-228600">
              <a:buFont typeface="+mj-lt"/>
              <a:buAutoNum type="arabicPeriod"/>
            </a:pPr>
            <a:r>
              <a:rPr lang="en-US" b="1" dirty="0" smtClean="0"/>
              <a:t>Material Flows: </a:t>
            </a:r>
            <a:r>
              <a:rPr lang="en-US" dirty="0" smtClean="0"/>
              <a:t>the physical products, raw materials, supplies, and so forth that flow along the chain. Material flows also include the reverse flows.</a:t>
            </a:r>
          </a:p>
          <a:p>
            <a:pPr marL="685800" lvl="1" indent="-228600">
              <a:buFont typeface="Arial" panose="020B0604020202020204" pitchFamily="34" charset="0"/>
              <a:buChar char="•"/>
            </a:pPr>
            <a:r>
              <a:rPr lang="en-US" b="1" dirty="0" smtClean="0"/>
              <a:t>Reverse Flows (or reverse logistics): </a:t>
            </a:r>
            <a:r>
              <a:rPr lang="en-US" dirty="0" smtClean="0"/>
              <a:t>returned products that are damaged, unwanted, or in need of recycling.</a:t>
            </a:r>
          </a:p>
          <a:p>
            <a:pPr marL="228600" indent="-228600">
              <a:buFont typeface="+mj-lt"/>
              <a:buAutoNum type="arabicPeriod"/>
            </a:pPr>
            <a:r>
              <a:rPr lang="en-US" b="1" dirty="0" smtClean="0"/>
              <a:t>Information Flows: </a:t>
            </a:r>
            <a:r>
              <a:rPr lang="en-US" dirty="0" smtClean="0"/>
              <a:t>data related to demand, shipments, orders, returns, and schedules, as well as changes in any of these data.</a:t>
            </a:r>
          </a:p>
          <a:p>
            <a:pPr marL="228600" indent="-228600">
              <a:buFont typeface="+mj-lt"/>
              <a:buAutoNum type="arabicPeriod"/>
            </a:pPr>
            <a:r>
              <a:rPr lang="en-US" b="1" dirty="0" smtClean="0"/>
              <a:t>Financial Flows: </a:t>
            </a:r>
            <a:r>
              <a:rPr lang="en-US" dirty="0" smtClean="0"/>
              <a:t>involve money transfers, payments, credit card information and authorization, payment schedules, e-payments, and credit-related data.</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25008592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Tiers of Suppliers: </a:t>
            </a:r>
            <a:r>
              <a:rPr lang="en-US" dirty="0" smtClean="0"/>
              <a:t>a supplier may have one or more </a:t>
            </a:r>
            <a:r>
              <a:rPr lang="en-US" dirty="0" err="1" smtClean="0"/>
              <a:t>subsuppliers</a:t>
            </a:r>
            <a:r>
              <a:rPr lang="en-US" dirty="0" smtClean="0"/>
              <a:t>, a </a:t>
            </a:r>
            <a:r>
              <a:rPr lang="en-US" dirty="0" err="1" smtClean="0"/>
              <a:t>subsupplier</a:t>
            </a:r>
            <a:r>
              <a:rPr lang="en-US" dirty="0" smtClean="0"/>
              <a:t> may have its own </a:t>
            </a:r>
            <a:r>
              <a:rPr lang="en-US" dirty="0" err="1" smtClean="0"/>
              <a:t>subsupplier</a:t>
            </a:r>
            <a:r>
              <a:rPr lang="en-US" dirty="0" smtClean="0"/>
              <a:t>(s), and so on. For an automobile manufacturer, for example, Tier 3 suppliers produce basic products such as glass, plastic, and rubber; Tier 2 suppliers use these inputs to make windshields, tires, and plastic moldings; and Tier 1 suppliers produce integrated components such as dashboards and seat assemblies.</a:t>
            </a:r>
          </a:p>
          <a:p>
            <a:r>
              <a:rPr lang="en-US" dirty="0" smtClean="0"/>
              <a:t>-------------------</a:t>
            </a:r>
          </a:p>
          <a:p>
            <a:pPr marL="228600" indent="-228600">
              <a:buFont typeface="+mj-lt"/>
              <a:buAutoNum type="arabicPeriod"/>
            </a:pPr>
            <a:r>
              <a:rPr lang="en-US" b="1" dirty="0" smtClean="0"/>
              <a:t>Material Flows: </a:t>
            </a:r>
            <a:r>
              <a:rPr lang="en-US" dirty="0" smtClean="0"/>
              <a:t>the physical products, raw materials, supplies, and so forth that flow along the chain. Material flows also include the reverse flows.</a:t>
            </a:r>
          </a:p>
          <a:p>
            <a:pPr marL="685800" lvl="1" indent="-228600">
              <a:buFont typeface="Arial" panose="020B0604020202020204" pitchFamily="34" charset="0"/>
              <a:buChar char="•"/>
            </a:pPr>
            <a:r>
              <a:rPr lang="en-US" b="1" dirty="0" smtClean="0"/>
              <a:t>Reverse Flows (or reverse logistics): </a:t>
            </a:r>
            <a:r>
              <a:rPr lang="en-US" dirty="0" smtClean="0"/>
              <a:t>returned products that are damaged, unwanted, or in need of recycling.</a:t>
            </a:r>
          </a:p>
          <a:p>
            <a:pPr marL="228600" indent="-228600">
              <a:buFont typeface="+mj-lt"/>
              <a:buAutoNum type="arabicPeriod"/>
            </a:pPr>
            <a:r>
              <a:rPr lang="en-US" b="1" dirty="0" smtClean="0"/>
              <a:t>Information Flows: </a:t>
            </a:r>
            <a:r>
              <a:rPr lang="en-US" dirty="0" smtClean="0"/>
              <a:t>data related to demand, shipments, orders, returns, and schedules, as well as changes in any of these data.</a:t>
            </a:r>
          </a:p>
          <a:p>
            <a:pPr marL="228600" indent="-228600">
              <a:buFont typeface="+mj-lt"/>
              <a:buAutoNum type="arabicPeriod"/>
            </a:pPr>
            <a:r>
              <a:rPr lang="en-US" b="1" dirty="0" smtClean="0"/>
              <a:t>Financial Flows: </a:t>
            </a:r>
            <a:r>
              <a:rPr lang="en-US" dirty="0" smtClean="0"/>
              <a:t>involve money transfers, payments, credit card information and authorization, payment schedules, e-payments, and credit-related data.</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3129406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Five Basic Components of SCM: </a:t>
            </a:r>
            <a:r>
              <a:rPr lang="en-US" dirty="0" smtClean="0"/>
              <a:t>Plan, Source, Make, Deliver, Return</a:t>
            </a:r>
          </a:p>
          <a:p>
            <a:r>
              <a:rPr lang="en-US" b="1" dirty="0" smtClean="0"/>
              <a:t>Supply Chain Management Systems: </a:t>
            </a:r>
            <a:r>
              <a:rPr lang="en-US" dirty="0" smtClean="0"/>
              <a:t>a type of </a:t>
            </a:r>
            <a:r>
              <a:rPr lang="en-US" dirty="0" err="1" smtClean="0"/>
              <a:t>interorganizational</a:t>
            </a:r>
            <a:r>
              <a:rPr lang="en-US" dirty="0" smtClean="0"/>
              <a:t> information system (IOS) in which information flows among two or more organizations.</a:t>
            </a:r>
          </a:p>
          <a:p>
            <a:r>
              <a:rPr lang="en-US" b="1" dirty="0" smtClean="0"/>
              <a:t>Push Model: </a:t>
            </a:r>
            <a:r>
              <a:rPr lang="en-US" dirty="0" smtClean="0"/>
              <a:t>In this model, also known as make-to-stock, the production process begins with a forecast, which is simply an educated guess as to customer demand.</a:t>
            </a:r>
          </a:p>
          <a:p>
            <a:r>
              <a:rPr lang="en-US" b="1" dirty="0" smtClean="0"/>
              <a:t>Pull Model: </a:t>
            </a:r>
            <a:r>
              <a:rPr lang="en-US" dirty="0" smtClean="0"/>
              <a:t>In this model, also known as make-to-stock, the production process begins with a forecast, which is simply an educated guess as to customer demand.</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33</a:t>
            </a:fld>
            <a:endParaRPr lang="en-US"/>
          </a:p>
        </p:txBody>
      </p:sp>
    </p:spTree>
    <p:extLst>
      <p:ext uri="{BB962C8B-B14F-4D97-AF65-F5344CB8AC3E}">
        <p14:creationId xmlns:p14="http://schemas.microsoft.com/office/powerpoint/2010/main" val="4991425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Discuss the advantages of supply chain visibility for any organization.</a:t>
            </a:r>
          </a:p>
          <a:p>
            <a:pPr marL="228600" indent="-228600">
              <a:buFont typeface="+mj-lt"/>
              <a:buAutoNum type="arabicPeriod"/>
            </a:pPr>
            <a:r>
              <a:rPr lang="en-US" dirty="0" smtClean="0"/>
              <a:t>Explain how an increase in shipping costs can actually generate higher revenues for Crate &amp; Barrel.</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Five Basic Components of SCM:</a:t>
            </a:r>
          </a:p>
          <a:p>
            <a:r>
              <a:rPr lang="en-US" b="1" dirty="0" smtClean="0"/>
              <a:t>Plan: </a:t>
            </a:r>
            <a:r>
              <a:rPr lang="en-US" dirty="0" smtClean="0"/>
              <a:t>Planning is the strategic component of SCM that involves developing a set of metrics (measurable deliverables) to monitor the organization’s supply chain to ensure that it is efficient and it delivers high quality and value to customers for the lowest cost.</a:t>
            </a:r>
          </a:p>
          <a:p>
            <a:r>
              <a:rPr lang="en-US" b="1" dirty="0" smtClean="0"/>
              <a:t>Source: </a:t>
            </a:r>
            <a:r>
              <a:rPr lang="en-US" dirty="0" smtClean="0"/>
              <a:t>organizations choose suppliers to deliver the goods and services they need to create their product or service.</a:t>
            </a:r>
          </a:p>
          <a:p>
            <a:r>
              <a:rPr lang="en-US" b="1" dirty="0" smtClean="0"/>
              <a:t>Make: </a:t>
            </a:r>
            <a:r>
              <a:rPr lang="en-US" dirty="0" smtClean="0"/>
              <a:t>the manufacturing component in which managers schedule the activities necessary for production, testing, packaging, and preparation for delivery. This is the most metric-intensive part of the supply chain, where organizations measure quality levels, production output, and worker productivity.</a:t>
            </a:r>
          </a:p>
          <a:p>
            <a:r>
              <a:rPr lang="en-US" b="1" dirty="0" smtClean="0"/>
              <a:t>Deliver: </a:t>
            </a:r>
            <a:r>
              <a:rPr lang="en-US" dirty="0" smtClean="0"/>
              <a:t>(or logistics) is where organizations coordinate the receipt of customer orders, develop a network of warehouses, select carriers to transport their products to their customers, and create an invoicing system to receive payments.</a:t>
            </a:r>
          </a:p>
          <a:p>
            <a:r>
              <a:rPr lang="en-US" b="1" dirty="0" smtClean="0"/>
              <a:t>Return: </a:t>
            </a:r>
            <a:r>
              <a:rPr lang="en-US" dirty="0" smtClean="0"/>
              <a:t>a responsive and flexible network for receiving defective, returned, or excess products back from their customers, as well as for supporting customers who have problems with delivered products.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17905538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Push Model: </a:t>
            </a:r>
            <a:r>
              <a:rPr lang="en-US" dirty="0" smtClean="0"/>
              <a:t>In this model, also known as make-to-stock, the production process begins with a forecast, which is simply an educated guess as to customer demand.</a:t>
            </a:r>
          </a:p>
          <a:p>
            <a:r>
              <a:rPr lang="en-US" b="1" dirty="0" smtClean="0"/>
              <a:t>Pull Model: </a:t>
            </a:r>
            <a:r>
              <a:rPr lang="en-US" dirty="0" smtClean="0"/>
              <a:t>In this model, also known as make-to-stock, the production process begins with a forecast, which is simply an educated guess as to customer demand.</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37</a:t>
            </a:fld>
            <a:endParaRPr lang="en-US"/>
          </a:p>
        </p:txBody>
      </p:sp>
    </p:spTree>
    <p:extLst>
      <p:ext uri="{BB962C8B-B14F-4D97-AF65-F5344CB8AC3E}">
        <p14:creationId xmlns:p14="http://schemas.microsoft.com/office/powerpoint/2010/main" val="12933314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1" dirty="0" smtClean="0"/>
              <a:t>Two Primary Sources of Problems Along the Supply Chain:</a:t>
            </a:r>
          </a:p>
          <a:p>
            <a:pPr marL="228600" indent="-228600">
              <a:buFont typeface="+mj-lt"/>
              <a:buAutoNum type="arabicPeriod"/>
            </a:pPr>
            <a:r>
              <a:rPr lang="en-US" dirty="0" smtClean="0"/>
              <a:t>Uncertainties</a:t>
            </a:r>
          </a:p>
          <a:p>
            <a:pPr marL="228600" indent="-228600">
              <a:buFont typeface="+mj-lt"/>
              <a:buAutoNum type="arabicPeriod"/>
            </a:pPr>
            <a:r>
              <a:rPr lang="en-US" dirty="0" smtClean="0"/>
              <a:t>The need to coordinate multiple activities, internal units, and business partners.</a:t>
            </a:r>
          </a:p>
          <a:p>
            <a:pPr marL="228600" indent="-228600">
              <a:buFont typeface="+mj-lt"/>
              <a:buAutoNum type="arabicPeriod"/>
            </a:pPr>
            <a:endParaRPr lang="en-US" dirty="0" smtClean="0"/>
          </a:p>
          <a:p>
            <a:pPr marL="0" indent="0">
              <a:buFont typeface="+mj-lt"/>
              <a:buNone/>
            </a:pPr>
            <a:r>
              <a:rPr lang="en-US" b="1" dirty="0" smtClean="0"/>
              <a:t>Demand Forecast: </a:t>
            </a:r>
            <a:r>
              <a:rPr lang="en-US" dirty="0" smtClean="0"/>
              <a:t>Demand for a product can be influenced by numerous factors such as competition, price, weather conditions, technological developments, overall economic conditions, and customers’ general confidence.</a:t>
            </a:r>
          </a:p>
          <a:p>
            <a:pPr marL="0" indent="0">
              <a:buFont typeface="+mj-lt"/>
              <a:buNone/>
            </a:pPr>
            <a:r>
              <a:rPr lang="en-US" b="1" dirty="0" smtClean="0"/>
              <a:t>Bullwhip Effect: </a:t>
            </a:r>
            <a:r>
              <a:rPr lang="en-US" dirty="0" smtClean="0"/>
              <a:t>erratic shifts in orders up and down the supply chain.</a:t>
            </a:r>
          </a:p>
          <a:p>
            <a:pPr marL="0" indent="0">
              <a:buFont typeface="+mj-lt"/>
              <a:buNone/>
            </a:pP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38</a:t>
            </a:fld>
            <a:endParaRPr lang="en-US"/>
          </a:p>
        </p:txBody>
      </p:sp>
    </p:spTree>
    <p:extLst>
      <p:ext uri="{BB962C8B-B14F-4D97-AF65-F5344CB8AC3E}">
        <p14:creationId xmlns:p14="http://schemas.microsoft.com/office/powerpoint/2010/main" val="7232233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11.5 </a:t>
            </a:r>
            <a:r>
              <a:rPr lang="en-US" dirty="0" smtClean="0"/>
              <a:t>The bull</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Bullwhip Effect: </a:t>
            </a:r>
            <a:r>
              <a:rPr lang="en-US" dirty="0" smtClean="0"/>
              <a:t>erratic shifts in orders up and down the supply chain.</a:t>
            </a:r>
          </a:p>
          <a:p>
            <a:r>
              <a:rPr lang="en-US" dirty="0" smtClean="0"/>
              <a:t>whip effect.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39</a:t>
            </a:fld>
            <a:endParaRPr lang="en-US"/>
          </a:p>
        </p:txBody>
      </p:sp>
    </p:spTree>
    <p:extLst>
      <p:ext uri="{BB962C8B-B14F-4D97-AF65-F5344CB8AC3E}">
        <p14:creationId xmlns:p14="http://schemas.microsoft.com/office/powerpoint/2010/main" val="34937568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Vertical Integration: </a:t>
            </a:r>
            <a:r>
              <a:rPr lang="en-US" dirty="0" smtClean="0"/>
              <a:t>a business strategy in which a company purchases its upstream suppliers to ensure that its essential supplies are available as soon as the company needs them.</a:t>
            </a:r>
          </a:p>
          <a:p>
            <a:r>
              <a:rPr lang="en-US" b="1" dirty="0" smtClean="0"/>
              <a:t>Just-In-Time (JIT) Inventory: </a:t>
            </a:r>
            <a:r>
              <a:rPr lang="en-US" dirty="0" smtClean="0"/>
              <a:t>a strategy to minimize inventories deliver the precise number of parts, called work-in-process inventory, to be assembled into a finished product at precisely the right time.</a:t>
            </a:r>
          </a:p>
          <a:p>
            <a:r>
              <a:rPr lang="en-US" b="1" dirty="0" smtClean="0"/>
              <a:t>Information Sharing: </a:t>
            </a:r>
            <a:r>
              <a:rPr lang="en-US" dirty="0" smtClean="0"/>
              <a:t>facilitated by electronic data interchange and extranets, it helps to improve demand forecasts.</a:t>
            </a:r>
          </a:p>
          <a:p>
            <a:r>
              <a:rPr lang="en-US" b="1" dirty="0" smtClean="0"/>
              <a:t>Vendor-Managed Inventory (VMI): </a:t>
            </a:r>
            <a:r>
              <a:rPr lang="en-US" dirty="0" smtClean="0"/>
              <a:t>occurs when the supplier, rather than the retailer, manages the entire inventory process for a particular product or group of products.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40</a:t>
            </a:fld>
            <a:endParaRPr lang="en-US"/>
          </a:p>
        </p:txBody>
      </p:sp>
    </p:spTree>
    <p:extLst>
      <p:ext uri="{BB962C8B-B14F-4D97-AF65-F5344CB8AC3E}">
        <p14:creationId xmlns:p14="http://schemas.microsoft.com/office/powerpoint/2010/main" val="11699537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Electronic Data Interchange (EDI): </a:t>
            </a:r>
            <a:r>
              <a:rPr lang="en-US" dirty="0" smtClean="0"/>
              <a:t>a communication standard that enables business partners to exchange routine documents, such as purchasing orders, electronically. EDI formats these documents according to agreed-upon standards (e.g., data formats). It then transmits messages over the Internet using a converter, called translator.</a:t>
            </a:r>
          </a:p>
          <a:p>
            <a:r>
              <a:rPr lang="en-US" sz="1200" b="1" i="0" u="none" strike="noStrike" kern="1200" baseline="0" dirty="0" smtClean="0">
                <a:solidFill>
                  <a:schemeClr val="tx1"/>
                </a:solidFill>
                <a:latin typeface="+mn-lt"/>
                <a:ea typeface="+mn-ea"/>
                <a:cs typeface="+mn-cs"/>
              </a:rPr>
              <a:t>Extranets: </a:t>
            </a:r>
            <a:r>
              <a:rPr lang="en-US" sz="1200" b="0" i="0" u="none" strike="noStrike" kern="1200" baseline="0" dirty="0" smtClean="0">
                <a:solidFill>
                  <a:schemeClr val="tx1"/>
                </a:solidFill>
                <a:latin typeface="+mn-lt"/>
                <a:ea typeface="+mn-ea"/>
                <a:cs typeface="+mn-cs"/>
              </a:rPr>
              <a:t>link business partners over the Internet by providing them access to certain areas of each other’s corporate intranets</a:t>
            </a:r>
            <a:endParaRPr lang="en-US" dirty="0" smtClean="0"/>
          </a:p>
          <a:p>
            <a:r>
              <a:rPr lang="en-US" b="1" dirty="0" smtClean="0"/>
              <a:t>Industry Extranet: </a:t>
            </a:r>
            <a:r>
              <a:rPr lang="en-US" dirty="0" smtClean="0"/>
              <a:t>a network used for mission-critical business transactions by leading international organizations in aerospace, automotive, chemical, electronics, financial services, healthcare, logistics, manufacturing, transportation, and related industries.</a:t>
            </a:r>
          </a:p>
          <a:p>
            <a:endParaRPr lang="en-US" dirty="0" smtClean="0"/>
          </a:p>
          <a:p>
            <a:r>
              <a:rPr lang="en-US" b="1" dirty="0" smtClean="0"/>
              <a:t>EDI Benefits:</a:t>
            </a:r>
          </a:p>
          <a:p>
            <a:pPr marL="171450" indent="-171450">
              <a:buFont typeface="Arial" panose="020B0604020202020204" pitchFamily="34" charset="0"/>
              <a:buChar char="•"/>
            </a:pPr>
            <a:r>
              <a:rPr lang="en-US" dirty="0" smtClean="0"/>
              <a:t>Minimizes data entry errors</a:t>
            </a:r>
          </a:p>
          <a:p>
            <a:pPr marL="171450" indent="-171450">
              <a:buFont typeface="Arial" panose="020B0604020202020204" pitchFamily="34" charset="0"/>
              <a:buChar char="•"/>
            </a:pPr>
            <a:r>
              <a:rPr lang="en-US" dirty="0" smtClean="0"/>
              <a:t>Length of the message can be shorter</a:t>
            </a:r>
          </a:p>
          <a:p>
            <a:pPr marL="171450" indent="-171450">
              <a:buFont typeface="Arial" panose="020B0604020202020204" pitchFamily="34" charset="0"/>
              <a:buChar char="•"/>
            </a:pPr>
            <a:r>
              <a:rPr lang="en-US" dirty="0" smtClean="0"/>
              <a:t>Messages are secured</a:t>
            </a:r>
          </a:p>
          <a:p>
            <a:pPr marL="171450" indent="-171450">
              <a:buFont typeface="Arial" panose="020B0604020202020204" pitchFamily="34" charset="0"/>
              <a:buChar char="•"/>
            </a:pPr>
            <a:r>
              <a:rPr lang="en-US" dirty="0" smtClean="0"/>
              <a:t>Reduces cycle time</a:t>
            </a:r>
          </a:p>
          <a:p>
            <a:pPr marL="171450" indent="-171450">
              <a:buFont typeface="Arial" panose="020B0604020202020204" pitchFamily="34" charset="0"/>
              <a:buChar char="•"/>
            </a:pPr>
            <a:r>
              <a:rPr lang="en-US" dirty="0" smtClean="0"/>
              <a:t>Increases productivity</a:t>
            </a:r>
          </a:p>
          <a:p>
            <a:pPr marL="171450" indent="-171450">
              <a:buFont typeface="Arial" panose="020B0604020202020204" pitchFamily="34" charset="0"/>
              <a:buChar char="•"/>
            </a:pPr>
            <a:r>
              <a:rPr lang="en-US" dirty="0" smtClean="0"/>
              <a:t>Enhances customer service</a:t>
            </a:r>
          </a:p>
          <a:p>
            <a:pPr marL="171450" indent="-171450">
              <a:buFont typeface="Arial" panose="020B0604020202020204" pitchFamily="34" charset="0"/>
              <a:buChar char="•"/>
            </a:pPr>
            <a:r>
              <a:rPr lang="en-US" dirty="0" smtClean="0"/>
              <a:t>Minimizes paper usage and storage</a:t>
            </a:r>
          </a:p>
          <a:p>
            <a:pPr marL="171450" indent="-171450">
              <a:buFont typeface="Arial" panose="020B0604020202020204" pitchFamily="34" charset="0"/>
              <a:buChar char="•"/>
            </a:pPr>
            <a:endParaRPr lang="en-US" dirty="0" smtClean="0"/>
          </a:p>
          <a:p>
            <a:r>
              <a:rPr lang="en-US" b="1" dirty="0" smtClean="0"/>
              <a:t>EDI Disadvantages:</a:t>
            </a:r>
          </a:p>
          <a:p>
            <a:pPr marL="171450" indent="-171450">
              <a:buFont typeface="Arial" panose="020B0604020202020204" pitchFamily="34" charset="0"/>
              <a:buChar char="•"/>
            </a:pPr>
            <a:r>
              <a:rPr lang="en-US" dirty="0" smtClean="0"/>
              <a:t>Business processes sometimes must be restructured to fit EDI requirements</a:t>
            </a:r>
          </a:p>
          <a:p>
            <a:pPr marL="171450" indent="-171450">
              <a:buFont typeface="Arial" panose="020B0604020202020204" pitchFamily="34" charset="0"/>
              <a:buChar char="•"/>
            </a:pPr>
            <a:r>
              <a:rPr lang="en-US" dirty="0" smtClean="0"/>
              <a:t>Many EDI standards in use today</a:t>
            </a:r>
          </a:p>
          <a:p>
            <a:pPr marL="171450" indent="-171450">
              <a:buFont typeface="Arial" panose="020B0604020202020204" pitchFamily="34" charset="0"/>
              <a:buChar char="•"/>
            </a:pP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41</a:t>
            </a:fld>
            <a:endParaRPr lang="en-US"/>
          </a:p>
        </p:txBody>
      </p:sp>
    </p:spTree>
    <p:extLst>
      <p:ext uri="{BB962C8B-B14F-4D97-AF65-F5344CB8AC3E}">
        <p14:creationId xmlns:p14="http://schemas.microsoft.com/office/powerpoint/2010/main" val="36876228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Extranets: </a:t>
            </a:r>
            <a:r>
              <a:rPr lang="en-US" sz="1200" b="0" i="0" u="none" strike="noStrike" kern="1200" baseline="0" dirty="0" smtClean="0">
                <a:solidFill>
                  <a:schemeClr val="tx1"/>
                </a:solidFill>
                <a:latin typeface="+mn-lt"/>
                <a:ea typeface="+mn-ea"/>
                <a:cs typeface="+mn-cs"/>
              </a:rPr>
              <a:t>link business partners over the Internet by providing them access to certain areas of each other’s corporate intranets</a:t>
            </a:r>
          </a:p>
          <a:p>
            <a:r>
              <a:rPr lang="en-US" b="1" dirty="0" smtClean="0"/>
              <a:t>A Company and Its Dealers, Customers, or Suppliers: </a:t>
            </a:r>
            <a:r>
              <a:rPr lang="en-US" dirty="0" smtClean="0"/>
              <a:t>This type of extranet centers on a single company.</a:t>
            </a:r>
          </a:p>
          <a:p>
            <a:r>
              <a:rPr lang="en-US" b="1" dirty="0" smtClean="0"/>
              <a:t>Industry Extranet: </a:t>
            </a:r>
            <a:r>
              <a:rPr lang="en-US" dirty="0" smtClean="0"/>
              <a:t>a network used for mission-critical business transactions by leading international organizations in aerospace, automotive, chemical, electronics, financial services, healthcare, logistics, manufacturing, transportation, and related industries.</a:t>
            </a:r>
          </a:p>
          <a:p>
            <a:r>
              <a:rPr lang="en-US" b="1" dirty="0" smtClean="0"/>
              <a:t>Joint Ventures and Other Business Partnerships: </a:t>
            </a:r>
            <a:r>
              <a:rPr lang="en-US" dirty="0" smtClean="0"/>
              <a:t>In this type of extranet, business partners use the extranet as a vehicle for communication and collaboration.</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42</a:t>
            </a:fld>
            <a:endParaRPr lang="en-US"/>
          </a:p>
        </p:txBody>
      </p:sp>
    </p:spTree>
    <p:extLst>
      <p:ext uri="{BB962C8B-B14F-4D97-AF65-F5344CB8AC3E}">
        <p14:creationId xmlns:p14="http://schemas.microsoft.com/office/powerpoint/2010/main" val="4211815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11.6 </a:t>
            </a:r>
            <a:r>
              <a:rPr lang="en-US" dirty="0" smtClean="0"/>
              <a:t>Comparing purchase order (PO) fulfillment with and without EDI. (Drawn by E. Turban.)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43</a:t>
            </a:fld>
            <a:endParaRPr lang="en-US"/>
          </a:p>
        </p:txBody>
      </p:sp>
    </p:spTree>
    <p:extLst>
      <p:ext uri="{BB962C8B-B14F-4D97-AF65-F5344CB8AC3E}">
        <p14:creationId xmlns:p14="http://schemas.microsoft.com/office/powerpoint/2010/main" val="17158785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FIGURE 11.6 </a:t>
            </a:r>
            <a:r>
              <a:rPr lang="en-US" dirty="0" smtClean="0"/>
              <a:t>Comparing purchase order (PO) fulfillment with and without EDI. (Drawn by E. Turban.)</a:t>
            </a:r>
          </a:p>
          <a:p>
            <a:endParaRPr lang="en-US" b="1" dirty="0"/>
          </a:p>
        </p:txBody>
      </p:sp>
      <p:sp>
        <p:nvSpPr>
          <p:cNvPr id="4" name="Slide Number Placeholder 3"/>
          <p:cNvSpPr>
            <a:spLocks noGrp="1"/>
          </p:cNvSpPr>
          <p:nvPr>
            <p:ph type="sldNum" sz="quarter" idx="10"/>
          </p:nvPr>
        </p:nvSpPr>
        <p:spPr/>
        <p:txBody>
          <a:bodyPr/>
          <a:lstStyle/>
          <a:p>
            <a:fld id="{2CF41C25-7A1F-47FB-B705-003A328B9163}" type="slidenum">
              <a:rPr lang="en-US" smtClean="0"/>
              <a:t>44</a:t>
            </a:fld>
            <a:endParaRPr lang="en-US"/>
          </a:p>
        </p:txBody>
      </p:sp>
    </p:spTree>
    <p:extLst>
      <p:ext uri="{BB962C8B-B14F-4D97-AF65-F5344CB8AC3E}">
        <p14:creationId xmlns:p14="http://schemas.microsoft.com/office/powerpoint/2010/main" val="13795984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FIGURE 11.7 </a:t>
            </a:r>
            <a:r>
              <a:rPr lang="en-US" dirty="0" smtClean="0"/>
              <a:t>The structure of an extranet.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45</a:t>
            </a:fld>
            <a:endParaRPr lang="en-US"/>
          </a:p>
        </p:txBody>
      </p:sp>
    </p:spTree>
    <p:extLst>
      <p:ext uri="{BB962C8B-B14F-4D97-AF65-F5344CB8AC3E}">
        <p14:creationId xmlns:p14="http://schemas.microsoft.com/office/powerpoint/2010/main" val="36906022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smtClean="0"/>
              <a:t>Discuss the </a:t>
            </a:r>
            <a:r>
              <a:rPr lang="en-US" dirty="0" err="1" smtClean="0"/>
              <a:t>diffi</a:t>
            </a:r>
            <a:r>
              <a:rPr lang="en-US" dirty="0" smtClean="0"/>
              <a:t> </a:t>
            </a:r>
            <a:r>
              <a:rPr lang="en-US" dirty="0" err="1" smtClean="0"/>
              <a:t>culties</a:t>
            </a:r>
            <a:r>
              <a:rPr lang="en-US" dirty="0" smtClean="0"/>
              <a:t> involved in implementing Auto DX.</a:t>
            </a:r>
          </a:p>
          <a:p>
            <a:pPr marL="228600" indent="-228600">
              <a:buFont typeface="+mj-lt"/>
              <a:buAutoNum type="arabicPeriod"/>
            </a:pPr>
            <a:r>
              <a:rPr lang="en-US" dirty="0" smtClean="0"/>
              <a:t>Describe the advantages of Auto DX to the Indian automotive supply chain.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46</a:t>
            </a:fld>
            <a:endParaRPr lang="en-US"/>
          </a:p>
        </p:txBody>
      </p:sp>
    </p:spTree>
    <p:extLst>
      <p:ext uri="{BB962C8B-B14F-4D97-AF65-F5344CB8AC3E}">
        <p14:creationId xmlns:p14="http://schemas.microsoft.com/office/powerpoint/2010/main" val="4050641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Procurement Portal:  </a:t>
            </a:r>
            <a:r>
              <a:rPr lang="en-US" sz="1200" b="0" i="0" u="none" strike="noStrike" kern="1200" baseline="0" dirty="0" smtClean="0">
                <a:solidFill>
                  <a:schemeClr val="tx1"/>
                </a:solidFill>
                <a:latin typeface="+mn-lt"/>
                <a:ea typeface="+mn-ea"/>
                <a:cs typeface="+mn-cs"/>
              </a:rPr>
              <a:t>for a company’s suppliers (upstream in the supply chain) this type of portal automates the business processes involved in purchasing or procuring products between a single buyer and multiple suppliers. </a:t>
            </a:r>
          </a:p>
          <a:p>
            <a:r>
              <a:rPr lang="en-US" sz="1200" b="1" i="0" u="none" strike="noStrike" kern="1200" baseline="0" dirty="0" smtClean="0">
                <a:solidFill>
                  <a:schemeClr val="tx1"/>
                </a:solidFill>
                <a:latin typeface="+mn-lt"/>
                <a:ea typeface="+mn-ea"/>
                <a:cs typeface="+mn-cs"/>
              </a:rPr>
              <a:t>Distribution Portal:  </a:t>
            </a:r>
            <a:r>
              <a:rPr lang="en-US" sz="1200" b="0" i="0" u="none" strike="noStrike" kern="1200" baseline="0" dirty="0" smtClean="0">
                <a:solidFill>
                  <a:schemeClr val="tx1"/>
                </a:solidFill>
                <a:latin typeface="+mn-lt"/>
                <a:ea typeface="+mn-ea"/>
                <a:cs typeface="+mn-cs"/>
              </a:rPr>
              <a:t>for a company’s customers (downstream in the supply chain) automate the business processes involved in selling or distributing products from a single supplier to multiple buyers.</a:t>
            </a:r>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47</a:t>
            </a:fld>
            <a:endParaRPr lang="en-US"/>
          </a:p>
        </p:txBody>
      </p:sp>
    </p:spTree>
    <p:extLst>
      <p:ext uri="{BB962C8B-B14F-4D97-AF65-F5344CB8AC3E}">
        <p14:creationId xmlns:p14="http://schemas.microsoft.com/office/powerpoint/2010/main" val="22499594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Questions</a:t>
            </a:r>
          </a:p>
          <a:p>
            <a:pPr marL="228600" indent="-228600">
              <a:buFont typeface="+mj-lt"/>
              <a:buAutoNum type="arabicPeriod"/>
            </a:pPr>
            <a:r>
              <a:rPr lang="en-US" b="0" dirty="0" smtClean="0"/>
              <a:t>Explain why Super Retail Group decided to use JDA software along its supply chain.</a:t>
            </a:r>
          </a:p>
          <a:p>
            <a:pPr marL="228600" indent="-228600">
              <a:buFont typeface="+mj-lt"/>
              <a:buAutoNum type="arabicPeriod"/>
            </a:pPr>
            <a:r>
              <a:rPr lang="en-US" b="0" dirty="0" smtClean="0"/>
              <a:t>Why did Super Retail Group pilot test in its Leisure Retailing division?</a:t>
            </a:r>
          </a:p>
          <a:p>
            <a:pPr marL="228600" indent="-228600">
              <a:buFont typeface="+mj-lt"/>
              <a:buAutoNum type="arabicPeriod"/>
            </a:pPr>
            <a:r>
              <a:rPr lang="en-US" b="0" dirty="0" smtClean="0"/>
              <a:t>Why did Super Retail Group implement a cloud-based solution? Do you believe this was the correct decision? Why or why not?</a:t>
            </a:r>
            <a:endParaRPr lang="en-US" b="0" dirty="0"/>
          </a:p>
        </p:txBody>
      </p:sp>
      <p:sp>
        <p:nvSpPr>
          <p:cNvPr id="4" name="Slide Number Placeholder 3"/>
          <p:cNvSpPr>
            <a:spLocks noGrp="1"/>
          </p:cNvSpPr>
          <p:nvPr>
            <p:ph type="sldNum" sz="quarter" idx="10"/>
          </p:nvPr>
        </p:nvSpPr>
        <p:spPr/>
        <p:txBody>
          <a:bodyPr/>
          <a:lstStyle/>
          <a:p>
            <a:fld id="{2CF41C25-7A1F-47FB-B705-003A328B9163}" type="slidenum">
              <a:rPr lang="en-US" smtClean="0"/>
              <a:t>48</a:t>
            </a:fld>
            <a:endParaRPr lang="en-US"/>
          </a:p>
        </p:txBody>
      </p:sp>
    </p:spTree>
    <p:extLst>
      <p:ext uri="{BB962C8B-B14F-4D97-AF65-F5344CB8AC3E}">
        <p14:creationId xmlns:p14="http://schemas.microsoft.com/office/powerpoint/2010/main" val="32483280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sp>
        <p:nvSpPr>
          <p:cNvPr id="11" name="Oval 10"/>
          <p:cNvSpPr/>
          <p:nvPr userDrawn="1"/>
        </p:nvSpPr>
        <p:spPr>
          <a:xfrm>
            <a:off x="5410200" y="1298787"/>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533400" y="3429000"/>
            <a:ext cx="8001000" cy="2819400"/>
          </a:xfrm>
        </p:spPr>
        <p:txBody>
          <a:bodyPr>
            <a:normAutofit/>
          </a:bodyPr>
          <a:lstStyle>
            <a:lvl1pPr marL="0" indent="0" algn="l">
              <a:spcBef>
                <a:spcPts val="600"/>
              </a:spcBef>
              <a:spcAft>
                <a:spcPts val="600"/>
              </a:spcAft>
              <a:buNone/>
              <a:defRPr sz="66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7" name="Rectangle 6"/>
          <p:cNvSpPr/>
          <p:nvPr userDrawn="1"/>
        </p:nvSpPr>
        <p:spPr>
          <a:xfrm>
            <a:off x="505326" y="457200"/>
            <a:ext cx="8153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3400" y="1676400"/>
            <a:ext cx="4752474" cy="997374"/>
          </a:xfrm>
          <a:prstGeom prst="rect">
            <a:avLst/>
          </a:prstGeom>
        </p:spPr>
      </p:pic>
      <p:sp>
        <p:nvSpPr>
          <p:cNvPr id="13" name="Text Placeholder 12"/>
          <p:cNvSpPr>
            <a:spLocks noGrp="1"/>
          </p:cNvSpPr>
          <p:nvPr>
            <p:ph type="body" sz="quarter" idx="13" hasCustomPrompt="1"/>
          </p:nvPr>
        </p:nvSpPr>
        <p:spPr>
          <a:xfrm>
            <a:off x="5410200" y="1295400"/>
            <a:ext cx="1752600" cy="1752600"/>
          </a:xfrm>
        </p:spPr>
        <p:txBody>
          <a:bodyPr anchor="ctr" anchorCtr="0">
            <a:normAutofit/>
          </a:bodyPr>
          <a:lstStyle>
            <a:lvl1pPr marL="0" indent="0" algn="ctr">
              <a:buFontTx/>
              <a:buNone/>
              <a:defRPr sz="9600" b="1" i="0" baseline="0">
                <a:solidFill>
                  <a:schemeClr val="bg1"/>
                </a:solidFill>
                <a:effectLst>
                  <a:outerShdw blurRad="63500" sx="102000" sy="102000" algn="ctr" rotWithShape="0">
                    <a:prstClr val="black">
                      <a:alpha val="40000"/>
                    </a:prstClr>
                  </a:outerShdw>
                </a:effectLst>
                <a:latin typeface="Rockwell" pitchFamily="18" charset="0"/>
              </a:defRPr>
            </a:lvl1pPr>
          </a:lstStyle>
          <a:p>
            <a:pPr lvl="0"/>
            <a:r>
              <a:rPr lang="en-US" dirty="0" smtClean="0"/>
              <a:t>#</a:t>
            </a:r>
            <a:endParaRPr lang="en-US" dirty="0"/>
          </a:p>
        </p:txBody>
      </p:sp>
      <p:cxnSp>
        <p:nvCxnSpPr>
          <p:cNvPr id="16" name="Straight Connector 15"/>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B5FD5D"/>
              </a:gs>
              <a:gs pos="77000">
                <a:srgbClr val="7CFF33"/>
              </a:gs>
              <a:gs pos="100000">
                <a:srgbClr val="69BE02"/>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accent3">
                  <a:lumMod val="75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Outline">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chemeClr val="tx2">
                  <a:lumMod val="20000"/>
                  <a:lumOff val="80000"/>
                </a:schemeClr>
              </a:gs>
              <a:gs pos="77000">
                <a:schemeClr val="tx2">
                  <a:lumMod val="40000"/>
                  <a:lumOff val="60000"/>
                </a:schemeClr>
              </a:gs>
              <a:gs pos="100000">
                <a:schemeClr val="tx2">
                  <a:lumMod val="60000"/>
                  <a:lumOff val="40000"/>
                </a:schemeClr>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514350" indent="-514350">
              <a:buClr>
                <a:schemeClr val="tx2">
                  <a:lumMod val="60000"/>
                  <a:lumOff val="40000"/>
                </a:schemeClr>
              </a:buClr>
              <a:buSzPct val="150000"/>
              <a:buFont typeface="+mj-lt"/>
              <a:buAutoNum type="arabicPeriod"/>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226086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_Web_Resources">
    <p:spTree>
      <p:nvGrpSpPr>
        <p:cNvPr id="1" name=""/>
        <p:cNvGrpSpPr/>
        <p:nvPr/>
      </p:nvGrpSpPr>
      <p:grpSpPr>
        <a:xfrm>
          <a:off x="0" y="0"/>
          <a:ext cx="0" cy="0"/>
          <a:chOff x="0" y="0"/>
          <a:chExt cx="0" cy="0"/>
        </a:xfrm>
      </p:grpSpPr>
      <p:sp>
        <p:nvSpPr>
          <p:cNvPr id="7" name="Rectangle 6"/>
          <p:cNvSpPr/>
          <p:nvPr userDrawn="1"/>
        </p:nvSpPr>
        <p:spPr>
          <a:xfrm>
            <a:off x="457200" y="381000"/>
            <a:ext cx="8305800" cy="1143000"/>
          </a:xfrm>
          <a:prstGeom prst="rect">
            <a:avLst/>
          </a:prstGeom>
          <a:gradFill flip="none" rotWithShape="1">
            <a:gsLst>
              <a:gs pos="0">
                <a:srgbClr val="FEBB34"/>
              </a:gs>
              <a:gs pos="77000">
                <a:srgbClr val="FD9B0B"/>
              </a:gs>
              <a:gs pos="100000">
                <a:srgbClr val="F17901"/>
              </a:gs>
            </a:gsLst>
            <a:path path="rect">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254134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_WileyPLUS_Learning_Space">
    <p:spTree>
      <p:nvGrpSpPr>
        <p:cNvPr id="1" name=""/>
        <p:cNvGrpSpPr/>
        <p:nvPr/>
      </p:nvGrpSpPr>
      <p:grpSpPr>
        <a:xfrm>
          <a:off x="0" y="0"/>
          <a:ext cx="0" cy="0"/>
          <a:chOff x="0" y="0"/>
          <a:chExt cx="0" cy="0"/>
        </a:xfrm>
      </p:grpSpPr>
      <p:sp>
        <p:nvSpPr>
          <p:cNvPr id="8" name="Rectangle 7"/>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828800"/>
            <a:ext cx="8229600" cy="4297363"/>
          </a:xfrm>
        </p:spPr>
        <p:txBody>
          <a:bodyPr/>
          <a:lstStyle>
            <a:lvl1pPr marL="457200" indent="-457200">
              <a:buClr>
                <a:schemeClr val="accent6">
                  <a:lumMod val="75000"/>
                </a:schemeClr>
              </a:buClr>
              <a:buSzPct val="150000"/>
              <a:buFont typeface="Times New Roman" pitchFamily="18" charset="0"/>
              <a:buChar cha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cxnSp>
        <p:nvCxnSpPr>
          <p:cNvPr id="10" name="Straight Connector 9"/>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0856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609600" y="6324600"/>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527482"/>
            <a:ext cx="8534400" cy="0"/>
          </a:xfrm>
          <a:prstGeom prst="line">
            <a:avLst/>
          </a:prstGeom>
          <a:ln w="25400">
            <a:solidFill>
              <a:schemeClr val="accent6">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304800" y="533400"/>
            <a:ext cx="8534400" cy="1524000"/>
          </a:xfrm>
        </p:spPr>
        <p:txBody>
          <a:bodyPr/>
          <a:lstStyle>
            <a:lvl1pPr>
              <a:defRPr b="0" i="0" baseline="0">
                <a:effectLst>
                  <a:outerShdw blurRad="317500" dist="101600" dir="2700000" algn="tl" rotWithShape="0">
                    <a:schemeClr val="tx1">
                      <a:lumMod val="95000"/>
                      <a:lumOff val="5000"/>
                      <a:alpha val="65000"/>
                    </a:schemeClr>
                  </a:outerShdw>
                </a:effectLst>
                <a:latin typeface="Times New Roman" pitchFamily="18" charset="0"/>
              </a:defRPr>
            </a:lvl1pPr>
          </a:lstStyle>
          <a:p>
            <a:r>
              <a:rPr lang="en-US" dirty="0" smtClean="0"/>
              <a:t>Click to edit Opening Case title</a:t>
            </a:r>
            <a:endParaRPr lang="en-US" dirty="0"/>
          </a:p>
        </p:txBody>
      </p:sp>
      <p:sp>
        <p:nvSpPr>
          <p:cNvPr id="5" name="Slide Number Placeholder 4"/>
          <p:cNvSpPr>
            <a:spLocks noGrp="1"/>
          </p:cNvSpPr>
          <p:nvPr>
            <p:ph type="sldNum" sz="quarter" idx="12"/>
          </p:nvPr>
        </p:nvSpPr>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2286000"/>
            <a:ext cx="8229600" cy="3962400"/>
          </a:xfrm>
        </p:spPr>
        <p:txBody>
          <a:bodyPr/>
          <a:lstStyle>
            <a:lvl1pPr>
              <a:defRPr b="1" baseline="0">
                <a:latin typeface="Times New Roman" pitchFamily="18" charset="0"/>
              </a:defRPr>
            </a:lvl1pPr>
            <a:lvl2pPr>
              <a:defRPr baseline="0">
                <a:solidFill>
                  <a:schemeClr val="accent6">
                    <a:lumMod val="50000"/>
                  </a:schemeClr>
                </a:solidFill>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2" name="Straight Connector 11"/>
          <p:cNvCxnSpPr/>
          <p:nvPr userDrawn="1"/>
        </p:nvCxnSpPr>
        <p:spPr>
          <a:xfrm>
            <a:off x="914400" y="2209800"/>
            <a:ext cx="41148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188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rgbClr val="C00000"/>
              </a:gs>
              <a:gs pos="49000">
                <a:srgbClr val="C00000"/>
              </a:gs>
              <a:gs pos="100000">
                <a:srgbClr val="740000"/>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rgbClr val="C00000"/>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5562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14" name="ClipArt Placeholder 13"/>
          <p:cNvSpPr>
            <a:spLocks noGrp="1"/>
          </p:cNvSpPr>
          <p:nvPr>
            <p:ph type="clipArt" sz="quarter" idx="14"/>
          </p:nvPr>
        </p:nvSpPr>
        <p:spPr>
          <a:xfrm>
            <a:off x="7315200" y="1143000"/>
            <a:ext cx="1219200" cy="1066800"/>
          </a:xfrm>
        </p:spPr>
        <p:txBody>
          <a:bodyPr/>
          <a:lstStyle/>
          <a:p>
            <a:endParaRPr lang="en-US" dirty="0"/>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ts_about_small_bus">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740000"/>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userDrawn="1"/>
        </p:nvSpPr>
        <p:spPr>
          <a:xfrm>
            <a:off x="609600" y="762000"/>
            <a:ext cx="1752600" cy="1752600"/>
          </a:xfrm>
          <a:prstGeom prst="ellipse">
            <a:avLst/>
          </a:prstGeom>
          <a:gradFill flip="none" rotWithShape="1">
            <a:gsLst>
              <a:gs pos="0">
                <a:schemeClr val="accent1">
                  <a:lumMod val="40000"/>
                  <a:lumOff val="60000"/>
                </a:schemeClr>
              </a:gs>
              <a:gs pos="46000">
                <a:schemeClr val="accent1">
                  <a:lumMod val="92000"/>
                  <a:lumOff val="8000"/>
                </a:schemeClr>
              </a:gs>
              <a:gs pos="100000">
                <a:schemeClr val="accent1">
                  <a:lumMod val="50000"/>
                </a:schemeClr>
              </a:gs>
            </a:gsLst>
            <a:path path="shape">
              <a:fillToRect l="50000" t="50000" r="50000" b="50000"/>
            </a:path>
            <a:tileRect/>
          </a:gradFill>
          <a:ln>
            <a:noFill/>
          </a:ln>
          <a:effectLst>
            <a:outerShdw blurRad="254000" dist="101600" dir="2700000" algn="tl"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3505200" y="2362200"/>
            <a:ext cx="4876800" cy="3733800"/>
          </a:xfrm>
        </p:spPr>
        <p:txBody>
          <a:bodyPr>
            <a:normAutofit/>
          </a:bodyPr>
          <a:lstStyle>
            <a:lvl1pPr marL="0" indent="0" algn="l">
              <a:spcBef>
                <a:spcPts val="600"/>
              </a:spcBef>
              <a:spcAft>
                <a:spcPts val="600"/>
              </a:spcAft>
              <a:buNone/>
              <a:defRPr sz="4800" baseline="0">
                <a:solidFill>
                  <a:schemeClr val="accent1">
                    <a:lumMod val="7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p:cNvSpPr>
            <a:spLocks noGrp="1"/>
          </p:cNvSpPr>
          <p:nvPr>
            <p:ph type="body" sz="quarter" idx="13" hasCustomPrompt="1"/>
          </p:nvPr>
        </p:nvSpPr>
        <p:spPr>
          <a:xfrm>
            <a:off x="609600" y="762000"/>
            <a:ext cx="1752600" cy="1752600"/>
          </a:xfrm>
        </p:spPr>
        <p:txBody>
          <a:bodyPr anchor="ctr" anchorCtr="0">
            <a:normAutofit/>
          </a:bodyPr>
          <a:lstStyle>
            <a:lvl1pPr marL="0" indent="0" algn="ctr">
              <a:buFontTx/>
              <a:buNone/>
              <a:defRPr sz="7200" b="0" i="0" baseline="0">
                <a:solidFill>
                  <a:schemeClr val="bg1"/>
                </a:solidFill>
                <a:effectLst>
                  <a:outerShdw blurRad="63500" sx="104000" sy="104000" algn="ctr" rotWithShape="0">
                    <a:prstClr val="black">
                      <a:alpha val="60000"/>
                    </a:prstClr>
                  </a:outerShdw>
                </a:effectLst>
                <a:latin typeface="Rockwell" pitchFamily="18" charset="0"/>
              </a:defRPr>
            </a:lvl1pPr>
          </a:lstStyle>
          <a:p>
            <a:pPr lvl="0"/>
            <a:r>
              <a:rPr lang="en-US" dirty="0" smtClean="0"/>
              <a:t>IT’s</a:t>
            </a:r>
            <a:endParaRPr lang="en-US" dirty="0"/>
          </a:p>
        </p:txBody>
      </p:sp>
      <p:sp>
        <p:nvSpPr>
          <p:cNvPr id="2" name="TextBox 1"/>
          <p:cNvSpPr txBox="1"/>
          <p:nvPr userDrawn="1"/>
        </p:nvSpPr>
        <p:spPr>
          <a:xfrm>
            <a:off x="2514600" y="1219200"/>
            <a:ext cx="6324600" cy="830997"/>
          </a:xfrm>
          <a:prstGeom prst="rect">
            <a:avLst/>
          </a:prstGeom>
          <a:noFill/>
        </p:spPr>
        <p:txBody>
          <a:bodyPr wrap="square" rtlCol="0">
            <a:spAutoFit/>
          </a:bodyPr>
          <a:lstStyle/>
          <a:p>
            <a:r>
              <a:rPr lang="en-US" sz="4800" baseline="0" dirty="0" smtClean="0">
                <a:effectLst>
                  <a:outerShdw blurRad="317500" dist="101600" dir="2700000" algn="tl" rotWithShape="0">
                    <a:prstClr val="black">
                      <a:alpha val="65000"/>
                    </a:prstClr>
                  </a:outerShdw>
                </a:effectLst>
                <a:latin typeface="Arial" pitchFamily="34" charset="0"/>
              </a:rPr>
              <a:t>About </a:t>
            </a:r>
            <a:r>
              <a:rPr lang="en-US" sz="4800" baseline="0" dirty="0" smtClean="0">
                <a:solidFill>
                  <a:schemeClr val="accent1">
                    <a:lumMod val="75000"/>
                  </a:schemeClr>
                </a:solidFill>
                <a:effectLst>
                  <a:outerShdw blurRad="317500" dist="101600" dir="2700000" algn="tl" rotWithShape="0">
                    <a:prstClr val="black">
                      <a:alpha val="65000"/>
                    </a:prstClr>
                  </a:outerShdw>
                </a:effectLst>
                <a:latin typeface="Arial" pitchFamily="34" charset="0"/>
              </a:rPr>
              <a:t>[small] </a:t>
            </a:r>
            <a:r>
              <a:rPr lang="en-US" sz="4800" baseline="0" dirty="0" smtClean="0">
                <a:effectLst>
                  <a:outerShdw blurRad="317500" dist="101600" dir="2700000" algn="tl" rotWithShape="0">
                    <a:prstClr val="black">
                      <a:alpha val="65000"/>
                    </a:prstClr>
                  </a:outerShdw>
                </a:effectLst>
                <a:latin typeface="Arial" pitchFamily="34" charset="0"/>
              </a:rPr>
              <a:t>business</a:t>
            </a:r>
            <a:endParaRPr lang="en-US" sz="4800" baseline="0" dirty="0">
              <a:effectLst>
                <a:outerShdw blurRad="317500" dist="101600" dir="2700000" algn="tl" rotWithShape="0">
                  <a:prstClr val="black">
                    <a:alpha val="65000"/>
                  </a:prstClr>
                </a:outerShdw>
              </a:effectLst>
              <a:latin typeface="Arial" pitchFamily="34" charset="0"/>
            </a:endParaRPr>
          </a:p>
        </p:txBody>
      </p:sp>
      <p:sp>
        <p:nvSpPr>
          <p:cNvPr id="25" name="Text Placeholder 24"/>
          <p:cNvSpPr>
            <a:spLocks noGrp="1"/>
          </p:cNvSpPr>
          <p:nvPr>
            <p:ph type="body" sz="quarter" idx="15" hasCustomPrompt="1"/>
          </p:nvPr>
        </p:nvSpPr>
        <p:spPr>
          <a:xfrm>
            <a:off x="2286000" y="2362200"/>
            <a:ext cx="1295400" cy="990600"/>
          </a:xfrm>
        </p:spPr>
        <p:txBody>
          <a:bodyPr>
            <a:normAutofit/>
          </a:bodyPr>
          <a:lstStyle>
            <a:lvl1pPr marL="0" indent="0">
              <a:buNone/>
              <a:defRPr sz="4800" b="1" i="0" baseline="0">
                <a:latin typeface="Rockwell" pitchFamily="18" charset="0"/>
              </a:defRPr>
            </a:lvl1pPr>
          </a:lstStyle>
          <a:p>
            <a:pPr lvl="0"/>
            <a:r>
              <a:rPr lang="en-US" dirty="0" smtClean="0"/>
              <a:t>0.0</a:t>
            </a:r>
            <a:endParaRPr lang="en-US" dirty="0"/>
          </a:p>
        </p:txBody>
      </p:sp>
    </p:spTree>
    <p:extLst>
      <p:ext uri="{BB962C8B-B14F-4D97-AF65-F5344CB8AC3E}">
        <p14:creationId xmlns:p14="http://schemas.microsoft.com/office/powerpoint/2010/main" val="1965358368"/>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779232" y="762000"/>
            <a:ext cx="6831367" cy="1676400"/>
          </a:xfrm>
        </p:spPr>
        <p:txBody>
          <a:bodyPr>
            <a:normAutofit/>
          </a:bodyPr>
          <a:lstStyle>
            <a:lvl1pPr marL="0" indent="0" algn="l">
              <a:spcBef>
                <a:spcPts val="600"/>
              </a:spcBef>
              <a:spcAft>
                <a:spcPts val="600"/>
              </a:spcAft>
              <a:buNone/>
              <a:defRPr sz="4800" baseline="0">
                <a:solidFill>
                  <a:schemeClr val="tx1"/>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userDrawn="1"/>
        </p:nvCxnSpPr>
        <p:spPr>
          <a:xfrm>
            <a:off x="0" y="527482"/>
            <a:ext cx="853440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p:cNvSpPr>
            <a:spLocks noGrp="1"/>
          </p:cNvSpPr>
          <p:nvPr>
            <p:ph type="body" sz="quarter" idx="14" hasCustomPrompt="1"/>
          </p:nvPr>
        </p:nvSpPr>
        <p:spPr>
          <a:xfrm>
            <a:off x="304800" y="457200"/>
            <a:ext cx="1752600" cy="1524000"/>
          </a:xfrm>
        </p:spPr>
        <p:txBody>
          <a:bodyPr>
            <a:noAutofit/>
          </a:bodyPr>
          <a:lstStyle>
            <a:lvl1pPr marL="0" indent="0">
              <a:buNone/>
              <a:defRPr sz="7200" baseline="0">
                <a:solidFill>
                  <a:schemeClr val="accent1">
                    <a:lumMod val="75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752600" y="2438400"/>
            <a:ext cx="6858000" cy="3810000"/>
          </a:xfrm>
        </p:spPr>
        <p:txBody>
          <a:bodyPr/>
          <a:lstStyle>
            <a:lvl1pPr>
              <a:defRPr baseline="0">
                <a:solidFill>
                  <a:srgbClr val="69BE02"/>
                </a:solidFill>
                <a:latin typeface="Rockwell" pitchFamily="18" charset="0"/>
              </a:defRPr>
            </a:lvl1pPr>
            <a:lvl2pPr>
              <a:defRPr baseline="0">
                <a:solidFill>
                  <a:schemeClr val="tx1"/>
                </a:solidFill>
                <a:latin typeface="Times New Roman" pitchFamily="18" charset="0"/>
              </a:defRPr>
            </a:lvl2pPr>
            <a:lvl3pPr>
              <a:defRPr baseline="0">
                <a:solidFill>
                  <a:schemeClr val="tx1"/>
                </a:solidFill>
                <a:latin typeface="Times New Roman" pitchFamily="18" charset="0"/>
              </a:defRPr>
            </a:lvl3pPr>
            <a:lvl4pPr>
              <a:defRPr baseline="0">
                <a:solidFill>
                  <a:schemeClr val="tx1"/>
                </a:solidFill>
                <a:latin typeface="Times New Roman" pitchFamily="18" charset="0"/>
              </a:defRPr>
            </a:lvl4pPr>
            <a:lvl5pPr>
              <a:defRPr baseline="0">
                <a:solidFill>
                  <a:schemeClr val="tx1"/>
                </a:solidFill>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09600"/>
            <a:ext cx="8063871" cy="13716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20574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8153400" cy="40386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pic Level3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762000"/>
            <a:ext cx="8063871" cy="10668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8288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2133600"/>
            <a:ext cx="3886200" cy="3962400"/>
          </a:xfrm>
        </p:spPr>
        <p:txBody>
          <a:bodyPr/>
          <a:lstStyle>
            <a:lvl1pPr>
              <a:defRPr baseline="0">
                <a:solidFill>
                  <a:schemeClr val="accent6">
                    <a:lumMod val="75000"/>
                  </a:schemeClr>
                </a:solidFill>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7046089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vel3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69BE02"/>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3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69BE02"/>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rgbClr val="F1790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139580638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728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495300"/>
            <a:ext cx="8063871" cy="14859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p:cNvSpPr>
            <a:spLocks noGrp="1"/>
          </p:cNvSpPr>
          <p:nvPr>
            <p:ph type="body" sz="quarter" idx="13"/>
          </p:nvPr>
        </p:nvSpPr>
        <p:spPr>
          <a:xfrm>
            <a:off x="533400" y="2133600"/>
            <a:ext cx="8153400" cy="3962400"/>
          </a:xfrm>
        </p:spPr>
        <p:txBody>
          <a:bodyPr/>
          <a:lstStyle>
            <a:lvl1pPr>
              <a:defRPr baseline="0">
                <a:solidFill>
                  <a:schemeClr val="tx1"/>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81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0217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opic Level4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447801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vel4_2 Col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457200" y="609600"/>
            <a:ext cx="8229600" cy="9144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5240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457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648200" y="2209800"/>
            <a:ext cx="4038600" cy="39624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ext Placeholder 2"/>
          <p:cNvSpPr>
            <a:spLocks noGrp="1"/>
          </p:cNvSpPr>
          <p:nvPr>
            <p:ph type="body" idx="16" hasCustomPrompt="1"/>
          </p:nvPr>
        </p:nvSpPr>
        <p:spPr>
          <a:xfrm>
            <a:off x="457200" y="1600199"/>
            <a:ext cx="4040188"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1</a:t>
            </a:r>
          </a:p>
        </p:txBody>
      </p:sp>
      <p:sp>
        <p:nvSpPr>
          <p:cNvPr id="14" name="Text Placeholder 4"/>
          <p:cNvSpPr>
            <a:spLocks noGrp="1"/>
          </p:cNvSpPr>
          <p:nvPr>
            <p:ph type="body" sz="quarter" idx="3" hasCustomPrompt="1"/>
          </p:nvPr>
        </p:nvSpPr>
        <p:spPr>
          <a:xfrm>
            <a:off x="4645025" y="1600199"/>
            <a:ext cx="4041775" cy="574675"/>
          </a:xfrm>
        </p:spPr>
        <p:txBody>
          <a:bodyPr anchor="b">
            <a:noAutofit/>
          </a:bodyPr>
          <a:lstStyle>
            <a:lvl1pPr marL="0" indent="0">
              <a:buNone/>
              <a:defRPr sz="3600" b="0" baseline="0">
                <a:solidFill>
                  <a:schemeClr val="tx1"/>
                </a:solidFill>
                <a:latin typeface="Rockwell"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Category 2</a:t>
            </a:r>
          </a:p>
        </p:txBody>
      </p:sp>
    </p:spTree>
    <p:extLst>
      <p:ext uri="{BB962C8B-B14F-4D97-AF65-F5344CB8AC3E}">
        <p14:creationId xmlns:p14="http://schemas.microsoft.com/office/powerpoint/2010/main" val="75282148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pic Level5_2 Column">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8"/>
          <p:cNvSpPr>
            <a:spLocks noGrp="1"/>
          </p:cNvSpPr>
          <p:nvPr>
            <p:ph sz="quarter" idx="15"/>
          </p:nvPr>
        </p:nvSpPr>
        <p:spPr>
          <a:xfrm>
            <a:off x="4724400" y="1828800"/>
            <a:ext cx="3886200" cy="4419600"/>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0918356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ic Level5_3 Column Compare">
    <p:spTree>
      <p:nvGrpSpPr>
        <p:cNvPr id="1" name=""/>
        <p:cNvGrpSpPr/>
        <p:nvPr/>
      </p:nvGrpSpPr>
      <p:grpSpPr>
        <a:xfrm>
          <a:off x="0" y="0"/>
          <a:ext cx="0" cy="0"/>
          <a:chOff x="0" y="0"/>
          <a:chExt cx="0" cy="0"/>
        </a:xfrm>
      </p:grpSpPr>
      <p:cxnSp>
        <p:nvCxnSpPr>
          <p:cNvPr id="18" name="Straight Connector 17"/>
          <p:cNvCxnSpPr/>
          <p:nvPr userDrawn="1"/>
        </p:nvCxnSpPr>
        <p:spPr>
          <a:xfrm>
            <a:off x="609600" y="63246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hasCustomPrompt="1"/>
          </p:nvPr>
        </p:nvSpPr>
        <p:spPr>
          <a:xfrm>
            <a:off x="546728" y="685800"/>
            <a:ext cx="8063871" cy="1066800"/>
          </a:xfrm>
        </p:spPr>
        <p:txBody>
          <a:bodyPr>
            <a:normAutofit/>
          </a:bodyPr>
          <a:lstStyle>
            <a:lvl1pPr marL="0" indent="0" algn="l">
              <a:spcBef>
                <a:spcPts val="600"/>
              </a:spcBef>
              <a:spcAft>
                <a:spcPts val="600"/>
              </a:spcAft>
              <a:buNone/>
              <a:defRPr sz="4800" baseline="0">
                <a:solidFill>
                  <a:schemeClr val="tx1">
                    <a:lumMod val="65000"/>
                    <a:lumOff val="35000"/>
                  </a:schemeClr>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5 Topic</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7" name="Rectangle 6"/>
          <p:cNvSpPr/>
          <p:nvPr userDrawn="1"/>
        </p:nvSpPr>
        <p:spPr>
          <a:xfrm>
            <a:off x="0" y="152400"/>
            <a:ext cx="2362200" cy="342900"/>
          </a:xfrm>
          <a:prstGeom prst="rect">
            <a:avLst/>
          </a:prstGeom>
          <a:solidFill>
            <a:srgbClr val="F179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0" y="1600200"/>
            <a:ext cx="8534400"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p:cNvSpPr>
            <a:spLocks noGrp="1"/>
          </p:cNvSpPr>
          <p:nvPr>
            <p:ph sz="quarter" idx="14"/>
          </p:nvPr>
        </p:nvSpPr>
        <p:spPr>
          <a:xfrm>
            <a:off x="533400" y="1828800"/>
            <a:ext cx="2590800" cy="609600"/>
          </a:xfrm>
        </p:spPr>
        <p:txBody>
          <a:bodyPr/>
          <a:lstStyle>
            <a:lvl1pPr marL="0" indent="0">
              <a:buNone/>
              <a:defRPr b="1" baseline="0">
                <a:latin typeface="Times New Roman" pitchFamily="18" charset="0"/>
              </a:defRPr>
            </a:lvl1pPr>
            <a:lvl2pPr>
              <a:defRPr b="1" baseline="0">
                <a:latin typeface="Times New Roman" pitchFamily="18" charset="0"/>
              </a:defRPr>
            </a:lvl2pPr>
            <a:lvl3pPr>
              <a:defRPr b="1" baseline="0">
                <a:latin typeface="Times New Roman" pitchFamily="18" charset="0"/>
              </a:defRPr>
            </a:lvl3pPr>
            <a:lvl4pPr>
              <a:defRPr b="1" baseline="0">
                <a:latin typeface="Times New Roman" pitchFamily="18" charset="0"/>
              </a:defRPr>
            </a:lvl4pPr>
            <a:lvl5pPr>
              <a:defRPr b="1" baseline="0">
                <a:latin typeface="Times New Roman" pitchFamily="18" charset="0"/>
              </a:defRPr>
            </a:lvl5pPr>
          </a:lstStyle>
          <a:p>
            <a:pPr lvl="0"/>
            <a:r>
              <a:rPr lang="en-US" dirty="0" smtClean="0"/>
              <a:t>Click to edit</a:t>
            </a:r>
            <a:endParaRPr lang="en-US" dirty="0"/>
          </a:p>
        </p:txBody>
      </p:sp>
      <p:sp>
        <p:nvSpPr>
          <p:cNvPr id="10" name="Content Placeholder 3"/>
          <p:cNvSpPr>
            <a:spLocks noGrp="1"/>
          </p:cNvSpPr>
          <p:nvPr>
            <p:ph sz="quarter" idx="16"/>
          </p:nvPr>
        </p:nvSpPr>
        <p:spPr>
          <a:xfrm>
            <a:off x="3276600"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a:t>
            </a:r>
            <a:endParaRPr lang="en-US" dirty="0"/>
          </a:p>
        </p:txBody>
      </p:sp>
      <p:sp>
        <p:nvSpPr>
          <p:cNvPr id="14" name="Content Placeholder 3"/>
          <p:cNvSpPr>
            <a:spLocks noGrp="1"/>
          </p:cNvSpPr>
          <p:nvPr>
            <p:ph sz="quarter" idx="17"/>
          </p:nvPr>
        </p:nvSpPr>
        <p:spPr>
          <a:xfrm>
            <a:off x="6029632" y="1828800"/>
            <a:ext cx="2590800" cy="609600"/>
          </a:xfrm>
        </p:spPr>
        <p:txBody>
          <a:bodyPr/>
          <a:lstStyle>
            <a:lvl1pPr marL="0" indent="0">
              <a:buNone/>
              <a:defRPr b="1"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a:t>
            </a:r>
            <a:endParaRPr lang="en-US" dirty="0"/>
          </a:p>
        </p:txBody>
      </p:sp>
      <p:sp>
        <p:nvSpPr>
          <p:cNvPr id="15" name="Content Placeholder 3"/>
          <p:cNvSpPr>
            <a:spLocks noGrp="1"/>
          </p:cNvSpPr>
          <p:nvPr>
            <p:ph sz="quarter" idx="18"/>
          </p:nvPr>
        </p:nvSpPr>
        <p:spPr>
          <a:xfrm>
            <a:off x="5334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6" name="Content Placeholder 3"/>
          <p:cNvSpPr>
            <a:spLocks noGrp="1"/>
          </p:cNvSpPr>
          <p:nvPr>
            <p:ph sz="quarter" idx="19"/>
          </p:nvPr>
        </p:nvSpPr>
        <p:spPr>
          <a:xfrm>
            <a:off x="3276600"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7" name="Content Placeholder 3"/>
          <p:cNvSpPr>
            <a:spLocks noGrp="1"/>
          </p:cNvSpPr>
          <p:nvPr>
            <p:ph sz="quarter" idx="20"/>
          </p:nvPr>
        </p:nvSpPr>
        <p:spPr>
          <a:xfrm>
            <a:off x="6029632" y="2408903"/>
            <a:ext cx="2590800" cy="3839497"/>
          </a:xfrm>
        </p:spPr>
        <p:txBody>
          <a:bodyPr/>
          <a:lstStyle>
            <a:lvl1pPr>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96440903"/>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C692F6-6F2F-4CFD-A777-05649129AE6F}" type="datetimeFigureOut">
              <a:rPr lang="en-US" smtClean="0"/>
              <a:t>10/1/2015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227977588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6C692F6-6F2F-4CFD-A777-05649129AE6F}" type="datetimeFigureOut">
              <a:rPr lang="en-US" smtClean="0"/>
              <a:t>10/1/2015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332128318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6C692F6-6F2F-4CFD-A777-05649129AE6F}" type="datetimeFigureOut">
              <a:rPr lang="en-US" smtClean="0"/>
              <a:t>10/1/2015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392DC9-9688-4E44-A90B-C333AD8FEA09}" type="slidenum">
              <a:rPr lang="en-US" smtClean="0"/>
              <a:t>‹#›</a:t>
            </a:fld>
            <a:endParaRPr lang="en-US"/>
          </a:p>
        </p:txBody>
      </p:sp>
    </p:spTree>
    <p:extLst>
      <p:ext uri="{BB962C8B-B14F-4D97-AF65-F5344CB8AC3E}">
        <p14:creationId xmlns:p14="http://schemas.microsoft.com/office/powerpoint/2010/main" val="156832351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full_slide_background">
    <p:spTree>
      <p:nvGrpSpPr>
        <p:cNvPr id="1" name=""/>
        <p:cNvGrpSpPr/>
        <p:nvPr/>
      </p:nvGrpSpPr>
      <p:grpSpPr>
        <a:xfrm>
          <a:off x="0" y="0"/>
          <a:ext cx="0" cy="0"/>
          <a:chOff x="0" y="0"/>
          <a:chExt cx="0" cy="0"/>
        </a:xfrm>
      </p:grpSpPr>
      <p:cxnSp>
        <p:nvCxnSpPr>
          <p:cNvPr id="2" name="Straight Connector 1"/>
          <p:cNvCxnSpPr/>
          <p:nvPr userDrawn="1"/>
        </p:nvCxnSpPr>
        <p:spPr>
          <a:xfrm>
            <a:off x="609600" y="67056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546728" y="609600"/>
            <a:ext cx="8063871" cy="685800"/>
          </a:xfrm>
        </p:spPr>
        <p:txBody>
          <a:bodyPr>
            <a:normAutofit/>
          </a:bodyPr>
          <a:lstStyle>
            <a:lvl1pPr marL="0" indent="0" algn="l">
              <a:spcBef>
                <a:spcPts val="600"/>
              </a:spcBef>
              <a:spcAft>
                <a:spcPts val="600"/>
              </a:spcAft>
              <a:buNone/>
              <a:defRPr sz="4800" baseline="0">
                <a:solidFill>
                  <a:srgbClr val="F17901"/>
                </a:solidFill>
                <a:latin typeface="Rockwell"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Level 4 Topic</a:t>
            </a:r>
            <a:endParaRPr lang="en-US" dirty="0"/>
          </a:p>
        </p:txBody>
      </p:sp>
      <p:sp>
        <p:nvSpPr>
          <p:cNvPr id="4" name="Rectangle 3"/>
          <p:cNvSpPr/>
          <p:nvPr userDrawn="1"/>
        </p:nvSpPr>
        <p:spPr>
          <a:xfrm>
            <a:off x="0" y="152400"/>
            <a:ext cx="2362200" cy="342900"/>
          </a:xfrm>
          <a:prstGeom prst="rect">
            <a:avLst/>
          </a:prstGeom>
          <a:solidFill>
            <a:srgbClr val="69BE0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userDrawn="1"/>
        </p:nvCxnSpPr>
        <p:spPr>
          <a:xfrm>
            <a:off x="0" y="1295400"/>
            <a:ext cx="8534400" cy="0"/>
          </a:xfrm>
          <a:prstGeom prst="line">
            <a:avLst/>
          </a:prstGeom>
          <a:ln w="25400">
            <a:solidFill>
              <a:srgbClr val="F17901"/>
            </a:solidFill>
          </a:ln>
        </p:spPr>
        <p:style>
          <a:lnRef idx="1">
            <a:schemeClr val="accent1"/>
          </a:lnRef>
          <a:fillRef idx="0">
            <a:schemeClr val="accent1"/>
          </a:fillRef>
          <a:effectRef idx="0">
            <a:schemeClr val="accent1"/>
          </a:effectRef>
          <a:fontRef idx="minor">
            <a:schemeClr val="tx1"/>
          </a:fontRef>
        </p:style>
      </p:cxnSp>
      <p:sp>
        <p:nvSpPr>
          <p:cNvPr id="7" name="Content Placeholder 3"/>
          <p:cNvSpPr>
            <a:spLocks noGrp="1"/>
          </p:cNvSpPr>
          <p:nvPr>
            <p:ph sz="quarter" idx="14"/>
          </p:nvPr>
        </p:nvSpPr>
        <p:spPr>
          <a:xfrm>
            <a:off x="533400" y="1447800"/>
            <a:ext cx="8153400" cy="5105400"/>
          </a:xfrm>
        </p:spPr>
        <p:txBody>
          <a:bodyPr/>
          <a:lstStyle>
            <a:lvl1pPr>
              <a:defRPr baseline="0">
                <a:solidFill>
                  <a:schemeClr val="accent6">
                    <a:lumMod val="75000"/>
                  </a:schemeClr>
                </a:solidFill>
                <a:latin typeface="Rockwell"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08645576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10/1/2015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75" r:id="rId5"/>
    <p:sldLayoutId id="2147483654" r:id="rId6"/>
    <p:sldLayoutId id="2147483662" r:id="rId7"/>
    <p:sldLayoutId id="2147483671" r:id="rId8"/>
    <p:sldLayoutId id="2147483663" r:id="rId9"/>
    <p:sldLayoutId id="2147483664" r:id="rId10"/>
    <p:sldLayoutId id="2147483665" r:id="rId11"/>
    <p:sldLayoutId id="2147483667" r:id="rId12"/>
    <p:sldLayoutId id="2147483668" r:id="rId13"/>
    <p:sldLayoutId id="2147483672" r:id="rId14"/>
    <p:sldLayoutId id="2147483669" r:id="rId15"/>
    <p:sldLayoutId id="2147483670" r:id="rId16"/>
    <p:sldLayoutId id="2147483673" r:id="rId17"/>
    <p:sldLayoutId id="2147483674" r:id="rId18"/>
    <p:sldLayoutId id="2147483651" r:id="rId19"/>
    <p:sldLayoutId id="2147483652" r:id="rId20"/>
    <p:sldLayoutId id="2147483653" r:id="rId21"/>
    <p:sldLayoutId id="2147483676" r:id="rId22"/>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2.xml"/><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Customer Relationship Management and Supply Chain Management</a:t>
            </a:r>
            <a:endParaRPr lang="en-US" dirty="0"/>
          </a:p>
        </p:txBody>
      </p:sp>
      <p:sp>
        <p:nvSpPr>
          <p:cNvPr id="3" name="Text Placeholder 2"/>
          <p:cNvSpPr>
            <a:spLocks noGrp="1"/>
          </p:cNvSpPr>
          <p:nvPr>
            <p:ph type="body" sz="quarter" idx="13"/>
          </p:nvPr>
        </p:nvSpPr>
        <p:spPr>
          <a:xfrm>
            <a:off x="5410200" y="1295400"/>
            <a:ext cx="1752600" cy="1752600"/>
          </a:xfrm>
        </p:spPr>
        <p:txBody>
          <a:bodyPr/>
          <a:lstStyle/>
          <a:p>
            <a:r>
              <a:rPr lang="en-US" dirty="0" smtClean="0"/>
              <a:t>11</a:t>
            </a:r>
            <a:endParaRPr lang="en-US" dirty="0"/>
          </a:p>
        </p:txBody>
      </p:sp>
    </p:spTree>
    <p:extLst>
      <p:ext uri="{BB962C8B-B14F-4D97-AF65-F5344CB8AC3E}">
        <p14:creationId xmlns:p14="http://schemas.microsoft.com/office/powerpoint/2010/main" val="37570257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t>Identify the primary functions of both customer relationship management (CRM) and collaborative </a:t>
            </a:r>
            <a:r>
              <a:rPr lang="en-US" dirty="0" smtClean="0"/>
              <a:t>CRM strategies.</a:t>
            </a:r>
            <a:endParaRPr lang="en-US" dirty="0"/>
          </a:p>
          <a:p>
            <a:r>
              <a:rPr lang="en-US" dirty="0"/>
              <a:t>Describe how businesses might utilize applications of each of the two major components of operational CRM systems.</a:t>
            </a:r>
          </a:p>
          <a:p>
            <a:r>
              <a:rPr lang="en-US" dirty="0"/>
              <a:t>Discuss the benefits of analytical CRM systems to businesses.</a:t>
            </a:r>
          </a:p>
          <a:p>
            <a:r>
              <a:rPr lang="en-US" dirty="0"/>
              <a:t>Explain the advantages and disadvantages of mobile CRM systems, on-demand CRM systems, and open-source CRM systems.</a:t>
            </a:r>
          </a:p>
          <a:p>
            <a:r>
              <a:rPr lang="en-US" dirty="0"/>
              <a:t>Describe the three components and the three flows of a supply chain.</a:t>
            </a:r>
          </a:p>
          <a:p>
            <a:r>
              <a:rPr lang="en-US" dirty="0"/>
              <a:t>Identify popular strategies to solving different challenges of supply chains.</a:t>
            </a:r>
          </a:p>
          <a:p>
            <a:r>
              <a:rPr lang="en-US" dirty="0"/>
              <a:t>Explain the utility of each of the three major technologies that supports supply chain management.</a:t>
            </a:r>
          </a:p>
        </p:txBody>
      </p:sp>
      <p:sp>
        <p:nvSpPr>
          <p:cNvPr id="4" name="Title 1"/>
          <p:cNvSpPr txBox="1">
            <a:spLocks/>
          </p:cNvSpPr>
          <p:nvPr/>
        </p:nvSpPr>
        <p:spPr>
          <a:xfrm>
            <a:off x="457200" y="533400"/>
            <a:ext cx="8229600" cy="1143000"/>
          </a:xfrm>
          <a:prstGeom prst="rect">
            <a:avLst/>
          </a:prstGeom>
        </p:spPr>
        <p:txBody>
          <a:bodyPr>
            <a:no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LEARNING OBJECTIVES]</a:t>
            </a:r>
            <a:endParaRPr lang="en-US" dirty="0"/>
          </a:p>
        </p:txBody>
      </p:sp>
    </p:spTree>
    <p:extLst>
      <p:ext uri="{BB962C8B-B14F-4D97-AF65-F5344CB8AC3E}">
        <p14:creationId xmlns:p14="http://schemas.microsoft.com/office/powerpoint/2010/main" val="42273789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Defining Customer Relationship Management</a:t>
            </a:r>
          </a:p>
          <a:p>
            <a:r>
              <a:rPr lang="en-US" dirty="0"/>
              <a:t>Operational Customer Relationship Management Systems</a:t>
            </a:r>
          </a:p>
          <a:p>
            <a:r>
              <a:rPr lang="en-US" dirty="0"/>
              <a:t>Analytical Customer Relationship Management Systems</a:t>
            </a:r>
          </a:p>
          <a:p>
            <a:r>
              <a:rPr lang="en-US" dirty="0"/>
              <a:t>Other Types of Customer Relationship Management Systems</a:t>
            </a:r>
          </a:p>
          <a:p>
            <a:r>
              <a:rPr lang="en-US" dirty="0"/>
              <a:t>Supply Chains</a:t>
            </a:r>
          </a:p>
          <a:p>
            <a:r>
              <a:rPr lang="en-US" dirty="0"/>
              <a:t>Supply Chain Management</a:t>
            </a:r>
          </a:p>
          <a:p>
            <a:r>
              <a:rPr lang="en-US" dirty="0"/>
              <a:t>Information Technology Support for Supply Chain </a:t>
            </a:r>
            <a:r>
              <a:rPr lang="en-US" dirty="0" smtClean="0"/>
              <a:t>Management</a:t>
            </a:r>
            <a:endParaRPr lang="en-US" dirty="0"/>
          </a:p>
        </p:txBody>
      </p:sp>
      <p:sp>
        <p:nvSpPr>
          <p:cNvPr id="4" name="Title 1"/>
          <p:cNvSpPr txBox="1">
            <a:spLocks/>
          </p:cNvSpPr>
          <p:nvPr/>
        </p:nvSpPr>
        <p:spPr>
          <a:xfrm>
            <a:off x="457200" y="533400"/>
            <a:ext cx="8229600" cy="1143000"/>
          </a:xfrm>
          <a:prstGeom prst="rect">
            <a:avLst/>
          </a:prstGeom>
        </p:spPr>
        <p:txBody>
          <a:bodyPr>
            <a:normAutofit/>
          </a:bodyPr>
          <a:lstStyle>
            <a:lvl1pPr algn="ctr" defTabSz="914400" rtl="0" eaLnBrk="1" latinLnBrk="0" hangingPunct="1">
              <a:spcBef>
                <a:spcPct val="0"/>
              </a:spcBef>
              <a:buNone/>
              <a:defRPr sz="5000" kern="1200" baseline="0">
                <a:solidFill>
                  <a:schemeClr val="tx1"/>
                </a:solidFill>
                <a:latin typeface="Times New Roman" pitchFamily="18" charset="0"/>
                <a:ea typeface="+mj-ea"/>
                <a:cs typeface="+mj-cs"/>
              </a:defRPr>
            </a:lvl1pPr>
          </a:lstStyle>
          <a:p>
            <a:r>
              <a:rPr lang="en-US" dirty="0" smtClean="0"/>
              <a:t>[ CHAPTER OUTLINE ]</a:t>
            </a:r>
            <a:endParaRPr lang="en-US" dirty="0"/>
          </a:p>
        </p:txBody>
      </p:sp>
    </p:spTree>
    <p:extLst>
      <p:ext uri="{BB962C8B-B14F-4D97-AF65-F5344CB8AC3E}">
        <p14:creationId xmlns:p14="http://schemas.microsoft.com/office/powerpoint/2010/main" val="18765037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r>
              <a:rPr lang="en-US" dirty="0"/>
              <a:t>Student PowerPoints for note taking</a:t>
            </a:r>
          </a:p>
          <a:p>
            <a:r>
              <a:rPr lang="en-US" b="1" dirty="0" err="1" smtClean="0">
                <a:solidFill>
                  <a:srgbClr val="FD9B0B"/>
                </a:solidFill>
                <a:latin typeface="Tahoma" panose="020B0604030504040204" pitchFamily="34" charset="0"/>
                <a:ea typeface="Tahoma" panose="020B0604030504040204" pitchFamily="34" charset="0"/>
                <a:cs typeface="Tahoma" panose="020B0604030504040204" pitchFamily="34" charset="0"/>
              </a:rPr>
              <a:t>WileyPLUS</a:t>
            </a:r>
            <a:r>
              <a:rPr lang="en-US" b="1" dirty="0" smtClean="0">
                <a:solidFill>
                  <a:srgbClr val="FD9B0B"/>
                </a:solidFill>
                <a:latin typeface="Tahoma" panose="020B0604030504040204" pitchFamily="34" charset="0"/>
                <a:ea typeface="Tahoma" panose="020B0604030504040204" pitchFamily="34" charset="0"/>
                <a:cs typeface="Tahoma" panose="020B0604030504040204" pitchFamily="34" charset="0"/>
              </a:rPr>
              <a:t> Learning Space</a:t>
            </a:r>
          </a:p>
          <a:p>
            <a:pPr lvl="1"/>
            <a:r>
              <a:rPr lang="en-US" dirty="0"/>
              <a:t>E-Book</a:t>
            </a:r>
          </a:p>
          <a:p>
            <a:pPr lvl="1"/>
            <a:r>
              <a:rPr lang="en-US" dirty="0"/>
              <a:t>Author video lecture for each chapter section</a:t>
            </a:r>
          </a:p>
          <a:p>
            <a:pPr lvl="1"/>
            <a:r>
              <a:rPr lang="en-US" dirty="0"/>
              <a:t>Practice quizzes</a:t>
            </a:r>
          </a:p>
          <a:p>
            <a:pPr lvl="1"/>
            <a:r>
              <a:rPr lang="en-US" dirty="0"/>
              <a:t>Flash Cards for vocabulary review</a:t>
            </a:r>
          </a:p>
          <a:p>
            <a:pPr lvl="1"/>
            <a:r>
              <a:rPr lang="en-US" dirty="0"/>
              <a:t>Additional “What’s in IT for Me?” cases</a:t>
            </a:r>
          </a:p>
          <a:p>
            <a:pPr lvl="1"/>
            <a:r>
              <a:rPr lang="en-US" dirty="0"/>
              <a:t>Video interviews with managers</a:t>
            </a:r>
          </a:p>
          <a:p>
            <a:pPr lvl="1"/>
            <a:r>
              <a:rPr lang="en-US" dirty="0"/>
              <a:t>Lab Manuals - Microsoft Office 2010 &amp; </a:t>
            </a:r>
            <a:r>
              <a:rPr lang="en-US" dirty="0" smtClean="0"/>
              <a:t>2013</a:t>
            </a:r>
            <a:endParaRPr lang="en-US" dirty="0"/>
          </a:p>
        </p:txBody>
      </p:sp>
      <p:sp>
        <p:nvSpPr>
          <p:cNvPr id="6" name="Title 1"/>
          <p:cNvSpPr>
            <a:spLocks noGrp="1"/>
          </p:cNvSpPr>
          <p:nvPr>
            <p:ph type="title" idx="4294967295"/>
          </p:nvPr>
        </p:nvSpPr>
        <p:spPr>
          <a:xfrm>
            <a:off x="457200" y="350838"/>
            <a:ext cx="8229600" cy="1143000"/>
          </a:xfrm>
        </p:spPr>
        <p:txBody>
          <a:bodyPr>
            <a:normAutofit/>
          </a:bodyPr>
          <a:lstStyle>
            <a:lvl1pPr>
              <a:defRPr sz="5000" baseline="0">
                <a:latin typeface="Times New Roman" pitchFamily="18" charset="0"/>
              </a:defRPr>
            </a:lvl1pPr>
          </a:lstStyle>
          <a:p>
            <a:r>
              <a:rPr lang="en-US" dirty="0" smtClean="0"/>
              <a:t>[ WEB RESOURCES]</a:t>
            </a:r>
            <a:endParaRPr lang="en-US" dirty="0"/>
          </a:p>
        </p:txBody>
      </p:sp>
    </p:spTree>
    <p:extLst>
      <p:ext uri="{BB962C8B-B14F-4D97-AF65-F5344CB8AC3E}">
        <p14:creationId xmlns:p14="http://schemas.microsoft.com/office/powerpoint/2010/main" val="3027126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 </a:t>
            </a:r>
            <a:r>
              <a:rPr lang="en-US" dirty="0">
                <a:solidFill>
                  <a:schemeClr val="accent1">
                    <a:lumMod val="75000"/>
                  </a:schemeClr>
                </a:solidFill>
              </a:rPr>
              <a:t>Opening Case </a:t>
            </a:r>
            <a:r>
              <a:rPr lang="en-US" dirty="0" smtClean="0"/>
              <a:t>Organic and Beyond Corporation Manages Its New B2C…</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What We </a:t>
            </a:r>
            <a:r>
              <a:rPr lang="en-US" dirty="0" smtClean="0">
                <a:solidFill>
                  <a:schemeClr val="tx1">
                    <a:lumMod val="65000"/>
                    <a:lumOff val="35000"/>
                  </a:schemeClr>
                </a:solidFill>
              </a:rPr>
              <a:t>Learned</a:t>
            </a:r>
            <a:r>
              <a:rPr lang="en-US" dirty="0" smtClean="0"/>
              <a:t> from This Case</a:t>
            </a:r>
            <a:endParaRPr lang="en-US" dirty="0"/>
          </a:p>
          <a:p>
            <a:endParaRPr lang="en-US" dirty="0"/>
          </a:p>
        </p:txBody>
      </p:sp>
    </p:spTree>
    <p:extLst>
      <p:ext uri="{BB962C8B-B14F-4D97-AF65-F5344CB8AC3E}">
        <p14:creationId xmlns:p14="http://schemas.microsoft.com/office/powerpoint/2010/main" val="40223892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Defining Customer Relationship Management</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11.1</a:t>
            </a:r>
            <a:endParaRPr lang="en-US" dirty="0"/>
          </a:p>
        </p:txBody>
      </p:sp>
      <p:sp>
        <p:nvSpPr>
          <p:cNvPr id="4" name="Content Placeholder 3"/>
          <p:cNvSpPr>
            <a:spLocks noGrp="1"/>
          </p:cNvSpPr>
          <p:nvPr>
            <p:ph sz="quarter" idx="15"/>
          </p:nvPr>
        </p:nvSpPr>
        <p:spPr/>
        <p:txBody>
          <a:bodyPr>
            <a:normAutofit/>
          </a:bodyPr>
          <a:lstStyle/>
          <a:p>
            <a:r>
              <a:rPr lang="en-US" dirty="0" smtClean="0"/>
              <a:t>Customer Relationship Management (CRM)</a:t>
            </a:r>
          </a:p>
          <a:p>
            <a:r>
              <a:rPr lang="en-US" dirty="0" smtClean="0"/>
              <a:t>Customer Touch Points</a:t>
            </a:r>
          </a:p>
          <a:p>
            <a:r>
              <a:rPr lang="en-US" dirty="0" smtClean="0"/>
              <a:t>Data Consolidation</a:t>
            </a:r>
          </a:p>
        </p:txBody>
      </p:sp>
    </p:spTree>
    <p:extLst>
      <p:ext uri="{BB962C8B-B14F-4D97-AF65-F5344CB8AC3E}">
        <p14:creationId xmlns:p14="http://schemas.microsoft.com/office/powerpoint/2010/main" val="551725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Amazon: Truly Superb Customer Service</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11.1</a:t>
            </a:r>
            <a:endParaRPr lang="en-US" dirty="0"/>
          </a:p>
        </p:txBody>
      </p:sp>
    </p:spTree>
    <p:extLst>
      <p:ext uri="{BB962C8B-B14F-4D97-AF65-F5344CB8AC3E}">
        <p14:creationId xmlns:p14="http://schemas.microsoft.com/office/powerpoint/2010/main" val="238390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Customer Relationship Management (CRM)</a:t>
            </a:r>
            <a:endParaRPr lang="en-US" dirty="0"/>
          </a:p>
        </p:txBody>
      </p:sp>
      <p:sp>
        <p:nvSpPr>
          <p:cNvPr id="4" name="Content Placeholder 3"/>
          <p:cNvSpPr>
            <a:spLocks noGrp="1"/>
          </p:cNvSpPr>
          <p:nvPr>
            <p:ph type="body" sz="quarter" idx="13"/>
          </p:nvPr>
        </p:nvSpPr>
        <p:spPr/>
        <p:txBody>
          <a:bodyPr>
            <a:normAutofit/>
          </a:bodyPr>
          <a:lstStyle/>
          <a:p>
            <a:r>
              <a:rPr lang="en-US" dirty="0" smtClean="0"/>
              <a:t>Customer Relationship Management (CRM)</a:t>
            </a:r>
          </a:p>
          <a:p>
            <a:pPr lvl="1"/>
            <a:r>
              <a:rPr lang="en-US" dirty="0" smtClean="0"/>
              <a:t>Lifetime value</a:t>
            </a:r>
          </a:p>
          <a:p>
            <a:pPr lvl="1"/>
            <a:r>
              <a:rPr lang="en-US" dirty="0" smtClean="0"/>
              <a:t>Customer churn</a:t>
            </a:r>
          </a:p>
          <a:p>
            <a:pPr lvl="1"/>
            <a:r>
              <a:rPr lang="en-US" dirty="0" smtClean="0"/>
              <a:t>CRM Strategy versus CRM Systems</a:t>
            </a:r>
          </a:p>
          <a:p>
            <a:pPr lvl="1"/>
            <a:r>
              <a:rPr lang="en-US" dirty="0" smtClean="0"/>
              <a:t>Low-end CRM Systems versus High-end CRM Systems</a:t>
            </a:r>
          </a:p>
        </p:txBody>
      </p:sp>
    </p:spTree>
    <p:extLst>
      <p:ext uri="{BB962C8B-B14F-4D97-AF65-F5344CB8AC3E}">
        <p14:creationId xmlns:p14="http://schemas.microsoft.com/office/powerpoint/2010/main" val="1141189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11.1 </a:t>
            </a:r>
            <a:r>
              <a:rPr lang="en-US" dirty="0"/>
              <a:t>The customer relationship management </a:t>
            </a:r>
            <a:r>
              <a:rPr lang="en-US" dirty="0" smtClean="0"/>
              <a:t>process</a:t>
            </a:r>
            <a:endParaRPr lang="en-US" dirty="0"/>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979593" y="1447800"/>
            <a:ext cx="7261013"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7681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0000" lnSpcReduction="20000"/>
          </a:bodyPr>
          <a:lstStyle/>
          <a:p>
            <a:r>
              <a:rPr lang="en-US" b="1" dirty="0"/>
              <a:t>FIGURE 11.2 </a:t>
            </a:r>
            <a:r>
              <a:rPr lang="en-US" dirty="0"/>
              <a:t>Customer touch points. </a:t>
            </a:r>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1524000" y="1375064"/>
            <a:ext cx="6096000" cy="5264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7992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Rating Online Customer Service</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11.2</a:t>
            </a:r>
            <a:endParaRPr lang="en-US" dirty="0"/>
          </a:p>
        </p:txBody>
      </p:sp>
    </p:spTree>
    <p:extLst>
      <p:ext uri="{BB962C8B-B14F-4D97-AF65-F5344CB8AC3E}">
        <p14:creationId xmlns:p14="http://schemas.microsoft.com/office/powerpoint/2010/main" val="32455325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Data Consolidation</a:t>
            </a:r>
            <a:endParaRPr lang="en-US" dirty="0"/>
          </a:p>
        </p:txBody>
      </p:sp>
      <p:sp>
        <p:nvSpPr>
          <p:cNvPr id="4" name="Content Placeholder 3"/>
          <p:cNvSpPr>
            <a:spLocks noGrp="1"/>
          </p:cNvSpPr>
          <p:nvPr>
            <p:ph type="body" sz="quarter" idx="13"/>
          </p:nvPr>
        </p:nvSpPr>
        <p:spPr/>
        <p:txBody>
          <a:bodyPr>
            <a:normAutofit/>
          </a:bodyPr>
          <a:lstStyle/>
          <a:p>
            <a:r>
              <a:rPr lang="en-US" dirty="0" smtClean="0"/>
              <a:t>360-degree view</a:t>
            </a:r>
          </a:p>
          <a:p>
            <a:r>
              <a:rPr lang="en-US" dirty="0" smtClean="0"/>
              <a:t>Collaborative CRM</a:t>
            </a:r>
          </a:p>
          <a:p>
            <a:endParaRPr lang="en-US" dirty="0"/>
          </a:p>
        </p:txBody>
      </p:sp>
    </p:spTree>
    <p:extLst>
      <p:ext uri="{BB962C8B-B14F-4D97-AF65-F5344CB8AC3E}">
        <p14:creationId xmlns:p14="http://schemas.microsoft.com/office/powerpoint/2010/main" val="1163964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20000"/>
          </a:bodyPr>
          <a:lstStyle/>
          <a:p>
            <a:r>
              <a:rPr lang="en-US" dirty="0" smtClean="0"/>
              <a:t>Operational Customer Relationship Management Systems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11.2</a:t>
            </a:r>
            <a:endParaRPr lang="en-US" dirty="0"/>
          </a:p>
        </p:txBody>
      </p:sp>
      <p:sp>
        <p:nvSpPr>
          <p:cNvPr id="4" name="Content Placeholder 3"/>
          <p:cNvSpPr>
            <a:spLocks noGrp="1"/>
          </p:cNvSpPr>
          <p:nvPr>
            <p:ph sz="quarter" idx="15"/>
          </p:nvPr>
        </p:nvSpPr>
        <p:spPr/>
        <p:txBody>
          <a:bodyPr>
            <a:normAutofit/>
          </a:bodyPr>
          <a:lstStyle/>
          <a:p>
            <a:r>
              <a:rPr lang="en-US" dirty="0" smtClean="0"/>
              <a:t>Operational CRM Systems</a:t>
            </a:r>
          </a:p>
          <a:p>
            <a:r>
              <a:rPr lang="en-US" dirty="0" smtClean="0"/>
              <a:t>Customer-Facing Applications</a:t>
            </a:r>
          </a:p>
          <a:p>
            <a:r>
              <a:rPr lang="en-US" dirty="0" smtClean="0"/>
              <a:t>Customer-Touching Applications</a:t>
            </a:r>
          </a:p>
        </p:txBody>
      </p:sp>
    </p:spTree>
    <p:extLst>
      <p:ext uri="{BB962C8B-B14F-4D97-AF65-F5344CB8AC3E}">
        <p14:creationId xmlns:p14="http://schemas.microsoft.com/office/powerpoint/2010/main" val="3011842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Operational CRM Systems</a:t>
            </a:r>
            <a:endParaRPr lang="en-US" dirty="0"/>
          </a:p>
        </p:txBody>
      </p:sp>
      <p:sp>
        <p:nvSpPr>
          <p:cNvPr id="4" name="Content Placeholder 3"/>
          <p:cNvSpPr>
            <a:spLocks noGrp="1"/>
          </p:cNvSpPr>
          <p:nvPr>
            <p:ph sz="quarter" idx="14"/>
          </p:nvPr>
        </p:nvSpPr>
        <p:spPr/>
        <p:txBody>
          <a:bodyPr>
            <a:normAutofit fontScale="92500" lnSpcReduction="20000"/>
          </a:bodyPr>
          <a:lstStyle/>
          <a:p>
            <a:r>
              <a:rPr lang="en-US" dirty="0" smtClean="0"/>
              <a:t>Two Major Components</a:t>
            </a:r>
          </a:p>
          <a:p>
            <a:pPr lvl="1"/>
            <a:r>
              <a:rPr lang="en-US" dirty="0" smtClean="0"/>
              <a:t>Customer-facing applications</a:t>
            </a:r>
          </a:p>
          <a:p>
            <a:pPr lvl="1"/>
            <a:r>
              <a:rPr lang="en-US" dirty="0" smtClean="0"/>
              <a:t>Customer touching applications</a:t>
            </a:r>
          </a:p>
          <a:p>
            <a:r>
              <a:rPr lang="en-US" dirty="0" smtClean="0"/>
              <a:t>Operational CRM Systems provide the following benefits:</a:t>
            </a:r>
          </a:p>
          <a:p>
            <a:pPr lvl="1"/>
            <a:r>
              <a:rPr lang="en-US" dirty="0" smtClean="0"/>
              <a:t>Efficient, personalized marketing, sales, and service</a:t>
            </a:r>
          </a:p>
          <a:p>
            <a:pPr lvl="1"/>
            <a:r>
              <a:rPr lang="en-US" dirty="0" smtClean="0"/>
              <a:t>A 360-degree view of each customer</a:t>
            </a:r>
          </a:p>
          <a:p>
            <a:pPr lvl="1"/>
            <a:r>
              <a:rPr lang="en-US" dirty="0" smtClean="0"/>
              <a:t>The ability of sales and service employees to access a complete history of customer interaction with the organization, regardless of the touch point.</a:t>
            </a:r>
            <a:endParaRPr lang="en-US" dirty="0"/>
          </a:p>
        </p:txBody>
      </p:sp>
    </p:spTree>
    <p:extLst>
      <p:ext uri="{BB962C8B-B14F-4D97-AF65-F5344CB8AC3E}">
        <p14:creationId xmlns:p14="http://schemas.microsoft.com/office/powerpoint/2010/main" val="2356668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a:bodyPr>
          <a:lstStyle/>
          <a:p>
            <a:r>
              <a:rPr lang="en-US" dirty="0" smtClean="0"/>
              <a:t>Customer-Facing Applications</a:t>
            </a:r>
            <a:endParaRPr lang="en-US" dirty="0"/>
          </a:p>
        </p:txBody>
      </p:sp>
      <p:sp>
        <p:nvSpPr>
          <p:cNvPr id="4" name="Content Placeholder 3"/>
          <p:cNvSpPr>
            <a:spLocks noGrp="1"/>
          </p:cNvSpPr>
          <p:nvPr>
            <p:ph sz="quarter" idx="14"/>
          </p:nvPr>
        </p:nvSpPr>
        <p:spPr/>
        <p:txBody>
          <a:bodyPr>
            <a:normAutofit/>
          </a:bodyPr>
          <a:lstStyle/>
          <a:p>
            <a:r>
              <a:rPr lang="en-US" dirty="0" smtClean="0"/>
              <a:t>Customer Service and Support</a:t>
            </a:r>
          </a:p>
          <a:p>
            <a:r>
              <a:rPr lang="en-US" dirty="0" smtClean="0"/>
              <a:t>Sales Force Automation (SFA)</a:t>
            </a:r>
          </a:p>
          <a:p>
            <a:r>
              <a:rPr lang="en-US" dirty="0" smtClean="0"/>
              <a:t>Marketing</a:t>
            </a:r>
          </a:p>
          <a:p>
            <a:r>
              <a:rPr lang="en-US" dirty="0" smtClean="0"/>
              <a:t>Campaign Management</a:t>
            </a:r>
          </a:p>
          <a:p>
            <a:pPr lvl="1"/>
            <a:endParaRPr lang="en-US" dirty="0"/>
          </a:p>
        </p:txBody>
      </p:sp>
    </p:spTree>
    <p:extLst>
      <p:ext uri="{BB962C8B-B14F-4D97-AF65-F5344CB8AC3E}">
        <p14:creationId xmlns:p14="http://schemas.microsoft.com/office/powerpoint/2010/main" val="16574802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Customer Service and Support</a:t>
            </a:r>
            <a:endParaRPr lang="en-US" dirty="0"/>
          </a:p>
        </p:txBody>
      </p:sp>
      <p:sp>
        <p:nvSpPr>
          <p:cNvPr id="4" name="Content Placeholder 3"/>
          <p:cNvSpPr>
            <a:spLocks noGrp="1"/>
          </p:cNvSpPr>
          <p:nvPr>
            <p:ph type="body" sz="quarter" idx="13"/>
          </p:nvPr>
        </p:nvSpPr>
        <p:spPr/>
        <p:txBody>
          <a:bodyPr>
            <a:normAutofit/>
          </a:bodyPr>
          <a:lstStyle/>
          <a:p>
            <a:r>
              <a:rPr lang="en-US" dirty="0" smtClean="0"/>
              <a:t>Customer Interaction Centers (CIC)</a:t>
            </a:r>
          </a:p>
          <a:p>
            <a:pPr lvl="1"/>
            <a:r>
              <a:rPr lang="en-US" dirty="0" smtClean="0"/>
              <a:t>Call center</a:t>
            </a:r>
          </a:p>
          <a:p>
            <a:pPr lvl="1"/>
            <a:r>
              <a:rPr lang="en-US" dirty="0" smtClean="0"/>
              <a:t>Outbound telesales</a:t>
            </a:r>
          </a:p>
          <a:p>
            <a:pPr lvl="1"/>
            <a:r>
              <a:rPr lang="en-US" dirty="0" smtClean="0"/>
              <a:t>Inbound </a:t>
            </a:r>
            <a:r>
              <a:rPr lang="en-US" dirty="0" err="1" smtClean="0"/>
              <a:t>teleservice</a:t>
            </a:r>
            <a:endParaRPr lang="en-US" dirty="0" smtClean="0"/>
          </a:p>
          <a:p>
            <a:pPr lvl="1"/>
            <a:endParaRPr lang="en-US" dirty="0"/>
          </a:p>
        </p:txBody>
      </p:sp>
    </p:spTree>
    <p:extLst>
      <p:ext uri="{BB962C8B-B14F-4D97-AF65-F5344CB8AC3E}">
        <p14:creationId xmlns:p14="http://schemas.microsoft.com/office/powerpoint/2010/main" val="2513773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Sales Force Automation</a:t>
            </a:r>
            <a:endParaRPr lang="en-US" dirty="0"/>
          </a:p>
        </p:txBody>
      </p:sp>
      <p:sp>
        <p:nvSpPr>
          <p:cNvPr id="4" name="Content Placeholder 3"/>
          <p:cNvSpPr>
            <a:spLocks noGrp="1"/>
          </p:cNvSpPr>
          <p:nvPr>
            <p:ph type="body" sz="quarter" idx="13"/>
          </p:nvPr>
        </p:nvSpPr>
        <p:spPr/>
        <p:txBody>
          <a:bodyPr>
            <a:normAutofit/>
          </a:bodyPr>
          <a:lstStyle/>
          <a:p>
            <a:r>
              <a:rPr lang="en-US" dirty="0" smtClean="0"/>
              <a:t>Contact management system</a:t>
            </a:r>
          </a:p>
          <a:p>
            <a:r>
              <a:rPr lang="en-US" dirty="0" smtClean="0"/>
              <a:t>Sales lead tracking system</a:t>
            </a:r>
          </a:p>
          <a:p>
            <a:r>
              <a:rPr lang="en-US" dirty="0" smtClean="0"/>
              <a:t>Sales forecasting system</a:t>
            </a:r>
          </a:p>
          <a:p>
            <a:r>
              <a:rPr lang="en-US" dirty="0" smtClean="0"/>
              <a:t>Product knowledge system</a:t>
            </a:r>
          </a:p>
          <a:p>
            <a:r>
              <a:rPr lang="en-US" dirty="0" smtClean="0"/>
              <a:t>Configurators</a:t>
            </a:r>
          </a:p>
        </p:txBody>
      </p:sp>
    </p:spTree>
    <p:extLst>
      <p:ext uri="{BB962C8B-B14F-4D97-AF65-F5344CB8AC3E}">
        <p14:creationId xmlns:p14="http://schemas.microsoft.com/office/powerpoint/2010/main" val="4672828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Marketing</a:t>
            </a:r>
            <a:endParaRPr lang="en-US" dirty="0"/>
          </a:p>
        </p:txBody>
      </p:sp>
      <p:sp>
        <p:nvSpPr>
          <p:cNvPr id="4" name="Content Placeholder 3"/>
          <p:cNvSpPr>
            <a:spLocks noGrp="1"/>
          </p:cNvSpPr>
          <p:nvPr>
            <p:ph type="body" sz="quarter" idx="13"/>
          </p:nvPr>
        </p:nvSpPr>
        <p:spPr/>
        <p:txBody>
          <a:bodyPr>
            <a:normAutofit/>
          </a:bodyPr>
          <a:lstStyle/>
          <a:p>
            <a:r>
              <a:rPr lang="en-US" dirty="0" smtClean="0"/>
              <a:t>Cross selling</a:t>
            </a:r>
          </a:p>
          <a:p>
            <a:r>
              <a:rPr lang="en-US" dirty="0" smtClean="0"/>
              <a:t>Up selling</a:t>
            </a:r>
          </a:p>
          <a:p>
            <a:r>
              <a:rPr lang="en-US" dirty="0" smtClean="0"/>
              <a:t>Bundling</a:t>
            </a:r>
          </a:p>
        </p:txBody>
      </p:sp>
    </p:spTree>
    <p:extLst>
      <p:ext uri="{BB962C8B-B14F-4D97-AF65-F5344CB8AC3E}">
        <p14:creationId xmlns:p14="http://schemas.microsoft.com/office/powerpoint/2010/main" val="3000464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Customer-Touching Applications</a:t>
            </a:r>
            <a:endParaRPr lang="en-US" dirty="0"/>
          </a:p>
        </p:txBody>
      </p:sp>
      <p:sp>
        <p:nvSpPr>
          <p:cNvPr id="4" name="Content Placeholder 3"/>
          <p:cNvSpPr>
            <a:spLocks noGrp="1"/>
          </p:cNvSpPr>
          <p:nvPr>
            <p:ph sz="quarter" idx="14"/>
          </p:nvPr>
        </p:nvSpPr>
        <p:spPr/>
        <p:txBody>
          <a:bodyPr>
            <a:normAutofit fontScale="92500" lnSpcReduction="10000"/>
          </a:bodyPr>
          <a:lstStyle/>
          <a:p>
            <a:r>
              <a:rPr lang="en-US" dirty="0" smtClean="0"/>
              <a:t>Search and Comparison Capabilities</a:t>
            </a:r>
          </a:p>
          <a:p>
            <a:r>
              <a:rPr lang="en-US" dirty="0" smtClean="0"/>
              <a:t>Technical and Other Information and Services</a:t>
            </a:r>
          </a:p>
          <a:p>
            <a:r>
              <a:rPr lang="en-US" dirty="0" smtClean="0"/>
              <a:t>Customized Products and Services</a:t>
            </a:r>
          </a:p>
          <a:p>
            <a:r>
              <a:rPr lang="en-US" dirty="0" smtClean="0"/>
              <a:t>Personalized web pages</a:t>
            </a:r>
          </a:p>
          <a:p>
            <a:r>
              <a:rPr lang="en-US" dirty="0" smtClean="0"/>
              <a:t>FAQs</a:t>
            </a:r>
          </a:p>
          <a:p>
            <a:r>
              <a:rPr lang="en-US" dirty="0" smtClean="0"/>
              <a:t>E-mail and Automated Response</a:t>
            </a:r>
          </a:p>
          <a:p>
            <a:r>
              <a:rPr lang="en-US" dirty="0" smtClean="0"/>
              <a:t>Loyalty Programs</a:t>
            </a:r>
          </a:p>
          <a:p>
            <a:pPr lvl="1"/>
            <a:endParaRPr lang="en-US" dirty="0"/>
          </a:p>
        </p:txBody>
      </p:sp>
    </p:spTree>
    <p:extLst>
      <p:ext uri="{BB962C8B-B14F-4D97-AF65-F5344CB8AC3E}">
        <p14:creationId xmlns:p14="http://schemas.microsoft.com/office/powerpoint/2010/main" val="3355608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20000"/>
          </a:bodyPr>
          <a:lstStyle/>
          <a:p>
            <a:r>
              <a:rPr lang="en-US" dirty="0" smtClean="0"/>
              <a:t>Analytical Customer Relationship Management Systems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11.3</a:t>
            </a:r>
            <a:endParaRPr lang="en-US" dirty="0"/>
          </a:p>
        </p:txBody>
      </p:sp>
      <p:sp>
        <p:nvSpPr>
          <p:cNvPr id="4" name="Content Placeholder 3"/>
          <p:cNvSpPr>
            <a:spLocks noGrp="1"/>
          </p:cNvSpPr>
          <p:nvPr>
            <p:ph sz="quarter" idx="15"/>
          </p:nvPr>
        </p:nvSpPr>
        <p:spPr/>
        <p:txBody>
          <a:bodyPr>
            <a:normAutofit/>
          </a:bodyPr>
          <a:lstStyle/>
          <a:p>
            <a:r>
              <a:rPr lang="en-US" dirty="0" smtClean="0"/>
              <a:t>Analytical CRM systems analyze customer data for a variety of purposes</a:t>
            </a:r>
          </a:p>
        </p:txBody>
      </p:sp>
    </p:spTree>
    <p:extLst>
      <p:ext uri="{BB962C8B-B14F-4D97-AF65-F5344CB8AC3E}">
        <p14:creationId xmlns:p14="http://schemas.microsoft.com/office/powerpoint/2010/main" val="2677072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47500" lnSpcReduction="20000"/>
          </a:bodyPr>
          <a:lstStyle/>
          <a:p>
            <a:r>
              <a:rPr lang="en-US" b="1" dirty="0"/>
              <a:t>FIGURE 11.3 </a:t>
            </a:r>
            <a:r>
              <a:rPr lang="en-US" dirty="0"/>
              <a:t>The relationship between operational CRM and analytical CRM.</a:t>
            </a:r>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1898241"/>
            <a:ext cx="8153400" cy="4204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2670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0000" lnSpcReduction="20000"/>
          </a:bodyPr>
          <a:lstStyle/>
          <a:p>
            <a:r>
              <a:rPr lang="en-US" dirty="0"/>
              <a:t>Analytical CRM systems analyze customer data for a variety of purposes, including:</a:t>
            </a:r>
          </a:p>
        </p:txBody>
      </p:sp>
      <p:sp>
        <p:nvSpPr>
          <p:cNvPr id="4" name="Content Placeholder 3"/>
          <p:cNvSpPr>
            <a:spLocks noGrp="1"/>
          </p:cNvSpPr>
          <p:nvPr>
            <p:ph sz="quarter" idx="14"/>
          </p:nvPr>
        </p:nvSpPr>
        <p:spPr/>
        <p:txBody>
          <a:bodyPr>
            <a:normAutofit fontScale="92500" lnSpcReduction="20000"/>
          </a:bodyPr>
          <a:lstStyle/>
          <a:p>
            <a:r>
              <a:rPr lang="en-US" dirty="0" smtClean="0"/>
              <a:t>Designing and executing targeted marketing campaigns</a:t>
            </a:r>
          </a:p>
          <a:p>
            <a:r>
              <a:rPr lang="en-US" dirty="0" smtClean="0"/>
              <a:t>Increasing customer acquisition, cross selling, and up selling</a:t>
            </a:r>
          </a:p>
          <a:p>
            <a:r>
              <a:rPr lang="en-US" dirty="0" smtClean="0"/>
              <a:t>Providing input into decisions relating to products and services (e.g., pricing and product development)</a:t>
            </a:r>
          </a:p>
          <a:p>
            <a:r>
              <a:rPr lang="en-US" dirty="0" smtClean="0"/>
              <a:t>Providing financial forecasting and customer profitability analysis</a:t>
            </a:r>
            <a:endParaRPr lang="en-US" dirty="0"/>
          </a:p>
        </p:txBody>
      </p:sp>
    </p:spTree>
    <p:extLst>
      <p:ext uri="{BB962C8B-B14F-4D97-AF65-F5344CB8AC3E}">
        <p14:creationId xmlns:p14="http://schemas.microsoft.com/office/powerpoint/2010/main" val="26995487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20000"/>
          </a:bodyPr>
          <a:lstStyle/>
          <a:p>
            <a:r>
              <a:rPr lang="en-US" dirty="0" smtClean="0"/>
              <a:t>Other Types of Customer Relationship Management Systems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11.4</a:t>
            </a:r>
            <a:endParaRPr lang="en-US" dirty="0"/>
          </a:p>
        </p:txBody>
      </p:sp>
      <p:sp>
        <p:nvSpPr>
          <p:cNvPr id="4" name="Content Placeholder 3"/>
          <p:cNvSpPr>
            <a:spLocks noGrp="1"/>
          </p:cNvSpPr>
          <p:nvPr>
            <p:ph sz="quarter" idx="15"/>
          </p:nvPr>
        </p:nvSpPr>
        <p:spPr/>
        <p:txBody>
          <a:bodyPr/>
          <a:lstStyle/>
          <a:p>
            <a:r>
              <a:rPr lang="en-US" dirty="0" smtClean="0"/>
              <a:t>On-demand CRM systems</a:t>
            </a:r>
          </a:p>
          <a:p>
            <a:r>
              <a:rPr lang="en-US" dirty="0" smtClean="0"/>
              <a:t>Mobile CRM Systems</a:t>
            </a:r>
          </a:p>
          <a:p>
            <a:r>
              <a:rPr lang="en-US" dirty="0" smtClean="0"/>
              <a:t>Open-Source CRM Systems</a:t>
            </a:r>
          </a:p>
          <a:p>
            <a:r>
              <a:rPr lang="en-US" dirty="0" smtClean="0"/>
              <a:t>Social CRM Systems</a:t>
            </a:r>
          </a:p>
        </p:txBody>
      </p:sp>
    </p:spTree>
    <p:extLst>
      <p:ext uri="{BB962C8B-B14F-4D97-AF65-F5344CB8AC3E}">
        <p14:creationId xmlns:p14="http://schemas.microsoft.com/office/powerpoint/2010/main" val="3938762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Mobile CRM at Disney World</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11.3</a:t>
            </a:r>
            <a:endParaRPr lang="en-US" dirty="0"/>
          </a:p>
        </p:txBody>
      </p:sp>
    </p:spTree>
    <p:extLst>
      <p:ext uri="{BB962C8B-B14F-4D97-AF65-F5344CB8AC3E}">
        <p14:creationId xmlns:p14="http://schemas.microsoft.com/office/powerpoint/2010/main" val="32455325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77500" lnSpcReduction="20000"/>
          </a:bodyPr>
          <a:lstStyle/>
          <a:p>
            <a:r>
              <a:rPr lang="en-US" dirty="0" smtClean="0"/>
              <a:t>Other Types of Customer Relationship Management Systems</a:t>
            </a:r>
            <a:endParaRPr lang="en-US" dirty="0"/>
          </a:p>
        </p:txBody>
      </p:sp>
      <p:sp>
        <p:nvSpPr>
          <p:cNvPr id="4" name="Content Placeholder 3"/>
          <p:cNvSpPr>
            <a:spLocks noGrp="1"/>
          </p:cNvSpPr>
          <p:nvPr>
            <p:ph sz="quarter" idx="14"/>
          </p:nvPr>
        </p:nvSpPr>
        <p:spPr/>
        <p:txBody>
          <a:bodyPr/>
          <a:lstStyle/>
          <a:p>
            <a:r>
              <a:rPr lang="en-US" dirty="0" smtClean="0"/>
              <a:t>On-demand CRM systems</a:t>
            </a:r>
          </a:p>
          <a:p>
            <a:pPr lvl="1"/>
            <a:r>
              <a:rPr lang="en-US" dirty="0" smtClean="0"/>
              <a:t>Utility computing</a:t>
            </a:r>
          </a:p>
          <a:p>
            <a:pPr lvl="1"/>
            <a:r>
              <a:rPr lang="en-US" dirty="0" smtClean="0"/>
              <a:t>Software-as-a-service</a:t>
            </a:r>
          </a:p>
          <a:p>
            <a:r>
              <a:rPr lang="en-US" dirty="0" smtClean="0"/>
              <a:t>Mobile CRM Systems</a:t>
            </a:r>
          </a:p>
          <a:p>
            <a:r>
              <a:rPr lang="en-US" dirty="0" smtClean="0"/>
              <a:t>Open-Source CRM Systems</a:t>
            </a:r>
          </a:p>
          <a:p>
            <a:pPr lvl="1"/>
            <a:r>
              <a:rPr lang="en-US" dirty="0" err="1" smtClean="0"/>
              <a:t>SugarCRM</a:t>
            </a:r>
            <a:endParaRPr lang="en-US" dirty="0" smtClean="0"/>
          </a:p>
          <a:p>
            <a:r>
              <a:rPr lang="en-US" dirty="0" smtClean="0"/>
              <a:t>Social CRM Systems</a:t>
            </a:r>
            <a:endParaRPr lang="en-US" dirty="0"/>
          </a:p>
        </p:txBody>
      </p:sp>
    </p:spTree>
    <p:extLst>
      <p:ext uri="{BB962C8B-B14F-4D97-AF65-F5344CB8AC3E}">
        <p14:creationId xmlns:p14="http://schemas.microsoft.com/office/powerpoint/2010/main" val="4114077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err="1" smtClean="0"/>
              <a:t>uShip</a:t>
            </a:r>
            <a:r>
              <a:rPr lang="en-US" dirty="0" smtClean="0"/>
              <a:t> Benefits from </a:t>
            </a:r>
            <a:r>
              <a:rPr lang="en-US" dirty="0" err="1" smtClean="0"/>
              <a:t>SugarCRM</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11.4</a:t>
            </a:r>
            <a:endParaRPr lang="en-US" dirty="0"/>
          </a:p>
        </p:txBody>
      </p:sp>
    </p:spTree>
    <p:extLst>
      <p:ext uri="{BB962C8B-B14F-4D97-AF65-F5344CB8AC3E}">
        <p14:creationId xmlns:p14="http://schemas.microsoft.com/office/powerpoint/2010/main" val="32455325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Morton’s Steakhouse Surprises a Customer</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11.5</a:t>
            </a:r>
            <a:endParaRPr lang="en-US" dirty="0"/>
          </a:p>
        </p:txBody>
      </p:sp>
    </p:spTree>
    <p:extLst>
      <p:ext uri="{BB962C8B-B14F-4D97-AF65-F5344CB8AC3E}">
        <p14:creationId xmlns:p14="http://schemas.microsoft.com/office/powerpoint/2010/main" val="32455325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Supply Chains</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11.5</a:t>
            </a:r>
            <a:endParaRPr lang="en-US" dirty="0"/>
          </a:p>
        </p:txBody>
      </p:sp>
      <p:sp>
        <p:nvSpPr>
          <p:cNvPr id="4" name="Content Placeholder 3"/>
          <p:cNvSpPr>
            <a:spLocks noGrp="1"/>
          </p:cNvSpPr>
          <p:nvPr>
            <p:ph sz="quarter" idx="15"/>
          </p:nvPr>
        </p:nvSpPr>
        <p:spPr/>
        <p:txBody>
          <a:bodyPr>
            <a:normAutofit/>
          </a:bodyPr>
          <a:lstStyle/>
          <a:p>
            <a:r>
              <a:rPr lang="en-US" dirty="0" smtClean="0"/>
              <a:t>Supply Chain</a:t>
            </a:r>
          </a:p>
          <a:p>
            <a:r>
              <a:rPr lang="en-US" dirty="0" smtClean="0"/>
              <a:t>Supply Chain Visibility</a:t>
            </a:r>
          </a:p>
          <a:p>
            <a:r>
              <a:rPr lang="en-US" dirty="0" smtClean="0"/>
              <a:t>The Structure and Components of Supply Chains</a:t>
            </a:r>
          </a:p>
        </p:txBody>
      </p:sp>
    </p:spTree>
    <p:extLst>
      <p:ext uri="{BB962C8B-B14F-4D97-AF65-F5344CB8AC3E}">
        <p14:creationId xmlns:p14="http://schemas.microsoft.com/office/powerpoint/2010/main" val="3757618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fontScale="77500" lnSpcReduction="20000"/>
          </a:bodyPr>
          <a:lstStyle/>
          <a:p>
            <a:r>
              <a:rPr lang="en-US" b="1" dirty="0"/>
              <a:t>FIGURE 11.4 </a:t>
            </a:r>
            <a:r>
              <a:rPr lang="en-US" dirty="0"/>
              <a:t>Generic supply chain.</a:t>
            </a:r>
          </a:p>
        </p:txBody>
      </p:sp>
      <p:pic>
        <p:nvPicPr>
          <p:cNvPr id="8"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2846987"/>
            <a:ext cx="8153400" cy="230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1400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The Structure and Components of Supply Chains</a:t>
            </a:r>
            <a:endParaRPr lang="en-US" dirty="0"/>
          </a:p>
        </p:txBody>
      </p:sp>
      <p:sp>
        <p:nvSpPr>
          <p:cNvPr id="4" name="Content Placeholder 3"/>
          <p:cNvSpPr>
            <a:spLocks noGrp="1"/>
          </p:cNvSpPr>
          <p:nvPr>
            <p:ph sz="quarter" idx="14"/>
          </p:nvPr>
        </p:nvSpPr>
        <p:spPr/>
        <p:txBody>
          <a:bodyPr>
            <a:normAutofit/>
          </a:bodyPr>
          <a:lstStyle/>
          <a:p>
            <a:r>
              <a:rPr lang="en-US" dirty="0" smtClean="0"/>
              <a:t>The Structure of Supply Chains</a:t>
            </a:r>
          </a:p>
          <a:p>
            <a:r>
              <a:rPr lang="en-US" dirty="0" smtClean="0"/>
              <a:t>The Components of Supply Chains</a:t>
            </a:r>
          </a:p>
        </p:txBody>
      </p:sp>
    </p:spTree>
    <p:extLst>
      <p:ext uri="{BB962C8B-B14F-4D97-AF65-F5344CB8AC3E}">
        <p14:creationId xmlns:p14="http://schemas.microsoft.com/office/powerpoint/2010/main" val="1698594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The Structure of Supply Chains</a:t>
            </a:r>
            <a:endParaRPr lang="en-US" dirty="0"/>
          </a:p>
        </p:txBody>
      </p:sp>
      <p:sp>
        <p:nvSpPr>
          <p:cNvPr id="4" name="Content Placeholder 3"/>
          <p:cNvSpPr>
            <a:spLocks noGrp="1"/>
          </p:cNvSpPr>
          <p:nvPr>
            <p:ph type="body" sz="quarter" idx="13"/>
          </p:nvPr>
        </p:nvSpPr>
        <p:spPr/>
        <p:txBody>
          <a:bodyPr>
            <a:normAutofit/>
          </a:bodyPr>
          <a:lstStyle/>
          <a:p>
            <a:r>
              <a:rPr lang="en-US" dirty="0" smtClean="0"/>
              <a:t>Upstream</a:t>
            </a:r>
          </a:p>
          <a:p>
            <a:r>
              <a:rPr lang="en-US" dirty="0" smtClean="0"/>
              <a:t>Internal</a:t>
            </a:r>
          </a:p>
          <a:p>
            <a:r>
              <a:rPr lang="en-US" dirty="0" smtClean="0"/>
              <a:t>Downstream</a:t>
            </a:r>
          </a:p>
        </p:txBody>
      </p:sp>
    </p:spTree>
    <p:extLst>
      <p:ext uri="{BB962C8B-B14F-4D97-AF65-F5344CB8AC3E}">
        <p14:creationId xmlns:p14="http://schemas.microsoft.com/office/powerpoint/2010/main" val="3663051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lnSpcReduction="10000"/>
          </a:bodyPr>
          <a:lstStyle/>
          <a:p>
            <a:r>
              <a:rPr lang="en-US" dirty="0" smtClean="0"/>
              <a:t>The Components of Supply Chains</a:t>
            </a:r>
            <a:endParaRPr lang="en-US" dirty="0"/>
          </a:p>
        </p:txBody>
      </p:sp>
      <p:sp>
        <p:nvSpPr>
          <p:cNvPr id="4" name="Content Placeholder 3"/>
          <p:cNvSpPr>
            <a:spLocks noGrp="1"/>
          </p:cNvSpPr>
          <p:nvPr>
            <p:ph type="body" sz="quarter" idx="13"/>
          </p:nvPr>
        </p:nvSpPr>
        <p:spPr/>
        <p:txBody>
          <a:bodyPr>
            <a:normAutofit/>
          </a:bodyPr>
          <a:lstStyle/>
          <a:p>
            <a:r>
              <a:rPr lang="en-US" dirty="0" smtClean="0"/>
              <a:t>Tiers of Suppliers</a:t>
            </a:r>
          </a:p>
          <a:p>
            <a:r>
              <a:rPr lang="en-US" dirty="0" smtClean="0"/>
              <a:t>The Flows in the Supply Chain</a:t>
            </a:r>
          </a:p>
          <a:p>
            <a:pPr lvl="1"/>
            <a:r>
              <a:rPr lang="en-US" dirty="0" smtClean="0"/>
              <a:t>Materials Flows</a:t>
            </a:r>
          </a:p>
          <a:p>
            <a:pPr lvl="1"/>
            <a:r>
              <a:rPr lang="en-US" dirty="0" smtClean="0"/>
              <a:t>Information Flows</a:t>
            </a:r>
          </a:p>
          <a:p>
            <a:pPr lvl="1"/>
            <a:r>
              <a:rPr lang="en-US" dirty="0" smtClean="0"/>
              <a:t>Financial Flows</a:t>
            </a:r>
            <a:endParaRPr lang="en-US" dirty="0"/>
          </a:p>
        </p:txBody>
      </p:sp>
    </p:spTree>
    <p:extLst>
      <p:ext uri="{BB962C8B-B14F-4D97-AF65-F5344CB8AC3E}">
        <p14:creationId xmlns:p14="http://schemas.microsoft.com/office/powerpoint/2010/main" val="3437971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Supply Chain Management</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11.6</a:t>
            </a:r>
            <a:endParaRPr lang="en-US" dirty="0"/>
          </a:p>
        </p:txBody>
      </p:sp>
      <p:sp>
        <p:nvSpPr>
          <p:cNvPr id="4" name="Content Placeholder 3"/>
          <p:cNvSpPr>
            <a:spLocks noGrp="1"/>
          </p:cNvSpPr>
          <p:nvPr>
            <p:ph sz="quarter" idx="15"/>
          </p:nvPr>
        </p:nvSpPr>
        <p:spPr/>
        <p:txBody>
          <a:bodyPr>
            <a:normAutofit fontScale="92500"/>
          </a:bodyPr>
          <a:lstStyle/>
          <a:p>
            <a:r>
              <a:rPr lang="en-US" dirty="0" smtClean="0"/>
              <a:t>Five Basic Components of SCM</a:t>
            </a:r>
          </a:p>
          <a:p>
            <a:r>
              <a:rPr lang="en-US" dirty="0" smtClean="0"/>
              <a:t>Interorganizational Information Systems (IOS)</a:t>
            </a:r>
          </a:p>
          <a:p>
            <a:r>
              <a:rPr lang="en-US" dirty="0" smtClean="0"/>
              <a:t>The Push Model versus the Pull Model</a:t>
            </a:r>
          </a:p>
          <a:p>
            <a:r>
              <a:rPr lang="en-US" dirty="0" smtClean="0"/>
              <a:t>Problems along the Supply Chain</a:t>
            </a:r>
          </a:p>
          <a:p>
            <a:r>
              <a:rPr lang="en-US" dirty="0" smtClean="0"/>
              <a:t>Solutions to Supply Chain Problems</a:t>
            </a:r>
          </a:p>
        </p:txBody>
      </p:sp>
    </p:spTree>
    <p:extLst>
      <p:ext uri="{BB962C8B-B14F-4D97-AF65-F5344CB8AC3E}">
        <p14:creationId xmlns:p14="http://schemas.microsoft.com/office/powerpoint/2010/main" val="33534715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Crate &amp; Barrel Improves Its Supply Chain Visibility</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11.6</a:t>
            </a:r>
            <a:endParaRPr lang="en-US" dirty="0"/>
          </a:p>
        </p:txBody>
      </p:sp>
    </p:spTree>
    <p:extLst>
      <p:ext uri="{BB962C8B-B14F-4D97-AF65-F5344CB8AC3E}">
        <p14:creationId xmlns:p14="http://schemas.microsoft.com/office/powerpoint/2010/main" val="175453395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Five Basic Components of Supply Chain Management</a:t>
            </a:r>
            <a:endParaRPr lang="en-US" dirty="0"/>
          </a:p>
        </p:txBody>
      </p:sp>
      <p:sp>
        <p:nvSpPr>
          <p:cNvPr id="4" name="Content Placeholder 3"/>
          <p:cNvSpPr>
            <a:spLocks noGrp="1"/>
          </p:cNvSpPr>
          <p:nvPr>
            <p:ph sz="quarter" idx="14"/>
          </p:nvPr>
        </p:nvSpPr>
        <p:spPr/>
        <p:txBody>
          <a:bodyPr>
            <a:normAutofit/>
          </a:bodyPr>
          <a:lstStyle/>
          <a:p>
            <a:r>
              <a:rPr lang="en-US" dirty="0" smtClean="0"/>
              <a:t>Plan</a:t>
            </a:r>
          </a:p>
          <a:p>
            <a:r>
              <a:rPr lang="en-US" dirty="0" smtClean="0"/>
              <a:t>Source</a:t>
            </a:r>
          </a:p>
          <a:p>
            <a:r>
              <a:rPr lang="en-US" dirty="0" smtClean="0"/>
              <a:t>Make</a:t>
            </a:r>
          </a:p>
          <a:p>
            <a:r>
              <a:rPr lang="en-US" dirty="0" smtClean="0"/>
              <a:t>Deliver</a:t>
            </a:r>
          </a:p>
          <a:p>
            <a:r>
              <a:rPr lang="en-US" dirty="0" smtClean="0"/>
              <a:t>Return</a:t>
            </a:r>
            <a:endParaRPr lang="en-US" dirty="0"/>
          </a:p>
        </p:txBody>
      </p:sp>
    </p:spTree>
    <p:extLst>
      <p:ext uri="{BB962C8B-B14F-4D97-AF65-F5344CB8AC3E}">
        <p14:creationId xmlns:p14="http://schemas.microsoft.com/office/powerpoint/2010/main" val="13100156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Interorganizational Information Systems (IOS)</a:t>
            </a:r>
            <a:endParaRPr lang="en-US" dirty="0"/>
          </a:p>
        </p:txBody>
      </p:sp>
      <p:sp>
        <p:nvSpPr>
          <p:cNvPr id="4" name="Content Placeholder 3"/>
          <p:cNvSpPr>
            <a:spLocks noGrp="1"/>
          </p:cNvSpPr>
          <p:nvPr>
            <p:ph sz="quarter" idx="14"/>
          </p:nvPr>
        </p:nvSpPr>
        <p:spPr/>
        <p:txBody>
          <a:bodyPr>
            <a:normAutofit fontScale="85000" lnSpcReduction="10000"/>
          </a:bodyPr>
          <a:lstStyle/>
          <a:p>
            <a:r>
              <a:rPr lang="en-US" dirty="0" smtClean="0"/>
              <a:t>Enable the partners to perform the following:</a:t>
            </a:r>
          </a:p>
          <a:p>
            <a:pPr lvl="1"/>
            <a:r>
              <a:rPr lang="en-US" dirty="0" smtClean="0"/>
              <a:t>Reduce the costs of routine business transactions</a:t>
            </a:r>
          </a:p>
          <a:p>
            <a:pPr lvl="1"/>
            <a:r>
              <a:rPr lang="en-US" dirty="0" smtClean="0"/>
              <a:t>Improve the quality of the information flow by reducing or eliminating errors</a:t>
            </a:r>
          </a:p>
          <a:p>
            <a:pPr lvl="1"/>
            <a:r>
              <a:rPr lang="en-US" dirty="0" smtClean="0"/>
              <a:t>Compress the cycle time involved in fulfilling business transactions</a:t>
            </a:r>
          </a:p>
          <a:p>
            <a:pPr lvl="1"/>
            <a:r>
              <a:rPr lang="en-US" dirty="0" smtClean="0"/>
              <a:t>Eliminate paper processing and its associated inefficiencies and costs</a:t>
            </a:r>
          </a:p>
          <a:p>
            <a:pPr lvl="1"/>
            <a:r>
              <a:rPr lang="en-US" dirty="0" smtClean="0"/>
              <a:t>Make the transfer and processing of information easier for users</a:t>
            </a:r>
          </a:p>
        </p:txBody>
      </p:sp>
    </p:spTree>
    <p:extLst>
      <p:ext uri="{BB962C8B-B14F-4D97-AF65-F5344CB8AC3E}">
        <p14:creationId xmlns:p14="http://schemas.microsoft.com/office/powerpoint/2010/main" val="3157692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The Push Model versus the Pull Model</a:t>
            </a:r>
            <a:endParaRPr lang="en-US" dirty="0"/>
          </a:p>
        </p:txBody>
      </p:sp>
      <p:sp>
        <p:nvSpPr>
          <p:cNvPr id="4" name="Content Placeholder 3"/>
          <p:cNvSpPr>
            <a:spLocks noGrp="1"/>
          </p:cNvSpPr>
          <p:nvPr>
            <p:ph sz="quarter" idx="14"/>
          </p:nvPr>
        </p:nvSpPr>
        <p:spPr/>
        <p:txBody>
          <a:bodyPr>
            <a:normAutofit/>
          </a:bodyPr>
          <a:lstStyle/>
          <a:p>
            <a:r>
              <a:rPr lang="en-US" dirty="0" smtClean="0"/>
              <a:t>Push Model </a:t>
            </a:r>
          </a:p>
          <a:p>
            <a:pPr lvl="1"/>
            <a:r>
              <a:rPr lang="en-US" dirty="0" smtClean="0"/>
              <a:t>make-to-stock</a:t>
            </a:r>
          </a:p>
          <a:p>
            <a:r>
              <a:rPr lang="en-US" dirty="0" smtClean="0"/>
              <a:t>Pull Model </a:t>
            </a:r>
          </a:p>
          <a:p>
            <a:pPr lvl="1"/>
            <a:r>
              <a:rPr lang="en-US" dirty="0" smtClean="0"/>
              <a:t>make-to-order</a:t>
            </a:r>
            <a:endParaRPr lang="en-US" dirty="0"/>
          </a:p>
        </p:txBody>
      </p:sp>
    </p:spTree>
    <p:extLst>
      <p:ext uri="{BB962C8B-B14F-4D97-AF65-F5344CB8AC3E}">
        <p14:creationId xmlns:p14="http://schemas.microsoft.com/office/powerpoint/2010/main" val="15323345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Problems along the Supply Chain</a:t>
            </a:r>
            <a:endParaRPr lang="en-US" dirty="0"/>
          </a:p>
        </p:txBody>
      </p:sp>
      <p:sp>
        <p:nvSpPr>
          <p:cNvPr id="4" name="Content Placeholder 3"/>
          <p:cNvSpPr>
            <a:spLocks noGrp="1"/>
          </p:cNvSpPr>
          <p:nvPr>
            <p:ph sz="quarter" idx="14"/>
          </p:nvPr>
        </p:nvSpPr>
        <p:spPr/>
        <p:txBody>
          <a:bodyPr>
            <a:normAutofit/>
          </a:bodyPr>
          <a:lstStyle/>
          <a:p>
            <a:r>
              <a:rPr lang="en-US" dirty="0" smtClean="0"/>
              <a:t>Two main sources of problems</a:t>
            </a:r>
          </a:p>
          <a:p>
            <a:pPr lvl="1"/>
            <a:r>
              <a:rPr lang="en-US" dirty="0" smtClean="0"/>
              <a:t>Uncertainties</a:t>
            </a:r>
          </a:p>
          <a:p>
            <a:pPr lvl="1"/>
            <a:r>
              <a:rPr lang="en-US" dirty="0" smtClean="0"/>
              <a:t>The need to coordinate multiple activities, internal units, and business partners.</a:t>
            </a:r>
          </a:p>
          <a:p>
            <a:r>
              <a:rPr lang="en-US" dirty="0" smtClean="0"/>
              <a:t>Demand forecast</a:t>
            </a:r>
          </a:p>
          <a:p>
            <a:r>
              <a:rPr lang="en-US" dirty="0" smtClean="0"/>
              <a:t>Bullwhip effect</a:t>
            </a:r>
          </a:p>
        </p:txBody>
      </p:sp>
    </p:spTree>
    <p:extLst>
      <p:ext uri="{BB962C8B-B14F-4D97-AF65-F5344CB8AC3E}">
        <p14:creationId xmlns:p14="http://schemas.microsoft.com/office/powerpoint/2010/main" val="2587311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77500" lnSpcReduction="20000"/>
          </a:bodyPr>
          <a:lstStyle/>
          <a:p>
            <a:r>
              <a:rPr lang="en-US" b="1" dirty="0"/>
              <a:t>FIGURE 11.5 </a:t>
            </a:r>
            <a:r>
              <a:rPr lang="en-US" dirty="0"/>
              <a:t>The bullwhip effect.</a:t>
            </a:r>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533400" y="3447793"/>
            <a:ext cx="8153400" cy="3181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2275" y="1400175"/>
            <a:ext cx="3219450"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61470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92500" lnSpcReduction="10000"/>
          </a:bodyPr>
          <a:lstStyle/>
          <a:p>
            <a:r>
              <a:rPr lang="en-US" dirty="0" smtClean="0"/>
              <a:t>Solutions to Supply Chain Problems</a:t>
            </a:r>
            <a:endParaRPr lang="en-US" dirty="0"/>
          </a:p>
        </p:txBody>
      </p:sp>
      <p:sp>
        <p:nvSpPr>
          <p:cNvPr id="4" name="Content Placeholder 3"/>
          <p:cNvSpPr>
            <a:spLocks noGrp="1"/>
          </p:cNvSpPr>
          <p:nvPr>
            <p:ph sz="quarter" idx="14"/>
          </p:nvPr>
        </p:nvSpPr>
        <p:spPr/>
        <p:txBody>
          <a:bodyPr>
            <a:normAutofit/>
          </a:bodyPr>
          <a:lstStyle/>
          <a:p>
            <a:r>
              <a:rPr lang="en-US" dirty="0" smtClean="0"/>
              <a:t>Using Inventories to Solve Supply Chain Problems</a:t>
            </a:r>
          </a:p>
          <a:p>
            <a:pPr lvl="1"/>
            <a:r>
              <a:rPr lang="en-US" dirty="0" smtClean="0"/>
              <a:t>Just-in-time (JIT) inventory system</a:t>
            </a:r>
          </a:p>
          <a:p>
            <a:pPr lvl="1"/>
            <a:r>
              <a:rPr lang="en-US" dirty="0" smtClean="0"/>
              <a:t>Information Sharing</a:t>
            </a:r>
          </a:p>
          <a:p>
            <a:pPr lvl="1"/>
            <a:r>
              <a:rPr lang="en-US" dirty="0" smtClean="0"/>
              <a:t>Vendor-managed inventory (VMI)</a:t>
            </a:r>
            <a:endParaRPr lang="en-US" dirty="0"/>
          </a:p>
        </p:txBody>
      </p:sp>
    </p:spTree>
    <p:extLst>
      <p:ext uri="{BB962C8B-B14F-4D97-AF65-F5344CB8AC3E}">
        <p14:creationId xmlns:p14="http://schemas.microsoft.com/office/powerpoint/2010/main" val="16191230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85000" lnSpcReduction="20000"/>
          </a:bodyPr>
          <a:lstStyle/>
          <a:p>
            <a:r>
              <a:rPr lang="en-US" dirty="0" smtClean="0"/>
              <a:t>Information Technology Support for Supply Chain Management</a:t>
            </a:r>
            <a:endParaRPr lang="en-US" dirty="0"/>
          </a:p>
        </p:txBody>
      </p:sp>
      <p:sp>
        <p:nvSpPr>
          <p:cNvPr id="3" name="Text Placeholder 2"/>
          <p:cNvSpPr>
            <a:spLocks noGrp="1"/>
          </p:cNvSpPr>
          <p:nvPr>
            <p:ph type="body" sz="quarter" idx="14"/>
          </p:nvPr>
        </p:nvSpPr>
        <p:spPr>
          <a:xfrm>
            <a:off x="-152400" y="457200"/>
            <a:ext cx="2209800" cy="1524000"/>
          </a:xfrm>
        </p:spPr>
        <p:txBody>
          <a:bodyPr/>
          <a:lstStyle/>
          <a:p>
            <a:r>
              <a:rPr lang="en-US" dirty="0" smtClean="0"/>
              <a:t>11.7</a:t>
            </a:r>
            <a:endParaRPr lang="en-US" dirty="0"/>
          </a:p>
        </p:txBody>
      </p:sp>
      <p:sp>
        <p:nvSpPr>
          <p:cNvPr id="4" name="Content Placeholder 3"/>
          <p:cNvSpPr>
            <a:spLocks noGrp="1"/>
          </p:cNvSpPr>
          <p:nvPr>
            <p:ph sz="quarter" idx="15"/>
          </p:nvPr>
        </p:nvSpPr>
        <p:spPr/>
        <p:txBody>
          <a:bodyPr>
            <a:normAutofit/>
          </a:bodyPr>
          <a:lstStyle/>
          <a:p>
            <a:r>
              <a:rPr lang="en-US" dirty="0" smtClean="0"/>
              <a:t>Electronic Data Interchange (EDI)</a:t>
            </a:r>
          </a:p>
          <a:p>
            <a:r>
              <a:rPr lang="en-US" dirty="0" smtClean="0"/>
              <a:t>Extranets</a:t>
            </a:r>
          </a:p>
          <a:p>
            <a:r>
              <a:rPr lang="en-US" dirty="0" smtClean="0"/>
              <a:t>Portals and Exchanges</a:t>
            </a:r>
          </a:p>
        </p:txBody>
      </p:sp>
    </p:spTree>
    <p:extLst>
      <p:ext uri="{BB962C8B-B14F-4D97-AF65-F5344CB8AC3E}">
        <p14:creationId xmlns:p14="http://schemas.microsoft.com/office/powerpoint/2010/main" val="1884290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Extranets</a:t>
            </a:r>
            <a:endParaRPr lang="en-US" dirty="0"/>
          </a:p>
        </p:txBody>
      </p:sp>
      <p:sp>
        <p:nvSpPr>
          <p:cNvPr id="4" name="Content Placeholder 3"/>
          <p:cNvSpPr>
            <a:spLocks noGrp="1"/>
          </p:cNvSpPr>
          <p:nvPr>
            <p:ph sz="quarter" idx="14"/>
          </p:nvPr>
        </p:nvSpPr>
        <p:spPr/>
        <p:txBody>
          <a:bodyPr>
            <a:normAutofit/>
          </a:bodyPr>
          <a:lstStyle/>
          <a:p>
            <a:r>
              <a:rPr lang="en-US" dirty="0" smtClean="0"/>
              <a:t>Virtual Private Network (VPN)</a:t>
            </a:r>
          </a:p>
          <a:p>
            <a:r>
              <a:rPr lang="en-US" dirty="0" smtClean="0"/>
              <a:t>A Company and Its Dealers, Customers, or Suppliers</a:t>
            </a:r>
          </a:p>
          <a:p>
            <a:r>
              <a:rPr lang="en-US" dirty="0" smtClean="0"/>
              <a:t>An Industry’s Extranet</a:t>
            </a:r>
          </a:p>
          <a:p>
            <a:r>
              <a:rPr lang="en-US" dirty="0" smtClean="0"/>
              <a:t>Joint Ventures and Other Business Partnerships</a:t>
            </a:r>
          </a:p>
        </p:txBody>
      </p:sp>
    </p:spTree>
    <p:extLst>
      <p:ext uri="{BB962C8B-B14F-4D97-AF65-F5344CB8AC3E}">
        <p14:creationId xmlns:p14="http://schemas.microsoft.com/office/powerpoint/2010/main" val="15570913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47500" lnSpcReduction="20000"/>
          </a:bodyPr>
          <a:lstStyle/>
          <a:p>
            <a:r>
              <a:rPr lang="en-US" b="1" dirty="0"/>
              <a:t>FIGURE 11.6 </a:t>
            </a:r>
            <a:r>
              <a:rPr lang="en-US" dirty="0"/>
              <a:t>Comparing purchase order (PO) fulfillment </a:t>
            </a:r>
            <a:r>
              <a:rPr lang="en-US" dirty="0" smtClean="0"/>
              <a:t>without </a:t>
            </a:r>
            <a:r>
              <a:rPr lang="en-US" dirty="0"/>
              <a:t>EDI. </a:t>
            </a:r>
          </a:p>
        </p:txBody>
      </p:sp>
      <p:pic>
        <p:nvPicPr>
          <p:cNvPr id="7"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932949" y="1447800"/>
            <a:ext cx="7354301"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94797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47500" lnSpcReduction="20000"/>
          </a:bodyPr>
          <a:lstStyle/>
          <a:p>
            <a:r>
              <a:rPr lang="en-US" b="1" dirty="0"/>
              <a:t>FIGURE 11.6 </a:t>
            </a:r>
            <a:r>
              <a:rPr lang="en-US" dirty="0"/>
              <a:t>Comparing purchase order (PO) fulfillment </a:t>
            </a:r>
            <a:r>
              <a:rPr lang="en-US" dirty="0" smtClean="0"/>
              <a:t>with EDI</a:t>
            </a:r>
            <a:r>
              <a:rPr lang="en-US" dirty="0"/>
              <a:t>. </a:t>
            </a:r>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813777" y="1447800"/>
            <a:ext cx="759264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03605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fontScale="62500" lnSpcReduction="20000"/>
          </a:bodyPr>
          <a:lstStyle/>
          <a:p>
            <a:r>
              <a:rPr lang="en-US" b="1" dirty="0"/>
              <a:t>FIGURE 11.7 </a:t>
            </a:r>
            <a:r>
              <a:rPr lang="en-US" dirty="0"/>
              <a:t>The structure of an extranet</a:t>
            </a:r>
            <a:r>
              <a:rPr lang="en-US" dirty="0" smtClean="0"/>
              <a:t>.</a:t>
            </a:r>
            <a:endParaRPr lang="en-US" dirty="0"/>
          </a:p>
        </p:txBody>
      </p:sp>
      <p:pic>
        <p:nvPicPr>
          <p:cNvPr id="5" name="Picture 2"/>
          <p:cNvPicPr>
            <a:picLocks noGrp="1" noChangeAspect="1" noChangeArrowheads="1"/>
          </p:cNvPicPr>
          <p:nvPr>
            <p:ph sz="quarter" idx="14"/>
          </p:nvPr>
        </p:nvPicPr>
        <p:blipFill>
          <a:blip r:embed="rId3">
            <a:extLst>
              <a:ext uri="{28A0092B-C50C-407E-A947-70E740481C1C}">
                <a14:useLocalDpi xmlns:a14="http://schemas.microsoft.com/office/drawing/2010/main" val="0"/>
              </a:ext>
            </a:extLst>
          </a:blip>
          <a:srcRect/>
          <a:stretch>
            <a:fillRect/>
          </a:stretch>
        </p:blipFill>
        <p:spPr bwMode="auto">
          <a:xfrm>
            <a:off x="609600" y="1938337"/>
            <a:ext cx="8001000" cy="412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62389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India’s New Automotive Supply Chain Extranet</a:t>
            </a:r>
            <a:endParaRPr lang="en-US" dirty="0"/>
          </a:p>
        </p:txBody>
      </p:sp>
      <p:sp>
        <p:nvSpPr>
          <p:cNvPr id="5" name="Text Placeholder 4"/>
          <p:cNvSpPr>
            <a:spLocks noGrp="1"/>
          </p:cNvSpPr>
          <p:nvPr>
            <p:ph type="body" sz="quarter" idx="13"/>
          </p:nvPr>
        </p:nvSpPr>
        <p:spPr/>
        <p:txBody>
          <a:bodyPr/>
          <a:lstStyle/>
          <a:p>
            <a:endParaRPr lang="en-US"/>
          </a:p>
        </p:txBody>
      </p:sp>
      <p:sp>
        <p:nvSpPr>
          <p:cNvPr id="6" name="ClipArt Placeholder 5"/>
          <p:cNvSpPr>
            <a:spLocks noGrp="1"/>
          </p:cNvSpPr>
          <p:nvPr>
            <p:ph type="clipArt" sz="quarter" idx="14"/>
          </p:nvPr>
        </p:nvSpPr>
        <p:spPr/>
      </p:sp>
      <p:sp>
        <p:nvSpPr>
          <p:cNvPr id="7" name="Text Placeholder 6"/>
          <p:cNvSpPr>
            <a:spLocks noGrp="1"/>
          </p:cNvSpPr>
          <p:nvPr>
            <p:ph type="body" sz="quarter" idx="15"/>
          </p:nvPr>
        </p:nvSpPr>
        <p:spPr/>
        <p:txBody>
          <a:bodyPr>
            <a:normAutofit fontScale="85000" lnSpcReduction="10000"/>
          </a:bodyPr>
          <a:lstStyle/>
          <a:p>
            <a:r>
              <a:rPr lang="en-US" dirty="0" smtClean="0"/>
              <a:t>11.7</a:t>
            </a:r>
            <a:endParaRPr lang="en-US" dirty="0"/>
          </a:p>
        </p:txBody>
      </p:sp>
    </p:spTree>
    <p:extLst>
      <p:ext uri="{BB962C8B-B14F-4D97-AF65-F5344CB8AC3E}">
        <p14:creationId xmlns:p14="http://schemas.microsoft.com/office/powerpoint/2010/main" val="287302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r>
              <a:rPr lang="en-US" dirty="0" smtClean="0"/>
              <a:t>Portal and Exchanges</a:t>
            </a:r>
            <a:endParaRPr lang="en-US" dirty="0"/>
          </a:p>
        </p:txBody>
      </p:sp>
      <p:sp>
        <p:nvSpPr>
          <p:cNvPr id="4" name="Content Placeholder 3"/>
          <p:cNvSpPr>
            <a:spLocks noGrp="1"/>
          </p:cNvSpPr>
          <p:nvPr>
            <p:ph sz="quarter" idx="14"/>
          </p:nvPr>
        </p:nvSpPr>
        <p:spPr/>
        <p:txBody>
          <a:bodyPr>
            <a:normAutofit/>
          </a:bodyPr>
          <a:lstStyle/>
          <a:p>
            <a:r>
              <a:rPr lang="en-US" dirty="0" smtClean="0"/>
              <a:t>Two basic types of corporate portals</a:t>
            </a:r>
          </a:p>
          <a:p>
            <a:pPr lvl="1"/>
            <a:r>
              <a:rPr lang="en-US" dirty="0" smtClean="0"/>
              <a:t>Procurement portals</a:t>
            </a:r>
          </a:p>
          <a:p>
            <a:pPr lvl="1"/>
            <a:r>
              <a:rPr lang="en-US" dirty="0" smtClean="0"/>
              <a:t>Distribution portals</a:t>
            </a:r>
            <a:endParaRPr lang="en-US" dirty="0"/>
          </a:p>
        </p:txBody>
      </p:sp>
    </p:spTree>
    <p:extLst>
      <p:ext uri="{BB962C8B-B14F-4D97-AF65-F5344CB8AC3E}">
        <p14:creationId xmlns:p14="http://schemas.microsoft.com/office/powerpoint/2010/main" val="1592875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solidFill>
                  <a:schemeClr val="accent6">
                    <a:lumMod val="50000"/>
                  </a:schemeClr>
                </a:solidFill>
              </a:rPr>
              <a:t>[</a:t>
            </a:r>
            <a:r>
              <a:rPr lang="en-US" dirty="0"/>
              <a:t> </a:t>
            </a:r>
            <a:r>
              <a:rPr lang="en-US" dirty="0">
                <a:solidFill>
                  <a:schemeClr val="accent1">
                    <a:lumMod val="75000"/>
                  </a:schemeClr>
                </a:solidFill>
              </a:rPr>
              <a:t>Closing Case </a:t>
            </a:r>
            <a:r>
              <a:rPr lang="en-US" dirty="0" smtClean="0"/>
              <a:t>Super Retail Group Consolidates Demand Forecasting…</a:t>
            </a:r>
            <a:r>
              <a:rPr lang="en-US" sz="5300" dirty="0" smtClean="0">
                <a:solidFill>
                  <a:schemeClr val="accent6">
                    <a:lumMod val="50000"/>
                  </a:schemeClr>
                </a:solidFill>
              </a:rPr>
              <a:t>]</a:t>
            </a:r>
            <a:endParaRPr lang="en-US" dirty="0"/>
          </a:p>
        </p:txBody>
      </p:sp>
      <p:sp>
        <p:nvSpPr>
          <p:cNvPr id="3" name="Text Placeholder 2"/>
          <p:cNvSpPr>
            <a:spLocks noGrp="1"/>
          </p:cNvSpPr>
          <p:nvPr>
            <p:ph type="body" sz="quarter" idx="13"/>
          </p:nvPr>
        </p:nvSpPr>
        <p:spPr/>
        <p:txBody>
          <a:bodyPr>
            <a:normAutofit/>
          </a:bodyPr>
          <a:lstStyle/>
          <a:p>
            <a:r>
              <a:rPr lang="en-US" dirty="0" smtClean="0"/>
              <a:t>The </a:t>
            </a:r>
            <a:r>
              <a:rPr lang="en-US" dirty="0" smtClean="0">
                <a:solidFill>
                  <a:schemeClr val="tx1">
                    <a:lumMod val="65000"/>
                    <a:lumOff val="35000"/>
                  </a:schemeClr>
                </a:solidFill>
              </a:rPr>
              <a:t>Business Problem</a:t>
            </a:r>
          </a:p>
          <a:p>
            <a:r>
              <a:rPr lang="en-US" dirty="0" smtClean="0"/>
              <a:t>An</a:t>
            </a:r>
            <a:r>
              <a:rPr lang="en-US" dirty="0" smtClean="0">
                <a:solidFill>
                  <a:schemeClr val="tx1">
                    <a:lumMod val="65000"/>
                    <a:lumOff val="35000"/>
                  </a:schemeClr>
                </a:solidFill>
              </a:rPr>
              <a:t> IT Solution</a:t>
            </a:r>
          </a:p>
          <a:p>
            <a:r>
              <a:rPr lang="en-US" dirty="0"/>
              <a:t>The </a:t>
            </a:r>
            <a:r>
              <a:rPr lang="en-US" dirty="0" smtClean="0">
                <a:solidFill>
                  <a:schemeClr val="tx1">
                    <a:lumMod val="65000"/>
                    <a:lumOff val="35000"/>
                  </a:schemeClr>
                </a:solidFill>
              </a:rPr>
              <a:t>Results</a:t>
            </a:r>
            <a:endParaRPr lang="en-US" dirty="0">
              <a:solidFill>
                <a:schemeClr val="tx1">
                  <a:lumMod val="65000"/>
                  <a:lumOff val="35000"/>
                </a:schemeClr>
              </a:solidFill>
            </a:endParaRPr>
          </a:p>
        </p:txBody>
      </p:sp>
    </p:spTree>
    <p:extLst>
      <p:ext uri="{BB962C8B-B14F-4D97-AF65-F5344CB8AC3E}">
        <p14:creationId xmlns:p14="http://schemas.microsoft.com/office/powerpoint/2010/main" val="4113457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16314</TotalTime>
  <Words>4633</Words>
  <Application>Microsoft Office PowerPoint</Application>
  <PresentationFormat>On-screen Show (4:3)</PresentationFormat>
  <Paragraphs>444</Paragraphs>
  <Slides>48</Slides>
  <Notes>40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PowerPoint Presentation</vt:lpstr>
      <vt:lpstr>PowerPoint Presentation</vt:lpstr>
      <vt:lpstr>PowerPoint Presentation</vt:lpstr>
      <vt:lpstr>[ WEB RESOURCES]</vt:lpstr>
      <vt:lpstr>[ Opening Case Organic and Beyond Corporation Manages Its New B2C…]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Closing Case Super Retail Group Consolidates Demand Forecasting…]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Rainer_6e_Chapter11_Slides</dc:title>
  <dc:creator>John Kenneth Corley</dc:creator>
  <cp:lastModifiedBy>techsupport</cp:lastModifiedBy>
  <cp:revision>506</cp:revision>
  <dcterms:created xsi:type="dcterms:W3CDTF">2013-08-07T23:49:12Z</dcterms:created>
  <dcterms:modified xsi:type="dcterms:W3CDTF">2015-10-01T20:06:44Z</dcterms:modified>
</cp:coreProperties>
</file>