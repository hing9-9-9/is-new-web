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media/image2.jpg" ContentType="image/jpeg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0" r:id="rId1"/>
  </p:sldMasterIdLst>
  <p:notesMasterIdLst>
    <p:notesMasterId r:id="rId20"/>
  </p:notesMasterIdLst>
  <p:handoutMasterIdLst>
    <p:handoutMasterId r:id="rId21"/>
  </p:handoutMasterIdLst>
  <p:sldIdLst>
    <p:sldId id="256" r:id="rId2"/>
    <p:sldId id="302" r:id="rId3"/>
    <p:sldId id="300" r:id="rId4"/>
    <p:sldId id="273" r:id="rId5"/>
    <p:sldId id="285" r:id="rId6"/>
    <p:sldId id="288" r:id="rId7"/>
    <p:sldId id="289" r:id="rId8"/>
    <p:sldId id="290" r:id="rId9"/>
    <p:sldId id="286" r:id="rId10"/>
    <p:sldId id="291" r:id="rId11"/>
    <p:sldId id="292" r:id="rId12"/>
    <p:sldId id="293" r:id="rId13"/>
    <p:sldId id="298" r:id="rId14"/>
    <p:sldId id="294" r:id="rId15"/>
    <p:sldId id="297" r:id="rId16"/>
    <p:sldId id="287" r:id="rId17"/>
    <p:sldId id="301" r:id="rId18"/>
    <p:sldId id="282" r:id="rId19"/>
  </p:sldIdLst>
  <p:sldSz cx="9144000" cy="6858000" type="screen4x3"/>
  <p:notesSz cx="6858000" cy="9144000"/>
  <p:custDataLst>
    <p:tags r:id="rId22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643"/>
    <a:srgbClr val="FFFF66"/>
    <a:srgbClr val="23732D"/>
    <a:srgbClr val="75D58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vertBarState="maximized">
    <p:restoredLeft sz="15620"/>
    <p:restoredTop sz="94660"/>
  </p:normalViewPr>
  <p:slideViewPr>
    <p:cSldViewPr>
      <p:cViewPr varScale="1">
        <p:scale>
          <a:sx n="70" d="100"/>
          <a:sy n="70" d="100"/>
        </p:scale>
        <p:origin x="-1152" y="-10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gs" Target="tags/tag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350FFB0-1891-4215-9780-68E484FA84EE}" type="datetimeFigureOut">
              <a:rPr lang="en-US" smtClean="0"/>
              <a:t>3/2/2015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 smtClean="0"/>
              <a:t>Copyright © 2014 John Wiley &amp; Sons, Inc.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A140ADB-FA49-49E2-909D-1155998E85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7263920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2EB3FA2-E9CD-4A8F-AF2A-BB3421F84744}" type="datetimeFigureOut">
              <a:rPr lang="en-US" smtClean="0"/>
              <a:t>3/2/2015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 smtClean="0"/>
              <a:t>Copyright © 2014 John Wiley &amp; Sons, Inc.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97EF4E9-A616-437F-9247-EF46AEF96A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1904964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7EF4E9-A616-437F-9247-EF46AEF96A22}" type="slidenum">
              <a:rPr lang="en-US" smtClean="0"/>
              <a:t>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Copyright © 2014 John Wiley &amp; Sons, Inc.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532708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smtClean="0"/>
              <a:t>Copyright © 2014 John Wiley &amp; Sons, Inc.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A97EF4E9-A616-437F-9247-EF46AEF96A22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26984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951DD2-165F-4915-AABB-7C4EB6B2780B}" type="datetime1">
              <a:rPr lang="en-US" smtClean="0"/>
              <a:t>3/2/2015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Copyright © 2014 John Wiley &amp; Sons, Inc.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2287F6-59FA-4BED-A87A-D8E031B1831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56155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C8FC70-2BA1-42A9-B09A-1C682CA0BB91}" type="datetime1">
              <a:rPr lang="en-US" smtClean="0"/>
              <a:t>3/2/2015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Copyright © 2014 John Wiley &amp; Sons, Inc.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2287F6-59FA-4BED-A87A-D8E031B1831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49463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5728DE-2300-49A0-83F7-6988D841B387}" type="datetime1">
              <a:rPr lang="en-US" smtClean="0"/>
              <a:t>3/2/2015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Copyright © 2014 John Wiley &amp; Sons, Inc.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2287F6-59FA-4BED-A87A-D8E031B1831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63479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BB2D80-D8AF-410E-B020-D7DF06E171CC}" type="datetime1">
              <a:rPr lang="en-US" smtClean="0"/>
              <a:t>3/2/2015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Copyright © 2014 John Wiley &amp; Sons, Inc.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2287F6-59FA-4BED-A87A-D8E031B1831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6155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FDDE46-2B57-46B7-A20C-81F31BA4F61B}" type="datetime1">
              <a:rPr lang="en-US" smtClean="0"/>
              <a:t>3/2/2015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Copyright © 2014 John Wiley &amp; Sons, Inc.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2287F6-59FA-4BED-A87A-D8E031B1831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68279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FB0F5C-B591-4056-A5F6-DD3E4C42448B}" type="datetime1">
              <a:rPr lang="en-US" smtClean="0"/>
              <a:t>3/2/2015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Copyright © 2014 John Wiley &amp; Sons, Inc.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2287F6-59FA-4BED-A87A-D8E031B1831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05790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E8E150-5946-43ED-85F0-AD5E42CB191B}" type="datetime1">
              <a:rPr lang="en-US" smtClean="0"/>
              <a:t>3/2/2015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Copyright © 2014 John Wiley &amp; Sons, Inc.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2287F6-59FA-4BED-A87A-D8E031B1831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80158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CB8B91-5248-42FD-A96D-7E687811F20B}" type="datetime1">
              <a:rPr lang="en-US" smtClean="0"/>
              <a:t>3/2/2015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Copyright © 2014 John Wiley &amp; Sons, Inc.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2287F6-59FA-4BED-A87A-D8E031B1831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77791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E6640D-928A-4FD8-8C61-7C730C96E604}" type="datetime1">
              <a:rPr lang="en-US" smtClean="0"/>
              <a:t>3/2/2015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Copyright © 2014 John Wiley &amp; Sons, Inc.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2287F6-59FA-4BED-A87A-D8E031B1831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08160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DA2095-FE04-448E-A160-17A862A21F88}" type="datetime1">
              <a:rPr lang="en-US" smtClean="0"/>
              <a:t>3/2/2015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Copyright © 2014 John Wiley &amp; Sons, Inc.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2287F6-59FA-4BED-A87A-D8E031B1831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12415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8992F2-5B65-4F43-B836-ABD19EA25177}" type="datetime1">
              <a:rPr lang="en-US" smtClean="0"/>
              <a:t>3/2/2015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Copyright © 2014 John Wiley &amp; Sons, Inc.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2287F6-59FA-4BED-A87A-D8E031B1831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4298837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382000" y="6400800"/>
            <a:ext cx="381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502287F6-59FA-4BED-A87A-D8E031B1831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83874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50B1C0-EBF0-4CFB-B903-3FDF23054B53}" type="datetime1">
              <a:rPr lang="en-US" smtClean="0"/>
              <a:t>3/2/2015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smtClean="0"/>
              <a:t>Copyright © 2014 John Wiley &amp; Sons, Inc.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02287F6-59FA-4BED-A87A-D8E031B1831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Footer Placeholder 10"/>
          <p:cNvSpPr txBox="1">
            <a:spLocks/>
          </p:cNvSpPr>
          <p:nvPr userDrawn="1"/>
        </p:nvSpPr>
        <p:spPr>
          <a:xfrm>
            <a:off x="76200" y="6477000"/>
            <a:ext cx="4267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000" dirty="0" smtClean="0">
                <a:solidFill>
                  <a:schemeClr val="tx1"/>
                </a:solidFill>
              </a:rPr>
              <a:t>Bygrave &amp; Zacharakis, </a:t>
            </a:r>
            <a:r>
              <a:rPr lang="en-US" sz="1000" i="1" dirty="0" smtClean="0">
                <a:solidFill>
                  <a:schemeClr val="tx1"/>
                </a:solidFill>
              </a:rPr>
              <a:t>Entrepreneurship,</a:t>
            </a:r>
            <a:r>
              <a:rPr lang="en-US" sz="1000" dirty="0" smtClean="0">
                <a:solidFill>
                  <a:schemeClr val="tx1"/>
                </a:solidFill>
              </a:rPr>
              <a:t> </a:t>
            </a:r>
            <a:r>
              <a:rPr lang="en-US" sz="1000" i="1" dirty="0" smtClean="0">
                <a:solidFill>
                  <a:schemeClr val="tx1"/>
                </a:solidFill>
              </a:rPr>
              <a:t>3rd</a:t>
            </a:r>
            <a:r>
              <a:rPr lang="en-US" sz="1000" i="1" baseline="0" dirty="0" smtClean="0">
                <a:solidFill>
                  <a:schemeClr val="tx1"/>
                </a:solidFill>
              </a:rPr>
              <a:t> Edition. </a:t>
            </a:r>
            <a:r>
              <a:rPr lang="en-US" sz="1000" dirty="0" smtClean="0">
                <a:solidFill>
                  <a:schemeClr val="tx1"/>
                </a:solidFill>
              </a:rPr>
              <a:t>New York: Wiley, 2014 </a:t>
            </a:r>
            <a:r>
              <a:rPr lang="en-US" sz="1100" dirty="0" smtClean="0">
                <a:solidFill>
                  <a:schemeClr val="tx1"/>
                </a:solidFill>
              </a:rPr>
              <a:t>©</a:t>
            </a:r>
            <a:endParaRPr lang="en-US" sz="1000" dirty="0">
              <a:solidFill>
                <a:schemeClr val="tx1"/>
              </a:solidFill>
            </a:endParaRPr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62600" y="5943600"/>
            <a:ext cx="3657600" cy="1097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06000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  <p:sldLayoutId id="2147483695" r:id="rId5"/>
    <p:sldLayoutId id="2147483696" r:id="rId6"/>
    <p:sldLayoutId id="2147483697" r:id="rId7"/>
    <p:sldLayoutId id="2147483698" r:id="rId8"/>
    <p:sldLayoutId id="2147483699" r:id="rId9"/>
    <p:sldLayoutId id="2147483700" r:id="rId10"/>
    <p:sldLayoutId id="2147483701" r:id="rId11"/>
    <p:sldLayoutId id="2147483702" r:id="rId12"/>
  </p:sldLayoutIdLst>
  <p:hf hd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3">
            <a:alphaModFix amt="83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762000" y="1524000"/>
            <a:ext cx="7772400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 smtClean="0">
                <a:latin typeface="Novecento wide Book"/>
              </a:rPr>
              <a:t>DEBT AND OTHER FORMS OF FINANCING</a:t>
            </a:r>
          </a:p>
          <a:p>
            <a:pPr algn="ctr"/>
            <a:endParaRPr lang="en-US" sz="2800" b="1" dirty="0">
              <a:solidFill>
                <a:schemeClr val="tx1">
                  <a:lumMod val="85000"/>
                  <a:lumOff val="15000"/>
                </a:schemeClr>
              </a:solidFill>
              <a:latin typeface="Novecento wide Book" pitchFamily="50" charset="0"/>
            </a:endParaRPr>
          </a:p>
          <a:p>
            <a:pPr algn="ctr"/>
            <a:r>
              <a:rPr lang="en-US" sz="48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Novecento wide Book" pitchFamily="50" charset="0"/>
              </a:rPr>
              <a:t>Chapter 11</a:t>
            </a:r>
          </a:p>
          <a:p>
            <a:pPr algn="ctr"/>
            <a:endParaRPr lang="en-US" sz="4800" b="1" dirty="0" smtClean="0">
              <a:solidFill>
                <a:schemeClr val="tx1">
                  <a:lumMod val="85000"/>
                  <a:lumOff val="15000"/>
                </a:schemeClr>
              </a:solidFill>
              <a:latin typeface="Novecento wide Book" pitchFamily="50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02287F6-59FA-4BED-A87A-D8E031B1831F}" type="slidenum">
              <a:rPr lang="en-US" smtClean="0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987308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Financing is a continuing activity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95400"/>
            <a:ext cx="8686800" cy="4800600"/>
          </a:xfrm>
        </p:spPr>
        <p:txBody>
          <a:bodyPr>
            <a:normAutofit lnSpcReduction="10000"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US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Factors within, and outside of, your control impact your cash needs &amp; can change suddenly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Cash needs must be frequently forecasted with a margin of error 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i="1" dirty="0" smtClean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Plan</a:t>
            </a:r>
            <a:r>
              <a:rPr lang="en-US" dirty="0" smtClean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for the most likely case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 smtClean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 prepared for the </a:t>
            </a:r>
            <a:r>
              <a:rPr lang="en-US" u="sng" dirty="0" smtClean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worst case </a:t>
            </a:r>
            <a:r>
              <a:rPr lang="en-US" dirty="0" smtClean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(maintain access to a reserve)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Remember the 3 “</a:t>
            </a:r>
            <a:r>
              <a:rPr lang="en-US" sz="2800" i="1" dirty="0" smtClean="0">
                <a:latin typeface="Arial" panose="020B0604020202020204" pitchFamily="34" charset="0"/>
                <a:cs typeface="Arial" panose="020B0604020202020204" pitchFamily="34" charset="0"/>
              </a:rPr>
              <a:t>Rules of Cash”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400" dirty="0" smtClean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More cash is better than less cash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400" dirty="0" smtClean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Cash now is better than cash later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400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Never run out of cash (#</a:t>
            </a:r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 </a:t>
            </a:r>
            <a:r>
              <a:rPr lang="en-US" sz="2400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killer </a:t>
            </a:r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of new ventures</a:t>
            </a:r>
            <a:r>
              <a:rPr lang="en-US" sz="2400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!)</a:t>
            </a:r>
            <a:endParaRPr lang="en-US" sz="24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lvl="1" indent="0">
              <a:buNone/>
            </a:pPr>
            <a:endParaRPr lang="en-US" sz="24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2287F6-59FA-4BED-A87A-D8E031B1831F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Copyright © 2014 John Wiley &amp; Sons, Inc.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16139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610600" cy="1143000"/>
          </a:xfrm>
        </p:spPr>
        <p:txBody>
          <a:bodyPr>
            <a:normAutofit/>
          </a:bodyPr>
          <a:lstStyle/>
          <a:p>
            <a:r>
              <a:rPr lang="en-US" sz="4300" dirty="0" smtClean="0"/>
              <a:t>Align your sources &amp; uses of funds</a:t>
            </a:r>
            <a:endParaRPr lang="en-US" sz="43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71600"/>
            <a:ext cx="8229600" cy="4525963"/>
          </a:xfrm>
        </p:spPr>
        <p:txBody>
          <a:bodyPr>
            <a:normAutofit fontScale="92500" lnSpcReduction="20000"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US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Uses of funds 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Start-up costs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Working capital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Growth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Sources of funds (cash flow)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External</a:t>
            </a:r>
          </a:p>
          <a:p>
            <a:pPr lvl="2"/>
            <a:r>
              <a:rPr lang="en-US" sz="1800" dirty="0" smtClean="0">
                <a:latin typeface="Arial" panose="020B0604020202020204" pitchFamily="34" charset="0"/>
                <a:cs typeface="Arial" panose="020B0604020202020204" pitchFamily="34" charset="0"/>
              </a:rPr>
              <a:t>Require external analysts or investors to independently appraise the worthiness of capital investments before releasing funds</a:t>
            </a: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Internal</a:t>
            </a:r>
          </a:p>
          <a:p>
            <a:pPr lvl="2"/>
            <a:r>
              <a:rPr lang="en-US" sz="1800" dirty="0" smtClean="0">
                <a:latin typeface="Arial" panose="020B0604020202020204" pitchFamily="34" charset="0"/>
                <a:cs typeface="Arial" panose="020B0604020202020204" pitchFamily="34" charset="0"/>
              </a:rPr>
              <a:t>Funds you control directly &amp; absolutely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i="1" dirty="0" smtClean="0">
                <a:latin typeface="Arial" panose="020B0604020202020204" pitchFamily="34" charset="0"/>
                <a:cs typeface="Arial" panose="020B0604020202020204" pitchFamily="34" charset="0"/>
              </a:rPr>
              <a:t>Forecast uses of funds </a:t>
            </a:r>
            <a:r>
              <a:rPr lang="en-US" sz="2800" i="1" u="sng" dirty="0" smtClean="0">
                <a:latin typeface="Arial" panose="020B0604020202020204" pitchFamily="34" charset="0"/>
                <a:cs typeface="Arial" panose="020B0604020202020204" pitchFamily="34" charset="0"/>
              </a:rPr>
              <a:t>further out </a:t>
            </a:r>
            <a:r>
              <a:rPr lang="en-US" sz="2800" i="1" dirty="0" smtClean="0">
                <a:latin typeface="Arial" panose="020B0604020202020204" pitchFamily="34" charset="0"/>
                <a:cs typeface="Arial" panose="020B0604020202020204" pitchFamily="34" charset="0"/>
              </a:rPr>
              <a:t>than the time required to secure sources of funds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2287F6-59FA-4BED-A87A-D8E031B1831F}" type="slidenum">
              <a:rPr lang="en-US" smtClean="0"/>
              <a:pPr/>
              <a:t>3</a:t>
            </a:fld>
            <a:endParaRPr lang="en-US" dirty="0"/>
          </a:p>
        </p:txBody>
      </p:sp>
      <p:pic>
        <p:nvPicPr>
          <p:cNvPr id="1433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29400" y="990600"/>
            <a:ext cx="1831467" cy="27437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Copyright © 2014 John Wiley &amp; Sons, Inc.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52562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9" name="Rectangle 3"/>
          <p:cNvSpPr>
            <a:spLocks noGrp="1" noChangeArrowheads="1"/>
          </p:cNvSpPr>
          <p:nvPr>
            <p:ph type="title"/>
          </p:nvPr>
        </p:nvSpPr>
        <p:spPr>
          <a:xfrm>
            <a:off x="609600" y="381000"/>
            <a:ext cx="8229600" cy="914400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Mature firms enjoy greater access to funds</a:t>
            </a:r>
            <a:endParaRPr lang="en-US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2287F6-59FA-4BED-A87A-D8E031B1831F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101378" name="Text Box 2"/>
          <p:cNvSpPr txBox="1">
            <a:spLocks noChangeArrowheads="1"/>
          </p:cNvSpPr>
          <p:nvPr/>
        </p:nvSpPr>
        <p:spPr bwMode="auto">
          <a:xfrm>
            <a:off x="3794125" y="2093913"/>
            <a:ext cx="1841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endParaRPr lang="en-US"/>
          </a:p>
        </p:txBody>
      </p:sp>
      <p:pic>
        <p:nvPicPr>
          <p:cNvPr id="5122" name="Picture 2" descr="11-1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98527" y="2514600"/>
            <a:ext cx="8769273" cy="30384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123" name="Line 3"/>
          <p:cNvSpPr>
            <a:spLocks noChangeShapeType="1"/>
          </p:cNvSpPr>
          <p:nvPr/>
        </p:nvSpPr>
        <p:spPr bwMode="auto">
          <a:xfrm>
            <a:off x="-692150" y="2070100"/>
            <a:ext cx="0" cy="612775"/>
          </a:xfrm>
          <a:prstGeom prst="line">
            <a:avLst/>
          </a:prstGeom>
          <a:noFill/>
          <a:ln w="3175">
            <a:solidFill>
              <a:srgbClr val="000000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125" name="Rectangle 5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3" name="Right Arrow 2"/>
          <p:cNvSpPr/>
          <p:nvPr/>
        </p:nvSpPr>
        <p:spPr>
          <a:xfrm>
            <a:off x="838200" y="1905000"/>
            <a:ext cx="7086600" cy="555625"/>
          </a:xfrm>
          <a:prstGeom prst="rightArrow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FIRM MATURITY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Oval 3"/>
          <p:cNvSpPr/>
          <p:nvPr/>
        </p:nvSpPr>
        <p:spPr>
          <a:xfrm rot="1724117">
            <a:off x="571184" y="4568210"/>
            <a:ext cx="2063673" cy="68580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Up Arrow 4"/>
          <p:cNvSpPr/>
          <p:nvPr/>
        </p:nvSpPr>
        <p:spPr>
          <a:xfrm rot="11578707">
            <a:off x="1325468" y="3343381"/>
            <a:ext cx="381000" cy="812105"/>
          </a:xfrm>
          <a:prstGeom prst="upArrow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1094324" y="2717511"/>
            <a:ext cx="2063673" cy="769147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INTERNAL SOURCES OF FUNDS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3962400" y="3848100"/>
            <a:ext cx="3657600" cy="266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>
                <a:solidFill>
                  <a:schemeClr val="tx1"/>
                </a:solidFill>
              </a:rPr>
              <a:t>EXTERNAL SOURCES OF FUNDS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8" name="Isosceles Triangle 7"/>
          <p:cNvSpPr/>
          <p:nvPr/>
        </p:nvSpPr>
        <p:spPr>
          <a:xfrm>
            <a:off x="873163" y="4128655"/>
            <a:ext cx="729857" cy="45719"/>
          </a:xfrm>
          <a:prstGeom prst="triangle">
            <a:avLst>
              <a:gd name="adj" fmla="val 93939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Copyright © 2014 John Wiley &amp; Sons, Inc.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98919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0"/>
            <a:ext cx="8534400" cy="1143000"/>
          </a:xfrm>
        </p:spPr>
        <p:txBody>
          <a:bodyPr>
            <a:normAutofit/>
          </a:bodyPr>
          <a:lstStyle/>
          <a:p>
            <a:r>
              <a:rPr lang="en-US" dirty="0" smtClean="0"/>
              <a:t>Start with internal funds sources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457200" y="1447800"/>
            <a:ext cx="8229600" cy="4525963"/>
          </a:xfrm>
        </p:spPr>
        <p:txBody>
          <a:bodyPr>
            <a:normAutofit fontScale="85000" lnSpcReduction="10000"/>
          </a:bodyPr>
          <a:lstStyle/>
          <a:p>
            <a:pPr>
              <a:buFont typeface="Wingdings" charset="2"/>
              <a:buChar char="q"/>
            </a:pPr>
            <a:r>
              <a:rPr lang="en-US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Home equity lines of credit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 smtClean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Interest rates are comparatively low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 smtClean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Better for mid to longer term debt </a:t>
            </a:r>
          </a:p>
          <a:p>
            <a:pPr>
              <a:buFont typeface="Wingdings" charset="2"/>
              <a:buChar char="q"/>
            </a:pPr>
            <a:r>
              <a:rPr lang="en-US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Credit cards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 smtClean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Higher interest rates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 smtClean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Miles/points may be available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 smtClean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Better for short term debt to minimize cost of capital </a:t>
            </a:r>
          </a:p>
          <a:p>
            <a:pPr>
              <a:buFont typeface="Wingdings" charset="2"/>
              <a:buChar char="q"/>
            </a:pPr>
            <a:r>
              <a:rPr lang="en-US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Use personal funds to “de-risk” your venture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 smtClean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Confirm/deny market demand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 smtClean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Confirm/deny your value proposition</a:t>
            </a:r>
          </a:p>
          <a:p>
            <a:pPr>
              <a:buFont typeface="Wingdings" charset="2"/>
              <a:buChar char="q"/>
            </a:pPr>
            <a:r>
              <a:rPr lang="en-US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Create conditions needed to access other fund types</a:t>
            </a:r>
          </a:p>
          <a:p>
            <a:pPr lvl="1">
              <a:buFont typeface="Wingdings" charset="2"/>
              <a:buChar char="q"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2287F6-59FA-4BED-A87A-D8E031B1831F}" type="slidenum">
              <a:rPr lang="en-US" smtClean="0"/>
              <a:pPr/>
              <a:t>5</a:t>
            </a:fld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38600" y="881418"/>
            <a:ext cx="5292598" cy="2743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Copyright © 2014 John Wiley &amp; Sons, Inc.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19613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0"/>
            <a:ext cx="8534400" cy="1143000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Optimize your cash collection cycle (CCC)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457200" y="1600200"/>
            <a:ext cx="5638800" cy="4525963"/>
          </a:xfrm>
        </p:spPr>
        <p:txBody>
          <a:bodyPr>
            <a:normAutofit fontScale="92500" lnSpcReduction="20000"/>
          </a:bodyPr>
          <a:lstStyle/>
          <a:p>
            <a:pPr>
              <a:buFont typeface="Wingdings" charset="2"/>
              <a:buChar char="q"/>
            </a:pPr>
            <a:r>
              <a:rPr lang="en-US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Ideal - a negative cycle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 smtClean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Customer pays you before you pay suppliers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 smtClean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Highest liquidity</a:t>
            </a:r>
          </a:p>
          <a:p>
            <a:pPr>
              <a:buFont typeface="Wingdings" charset="2"/>
              <a:buChar char="q"/>
            </a:pPr>
            <a:r>
              <a:rPr lang="en-US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Next best – Customers pay cash, you pay credit 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 smtClean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Influenced by industry norms</a:t>
            </a:r>
          </a:p>
          <a:p>
            <a:pPr>
              <a:buFont typeface="Wingdings" charset="2"/>
              <a:buChar char="q"/>
            </a:pPr>
            <a:r>
              <a:rPr lang="en-US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Optimize your CCC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 smtClean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Extend payables 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 smtClean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Shorten receivables 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 smtClean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Minimize inventory costs</a:t>
            </a:r>
          </a:p>
          <a:p>
            <a:pPr>
              <a:buFont typeface="Wingdings" charset="2"/>
              <a:buChar char="q"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2287F6-59FA-4BED-A87A-D8E031B1831F}" type="slidenum">
              <a:rPr lang="en-US" smtClean="0"/>
              <a:pPr/>
              <a:t>6</a:t>
            </a:fld>
            <a:endParaRPr 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94375" y="1295400"/>
            <a:ext cx="3654425" cy="31126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Copyright © 2014 John Wiley &amp; Sons, Inc.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96183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0"/>
            <a:ext cx="8534400" cy="1143000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Obtain working capital from receivables and inventories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457200" y="4267200"/>
            <a:ext cx="8534400" cy="1858963"/>
          </a:xfrm>
        </p:spPr>
        <p:txBody>
          <a:bodyPr>
            <a:normAutofit lnSpcReduction="10000"/>
          </a:bodyPr>
          <a:lstStyle/>
          <a:p>
            <a:pPr>
              <a:buFont typeface="Wingdings" charset="2"/>
              <a:buChar char="q"/>
            </a:pPr>
            <a:r>
              <a:rPr lang="en-US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New working capital </a:t>
            </a:r>
            <a:r>
              <a:rPr lang="en-US" sz="2800" u="sng" dirty="0" smtClean="0">
                <a:latin typeface="Arial" panose="020B0604020202020204" pitchFamily="34" charset="0"/>
                <a:cs typeface="Arial" panose="020B0604020202020204" pitchFamily="34" charset="0"/>
              </a:rPr>
              <a:t>doesn’t</a:t>
            </a:r>
            <a:r>
              <a:rPr lang="en-US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 equal liquidity </a:t>
            </a:r>
          </a:p>
          <a:p>
            <a:pPr>
              <a:buFont typeface="Wingdings" charset="2"/>
              <a:buChar char="q"/>
            </a:pPr>
            <a:r>
              <a:rPr lang="en-US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Some working capital is tied up in operating assets</a:t>
            </a:r>
          </a:p>
          <a:p>
            <a:pPr>
              <a:buFont typeface="Wingdings" charset="2"/>
              <a:buChar char="q"/>
            </a:pPr>
            <a:r>
              <a:rPr lang="en-US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Operating assets </a:t>
            </a:r>
            <a:r>
              <a:rPr lang="en-US" sz="2800" u="sng" dirty="0" smtClean="0">
                <a:latin typeface="Arial" panose="020B0604020202020204" pitchFamily="34" charset="0"/>
                <a:cs typeface="Arial" panose="020B0604020202020204" pitchFamily="34" charset="0"/>
              </a:rPr>
              <a:t>can</a:t>
            </a:r>
            <a:r>
              <a:rPr lang="en-US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 be liquidated prematurely at a cost, if no other sources of funds exist.</a:t>
            </a:r>
          </a:p>
          <a:p>
            <a:pPr>
              <a:buFont typeface="Wingdings" charset="2"/>
              <a:buChar char="q"/>
            </a:pP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2287F6-59FA-4BED-A87A-D8E031B1831F}" type="slidenum">
              <a:rPr lang="en-US" smtClean="0"/>
              <a:pPr/>
              <a:t>7</a:t>
            </a:fld>
            <a:endParaRPr lang="en-US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0200" y="1521850"/>
            <a:ext cx="5382347" cy="2669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Copyright © 2014 John Wiley &amp; Sons, Inc.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97512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0"/>
            <a:ext cx="8534400" cy="1143000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Obtain working capital from receivables by adjusting…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457200" y="1447800"/>
            <a:ext cx="5867400" cy="4525963"/>
          </a:xfrm>
        </p:spPr>
        <p:txBody>
          <a:bodyPr>
            <a:normAutofit fontScale="77500" lnSpcReduction="20000"/>
          </a:bodyPr>
          <a:lstStyle/>
          <a:p>
            <a:pPr marL="457200" indent="-457200">
              <a:buFont typeface="Wingdings" charset="2"/>
              <a:buChar char="q"/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t</a:t>
            </a:r>
            <a:r>
              <a:rPr lang="en-US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he </a:t>
            </a:r>
            <a:r>
              <a:rPr lang="en-US" sz="2800" u="sng" dirty="0" smtClean="0">
                <a:latin typeface="Arial" panose="020B0604020202020204" pitchFamily="34" charset="0"/>
                <a:cs typeface="Arial" panose="020B0604020202020204" pitchFamily="34" charset="0"/>
              </a:rPr>
              <a:t>pattern</a:t>
            </a:r>
            <a:r>
              <a:rPr lang="en-US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 of your sales</a:t>
            </a:r>
          </a:p>
          <a:p>
            <a:pPr marL="857250" lvl="1" indent="-457200">
              <a:buFont typeface="Wingdings" panose="05000000000000000000" pitchFamily="2" charset="2"/>
              <a:buChar char="ü"/>
            </a:pPr>
            <a:r>
              <a:rPr lang="en-US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</a:t>
            </a:r>
            <a:r>
              <a:rPr lang="en-US" dirty="0" smtClean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orecast sales to plan working capital</a:t>
            </a:r>
            <a:endParaRPr lang="en-US" sz="2800" dirty="0" smtClean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buFont typeface="Wingdings" charset="2"/>
              <a:buChar char="q"/>
            </a:pPr>
            <a:r>
              <a:rPr lang="en-US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the </a:t>
            </a:r>
            <a:r>
              <a:rPr lang="en-US" sz="2800" u="sng" dirty="0" smtClean="0">
                <a:latin typeface="Arial" panose="020B0604020202020204" pitchFamily="34" charset="0"/>
                <a:cs typeface="Arial" panose="020B0604020202020204" pitchFamily="34" charset="0"/>
              </a:rPr>
              <a:t>ratio</a:t>
            </a:r>
            <a:r>
              <a:rPr lang="en-US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 of cash vs. credit</a:t>
            </a:r>
          </a:p>
          <a:p>
            <a:pPr marL="857250" lvl="1" indent="-457200">
              <a:buFont typeface="Wingdings" panose="05000000000000000000" pitchFamily="2" charset="2"/>
              <a:buChar char="ü"/>
            </a:pPr>
            <a:r>
              <a:rPr lang="en-US" dirty="0" smtClean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Credit vs. credit cards vs. cash</a:t>
            </a:r>
            <a:endParaRPr lang="en-US" sz="2800" dirty="0" smtClean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buFont typeface="Wingdings" charset="2"/>
              <a:buChar char="q"/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y</a:t>
            </a:r>
            <a:r>
              <a:rPr lang="en-US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our </a:t>
            </a:r>
            <a:r>
              <a:rPr lang="en-US" sz="2800" u="sng" dirty="0" smtClean="0">
                <a:latin typeface="Arial" panose="020B0604020202020204" pitchFamily="34" charset="0"/>
                <a:cs typeface="Arial" panose="020B0604020202020204" pitchFamily="34" charset="0"/>
              </a:rPr>
              <a:t>terms</a:t>
            </a:r>
            <a:r>
              <a:rPr lang="en-US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 for credit sales </a:t>
            </a:r>
          </a:p>
          <a:p>
            <a:pPr marL="857250" lvl="1" indent="-457200">
              <a:buFont typeface="Wingdings" panose="05000000000000000000" pitchFamily="2" charset="2"/>
              <a:buChar char="ü"/>
            </a:pPr>
            <a:r>
              <a:rPr lang="en-US" dirty="0" smtClean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 competitive factor within industries</a:t>
            </a:r>
          </a:p>
          <a:p>
            <a:pPr marL="857250" lvl="1" indent="-457200">
              <a:buFont typeface="Wingdings" panose="05000000000000000000" pitchFamily="2" charset="2"/>
              <a:buChar char="ü"/>
            </a:pPr>
            <a:r>
              <a:rPr lang="en-US" dirty="0" smtClean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Consider demand elasticity</a:t>
            </a:r>
          </a:p>
          <a:p>
            <a:pPr marL="857250" lvl="1" indent="-457200">
              <a:buFont typeface="Wingdings" panose="05000000000000000000" pitchFamily="2" charset="2"/>
              <a:buChar char="ü"/>
            </a:pPr>
            <a:r>
              <a:rPr lang="en-US" dirty="0" smtClean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Length of payment &amp; discounts</a:t>
            </a:r>
          </a:p>
          <a:p>
            <a:pPr marL="457200" indent="-457200">
              <a:buFont typeface="Wingdings" charset="2"/>
              <a:buChar char="q"/>
            </a:pPr>
            <a:r>
              <a:rPr lang="en-US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your way of </a:t>
            </a:r>
            <a:r>
              <a:rPr lang="en-US" sz="2800" u="sng" dirty="0" smtClean="0">
                <a:latin typeface="Arial" panose="020B0604020202020204" pitchFamily="34" charset="0"/>
                <a:cs typeface="Arial" panose="020B0604020202020204" pitchFamily="34" charset="0"/>
              </a:rPr>
              <a:t>enforcing</a:t>
            </a:r>
            <a:r>
              <a:rPr lang="en-US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 your credit terms</a:t>
            </a:r>
          </a:p>
          <a:p>
            <a:pPr marL="857250" lvl="1" indent="-457200">
              <a:buFont typeface="Wingdings" panose="05000000000000000000" pitchFamily="2" charset="2"/>
              <a:buChar char="ü"/>
            </a:pPr>
            <a:r>
              <a:rPr lang="en-US" dirty="0" smtClean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Cutting off vs. cash-only vs. collection agencies vs. legal recourse</a:t>
            </a:r>
            <a:endParaRPr lang="en-US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2287F6-59FA-4BED-A87A-D8E031B1831F}" type="slidenum">
              <a:rPr lang="en-US" smtClean="0"/>
              <a:pPr/>
              <a:t>8</a:t>
            </a:fld>
            <a:endParaRPr lang="en-US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03373" y="1285875"/>
            <a:ext cx="2857500" cy="2143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Copyright © 2014 John Wiley &amp; Sons, Inc.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38649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457200"/>
            <a:ext cx="8534400" cy="1143000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Increase payables &amp; decrease  receivables for short term cash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228600" y="1951037"/>
            <a:ext cx="5105400" cy="4525963"/>
          </a:xfrm>
        </p:spPr>
        <p:txBody>
          <a:bodyPr/>
          <a:lstStyle/>
          <a:p>
            <a:pPr>
              <a:buFont typeface="Wingdings" charset="2"/>
              <a:buChar char="q"/>
            </a:pPr>
            <a:r>
              <a:rPr lang="en-US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Receivables secure a bank loan </a:t>
            </a:r>
          </a:p>
          <a:p>
            <a:pPr>
              <a:buFont typeface="Wingdings" charset="2"/>
              <a:buChar char="q"/>
            </a:pPr>
            <a:r>
              <a:rPr lang="en-US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Maximize existing trade credits</a:t>
            </a:r>
          </a:p>
          <a:p>
            <a:pPr>
              <a:buFont typeface="Wingdings" charset="2"/>
              <a:buChar char="q"/>
            </a:pPr>
            <a:r>
              <a:rPr lang="en-US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Negotiate extended trade credits</a:t>
            </a:r>
          </a:p>
          <a:p>
            <a:pPr>
              <a:buFont typeface="Wingdings" charset="2"/>
              <a:buChar char="q"/>
            </a:pPr>
            <a:r>
              <a:rPr lang="en-US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Use seasonal trade credits</a:t>
            </a:r>
          </a:p>
          <a:p>
            <a:pPr>
              <a:buFont typeface="Wingdings" charset="2"/>
              <a:buChar char="q"/>
            </a:pPr>
            <a:r>
              <a:rPr lang="en-US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Emphasize cash sales</a:t>
            </a:r>
          </a:p>
          <a:p>
            <a:pPr>
              <a:buFont typeface="Wingdings" charset="2"/>
              <a:buChar char="q"/>
            </a:pPr>
            <a:r>
              <a:rPr lang="en-US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Accept credit cards</a:t>
            </a: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2287F6-59FA-4BED-A87A-D8E031B1831F}" type="slidenum">
              <a:rPr lang="en-US" smtClean="0"/>
              <a:pPr/>
              <a:t>9</a:t>
            </a:fld>
            <a:endParaRPr lang="en-US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91000" y="2058036"/>
            <a:ext cx="5334000" cy="33330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Copyright © 2014 John Wiley &amp; Sons, Inc.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19863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0"/>
            <a:ext cx="8534400" cy="1143000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Get short term cash from banks by financing receivables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457200" y="1447800"/>
            <a:ext cx="8229600" cy="4525963"/>
          </a:xfrm>
        </p:spPr>
        <p:txBody>
          <a:bodyPr>
            <a:normAutofit fontScale="85000" lnSpcReduction="20000"/>
          </a:bodyPr>
          <a:lstStyle/>
          <a:p>
            <a:pPr>
              <a:buFont typeface="Wingdings" charset="2"/>
              <a:buChar char="q"/>
            </a:pPr>
            <a:r>
              <a:rPr lang="en-US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Pledging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 smtClean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Receivable become collateral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 smtClean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Loan is given for a percentage of collateral full value</a:t>
            </a:r>
          </a:p>
          <a:p>
            <a:pPr>
              <a:buFont typeface="Wingdings" charset="2"/>
              <a:buChar char="q"/>
            </a:pPr>
            <a:r>
              <a:rPr lang="en-US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Pledging with notification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 smtClean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Customer instructed to pay the lender directly </a:t>
            </a:r>
          </a:p>
          <a:p>
            <a:pPr>
              <a:buFont typeface="Wingdings" charset="2"/>
              <a:buChar char="q"/>
            </a:pPr>
            <a:r>
              <a:rPr lang="en-US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Factoring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 smtClean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Sell receivables at a discount to a “factor”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 smtClean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Factor collects receivable payments</a:t>
            </a:r>
          </a:p>
          <a:p>
            <a:pPr>
              <a:buFont typeface="Wingdings" charset="2"/>
              <a:buChar char="q"/>
            </a:pPr>
            <a:r>
              <a:rPr lang="en-US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Recourse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 smtClean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Means the factor can still get receivables payments from your customers don’t pay.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 smtClean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Re-course &amp; non-recourse exists.</a:t>
            </a:r>
            <a:endParaRPr lang="en-US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2287F6-59FA-4BED-A87A-D8E031B1831F}" type="slidenum">
              <a:rPr lang="en-US" smtClean="0"/>
              <a:pPr/>
              <a:t>10</a:t>
            </a:fld>
            <a:endParaRPr lang="en-US" dirty="0"/>
          </a:p>
        </p:txBody>
      </p:sp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77000" y="3657600"/>
            <a:ext cx="2895600" cy="1530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229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71593" y="4572000"/>
            <a:ext cx="506413" cy="493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Copyright © 2014 John Wiley &amp; Sons, Inc.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961831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0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Obtain working capital with bank loans against inventory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>
              <a:buFont typeface="Wingdings" charset="2"/>
              <a:buChar char="q"/>
            </a:pPr>
            <a:r>
              <a:rPr lang="en-US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Chattel Mortgage </a:t>
            </a:r>
          </a:p>
          <a:p>
            <a:pPr lvl="1">
              <a:buFont typeface="Wingdings" charset="2"/>
              <a:buChar char="q"/>
            </a:pP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Secured by property assets (i.e. “Widget #2873B4”)</a:t>
            </a:r>
          </a:p>
          <a:p>
            <a:pPr>
              <a:buFont typeface="Wingdings" charset="2"/>
              <a:buChar char="q"/>
            </a:pPr>
            <a:r>
              <a:rPr lang="en-US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Floating Lien</a:t>
            </a:r>
          </a:p>
          <a:p>
            <a:pPr lvl="1">
              <a:buFont typeface="Wingdings" charset="2"/>
              <a:buChar char="q"/>
            </a:pP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Secured by blanket assets (i.e. entire inventory)</a:t>
            </a:r>
          </a:p>
          <a:p>
            <a:pPr>
              <a:buFont typeface="Wingdings" charset="2"/>
              <a:buChar char="q"/>
            </a:pPr>
            <a:r>
              <a:rPr lang="en-US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Field Warehousing</a:t>
            </a:r>
          </a:p>
          <a:p>
            <a:pPr lvl="1">
              <a:buFont typeface="Wingdings" charset="2"/>
              <a:buChar char="q"/>
            </a:pP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Lender secures your inventory on your premises</a:t>
            </a:r>
          </a:p>
          <a:p>
            <a:pPr>
              <a:buFont typeface="Wingdings" charset="2"/>
              <a:buChar char="q"/>
            </a:pPr>
            <a:r>
              <a:rPr lang="en-US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Public Warehousing</a:t>
            </a:r>
          </a:p>
          <a:p>
            <a:pPr lvl="1">
              <a:buFont typeface="Wingdings" charset="2"/>
              <a:buChar char="q"/>
            </a:pP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Your pledged inventory goes to another warehouse</a:t>
            </a:r>
          </a:p>
          <a:p>
            <a:pPr marL="457200" lvl="1" indent="0">
              <a:buNone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en-US" i="1" dirty="0" smtClean="0">
                <a:latin typeface="Arial" panose="020B0604020202020204" pitchFamily="34" charset="0"/>
                <a:cs typeface="Arial" panose="020B0604020202020204" pitchFamily="34" charset="0"/>
              </a:rPr>
              <a:t>NOTE: You retain inventory access </a:t>
            </a:r>
            <a:endParaRPr lang="en-US" i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2287F6-59FA-4BED-A87A-D8E031B1831F}" type="slidenum">
              <a:rPr lang="en-US" smtClean="0"/>
              <a:pPr/>
              <a:t>11</a:t>
            </a:fld>
            <a:endParaRPr lang="en-US" dirty="0"/>
          </a:p>
        </p:txBody>
      </p:sp>
      <p:pic>
        <p:nvPicPr>
          <p:cNvPr id="10244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00800" y="4191000"/>
            <a:ext cx="2895600" cy="1530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45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86600" y="4976163"/>
            <a:ext cx="506413" cy="493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Copyright © 2014 John Wiley &amp; Sons, Inc.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975122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0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“Finance” working capital through customer prepayments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457200" y="1600200"/>
            <a:ext cx="5334000" cy="4525963"/>
          </a:xfrm>
        </p:spPr>
        <p:txBody>
          <a:bodyPr/>
          <a:lstStyle/>
          <a:p>
            <a:pPr>
              <a:buFont typeface="Wingdings" charset="2"/>
              <a:buChar char="q"/>
            </a:pPr>
            <a:r>
              <a:rPr lang="en-US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Goes back to the ideal negative cycle...not easy</a:t>
            </a:r>
          </a:p>
          <a:p>
            <a:pPr marL="0" indent="0">
              <a:buNone/>
            </a:pPr>
            <a:endParaRPr lang="en-US" sz="28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Wingdings" charset="2"/>
              <a:buChar char="q"/>
            </a:pPr>
            <a:r>
              <a:rPr lang="en-US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Common in large, complex, long-term projects</a:t>
            </a:r>
          </a:p>
          <a:p>
            <a:pPr marL="0" indent="0">
              <a:buNone/>
            </a:pPr>
            <a:endParaRPr lang="en-US" sz="28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Wingdings" charset="2"/>
              <a:buChar char="q"/>
            </a:pPr>
            <a:r>
              <a:rPr lang="en-US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Customers pay ahead in installments to fund phases of work until completion</a:t>
            </a: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2287F6-59FA-4BED-A87A-D8E031B1831F}" type="slidenum">
              <a:rPr lang="en-US" smtClean="0"/>
              <a:pPr/>
              <a:t>12</a:t>
            </a:fld>
            <a:endParaRPr lang="en-US" dirty="0"/>
          </a:p>
        </p:txBody>
      </p:sp>
      <p:pic>
        <p:nvPicPr>
          <p:cNvPr id="1126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77000" y="4191000"/>
            <a:ext cx="2895600" cy="1530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1268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05800" y="4956175"/>
            <a:ext cx="506413" cy="493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Copyright © 2014 John Wiley &amp; Sons, Inc.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386498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0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Obtain Small Business Administration (SBA) loans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457200" y="1600200"/>
            <a:ext cx="8153400" cy="4525963"/>
          </a:xfrm>
        </p:spPr>
        <p:txBody>
          <a:bodyPr>
            <a:normAutofit fontScale="92500" lnSpcReduction="10000"/>
          </a:bodyPr>
          <a:lstStyle/>
          <a:p>
            <a:pPr>
              <a:buFont typeface="Wingdings" charset="2"/>
              <a:buChar char="q"/>
            </a:pPr>
            <a:r>
              <a:rPr lang="en-US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For those unable to get conventional bank loans </a:t>
            </a:r>
          </a:p>
          <a:p>
            <a:pPr>
              <a:buFont typeface="Wingdings" charset="2"/>
              <a:buChar char="q"/>
            </a:pPr>
            <a:r>
              <a:rPr lang="en-US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Government backs loans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 smtClean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90% under $155,000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 smtClean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Up to 85%, between $155,000 and $750,000 (max.) </a:t>
            </a:r>
          </a:p>
          <a:p>
            <a:pPr>
              <a:buFont typeface="Wingdings" charset="2"/>
              <a:buChar char="q"/>
            </a:pPr>
            <a:r>
              <a:rPr lang="en-US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Must be for-profit</a:t>
            </a:r>
          </a:p>
          <a:p>
            <a:pPr>
              <a:buFont typeface="Wingdings" charset="2"/>
              <a:buChar char="q"/>
            </a:pPr>
            <a:r>
              <a:rPr lang="en-US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Used for working capital, CAPEX, &amp; line of credit</a:t>
            </a:r>
          </a:p>
          <a:p>
            <a:pPr>
              <a:buFont typeface="Wingdings" charset="2"/>
              <a:buChar char="q"/>
            </a:pPr>
            <a:r>
              <a:rPr lang="en-US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3:1 Debt-to-equity ratio required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 smtClean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After loan is made </a:t>
            </a:r>
          </a:p>
          <a:p>
            <a:pPr>
              <a:buFont typeface="Wingdings" charset="2"/>
              <a:buChar char="q"/>
            </a:pPr>
            <a:r>
              <a:rPr lang="en-US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Use banks that process SBA loan routinely</a:t>
            </a: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2287F6-59FA-4BED-A87A-D8E031B1831F}" type="slidenum">
              <a:rPr lang="en-US" smtClean="0"/>
              <a:pPr/>
              <a:t>13</a:t>
            </a:fld>
            <a:endParaRPr lang="en-US" dirty="0"/>
          </a:p>
        </p:txBody>
      </p:sp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77100" y="152400"/>
            <a:ext cx="1752600" cy="876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48" name="Picture 4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39346" y="4114800"/>
            <a:ext cx="2895600" cy="15299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149" name="Picture 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33939" y="4114800"/>
            <a:ext cx="506413" cy="493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Copyright © 2014 John Wiley &amp; Sons, Inc.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962671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0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Many factors to consider in acquiring short term bank loans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charset="2"/>
              <a:buChar char="q"/>
            </a:pPr>
            <a:r>
              <a:rPr lang="en-US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Maturity of loans </a:t>
            </a:r>
          </a:p>
          <a:p>
            <a:pPr>
              <a:buFont typeface="Wingdings" charset="2"/>
              <a:buChar char="q"/>
            </a:pPr>
            <a:r>
              <a:rPr lang="en-US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Interest rates</a:t>
            </a:r>
          </a:p>
          <a:p>
            <a:pPr>
              <a:buFont typeface="Wingdings" charset="2"/>
              <a:buChar char="q"/>
            </a:pPr>
            <a:r>
              <a:rPr lang="en-US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Collateral </a:t>
            </a:r>
          </a:p>
          <a:p>
            <a:pPr>
              <a:buFont typeface="Wingdings" charset="2"/>
              <a:buChar char="q"/>
            </a:pPr>
            <a:r>
              <a:rPr lang="en-US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Loan applications</a:t>
            </a:r>
          </a:p>
          <a:p>
            <a:pPr>
              <a:buFont typeface="Wingdings" charset="2"/>
              <a:buChar char="q"/>
            </a:pPr>
            <a:r>
              <a:rPr lang="en-US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Restrictive covenants</a:t>
            </a:r>
          </a:p>
          <a:p>
            <a:pPr>
              <a:buFont typeface="Wingdings" charset="2"/>
              <a:buChar char="q"/>
            </a:pPr>
            <a:r>
              <a:rPr lang="en-US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General provisions</a:t>
            </a:r>
          </a:p>
          <a:p>
            <a:pPr>
              <a:buFont typeface="Wingdings" charset="2"/>
              <a:buChar char="q"/>
            </a:pPr>
            <a:r>
              <a:rPr lang="en-US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Routine provisions</a:t>
            </a:r>
          </a:p>
          <a:p>
            <a:pPr>
              <a:buFont typeface="Wingdings" charset="2"/>
              <a:buChar char="q"/>
            </a:pPr>
            <a:r>
              <a:rPr lang="en-US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Specific provisions</a:t>
            </a: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2287F6-59FA-4BED-A87A-D8E031B1831F}" type="slidenum">
              <a:rPr lang="en-US" smtClean="0"/>
              <a:pPr/>
              <a:t>14</a:t>
            </a:fld>
            <a:endParaRPr lang="en-US" dirty="0"/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86400" y="1619250"/>
            <a:ext cx="2638425" cy="1733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19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95925" y="3886200"/>
            <a:ext cx="2628900" cy="1743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Copyright © 2014 John Wiley &amp; Sons, Inc.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961831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0"/>
            <a:ext cx="8229600" cy="1143000"/>
          </a:xfrm>
        </p:spPr>
        <p:txBody>
          <a:bodyPr>
            <a:normAutofit/>
          </a:bodyPr>
          <a:lstStyle/>
          <a:p>
            <a:r>
              <a:rPr lang="en-US" sz="4300" dirty="0" smtClean="0"/>
              <a:t>Finance equipment needs</a:t>
            </a:r>
            <a:endParaRPr lang="en-US" sz="4300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457200" y="1371600"/>
            <a:ext cx="8229600" cy="4525963"/>
          </a:xfrm>
        </p:spPr>
        <p:txBody>
          <a:bodyPr/>
          <a:lstStyle/>
          <a:p>
            <a:pPr>
              <a:buFont typeface="Wingdings" charset="2"/>
              <a:buChar char="q"/>
            </a:pPr>
            <a:r>
              <a:rPr lang="en-US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Non-bank companies charge interest higher than banks </a:t>
            </a:r>
          </a:p>
          <a:p>
            <a:pPr>
              <a:buFont typeface="Wingdings" charset="2"/>
              <a:buChar char="q"/>
            </a:pPr>
            <a:r>
              <a:rPr lang="en-US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Collateral (i.e. the equipment) must exceed loan balance</a:t>
            </a:r>
          </a:p>
          <a:p>
            <a:pPr>
              <a:buFont typeface="Wingdings" charset="2"/>
              <a:buChar char="q"/>
            </a:pPr>
            <a:r>
              <a:rPr lang="en-US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Loan repayment schedule stays ahead of depreciation schedule</a:t>
            </a:r>
          </a:p>
          <a:p>
            <a:pPr>
              <a:buFont typeface="Wingdings" charset="2"/>
              <a:buChar char="q"/>
            </a:pPr>
            <a:r>
              <a:rPr lang="en-US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Conditional sales contracts extend purchase over 2-5 years</a:t>
            </a: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2287F6-59FA-4BED-A87A-D8E031B1831F}" type="slidenum">
              <a:rPr lang="en-US" smtClean="0"/>
              <a:pPr/>
              <a:t>15</a:t>
            </a:fld>
            <a:endParaRPr lang="en-US" dirty="0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81400" y="4798435"/>
            <a:ext cx="1914999" cy="1533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Copyright © 2014 John Wiley &amp; Sons, Inc.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73265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0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When selecting the right short-term financing mix, consider…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marL="457200" indent="-457200">
              <a:buFont typeface="Wingdings" charset="2"/>
              <a:buChar char="q"/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y</a:t>
            </a:r>
            <a:r>
              <a:rPr lang="en-US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our needs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 smtClean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Current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 smtClean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Future</a:t>
            </a:r>
          </a:p>
          <a:p>
            <a:pPr marL="457200" lvl="1" indent="0">
              <a:buNone/>
            </a:pP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marL="457200" indent="-457200">
              <a:buFont typeface="Wingdings" charset="2"/>
              <a:buChar char="q"/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r>
              <a:rPr lang="en-US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ost of alternatives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 smtClean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Current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 smtClean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Future</a:t>
            </a:r>
            <a:endParaRPr lang="en-US" sz="2800" i="1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2287F6-59FA-4BED-A87A-D8E031B1831F}" type="slidenum">
              <a:rPr lang="en-US" smtClean="0"/>
              <a:pPr/>
              <a:t>16</a:t>
            </a:fld>
            <a:endParaRPr lang="en-US" dirty="0"/>
          </a:p>
        </p:txBody>
      </p:sp>
      <p:pic>
        <p:nvPicPr>
          <p:cNvPr id="9219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8200" y="1663411"/>
            <a:ext cx="2857500" cy="2381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Copyright © 2014 John Wiley &amp; Sons, Inc.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19863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0"/>
            <a:ext cx="8229600" cy="1143000"/>
          </a:xfrm>
        </p:spPr>
        <p:txBody>
          <a:bodyPr>
            <a:normAutofit/>
          </a:bodyPr>
          <a:lstStyle/>
          <a:p>
            <a:r>
              <a:rPr lang="en-US" sz="4300" dirty="0" smtClean="0"/>
              <a:t>Plan cash flows &amp; profits</a:t>
            </a:r>
            <a:endParaRPr lang="en-US" sz="43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71600"/>
            <a:ext cx="8229600" cy="4525963"/>
          </a:xfrm>
        </p:spPr>
        <p:txBody>
          <a:bodyPr>
            <a:normAutofit fontScale="77500" lnSpcReduction="20000"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US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Profitability vs. Solvency  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 smtClean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 unprofitable venture can recover…</a:t>
            </a:r>
            <a:r>
              <a:rPr lang="en-US" i="1" dirty="0" smtClean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measure of health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u="sng" dirty="0" smtClean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 Insolvent venture ceases to exist</a:t>
            </a:r>
            <a:r>
              <a:rPr lang="en-US" dirty="0" smtClean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because it cannot pay its’ suppliers (insufficient working capital)…</a:t>
            </a:r>
            <a:r>
              <a:rPr lang="en-US" i="1" dirty="0" smtClean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vital sign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Profits doesn’t equal cash flow 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 smtClean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Some cash transactions do not impact profits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 smtClean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Non-cash transaction do not impact cash flow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Free cash flow (FCF); matters to bank loan officers</a:t>
            </a:r>
          </a:p>
          <a:p>
            <a:pPr marL="457200" lvl="1" indent="0">
              <a:buNone/>
            </a:pP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= </a:t>
            </a:r>
            <a:r>
              <a:rPr lang="en-US" dirty="0" smtClean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Cash from operations (CFO) – capital expenditures (CAPEX)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Pretax undedicated cash flow; matter to acquirers  </a:t>
            </a:r>
          </a:p>
          <a:p>
            <a:pPr marL="457200" lvl="1" indent="0">
              <a:buNone/>
            </a:pP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= </a:t>
            </a:r>
            <a:r>
              <a:rPr lang="en-US" dirty="0" smtClean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FCF + TAX + INTEREST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2287F6-59FA-4BED-A87A-D8E031B1831F}" type="slidenum">
              <a:rPr lang="en-US" smtClean="0"/>
              <a:pPr/>
              <a:t>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Copyright © 2014 John Wiley &amp; Sons, Inc.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236134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0"/>
            <a:ext cx="8229600" cy="1143000"/>
          </a:xfrm>
        </p:spPr>
        <p:txBody>
          <a:bodyPr>
            <a:normAutofit/>
          </a:bodyPr>
          <a:lstStyle/>
          <a:p>
            <a:r>
              <a:rPr lang="en-US" sz="4300" dirty="0" smtClean="0"/>
              <a:t>Recap</a:t>
            </a:r>
            <a:endParaRPr lang="en-US" sz="43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47800"/>
            <a:ext cx="8229600" cy="4525963"/>
          </a:xfrm>
        </p:spPr>
        <p:txBody>
          <a:bodyPr/>
          <a:lstStyle/>
          <a:p>
            <a:pPr>
              <a:buFont typeface="Wingdings" charset="2"/>
              <a:buChar char="q"/>
            </a:pPr>
            <a:r>
              <a:rPr lang="en-US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Working capital doesn’t equal liquidity</a:t>
            </a:r>
          </a:p>
          <a:p>
            <a:pPr>
              <a:buFont typeface="Wingdings" charset="2"/>
              <a:buChar char="q"/>
            </a:pPr>
            <a:r>
              <a:rPr lang="en-US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Most of working capital is tied up in operations</a:t>
            </a:r>
          </a:p>
          <a:p>
            <a:pPr>
              <a:buFont typeface="Wingdings" charset="2"/>
              <a:buChar char="q"/>
            </a:pPr>
            <a:r>
              <a:rPr lang="en-US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Cash flow forecasts help to determine financing needs</a:t>
            </a:r>
          </a:p>
          <a:p>
            <a:pPr>
              <a:buFont typeface="Wingdings" charset="2"/>
              <a:buChar char="q"/>
            </a:pPr>
            <a:r>
              <a:rPr lang="en-US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Manage customer and supplier payments</a:t>
            </a:r>
          </a:p>
          <a:p>
            <a:pPr>
              <a:buFont typeface="Wingdings" charset="2"/>
              <a:buChar char="q"/>
            </a:pPr>
            <a:r>
              <a:rPr lang="en-US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Debt options when actual cash doesn’t meet needs: banks, private placement, leases, suppliers, government agencies, customers</a:t>
            </a: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2287F6-59FA-4BED-A87A-D8E031B1831F}" type="slidenum">
              <a:rPr lang="en-US" smtClean="0"/>
              <a:pPr/>
              <a:t>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Copyright © 2014 John Wiley &amp; Sons, Inc.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64753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PROD_NEXTUNIQUEID" val="10011"/>
  <p:tag name="MMPROD_UIDATA" val="&lt;database version=&quot;7.0&quot;&gt;&lt;object type=&quot;1&quot; unique_id=&quot;10001&quot;&gt;&lt;object type=&quot;2&quot; unique_id=&quot;10548&quot;&gt;&lt;object type=&quot;3&quot; unique_id=&quot;10549&quot;&gt;&lt;property id=&quot;20148&quot; value=&quot;5&quot;/&gt;&lt;property id=&quot;20300&quot; value=&quot;Slide 1&quot;/&gt;&lt;property id=&quot;20307&quot; value=&quot;256&quot;/&gt;&lt;/object&gt;&lt;object type=&quot;3&quot; unique_id=&quot;11246&quot;&gt;&lt;property id=&quot;20148&quot; value=&quot;5&quot;/&gt;&lt;property id=&quot;20300&quot; value=&quot;Slide 4 - &amp;quot;Mature firms enjoy greater access to funds&amp;quot;&quot;/&gt;&lt;property id=&quot;20307&quot; value=&quot;273&quot;/&gt;&lt;/object&gt;&lt;object type=&quot;3&quot; unique_id=&quot;11255&quot;&gt;&lt;property id=&quot;20148&quot; value=&quot;5&quot;/&gt;&lt;property id=&quot;20300&quot; value=&quot;Slide 18 - &amp;quot;Recap&amp;quot;&quot;/&gt;&lt;property id=&quot;20307&quot; value=&quot;282&quot;/&gt;&lt;/object&gt;&lt;object type=&quot;3&quot; unique_id=&quot;11610&quot;&gt;&lt;property id=&quot;20148&quot; value=&quot;5&quot;/&gt;&lt;property id=&quot;20300&quot; value=&quot;Slide 5 - &amp;quot;Start with internal funds sources&amp;quot;&quot;/&gt;&lt;property id=&quot;20307&quot; value=&quot;285&quot;/&gt;&lt;/object&gt;&lt;object type=&quot;3&quot; unique_id=&quot;11611&quot;&gt;&lt;property id=&quot;20148&quot; value=&quot;5&quot;/&gt;&lt;property id=&quot;20300&quot; value=&quot;Slide 6 - &amp;quot;Optimize your cash collection cycle (CCC)&amp;quot;&quot;/&gt;&lt;property id=&quot;20307&quot; value=&quot;288&quot;/&gt;&lt;/object&gt;&lt;object type=&quot;3&quot; unique_id=&quot;11612&quot;&gt;&lt;property id=&quot;20148&quot; value=&quot;5&quot;/&gt;&lt;property id=&quot;20300&quot; value=&quot;Slide 7 - &amp;quot;Obtain working capital from receivables and inventories&amp;quot;&quot;/&gt;&lt;property id=&quot;20307&quot; value=&quot;289&quot;/&gt;&lt;/object&gt;&lt;object type=&quot;3&quot; unique_id=&quot;11613&quot;&gt;&lt;property id=&quot;20148&quot; value=&quot;5&quot;/&gt;&lt;property id=&quot;20300&quot; value=&quot;Slide 8 - &amp;quot;Obtain working capital from receivables by adjusting…&amp;quot;&quot;/&gt;&lt;property id=&quot;20307&quot; value=&quot;290&quot;/&gt;&lt;/object&gt;&lt;object type=&quot;3&quot; unique_id=&quot;11614&quot;&gt;&lt;property id=&quot;20148&quot; value=&quot;5&quot;/&gt;&lt;property id=&quot;20300&quot; value=&quot;Slide 9 - &amp;quot;Increase payables &amp;amp; decrease  receivables for short term cash&amp;quot;&quot;/&gt;&lt;property id=&quot;20307&quot; value=&quot;286&quot;/&gt;&lt;/object&gt;&lt;object type=&quot;3&quot; unique_id=&quot;11615&quot;&gt;&lt;property id=&quot;20148&quot; value=&quot;5&quot;/&gt;&lt;property id=&quot;20300&quot; value=&quot;Slide 10 - &amp;quot;Get short term cash from banks by financing receivables&amp;quot;&quot;/&gt;&lt;property id=&quot;20307&quot; value=&quot;291&quot;/&gt;&lt;/object&gt;&lt;object type=&quot;3&quot; unique_id=&quot;11616&quot;&gt;&lt;property id=&quot;20148&quot; value=&quot;5&quot;/&gt;&lt;property id=&quot;20300&quot; value=&quot;Slide 11 - &amp;quot;Obtain working capital with bank loans against inventory&amp;quot;&quot;/&gt;&lt;property id=&quot;20307&quot; value=&quot;292&quot;/&gt;&lt;/object&gt;&lt;object type=&quot;3&quot; unique_id=&quot;11617&quot;&gt;&lt;property id=&quot;20148&quot; value=&quot;5&quot;/&gt;&lt;property id=&quot;20300&quot; value=&quot;Slide 12 - &amp;quot;“Finance” working capital through customer prepayments&amp;quot;&quot;/&gt;&lt;property id=&quot;20307&quot; value=&quot;293&quot;/&gt;&lt;/object&gt;&lt;object type=&quot;3&quot; unique_id=&quot;11618&quot;&gt;&lt;property id=&quot;20148&quot; value=&quot;5&quot;/&gt;&lt;property id=&quot;20300&quot; value=&quot;Slide 16 - &amp;quot;When selecting the right short-term financing mix, consider…&amp;quot;&quot;/&gt;&lt;property id=&quot;20307&quot; value=&quot;287&quot;/&gt;&lt;/object&gt;&lt;object type=&quot;3&quot; unique_id=&quot;11619&quot;&gt;&lt;property id=&quot;20148&quot; value=&quot;5&quot;/&gt;&lt;property id=&quot;20300&quot; value=&quot;Slide 14 - &amp;quot;Many factors to consider in acquiring short term bank loans&amp;quot;&quot;/&gt;&lt;property id=&quot;20307&quot; value=&quot;294&quot;/&gt;&lt;/object&gt;&lt;object type=&quot;3&quot; unique_id=&quot;11620&quot;&gt;&lt;property id=&quot;20148&quot; value=&quot;5&quot;/&gt;&lt;property id=&quot;20300&quot; value=&quot;Slide 15 - &amp;quot;Finance equipment needs&amp;quot;&quot;/&gt;&lt;property id=&quot;20307&quot; value=&quot;297&quot;/&gt;&lt;/object&gt;&lt;object type=&quot;3&quot; unique_id=&quot;11621&quot;&gt;&lt;property id=&quot;20148&quot; value=&quot;5&quot;/&gt;&lt;property id=&quot;20300&quot; value=&quot;Slide 13 - &amp;quot;Obtain Small Business Administration (SBA) loans&amp;quot;&quot;/&gt;&lt;property id=&quot;20307&quot; value=&quot;298&quot;/&gt;&lt;/object&gt;&lt;object type=&quot;3&quot; unique_id=&quot;11774&quot;&gt;&lt;property id=&quot;20148&quot; value=&quot;5&quot;/&gt;&lt;property id=&quot;20300&quot; value=&quot;Slide 3 - &amp;quot;Align your sources &amp;amp; uses of funds&amp;quot;&quot;/&gt;&lt;property id=&quot;20307&quot; value=&quot;300&quot;/&gt;&lt;/object&gt;&lt;object type=&quot;3&quot; unique_id=&quot;11953&quot;&gt;&lt;property id=&quot;20148&quot; value=&quot;5&quot;/&gt;&lt;property id=&quot;20300&quot; value=&quot;Slide 2 - &amp;quot;Financing is a continuing activity&amp;quot;&quot;/&gt;&lt;property id=&quot;20307&quot; value=&quot;302&quot;/&gt;&lt;/object&gt;&lt;object type=&quot;3&quot; unique_id=&quot;11954&quot;&gt;&lt;property id=&quot;20148&quot; value=&quot;5&quot;/&gt;&lt;property id=&quot;20300&quot; value=&quot;Slide 17 - &amp;quot;Plan cash flows &amp;amp; profits&amp;quot;&quot;/&gt;&lt;property id=&quot;20307&quot; value=&quot;301&quot;/&gt;&lt;/object&gt;&lt;/object&gt;&lt;object type=&quot;8&quot; unique_id=&quot;10578&quot;&gt;&lt;/object&gt;&lt;/object&gt;&lt;/database&gt;"/>
  <p:tag name="SECTOMILLISECCONVERTED" val="1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6165</TotalTime>
  <Words>1094</Words>
  <Application>Microsoft Office PowerPoint</Application>
  <PresentationFormat>On-screen Show (4:3)</PresentationFormat>
  <Paragraphs>188</Paragraphs>
  <Slides>18</Slides>
  <Notes>2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19" baseType="lpstr">
      <vt:lpstr>Office Theme</vt:lpstr>
      <vt:lpstr>PowerPoint Presentation</vt:lpstr>
      <vt:lpstr>Financing is a continuing activity</vt:lpstr>
      <vt:lpstr>Align your sources &amp; uses of funds</vt:lpstr>
      <vt:lpstr>Mature firms enjoy greater access to funds</vt:lpstr>
      <vt:lpstr>Start with internal funds sources</vt:lpstr>
      <vt:lpstr>Optimize your cash collection cycle (CCC)</vt:lpstr>
      <vt:lpstr>Obtain working capital from receivables and inventories</vt:lpstr>
      <vt:lpstr>Obtain working capital from receivables by adjusting…</vt:lpstr>
      <vt:lpstr>Increase payables &amp; decrease  receivables for short term cash</vt:lpstr>
      <vt:lpstr>Get short term cash from banks by financing receivables</vt:lpstr>
      <vt:lpstr>Obtain working capital with bank loans against inventory</vt:lpstr>
      <vt:lpstr>“Finance” working capital through customer prepayments</vt:lpstr>
      <vt:lpstr>Obtain Small Business Administration (SBA) loans</vt:lpstr>
      <vt:lpstr>Many factors to consider in acquiring short term bank loans</vt:lpstr>
      <vt:lpstr>Finance equipment needs</vt:lpstr>
      <vt:lpstr>When selecting the right short-term financing mix, consider…</vt:lpstr>
      <vt:lpstr>Plan cash flows &amp; profits</vt:lpstr>
      <vt:lpstr>Recap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Lauren</dc:creator>
  <cp:lastModifiedBy>Dallas, Amanda - Hoboken</cp:lastModifiedBy>
  <cp:revision>90</cp:revision>
  <dcterms:created xsi:type="dcterms:W3CDTF">2013-10-12T04:14:45Z</dcterms:created>
  <dcterms:modified xsi:type="dcterms:W3CDTF">2015-03-02T20:37:38Z</dcterms:modified>
</cp:coreProperties>
</file>